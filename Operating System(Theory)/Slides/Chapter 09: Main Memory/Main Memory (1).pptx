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2.jpg" ContentType="image/jpeg"/>
  <Override PartName="/ppt/notesSlides/notesSlide4.xml" ContentType="application/vnd.openxmlformats-officedocument.presentationml.notesSlide+xml"/>
  <Override PartName="/ppt/media/image3.jp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4.jpg" ContentType="image/jpeg"/>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5.jpg" ContentType="image/jpeg"/>
  <Override PartName="/ppt/notesSlides/notesSlide10.xml" ContentType="application/vnd.openxmlformats-officedocument.presentationml.notesSlide+xml"/>
  <Override PartName="/ppt/media/image6.jpg" ContentType="image/jpeg"/>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7.jpg" ContentType="image/jpeg"/>
  <Override PartName="/ppt/notesSlides/notesSlide15.xml" ContentType="application/vnd.openxmlformats-officedocument.presentationml.notesSlide+xml"/>
  <Override PartName="/ppt/media/image8.jpg" ContentType="image/jpeg"/>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media/image11.jpg" ContentType="image/jpeg"/>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media/image14.jpg" ContentType="image/jpeg"/>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media/image20.jpg" ContentType="image/jpeg"/>
  <Override PartName="/ppt/notesSlides/notesSlide48.xml" ContentType="application/vnd.openxmlformats-officedocument.presentationml.notesSlide+xml"/>
  <Override PartName="/ppt/media/image21.jpg" ContentType="image/jpeg"/>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9"/>
  </p:notesMasterIdLst>
  <p:sldIdLst>
    <p:sldId id="256" r:id="rId2"/>
    <p:sldId id="257" r:id="rId3"/>
    <p:sldId id="318" r:id="rId4"/>
    <p:sldId id="258" r:id="rId5"/>
    <p:sldId id="259" r:id="rId6"/>
    <p:sldId id="260" r:id="rId7"/>
    <p:sldId id="262" r:id="rId8"/>
    <p:sldId id="261" r:id="rId9"/>
    <p:sldId id="263" r:id="rId10"/>
    <p:sldId id="264" r:id="rId11"/>
    <p:sldId id="265" r:id="rId12"/>
    <p:sldId id="266"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Lst>
  <p:sldSz cx="9144000" cy="6858000" type="screen4x3"/>
  <p:notesSz cx="7010400" cy="9296400"/>
  <p:embeddedFontLst>
    <p:embeddedFont>
      <p:font typeface="Helvetica Neue" panose="020B0604020202020204" charset="0"/>
      <p:regular r:id="rId60"/>
      <p:bold r:id="rId61"/>
      <p:italic r:id="rId62"/>
      <p:boldItalic r:id="rId63"/>
    </p:embeddedFont>
    <p:embeddedFont>
      <p:font typeface="Verdana" panose="020B0604030504040204" pitchFamily="34"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6" roundtripDataSignature="AMtx7mjhbqwiU/Ik98fGz2b/I3j2AiHM5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4"/>
  </p:normalViewPr>
  <p:slideViewPr>
    <p:cSldViewPr snapToGrid="0">
      <p:cViewPr varScale="1">
        <p:scale>
          <a:sx n="59" d="100"/>
          <a:sy n="59" d="100"/>
        </p:scale>
        <p:origin x="1500" y="52"/>
      </p:cViewPr>
      <p:guideLst>
        <p:guide orient="horz" pos="816"/>
        <p:guide pos="4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6888" cy="463550"/>
          </a:xfrm>
          <a:prstGeom prst="rect">
            <a:avLst/>
          </a:prstGeom>
          <a:noFill/>
          <a:ln>
            <a:noFill/>
          </a:ln>
        </p:spPr>
        <p:txBody>
          <a:bodyPr spcFirstLastPara="1" wrap="square" lIns="93150" tIns="46575" rIns="93150" bIns="46575" anchor="ctr"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4" name="Google Shape;4;n"/>
          <p:cNvSpPr txBox="1">
            <a:spLocks noGrp="1"/>
          </p:cNvSpPr>
          <p:nvPr>
            <p:ph type="dt" idx="10"/>
          </p:nvPr>
        </p:nvSpPr>
        <p:spPr>
          <a:xfrm>
            <a:off x="3973513" y="0"/>
            <a:ext cx="3036887" cy="463550"/>
          </a:xfrm>
          <a:prstGeom prst="rect">
            <a:avLst/>
          </a:prstGeom>
          <a:noFill/>
          <a:ln>
            <a:noFill/>
          </a:ln>
        </p:spPr>
        <p:txBody>
          <a:bodyPr spcFirstLastPara="1" wrap="square" lIns="93150" tIns="46575" rIns="93150" bIns="46575" anchor="ctr"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5" name="Google Shape;5;n"/>
          <p:cNvSpPr>
            <a:spLocks noGrp="1" noRot="1" noChangeAspect="1"/>
          </p:cNvSpPr>
          <p:nvPr>
            <p:ph type="sldImg" idx="3"/>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2850"/>
            <a:ext cx="3036888" cy="463550"/>
          </a:xfrm>
          <a:prstGeom prst="rect">
            <a:avLst/>
          </a:prstGeom>
          <a:noFill/>
          <a:ln>
            <a:noFill/>
          </a:ln>
        </p:spPr>
        <p:txBody>
          <a:bodyPr spcFirstLastPara="1" wrap="square" lIns="93150" tIns="46575" rIns="93150" bIns="46575"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8" name="Google Shape;8;n"/>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Helvetica Neue"/>
                <a:ea typeface="Helvetica Neue"/>
                <a:cs typeface="Helvetica Neue"/>
                <a:sym typeface="Helvetica Neue"/>
              </a:rPr>
              <a:t>1</a:t>
            </a:fld>
            <a:endParaRPr sz="1200" b="0" i="0" u="none" strike="noStrike" cap="none">
              <a:solidFill>
                <a:schemeClr val="dk1"/>
              </a:solidFill>
              <a:latin typeface="Helvetica Neue"/>
              <a:ea typeface="Helvetica Neue"/>
              <a:cs typeface="Helvetica Neue"/>
              <a:sym typeface="Helvetica Neue"/>
            </a:endParaRPr>
          </a:p>
        </p:txBody>
      </p:sp>
      <p:sp>
        <p:nvSpPr>
          <p:cNvPr id="88" name="Google Shape;88;p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a:t>
            </a:fld>
            <a:endParaRPr sz="1200">
              <a:solidFill>
                <a:schemeClr val="dk1"/>
              </a:solidFill>
              <a:latin typeface="Helvetica Neue"/>
              <a:ea typeface="Helvetica Neue"/>
              <a:cs typeface="Helvetica Neue"/>
              <a:sym typeface="Helvetica Neue"/>
            </a:endParaRPr>
          </a:p>
        </p:txBody>
      </p:sp>
      <p:sp>
        <p:nvSpPr>
          <p:cNvPr id="95" name="Google Shape;95;p2: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p2: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a:t>
            </a:fld>
            <a:endParaRPr sz="1200">
              <a:solidFill>
                <a:schemeClr val="dk1"/>
              </a:solidFill>
              <a:latin typeface="Helvetica Neue"/>
              <a:ea typeface="Helvetica Neue"/>
              <a:cs typeface="Helvetica Neue"/>
              <a:sym typeface="Helvetica Neue"/>
            </a:endParaRPr>
          </a:p>
        </p:txBody>
      </p:sp>
      <p:sp>
        <p:nvSpPr>
          <p:cNvPr id="105" name="Google Shape;105;p3: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 name="Google Shape;106;p3: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116" name="Google Shape;116;p4: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126" name="Google Shape;126;p5: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7</a:t>
            </a:fld>
            <a:endParaRPr sz="1200">
              <a:solidFill>
                <a:schemeClr val="dk1"/>
              </a:solidFill>
              <a:latin typeface="Helvetica Neue"/>
              <a:ea typeface="Helvetica Neue"/>
              <a:cs typeface="Helvetica Neue"/>
              <a:sym typeface="Helvetica Neue"/>
            </a:endParaRPr>
          </a:p>
        </p:txBody>
      </p:sp>
      <p:sp>
        <p:nvSpPr>
          <p:cNvPr id="145" name="Google Shape;145;p7: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7: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8</a:t>
            </a:fld>
            <a:endParaRPr sz="1200">
              <a:solidFill>
                <a:schemeClr val="dk1"/>
              </a:solidFill>
              <a:latin typeface="Helvetica Neue"/>
              <a:ea typeface="Helvetica Neue"/>
              <a:cs typeface="Helvetica Neue"/>
              <a:sym typeface="Helvetica Neue"/>
            </a:endParaRPr>
          </a:p>
        </p:txBody>
      </p:sp>
      <p:sp>
        <p:nvSpPr>
          <p:cNvPr id="135" name="Google Shape;135;p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6" name="Google Shape;136;p6: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9</a:t>
            </a:fld>
            <a:endParaRPr sz="1200">
              <a:solidFill>
                <a:schemeClr val="dk1"/>
              </a:solidFill>
              <a:latin typeface="Helvetica Neue"/>
              <a:ea typeface="Helvetica Neue"/>
              <a:cs typeface="Helvetica Neue"/>
              <a:sym typeface="Helvetica Neue"/>
            </a:endParaRPr>
          </a:p>
        </p:txBody>
      </p:sp>
      <p:sp>
        <p:nvSpPr>
          <p:cNvPr id="154" name="Google Shape;154;p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p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rmAutofit/>
          </a:bodyPr>
          <a:lstStyle/>
          <a:p>
            <a:pPr marL="0" lvl="0" indent="0" algn="l" rtl="0">
              <a:spcBef>
                <a:spcPts val="0"/>
              </a:spcBef>
              <a:spcAft>
                <a:spcPts val="0"/>
              </a:spcAft>
              <a:buNone/>
            </a:pPr>
            <a:endParaRPr/>
          </a:p>
        </p:txBody>
      </p:sp>
      <p:sp>
        <p:nvSpPr>
          <p:cNvPr id="164" name="Google Shape;164;p9: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rmAutofit/>
          </a:bodyPr>
          <a:lstStyle/>
          <a:p>
            <a:pPr marL="0" lvl="0" indent="0" algn="l" rtl="0">
              <a:spcBef>
                <a:spcPts val="0"/>
              </a:spcBef>
              <a:spcAft>
                <a:spcPts val="0"/>
              </a:spcAft>
              <a:buNone/>
            </a:pPr>
            <a:endParaRPr/>
          </a:p>
        </p:txBody>
      </p:sp>
      <p:sp>
        <p:nvSpPr>
          <p:cNvPr id="174" name="Google Shape;174;p10: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rmAutofit/>
          </a:bodyPr>
          <a:lstStyle/>
          <a:p>
            <a:pPr marL="0" lvl="0" indent="0" algn="l" rtl="0">
              <a:spcBef>
                <a:spcPts val="0"/>
              </a:spcBef>
              <a:spcAft>
                <a:spcPts val="0"/>
              </a:spcAft>
              <a:buNone/>
            </a:pPr>
            <a:endParaRPr/>
          </a:p>
        </p:txBody>
      </p:sp>
      <p:sp>
        <p:nvSpPr>
          <p:cNvPr id="184" name="Google Shape;184;p1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13</a:t>
            </a:fld>
            <a:endParaRPr sz="1200">
              <a:solidFill>
                <a:schemeClr val="dk1"/>
              </a:solidFill>
              <a:latin typeface="Helvetica Neue"/>
              <a:ea typeface="Helvetica Neue"/>
              <a:cs typeface="Helvetica Neue"/>
              <a:sym typeface="Helvetica Neue"/>
            </a:endParaRPr>
          </a:p>
        </p:txBody>
      </p:sp>
      <p:sp>
        <p:nvSpPr>
          <p:cNvPr id="250" name="Google Shape;250;p1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1" name="Google Shape;251;p1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9: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14</a:t>
            </a:fld>
            <a:endParaRPr sz="1200">
              <a:solidFill>
                <a:schemeClr val="dk1"/>
              </a:solidFill>
              <a:latin typeface="Helvetica Neue"/>
              <a:ea typeface="Helvetica Neue"/>
              <a:cs typeface="Helvetica Neue"/>
              <a:sym typeface="Helvetica Neue"/>
            </a:endParaRPr>
          </a:p>
        </p:txBody>
      </p:sp>
      <p:sp>
        <p:nvSpPr>
          <p:cNvPr id="260" name="Google Shape;260;p19: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p19: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0: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15</a:t>
            </a:fld>
            <a:endParaRPr sz="1200">
              <a:solidFill>
                <a:schemeClr val="dk1"/>
              </a:solidFill>
              <a:latin typeface="Helvetica Neue"/>
              <a:ea typeface="Helvetica Neue"/>
              <a:cs typeface="Helvetica Neue"/>
              <a:sym typeface="Helvetica Neue"/>
            </a:endParaRPr>
          </a:p>
        </p:txBody>
      </p:sp>
      <p:sp>
        <p:nvSpPr>
          <p:cNvPr id="270" name="Google Shape;270;p20: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1" name="Google Shape;271;p20: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16</a:t>
            </a:fld>
            <a:endParaRPr sz="1200">
              <a:solidFill>
                <a:schemeClr val="dk1"/>
              </a:solidFill>
              <a:latin typeface="Helvetica Neue"/>
              <a:ea typeface="Helvetica Neue"/>
              <a:cs typeface="Helvetica Neue"/>
              <a:sym typeface="Helvetica Neue"/>
            </a:endParaRPr>
          </a:p>
        </p:txBody>
      </p:sp>
      <p:sp>
        <p:nvSpPr>
          <p:cNvPr id="280" name="Google Shape;280;p2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2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2: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17</a:t>
            </a:fld>
            <a:endParaRPr sz="1200">
              <a:solidFill>
                <a:schemeClr val="dk1"/>
              </a:solidFill>
              <a:latin typeface="Helvetica Neue"/>
              <a:ea typeface="Helvetica Neue"/>
              <a:cs typeface="Helvetica Neue"/>
              <a:sym typeface="Helvetica Neue"/>
            </a:endParaRPr>
          </a:p>
        </p:txBody>
      </p:sp>
      <p:sp>
        <p:nvSpPr>
          <p:cNvPr id="291" name="Google Shape;291;p22: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22: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3: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02" name="Google Shape;302;p23: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4: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10" name="Google Shape;310;p24: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5: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20</a:t>
            </a:fld>
            <a:endParaRPr sz="1200">
              <a:solidFill>
                <a:schemeClr val="dk1"/>
              </a:solidFill>
              <a:latin typeface="Helvetica Neue"/>
              <a:ea typeface="Helvetica Neue"/>
              <a:cs typeface="Helvetica Neue"/>
              <a:sym typeface="Helvetica Neue"/>
            </a:endParaRPr>
          </a:p>
        </p:txBody>
      </p:sp>
      <p:sp>
        <p:nvSpPr>
          <p:cNvPr id="318" name="Google Shape;318;p25: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9" name="Google Shape;319;p25: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6: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28" name="Google Shape;328;p2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7: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36" name="Google Shape;336;p27: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23</a:t>
            </a:fld>
            <a:endParaRPr sz="1200">
              <a:solidFill>
                <a:schemeClr val="dk1"/>
              </a:solidFill>
              <a:latin typeface="Helvetica Neue"/>
              <a:ea typeface="Helvetica Neue"/>
              <a:cs typeface="Helvetica Neue"/>
              <a:sym typeface="Helvetica Neue"/>
            </a:endParaRPr>
          </a:p>
        </p:txBody>
      </p:sp>
      <p:sp>
        <p:nvSpPr>
          <p:cNvPr id="345" name="Google Shape;345;p2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6" name="Google Shape;346;p2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9: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55" name="Google Shape;355;p29: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0: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25</a:t>
            </a:fld>
            <a:endParaRPr sz="1200">
              <a:solidFill>
                <a:schemeClr val="dk1"/>
              </a:solidFill>
              <a:latin typeface="Helvetica Neue"/>
              <a:ea typeface="Helvetica Neue"/>
              <a:cs typeface="Helvetica Neue"/>
              <a:sym typeface="Helvetica Neue"/>
            </a:endParaRPr>
          </a:p>
        </p:txBody>
      </p:sp>
      <p:sp>
        <p:nvSpPr>
          <p:cNvPr id="364" name="Google Shape;364;p30: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5" name="Google Shape;365;p30: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26</a:t>
            </a:fld>
            <a:endParaRPr sz="1200">
              <a:solidFill>
                <a:schemeClr val="dk1"/>
              </a:solidFill>
              <a:latin typeface="Helvetica Neue"/>
              <a:ea typeface="Helvetica Neue"/>
              <a:cs typeface="Helvetica Neue"/>
              <a:sym typeface="Helvetica Neue"/>
            </a:endParaRPr>
          </a:p>
        </p:txBody>
      </p:sp>
      <p:sp>
        <p:nvSpPr>
          <p:cNvPr id="375" name="Google Shape;375;p3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6" name="Google Shape;376;p3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2: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27</a:t>
            </a:fld>
            <a:endParaRPr sz="1200">
              <a:solidFill>
                <a:schemeClr val="dk1"/>
              </a:solidFill>
              <a:latin typeface="Helvetica Neue"/>
              <a:ea typeface="Helvetica Neue"/>
              <a:cs typeface="Helvetica Neue"/>
              <a:sym typeface="Helvetica Neue"/>
            </a:endParaRPr>
          </a:p>
        </p:txBody>
      </p:sp>
      <p:sp>
        <p:nvSpPr>
          <p:cNvPr id="385" name="Google Shape;385;p32: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6" name="Google Shape;386;p32: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3: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28</a:t>
            </a:fld>
            <a:endParaRPr sz="1200">
              <a:solidFill>
                <a:schemeClr val="dk1"/>
              </a:solidFill>
              <a:latin typeface="Helvetica Neue"/>
              <a:ea typeface="Helvetica Neue"/>
              <a:cs typeface="Helvetica Neue"/>
              <a:sym typeface="Helvetica Neue"/>
            </a:endParaRPr>
          </a:p>
        </p:txBody>
      </p:sp>
      <p:sp>
        <p:nvSpPr>
          <p:cNvPr id="395" name="Google Shape;395;p33: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6" name="Google Shape;396;p33: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4: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29</a:t>
            </a:fld>
            <a:endParaRPr sz="1200">
              <a:solidFill>
                <a:schemeClr val="dk1"/>
              </a:solidFill>
              <a:latin typeface="Helvetica Neue"/>
              <a:ea typeface="Helvetica Neue"/>
              <a:cs typeface="Helvetica Neue"/>
              <a:sym typeface="Helvetica Neue"/>
            </a:endParaRPr>
          </a:p>
        </p:txBody>
      </p:sp>
      <p:sp>
        <p:nvSpPr>
          <p:cNvPr id="407" name="Google Shape;407;p34: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34: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35: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417" name="Google Shape;417;p35: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6: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425" name="Google Shape;425;p3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7: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434" name="Google Shape;434;p37: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33</a:t>
            </a:fld>
            <a:endParaRPr sz="1200">
              <a:solidFill>
                <a:schemeClr val="dk1"/>
              </a:solidFill>
              <a:latin typeface="Helvetica Neue"/>
              <a:ea typeface="Helvetica Neue"/>
              <a:cs typeface="Helvetica Neue"/>
              <a:sym typeface="Helvetica Neue"/>
            </a:endParaRPr>
          </a:p>
        </p:txBody>
      </p:sp>
      <p:sp>
        <p:nvSpPr>
          <p:cNvPr id="442" name="Google Shape;442;p3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3" name="Google Shape;443;p3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9: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34</a:t>
            </a:fld>
            <a:endParaRPr sz="1200">
              <a:solidFill>
                <a:schemeClr val="dk1"/>
              </a:solidFill>
              <a:latin typeface="Helvetica Neue"/>
              <a:ea typeface="Helvetica Neue"/>
              <a:cs typeface="Helvetica Neue"/>
              <a:sym typeface="Helvetica Neue"/>
            </a:endParaRPr>
          </a:p>
        </p:txBody>
      </p:sp>
      <p:sp>
        <p:nvSpPr>
          <p:cNvPr id="452" name="Google Shape;452;p39: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3" name="Google Shape;453;p39: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0: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35</a:t>
            </a:fld>
            <a:endParaRPr sz="1200">
              <a:solidFill>
                <a:schemeClr val="dk1"/>
              </a:solidFill>
              <a:latin typeface="Helvetica Neue"/>
              <a:ea typeface="Helvetica Neue"/>
              <a:cs typeface="Helvetica Neue"/>
              <a:sym typeface="Helvetica Neue"/>
            </a:endParaRPr>
          </a:p>
        </p:txBody>
      </p:sp>
      <p:sp>
        <p:nvSpPr>
          <p:cNvPr id="462" name="Google Shape;462;p40: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3" name="Google Shape;463;p40: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36</a:t>
            </a:fld>
            <a:endParaRPr sz="1200">
              <a:solidFill>
                <a:schemeClr val="dk1"/>
              </a:solidFill>
              <a:latin typeface="Helvetica Neue"/>
              <a:ea typeface="Helvetica Neue"/>
              <a:cs typeface="Helvetica Neue"/>
              <a:sym typeface="Helvetica Neue"/>
            </a:endParaRPr>
          </a:p>
        </p:txBody>
      </p:sp>
      <p:sp>
        <p:nvSpPr>
          <p:cNvPr id="473" name="Google Shape;473;p4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4" name="Google Shape;474;p4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2:notes"/>
          <p:cNvSpPr txBox="1">
            <a:spLocks noGrp="1"/>
          </p:cNvSpPr>
          <p:nvPr>
            <p:ph type="sldNum" idx="12"/>
          </p:nvPr>
        </p:nvSpPr>
        <p:spPr>
          <a:xfrm>
            <a:off x="6056205" y="7183158"/>
            <a:ext cx="4634775" cy="378401"/>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37</a:t>
            </a:fld>
            <a:endParaRPr sz="1200">
              <a:solidFill>
                <a:schemeClr val="dk1"/>
              </a:solidFill>
              <a:latin typeface="Helvetica Neue"/>
              <a:ea typeface="Helvetica Neue"/>
              <a:cs typeface="Helvetica Neue"/>
              <a:sym typeface="Helvetica Neue"/>
            </a:endParaRPr>
          </a:p>
        </p:txBody>
      </p:sp>
      <p:sp>
        <p:nvSpPr>
          <p:cNvPr id="483" name="Google Shape;483;p42:notes"/>
          <p:cNvSpPr>
            <a:spLocks noGrp="1" noRot="1" noChangeAspect="1"/>
          </p:cNvSpPr>
          <p:nvPr>
            <p:ph type="sldImg" idx="2"/>
          </p:nvPr>
        </p:nvSpPr>
        <p:spPr>
          <a:xfrm>
            <a:off x="3455988" y="566738"/>
            <a:ext cx="3781425" cy="28368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4" name="Google Shape;484;p42:notes"/>
          <p:cNvSpPr txBox="1">
            <a:spLocks noGrp="1"/>
          </p:cNvSpPr>
          <p:nvPr>
            <p:ph type="body" idx="1"/>
          </p:nvPr>
        </p:nvSpPr>
        <p:spPr>
          <a:xfrm>
            <a:off x="1070309" y="3592871"/>
            <a:ext cx="8552783" cy="340302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43: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493" name="Google Shape;493;p43: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4: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502" name="Google Shape;502;p44: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5: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511" name="Google Shape;511;p45: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46: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519" name="Google Shape;519;p4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47: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42</a:t>
            </a:fld>
            <a:endParaRPr sz="1200">
              <a:solidFill>
                <a:schemeClr val="dk1"/>
              </a:solidFill>
              <a:latin typeface="Helvetica Neue"/>
              <a:ea typeface="Helvetica Neue"/>
              <a:cs typeface="Helvetica Neue"/>
              <a:sym typeface="Helvetica Neue"/>
            </a:endParaRPr>
          </a:p>
        </p:txBody>
      </p:sp>
      <p:sp>
        <p:nvSpPr>
          <p:cNvPr id="527" name="Google Shape;527;p47: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8" name="Google Shape;528;p47: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4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43</a:t>
            </a:fld>
            <a:endParaRPr sz="1200">
              <a:solidFill>
                <a:schemeClr val="dk1"/>
              </a:solidFill>
              <a:latin typeface="Helvetica Neue"/>
              <a:ea typeface="Helvetica Neue"/>
              <a:cs typeface="Helvetica Neue"/>
              <a:sym typeface="Helvetica Neue"/>
            </a:endParaRPr>
          </a:p>
        </p:txBody>
      </p:sp>
      <p:sp>
        <p:nvSpPr>
          <p:cNvPr id="537" name="Google Shape;537;p4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8" name="Google Shape;538;p4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49:notes"/>
          <p:cNvSpPr>
            <a:spLocks noGrp="1" noRot="1" noChangeAspect="1"/>
          </p:cNvSpPr>
          <p:nvPr>
            <p:ph type="sldImg" idx="2"/>
          </p:nvPr>
        </p:nvSpPr>
        <p:spPr>
          <a:xfrm>
            <a:off x="3646488" y="946150"/>
            <a:ext cx="3400425"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7" name="Google Shape;547;p49:notes"/>
          <p:cNvSpPr txBox="1">
            <a:spLocks noGrp="1"/>
          </p:cNvSpPr>
          <p:nvPr>
            <p:ph type="body" idx="1"/>
          </p:nvPr>
        </p:nvSpPr>
        <p:spPr>
          <a:xfrm>
            <a:off x="1069975" y="3640138"/>
            <a:ext cx="8553450" cy="2978150"/>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50:notes"/>
          <p:cNvSpPr txBox="1">
            <a:spLocks noGrp="1"/>
          </p:cNvSpPr>
          <p:nvPr>
            <p:ph type="sldNum" idx="12"/>
          </p:nvPr>
        </p:nvSpPr>
        <p:spPr>
          <a:xfrm>
            <a:off x="6056205" y="7183158"/>
            <a:ext cx="4634775" cy="378401"/>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45</a:t>
            </a:fld>
            <a:endParaRPr sz="1200">
              <a:solidFill>
                <a:schemeClr val="dk1"/>
              </a:solidFill>
              <a:latin typeface="Helvetica Neue"/>
              <a:ea typeface="Helvetica Neue"/>
              <a:cs typeface="Helvetica Neue"/>
              <a:sym typeface="Helvetica Neue"/>
            </a:endParaRPr>
          </a:p>
        </p:txBody>
      </p:sp>
      <p:sp>
        <p:nvSpPr>
          <p:cNvPr id="569" name="Google Shape;569;p50:notes"/>
          <p:cNvSpPr>
            <a:spLocks noGrp="1" noRot="1" noChangeAspect="1"/>
          </p:cNvSpPr>
          <p:nvPr>
            <p:ph type="sldImg" idx="2"/>
          </p:nvPr>
        </p:nvSpPr>
        <p:spPr>
          <a:xfrm>
            <a:off x="3455988" y="566738"/>
            <a:ext cx="3781425" cy="28368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0" name="Google Shape;570;p50:notes"/>
          <p:cNvSpPr txBox="1">
            <a:spLocks noGrp="1"/>
          </p:cNvSpPr>
          <p:nvPr>
            <p:ph type="body" idx="1"/>
          </p:nvPr>
        </p:nvSpPr>
        <p:spPr>
          <a:xfrm>
            <a:off x="1070309" y="3592871"/>
            <a:ext cx="8552783" cy="340302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51: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578" name="Google Shape;578;p5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52: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47</a:t>
            </a:fld>
            <a:endParaRPr sz="1200">
              <a:solidFill>
                <a:schemeClr val="dk1"/>
              </a:solidFill>
              <a:latin typeface="Helvetica Neue"/>
              <a:ea typeface="Helvetica Neue"/>
              <a:cs typeface="Helvetica Neue"/>
              <a:sym typeface="Helvetica Neue"/>
            </a:endParaRPr>
          </a:p>
        </p:txBody>
      </p:sp>
      <p:sp>
        <p:nvSpPr>
          <p:cNvPr id="586" name="Google Shape;586;p5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7" name="Google Shape;587;p52: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53: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48</a:t>
            </a:fld>
            <a:endParaRPr sz="1200">
              <a:solidFill>
                <a:schemeClr val="dk1"/>
              </a:solidFill>
              <a:latin typeface="Helvetica Neue"/>
              <a:ea typeface="Helvetica Neue"/>
              <a:cs typeface="Helvetica Neue"/>
              <a:sym typeface="Helvetica Neue"/>
            </a:endParaRPr>
          </a:p>
        </p:txBody>
      </p:sp>
      <p:sp>
        <p:nvSpPr>
          <p:cNvPr id="595" name="Google Shape;595;p5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6" name="Google Shape;596;p53: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54: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49</a:t>
            </a:fld>
            <a:endParaRPr sz="1200">
              <a:solidFill>
                <a:schemeClr val="dk1"/>
              </a:solidFill>
              <a:latin typeface="Helvetica Neue"/>
              <a:ea typeface="Helvetica Neue"/>
              <a:cs typeface="Helvetica Neue"/>
              <a:sym typeface="Helvetica Neue"/>
            </a:endParaRPr>
          </a:p>
        </p:txBody>
      </p:sp>
      <p:sp>
        <p:nvSpPr>
          <p:cNvPr id="604" name="Google Shape;604;p5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5" name="Google Shape;605;p54: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55: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50</a:t>
            </a:fld>
            <a:endParaRPr sz="1200">
              <a:solidFill>
                <a:schemeClr val="dk1"/>
              </a:solidFill>
              <a:latin typeface="Helvetica Neue"/>
              <a:ea typeface="Helvetica Neue"/>
              <a:cs typeface="Helvetica Neue"/>
              <a:sym typeface="Helvetica Neue"/>
            </a:endParaRPr>
          </a:p>
        </p:txBody>
      </p:sp>
      <p:sp>
        <p:nvSpPr>
          <p:cNvPr id="614" name="Google Shape;614;p5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5" name="Google Shape;615;p55: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56: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623" name="Google Shape;623;p5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57: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52</a:t>
            </a:fld>
            <a:endParaRPr sz="1200">
              <a:solidFill>
                <a:schemeClr val="dk1"/>
              </a:solidFill>
              <a:latin typeface="Helvetica Neue"/>
              <a:ea typeface="Helvetica Neue"/>
              <a:cs typeface="Helvetica Neue"/>
              <a:sym typeface="Helvetica Neue"/>
            </a:endParaRPr>
          </a:p>
        </p:txBody>
      </p:sp>
      <p:sp>
        <p:nvSpPr>
          <p:cNvPr id="631" name="Google Shape;631;p5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2" name="Google Shape;632;p57: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58: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53</a:t>
            </a:fld>
            <a:endParaRPr sz="1200">
              <a:solidFill>
                <a:schemeClr val="dk1"/>
              </a:solidFill>
              <a:latin typeface="Helvetica Neue"/>
              <a:ea typeface="Helvetica Neue"/>
              <a:cs typeface="Helvetica Neue"/>
              <a:sym typeface="Helvetica Neue"/>
            </a:endParaRPr>
          </a:p>
        </p:txBody>
      </p:sp>
      <p:sp>
        <p:nvSpPr>
          <p:cNvPr id="641" name="Google Shape;641;p5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2" name="Google Shape;642;p58: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59: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54</a:t>
            </a:fld>
            <a:endParaRPr sz="1200">
              <a:solidFill>
                <a:schemeClr val="dk1"/>
              </a:solidFill>
              <a:latin typeface="Helvetica Neue"/>
              <a:ea typeface="Helvetica Neue"/>
              <a:cs typeface="Helvetica Neue"/>
              <a:sym typeface="Helvetica Neue"/>
            </a:endParaRPr>
          </a:p>
        </p:txBody>
      </p:sp>
      <p:sp>
        <p:nvSpPr>
          <p:cNvPr id="650" name="Google Shape;650;p5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1" name="Google Shape;651;p59: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60: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55</a:t>
            </a:fld>
            <a:endParaRPr sz="1200">
              <a:solidFill>
                <a:schemeClr val="dk1"/>
              </a:solidFill>
              <a:latin typeface="Helvetica Neue"/>
              <a:ea typeface="Helvetica Neue"/>
              <a:cs typeface="Helvetica Neue"/>
              <a:sym typeface="Helvetica Neue"/>
            </a:endParaRPr>
          </a:p>
        </p:txBody>
      </p:sp>
      <p:sp>
        <p:nvSpPr>
          <p:cNvPr id="659" name="Google Shape;659;p6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0" name="Google Shape;660;p60: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6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56</a:t>
            </a:fld>
            <a:endParaRPr sz="1200">
              <a:solidFill>
                <a:schemeClr val="dk1"/>
              </a:solidFill>
              <a:latin typeface="Helvetica Neue"/>
              <a:ea typeface="Helvetica Neue"/>
              <a:cs typeface="Helvetica Neue"/>
              <a:sym typeface="Helvetica Neue"/>
            </a:endParaRPr>
          </a:p>
        </p:txBody>
      </p:sp>
      <p:sp>
        <p:nvSpPr>
          <p:cNvPr id="668" name="Google Shape;668;p6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9" name="Google Shape;669;p6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62: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57</a:t>
            </a:fld>
            <a:endParaRPr sz="1200">
              <a:solidFill>
                <a:schemeClr val="dk1"/>
              </a:solidFill>
              <a:latin typeface="Helvetica Neue"/>
              <a:ea typeface="Helvetica Neue"/>
              <a:cs typeface="Helvetica Neue"/>
              <a:sym typeface="Helvetica Neue"/>
            </a:endParaRPr>
          </a:p>
        </p:txBody>
      </p:sp>
      <p:sp>
        <p:nvSpPr>
          <p:cNvPr id="677" name="Google Shape;677;p62: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8" name="Google Shape;678;p62: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Title Slide" type="title">
  <p:cSld name="TITLE">
    <p:spTree>
      <p:nvGrpSpPr>
        <p:cNvPr id="1" name="Shape 15"/>
        <p:cNvGrpSpPr/>
        <p:nvPr/>
      </p:nvGrpSpPr>
      <p:grpSpPr>
        <a:xfrm>
          <a:off x="0" y="0"/>
          <a:ext cx="0" cy="0"/>
          <a:chOff x="0" y="0"/>
          <a:chExt cx="0" cy="0"/>
        </a:xfrm>
      </p:grpSpPr>
      <p:sp>
        <p:nvSpPr>
          <p:cNvPr id="16" name="Google Shape;16;p64"/>
          <p:cNvSpPr txBox="1">
            <a:spLocks noGrp="1"/>
          </p:cNvSpPr>
          <p:nvPr>
            <p:ph type="ctrTitle"/>
          </p:nvPr>
        </p:nvSpPr>
        <p:spPr>
          <a:xfrm>
            <a:off x="685800" y="685800"/>
            <a:ext cx="7772400" cy="212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300"/>
              <a:buFont typeface="Calibri"/>
              <a:buNone/>
              <a:defRPr sz="4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6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6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5" name="Google Shape;35;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6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1" name="Google Shape;41;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7" name="Google Shape;47;p7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8" name="Google Shape;48;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7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7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7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 name="Google Shape;55;p7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6" name="Google Shape;56;p7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7" name="Google Shape;57;p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7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7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7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7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7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73"/>
          <p:cNvSpPr>
            <a:spLocks noGrp="1"/>
          </p:cNvSpPr>
          <p:nvPr>
            <p:ph type="pic" idx="2"/>
          </p:nvPr>
        </p:nvSpPr>
        <p:spPr>
          <a:xfrm>
            <a:off x="1792288" y="612775"/>
            <a:ext cx="5486400" cy="4114800"/>
          </a:xfrm>
          <a:prstGeom prst="rect">
            <a:avLst/>
          </a:prstGeom>
          <a:noFill/>
          <a:ln>
            <a:noFill/>
          </a:ln>
        </p:spPr>
      </p:sp>
      <p:sp>
        <p:nvSpPr>
          <p:cNvPr id="70" name="Google Shape;70;p7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4"/>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75"/>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75"/>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500" b="1"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62318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3" name="Google Shape;1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4" name="Google Shape;14;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Verdana"/>
                <a:ea typeface="Verdana"/>
                <a:cs typeface="Verdana"/>
                <a:sym typeface="Verdana"/>
              </a:defRPr>
            </a:lvl1pPr>
            <a:lvl2pPr marL="0" marR="0" lvl="1" indent="0" algn="r" rtl="0">
              <a:spcBef>
                <a:spcPts val="0"/>
              </a:spcBef>
              <a:spcAft>
                <a:spcPts val="0"/>
              </a:spcAft>
              <a:buNone/>
              <a:defRPr sz="1200" b="0" i="0" u="none" strike="noStrike" cap="none">
                <a:solidFill>
                  <a:srgbClr val="888888"/>
                </a:solidFill>
                <a:latin typeface="Verdana"/>
                <a:ea typeface="Verdana"/>
                <a:cs typeface="Verdana"/>
                <a:sym typeface="Verdana"/>
              </a:defRPr>
            </a:lvl2pPr>
            <a:lvl3pPr marL="0" marR="0" lvl="2" indent="0" algn="r" rtl="0">
              <a:spcBef>
                <a:spcPts val="0"/>
              </a:spcBef>
              <a:spcAft>
                <a:spcPts val="0"/>
              </a:spcAft>
              <a:buNone/>
              <a:defRPr sz="1200" b="0" i="0" u="none" strike="noStrike" cap="none">
                <a:solidFill>
                  <a:srgbClr val="888888"/>
                </a:solidFill>
                <a:latin typeface="Verdana"/>
                <a:ea typeface="Verdana"/>
                <a:cs typeface="Verdana"/>
                <a:sym typeface="Verdana"/>
              </a:defRPr>
            </a:lvl3pPr>
            <a:lvl4pPr marL="0" marR="0" lvl="3" indent="0" algn="r" rtl="0">
              <a:spcBef>
                <a:spcPts val="0"/>
              </a:spcBef>
              <a:spcAft>
                <a:spcPts val="0"/>
              </a:spcAft>
              <a:buNone/>
              <a:defRPr sz="1200" b="0" i="0" u="none" strike="noStrike" cap="none">
                <a:solidFill>
                  <a:srgbClr val="888888"/>
                </a:solidFill>
                <a:latin typeface="Verdana"/>
                <a:ea typeface="Verdana"/>
                <a:cs typeface="Verdana"/>
                <a:sym typeface="Verdana"/>
              </a:defRPr>
            </a:lvl4pPr>
            <a:lvl5pPr marL="0" marR="0" lvl="4" indent="0" algn="r" rtl="0">
              <a:spcBef>
                <a:spcPts val="0"/>
              </a:spcBef>
              <a:spcAft>
                <a:spcPts val="0"/>
              </a:spcAft>
              <a:buNone/>
              <a:defRPr sz="1200" b="0" i="0" u="none" strike="noStrike" cap="none">
                <a:solidFill>
                  <a:srgbClr val="888888"/>
                </a:solidFill>
                <a:latin typeface="Verdana"/>
                <a:ea typeface="Verdana"/>
                <a:cs typeface="Verdana"/>
                <a:sym typeface="Verdana"/>
              </a:defRPr>
            </a:lvl5pPr>
            <a:lvl6pPr marL="0" marR="0" lvl="5" indent="0" algn="r" rtl="0">
              <a:spcBef>
                <a:spcPts val="0"/>
              </a:spcBef>
              <a:spcAft>
                <a:spcPts val="0"/>
              </a:spcAft>
              <a:buNone/>
              <a:defRPr sz="1200" b="0" i="0" u="none" strike="noStrike" cap="none">
                <a:solidFill>
                  <a:srgbClr val="888888"/>
                </a:solidFill>
                <a:latin typeface="Verdana"/>
                <a:ea typeface="Verdana"/>
                <a:cs typeface="Verdana"/>
                <a:sym typeface="Verdana"/>
              </a:defRPr>
            </a:lvl6pPr>
            <a:lvl7pPr marL="0" marR="0" lvl="6" indent="0" algn="r" rtl="0">
              <a:spcBef>
                <a:spcPts val="0"/>
              </a:spcBef>
              <a:spcAft>
                <a:spcPts val="0"/>
              </a:spcAft>
              <a:buNone/>
              <a:defRPr sz="1200" b="0" i="0" u="none" strike="noStrike" cap="none">
                <a:solidFill>
                  <a:srgbClr val="888888"/>
                </a:solidFill>
                <a:latin typeface="Verdana"/>
                <a:ea typeface="Verdana"/>
                <a:cs typeface="Verdana"/>
                <a:sym typeface="Verdana"/>
              </a:defRPr>
            </a:lvl7pPr>
            <a:lvl8pPr marL="0" marR="0" lvl="7" indent="0" algn="r" rtl="0">
              <a:spcBef>
                <a:spcPts val="0"/>
              </a:spcBef>
              <a:spcAft>
                <a:spcPts val="0"/>
              </a:spcAft>
              <a:buNone/>
              <a:defRPr sz="1200" b="0" i="0" u="none" strike="noStrike" cap="none">
                <a:solidFill>
                  <a:srgbClr val="888888"/>
                </a:solidFill>
                <a:latin typeface="Verdana"/>
                <a:ea typeface="Verdana"/>
                <a:cs typeface="Verdana"/>
                <a:sym typeface="Verdana"/>
              </a:defRPr>
            </a:lvl8pPr>
            <a:lvl9pPr marL="0" marR="0" lvl="8" indent="0" algn="r" rtl="0">
              <a:spcBef>
                <a:spcPts val="0"/>
              </a:spcBef>
              <a:spcAft>
                <a:spcPts val="0"/>
              </a:spcAft>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763105" y="1986446"/>
            <a:ext cx="7772400" cy="212883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4300"/>
              <a:buFont typeface="Calibri"/>
              <a:buNone/>
            </a:pPr>
            <a:r>
              <a:rPr lang="en-US" b="1" dirty="0">
                <a:solidFill>
                  <a:schemeClr val="accent1"/>
                </a:solidFill>
                <a:latin typeface="Calibri"/>
                <a:ea typeface="Calibri"/>
                <a:cs typeface="Calibri"/>
                <a:sym typeface="Calibri"/>
              </a:rPr>
              <a:t>MEMORY MANAGEMENT</a:t>
            </a:r>
            <a:br>
              <a:rPr lang="en-US" dirty="0">
                <a:solidFill>
                  <a:schemeClr val="dk1"/>
                </a:solidFill>
                <a:latin typeface="Calibri"/>
                <a:ea typeface="Calibri"/>
                <a:cs typeface="Calibri"/>
                <a:sym typeface="Calibri"/>
              </a:rPr>
            </a:br>
            <a:r>
              <a:rPr lang="en-US" sz="2800" dirty="0">
                <a:solidFill>
                  <a:schemeClr val="dk1"/>
                </a:solidFill>
                <a:latin typeface="Calibri"/>
                <a:ea typeface="Calibri"/>
                <a:cs typeface="Calibri"/>
                <a:sym typeface="Calibri"/>
              </a:rPr>
              <a:t>Main Memory</a:t>
            </a:r>
            <a:br>
              <a:rPr lang="en-US" sz="2800" dirty="0">
                <a:solidFill>
                  <a:schemeClr val="dk1"/>
                </a:solidFill>
                <a:latin typeface="Calibri"/>
                <a:ea typeface="Calibri"/>
                <a:cs typeface="Calibri"/>
                <a:sym typeface="Calibri"/>
              </a:rPr>
            </a:br>
            <a:r>
              <a:rPr lang="en-US" sz="2000" dirty="0">
                <a:solidFill>
                  <a:schemeClr val="dk1"/>
                </a:solidFill>
                <a:latin typeface="Calibri"/>
                <a:ea typeface="Calibri"/>
                <a:cs typeface="Calibri"/>
                <a:sym typeface="Calibri"/>
              </a:rPr>
              <a:t>CS2006  OS </a:t>
            </a:r>
            <a:endParaRPr dirty="0"/>
          </a:p>
        </p:txBody>
      </p:sp>
      <p:sp>
        <p:nvSpPr>
          <p:cNvPr id="92" name="Google Shape;92;p1"/>
          <p:cNvSpPr/>
          <p:nvPr/>
        </p:nvSpPr>
        <p:spPr>
          <a:xfrm>
            <a:off x="2491530" y="5165898"/>
            <a:ext cx="432097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chemeClr val="accent1"/>
                </a:solidFill>
                <a:latin typeface="Verdana"/>
                <a:ea typeface="Verdana"/>
                <a:cs typeface="Verdana"/>
                <a:sym typeface="Verdana"/>
              </a:rPr>
              <a:t>Course Supervisor: Anaum Hamid</a:t>
            </a:r>
            <a:endParaRPr sz="1600" b="1">
              <a:solidFill>
                <a:schemeClr val="accent1"/>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1060450" y="228830"/>
            <a:ext cx="6764338"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BACKGROUND</a:t>
            </a:r>
            <a:endParaRPr/>
          </a:p>
        </p:txBody>
      </p:sp>
      <p:sp>
        <p:nvSpPr>
          <p:cNvPr id="99" name="Google Shape;99;p2"/>
          <p:cNvSpPr txBox="1">
            <a:spLocks noGrp="1"/>
          </p:cNvSpPr>
          <p:nvPr>
            <p:ph type="body" idx="1"/>
          </p:nvPr>
        </p:nvSpPr>
        <p:spPr>
          <a:xfrm>
            <a:off x="849085" y="1208088"/>
            <a:ext cx="7669763" cy="44831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Font typeface="Noto Sans Symbols"/>
              <a:buChar char="⮚"/>
            </a:pPr>
            <a:r>
              <a:rPr lang="en-US" sz="2800"/>
              <a:t>Program must be brought (from disk)  into memory and placed within a process for it to be run.</a:t>
            </a:r>
            <a:endParaRPr/>
          </a:p>
          <a:p>
            <a:pPr marL="342900" lvl="0" indent="-320675" algn="l" rtl="0">
              <a:spcBef>
                <a:spcPts val="70"/>
              </a:spcBef>
              <a:spcAft>
                <a:spcPts val="0"/>
              </a:spcAft>
              <a:buClr>
                <a:schemeClr val="dk1"/>
              </a:buClr>
              <a:buSzPct val="100000"/>
              <a:buFont typeface="Noto Sans Symbols"/>
              <a:buNone/>
            </a:pPr>
            <a:endParaRPr sz="500"/>
          </a:p>
          <a:p>
            <a:pPr marL="342900" lvl="0" indent="-342900" algn="l" rtl="0">
              <a:spcBef>
                <a:spcPts val="392"/>
              </a:spcBef>
              <a:spcAft>
                <a:spcPts val="0"/>
              </a:spcAft>
              <a:buClr>
                <a:schemeClr val="dk1"/>
              </a:buClr>
              <a:buSzPct val="100000"/>
              <a:buFont typeface="Noto Sans Symbols"/>
              <a:buChar char="⮚"/>
            </a:pPr>
            <a:r>
              <a:rPr lang="en-US" sz="2800"/>
              <a:t>Main memory and registers are only storage CPU can access directly.</a:t>
            </a:r>
            <a:endParaRPr/>
          </a:p>
          <a:p>
            <a:pPr marL="0" lvl="0" indent="0" algn="l" rtl="0">
              <a:spcBef>
                <a:spcPts val="392"/>
              </a:spcBef>
              <a:spcAft>
                <a:spcPts val="0"/>
              </a:spcAft>
              <a:buClr>
                <a:schemeClr val="dk1"/>
              </a:buClr>
              <a:buSzPct val="100000"/>
              <a:buNone/>
            </a:pPr>
            <a:endParaRPr sz="2800"/>
          </a:p>
          <a:p>
            <a:pPr marL="342900" lvl="0" indent="-342900" algn="l" rtl="0">
              <a:spcBef>
                <a:spcPts val="392"/>
              </a:spcBef>
              <a:spcAft>
                <a:spcPts val="0"/>
              </a:spcAft>
              <a:buClr>
                <a:schemeClr val="dk1"/>
              </a:buClr>
              <a:buSzPct val="100000"/>
              <a:buFont typeface="Noto Sans Symbols"/>
              <a:buChar char="⮚"/>
            </a:pPr>
            <a:r>
              <a:rPr lang="en-US" sz="2800"/>
              <a:t>Memory unit only sees a stream of:</a:t>
            </a:r>
            <a:endParaRPr/>
          </a:p>
          <a:p>
            <a:pPr marL="742950" lvl="1" indent="-285750" algn="l" rtl="0">
              <a:spcBef>
                <a:spcPts val="336"/>
              </a:spcBef>
              <a:spcAft>
                <a:spcPts val="0"/>
              </a:spcAft>
              <a:buClr>
                <a:schemeClr val="dk1"/>
              </a:buClr>
              <a:buSzPct val="100000"/>
              <a:buFont typeface="Noto Sans Symbols"/>
              <a:buChar char="⮚"/>
            </a:pPr>
            <a:r>
              <a:rPr lang="en-US" sz="2400"/>
              <a:t>addresses + read requests, or </a:t>
            </a:r>
            <a:endParaRPr/>
          </a:p>
          <a:p>
            <a:pPr marL="742950" lvl="1" indent="-285750" algn="l" rtl="0">
              <a:spcBef>
                <a:spcPts val="336"/>
              </a:spcBef>
              <a:spcAft>
                <a:spcPts val="0"/>
              </a:spcAft>
              <a:buClr>
                <a:schemeClr val="dk1"/>
              </a:buClr>
              <a:buSzPct val="100000"/>
              <a:buFont typeface="Noto Sans Symbols"/>
              <a:buChar char="⮚"/>
            </a:pPr>
            <a:r>
              <a:rPr lang="en-US" sz="2400"/>
              <a:t>address + data and write requests</a:t>
            </a:r>
            <a:endParaRPr/>
          </a:p>
          <a:p>
            <a:pPr marL="742950" lvl="1" indent="-263525" algn="l" rtl="0">
              <a:spcBef>
                <a:spcPts val="70"/>
              </a:spcBef>
              <a:spcAft>
                <a:spcPts val="0"/>
              </a:spcAft>
              <a:buClr>
                <a:schemeClr val="dk1"/>
              </a:buClr>
              <a:buSzPct val="100000"/>
              <a:buFont typeface="Noto Sans Symbols"/>
              <a:buNone/>
            </a:pPr>
            <a:endParaRPr sz="500"/>
          </a:p>
          <a:p>
            <a:pPr marL="342900" lvl="0" indent="-342900" algn="l" rtl="0">
              <a:spcBef>
                <a:spcPts val="392"/>
              </a:spcBef>
              <a:spcAft>
                <a:spcPts val="0"/>
              </a:spcAft>
              <a:buClr>
                <a:schemeClr val="dk1"/>
              </a:buClr>
              <a:buSzPct val="100000"/>
              <a:buFont typeface="Noto Sans Symbols"/>
              <a:buChar char="⮚"/>
            </a:pPr>
            <a:r>
              <a:rPr lang="en-US" sz="2800"/>
              <a:t>Register access is done in one CPU clock (or less).</a:t>
            </a:r>
            <a:endParaRPr/>
          </a:p>
          <a:p>
            <a:pPr marL="342900" lvl="0" indent="-218440" algn="l" rtl="0">
              <a:spcBef>
                <a:spcPts val="392"/>
              </a:spcBef>
              <a:spcAft>
                <a:spcPts val="0"/>
              </a:spcAft>
              <a:buClr>
                <a:schemeClr val="dk1"/>
              </a:buClr>
              <a:buSzPct val="100000"/>
              <a:buFont typeface="Noto Sans Symbols"/>
              <a:buNone/>
            </a:pPr>
            <a:endParaRPr sz="2800"/>
          </a:p>
          <a:p>
            <a:pPr marL="342900" lvl="0" indent="-320675" algn="l" rtl="0">
              <a:spcBef>
                <a:spcPts val="70"/>
              </a:spcBef>
              <a:spcAft>
                <a:spcPts val="0"/>
              </a:spcAft>
              <a:buClr>
                <a:schemeClr val="dk1"/>
              </a:buClr>
              <a:buSzPct val="100000"/>
              <a:buFont typeface="Noto Sans Symbols"/>
              <a:buNone/>
            </a:pPr>
            <a:endParaRPr sz="500"/>
          </a:p>
          <a:p>
            <a:pPr marL="342900" lvl="0" indent="-342900" algn="l" rtl="0">
              <a:spcBef>
                <a:spcPts val="392"/>
              </a:spcBef>
              <a:spcAft>
                <a:spcPts val="0"/>
              </a:spcAft>
              <a:buClr>
                <a:schemeClr val="dk1"/>
              </a:buClr>
              <a:buSzPct val="100000"/>
              <a:buFont typeface="Noto Sans Symbols"/>
              <a:buChar char="⮚"/>
            </a:pPr>
            <a:r>
              <a:rPr lang="en-US" sz="2800"/>
              <a:t>Main memory can take many cycles, causing a </a:t>
            </a:r>
            <a:r>
              <a:rPr lang="en-US" sz="2800" b="1">
                <a:solidFill>
                  <a:srgbClr val="006699"/>
                </a:solidFill>
                <a:latin typeface="Calibri"/>
                <a:ea typeface="Calibri"/>
                <a:cs typeface="Calibri"/>
                <a:sym typeface="Calibri"/>
              </a:rPr>
              <a:t>stall.</a:t>
            </a:r>
            <a:endParaRPr/>
          </a:p>
          <a:p>
            <a:pPr marL="0" lvl="0" indent="0" algn="l" rtl="0">
              <a:spcBef>
                <a:spcPts val="392"/>
              </a:spcBef>
              <a:spcAft>
                <a:spcPts val="0"/>
              </a:spcAft>
              <a:buClr>
                <a:schemeClr val="dk1"/>
              </a:buClr>
              <a:buSzPct val="100000"/>
              <a:buNone/>
            </a:pPr>
            <a:endParaRPr sz="2800" b="1">
              <a:solidFill>
                <a:srgbClr val="006699"/>
              </a:solidFill>
              <a:latin typeface="Calibri"/>
              <a:ea typeface="Calibri"/>
              <a:cs typeface="Calibri"/>
              <a:sym typeface="Calibri"/>
            </a:endParaRPr>
          </a:p>
          <a:p>
            <a:pPr marL="342900" lvl="0" indent="-342900" algn="l" rtl="0">
              <a:spcBef>
                <a:spcPts val="392"/>
              </a:spcBef>
              <a:spcAft>
                <a:spcPts val="0"/>
              </a:spcAft>
              <a:buClr>
                <a:srgbClr val="006699"/>
              </a:buClr>
              <a:buSzPct val="100000"/>
              <a:buFont typeface="Noto Sans Symbols"/>
              <a:buChar char="⮚"/>
            </a:pPr>
            <a:r>
              <a:rPr lang="en-US" sz="2800" b="1">
                <a:solidFill>
                  <a:srgbClr val="006699"/>
                </a:solidFill>
                <a:latin typeface="Calibri"/>
                <a:ea typeface="Calibri"/>
                <a:cs typeface="Calibri"/>
                <a:sym typeface="Calibri"/>
              </a:rPr>
              <a:t>Cache</a:t>
            </a:r>
            <a:r>
              <a:rPr lang="en-US" sz="2800">
                <a:solidFill>
                  <a:srgbClr val="3366FF"/>
                </a:solidFill>
              </a:rPr>
              <a:t> </a:t>
            </a:r>
            <a:r>
              <a:rPr lang="en-US" sz="2800"/>
              <a:t>sits between main memory and CPU registers.</a:t>
            </a:r>
            <a:endParaRPr/>
          </a:p>
          <a:p>
            <a:pPr marL="342900" lvl="0" indent="-218440" algn="l" rtl="0">
              <a:spcBef>
                <a:spcPts val="392"/>
              </a:spcBef>
              <a:spcAft>
                <a:spcPts val="0"/>
              </a:spcAft>
              <a:buClr>
                <a:schemeClr val="dk1"/>
              </a:buClr>
              <a:buSzPct val="100000"/>
              <a:buFont typeface="Noto Sans Symbols"/>
              <a:buNone/>
            </a:pPr>
            <a:endParaRPr sz="2800"/>
          </a:p>
          <a:p>
            <a:pPr marL="342900" lvl="0" indent="-320675" algn="l" rtl="0">
              <a:spcBef>
                <a:spcPts val="70"/>
              </a:spcBef>
              <a:spcAft>
                <a:spcPts val="0"/>
              </a:spcAft>
              <a:buClr>
                <a:schemeClr val="dk1"/>
              </a:buClr>
              <a:buSzPct val="100000"/>
              <a:buFont typeface="Noto Sans Symbols"/>
              <a:buNone/>
            </a:pPr>
            <a:endParaRPr sz="500"/>
          </a:p>
          <a:p>
            <a:pPr marL="342900" lvl="0" indent="-342900" algn="l" rtl="0">
              <a:spcBef>
                <a:spcPts val="392"/>
              </a:spcBef>
              <a:spcAft>
                <a:spcPts val="0"/>
              </a:spcAft>
              <a:buClr>
                <a:schemeClr val="dk1"/>
              </a:buClr>
              <a:buSzPct val="100000"/>
              <a:buFont typeface="Noto Sans Symbols"/>
              <a:buChar char="⮚"/>
            </a:pPr>
            <a:r>
              <a:rPr lang="en-US" sz="2800"/>
              <a:t>Protection of memory required to ensure correct operation</a:t>
            </a:r>
            <a:endParaRPr/>
          </a:p>
          <a:p>
            <a:pPr marL="342900" lvl="0" indent="-342900" algn="l" rtl="0">
              <a:spcBef>
                <a:spcPts val="448"/>
              </a:spcBef>
              <a:spcAft>
                <a:spcPts val="0"/>
              </a:spcAft>
              <a:buClr>
                <a:schemeClr val="dk1"/>
              </a:buClr>
              <a:buSzPct val="100000"/>
              <a:buFont typeface="Arial"/>
              <a:buNone/>
            </a:pPr>
            <a:endParaRPr b="1"/>
          </a:p>
        </p:txBody>
      </p:sp>
      <p:sp>
        <p:nvSpPr>
          <p:cNvPr id="100" name="Google Shape;100;p2"/>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01" name="Google Shape;101;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02" name="Google Shape;102;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3444" y="1646845"/>
            <a:ext cx="8657112" cy="4032535"/>
          </a:xfrm>
          <a:prstGeom prst="rect">
            <a:avLst/>
          </a:prstGeom>
        </p:spPr>
      </p:pic>
      <p:sp>
        <p:nvSpPr>
          <p:cNvPr id="3" name="object 3"/>
          <p:cNvSpPr txBox="1">
            <a:spLocks noGrp="1"/>
          </p:cNvSpPr>
          <p:nvPr>
            <p:ph type="title"/>
          </p:nvPr>
        </p:nvSpPr>
        <p:spPr>
          <a:xfrm>
            <a:off x="1594770" y="1116091"/>
            <a:ext cx="5955030" cy="530754"/>
          </a:xfrm>
          <a:prstGeom prst="rect">
            <a:avLst/>
          </a:prstGeom>
        </p:spPr>
        <p:txBody>
          <a:bodyPr spcFirstLastPara="1" vert="horz" wrap="square" lIns="0" tIns="10001" rIns="0" bIns="0" rtlCol="0" anchor="ctr" anchorCtr="0">
            <a:spAutoFit/>
          </a:bodyPr>
          <a:lstStyle/>
          <a:p>
            <a:pPr marL="9525">
              <a:spcBef>
                <a:spcPts val="79"/>
              </a:spcBef>
            </a:pPr>
            <a:r>
              <a:rPr sz="3300" b="0" dirty="0">
                <a:solidFill>
                  <a:srgbClr val="000000"/>
                </a:solidFill>
                <a:latin typeface="Calibri Light"/>
                <a:cs typeface="Calibri Light"/>
              </a:rPr>
              <a:t>Memory</a:t>
            </a:r>
            <a:r>
              <a:rPr sz="3300" b="0" spc="-11" dirty="0">
                <a:solidFill>
                  <a:srgbClr val="000000"/>
                </a:solidFill>
                <a:latin typeface="Calibri Light"/>
                <a:cs typeface="Calibri Light"/>
              </a:rPr>
              <a:t> </a:t>
            </a:r>
            <a:r>
              <a:rPr sz="3300" b="0" spc="-8" dirty="0">
                <a:solidFill>
                  <a:srgbClr val="000000"/>
                </a:solidFill>
                <a:latin typeface="Calibri Light"/>
                <a:cs typeface="Calibri Light"/>
              </a:rPr>
              <a:t>Management </a:t>
            </a:r>
            <a:r>
              <a:rPr sz="3300" b="0" spc="-4" dirty="0">
                <a:solidFill>
                  <a:srgbClr val="000000"/>
                </a:solidFill>
                <a:latin typeface="Calibri Light"/>
                <a:cs typeface="Calibri Light"/>
              </a:rPr>
              <a:t>(Big</a:t>
            </a:r>
            <a:r>
              <a:rPr sz="3300" b="0" spc="-11" dirty="0">
                <a:solidFill>
                  <a:srgbClr val="000000"/>
                </a:solidFill>
                <a:latin typeface="Calibri Light"/>
                <a:cs typeface="Calibri Light"/>
              </a:rPr>
              <a:t> </a:t>
            </a:r>
            <a:r>
              <a:rPr sz="3300" b="0" spc="-8" dirty="0">
                <a:solidFill>
                  <a:srgbClr val="000000"/>
                </a:solidFill>
                <a:latin typeface="Calibri Light"/>
                <a:cs typeface="Calibri Light"/>
              </a:rPr>
              <a:t>Picture)</a:t>
            </a:r>
            <a:endParaRPr sz="3300">
              <a:latin typeface="Calibri Light"/>
              <a:cs typeface="Calibri Light"/>
            </a:endParaRPr>
          </a:p>
        </p:txBody>
      </p:sp>
    </p:spTree>
    <p:extLst>
      <p:ext uri="{BB962C8B-B14F-4D97-AF65-F5344CB8AC3E}">
        <p14:creationId xmlns:p14="http://schemas.microsoft.com/office/powerpoint/2010/main" val="1228078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a:spLocks noGrp="1"/>
          </p:cNvSpPr>
          <p:nvPr>
            <p:ph type="title"/>
          </p:nvPr>
        </p:nvSpPr>
        <p:spPr>
          <a:xfrm>
            <a:off x="1265238" y="112713"/>
            <a:ext cx="655955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Arial"/>
              <a:buNone/>
            </a:pPr>
            <a:r>
              <a:rPr lang="en-US" sz="4000" b="1">
                <a:solidFill>
                  <a:schemeClr val="accent1"/>
                </a:solidFill>
                <a:latin typeface="Arial"/>
                <a:ea typeface="Arial"/>
                <a:cs typeface="Arial"/>
                <a:sym typeface="Arial"/>
              </a:rPr>
              <a:t>Base and Limit </a:t>
            </a:r>
            <a:r>
              <a:rPr lang="en-US" sz="3600" b="1">
                <a:solidFill>
                  <a:schemeClr val="accent1"/>
                </a:solidFill>
                <a:latin typeface="Arial"/>
                <a:ea typeface="Arial"/>
                <a:cs typeface="Arial"/>
                <a:sym typeface="Arial"/>
              </a:rPr>
              <a:t>Registers</a:t>
            </a:r>
            <a:endParaRPr sz="4000" b="1">
              <a:solidFill>
                <a:schemeClr val="accent1"/>
              </a:solidFill>
              <a:latin typeface="Arial"/>
              <a:ea typeface="Arial"/>
              <a:cs typeface="Arial"/>
              <a:sym typeface="Arial"/>
            </a:endParaRPr>
          </a:p>
        </p:txBody>
      </p:sp>
      <p:sp>
        <p:nvSpPr>
          <p:cNvPr id="109" name="Google Shape;109;p3"/>
          <p:cNvSpPr txBox="1">
            <a:spLocks noGrp="1"/>
          </p:cNvSpPr>
          <p:nvPr>
            <p:ph type="body" idx="1"/>
          </p:nvPr>
        </p:nvSpPr>
        <p:spPr>
          <a:xfrm>
            <a:off x="950913" y="995363"/>
            <a:ext cx="7351712" cy="4483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1800"/>
              <a:buChar char="•"/>
            </a:pPr>
            <a:r>
              <a:rPr lang="en-US" sz="1800">
                <a:latin typeface="Helvetica Neue"/>
                <a:ea typeface="Helvetica Neue"/>
                <a:cs typeface="Helvetica Neue"/>
                <a:sym typeface="Helvetica Neue"/>
              </a:rPr>
              <a:t>A pair of </a:t>
            </a:r>
            <a:r>
              <a:rPr lang="en-US" sz="1800" b="1">
                <a:solidFill>
                  <a:srgbClr val="3366FF"/>
                </a:solidFill>
                <a:latin typeface="Helvetica Neue"/>
                <a:ea typeface="Helvetica Neue"/>
                <a:cs typeface="Helvetica Neue"/>
                <a:sym typeface="Helvetica Neue"/>
              </a:rPr>
              <a:t>base</a:t>
            </a:r>
            <a:r>
              <a:rPr lang="en-US" sz="1800">
                <a:solidFill>
                  <a:srgbClr val="3366FF"/>
                </a:solidFill>
                <a:latin typeface="Helvetica Neue"/>
                <a:ea typeface="Helvetica Neue"/>
                <a:cs typeface="Helvetica Neue"/>
                <a:sym typeface="Helvetica Neue"/>
              </a:rPr>
              <a:t> </a:t>
            </a:r>
            <a:r>
              <a:rPr lang="en-US" sz="1800">
                <a:latin typeface="Helvetica Neue"/>
                <a:ea typeface="Helvetica Neue"/>
                <a:cs typeface="Helvetica Neue"/>
                <a:sym typeface="Helvetica Neue"/>
              </a:rPr>
              <a:t>and</a:t>
            </a:r>
            <a:r>
              <a:rPr lang="en-US" sz="1800" b="1">
                <a:solidFill>
                  <a:srgbClr val="FF0000"/>
                </a:solidFill>
                <a:latin typeface="Helvetica Neue"/>
                <a:ea typeface="Helvetica Neue"/>
                <a:cs typeface="Helvetica Neue"/>
                <a:sym typeface="Helvetica Neue"/>
              </a:rPr>
              <a:t> </a:t>
            </a:r>
            <a:r>
              <a:rPr lang="en-US" sz="1800" b="1">
                <a:solidFill>
                  <a:srgbClr val="3366FF"/>
                </a:solidFill>
                <a:latin typeface="Helvetica Neue"/>
                <a:ea typeface="Helvetica Neue"/>
                <a:cs typeface="Helvetica Neue"/>
                <a:sym typeface="Helvetica Neue"/>
              </a:rPr>
              <a:t>limit</a:t>
            </a:r>
            <a:r>
              <a:rPr lang="en-US" sz="1800">
                <a:solidFill>
                  <a:srgbClr val="3366FF"/>
                </a:solidFill>
                <a:latin typeface="Helvetica Neue"/>
                <a:ea typeface="Helvetica Neue"/>
                <a:cs typeface="Helvetica Neue"/>
                <a:sym typeface="Helvetica Neue"/>
              </a:rPr>
              <a:t> </a:t>
            </a:r>
            <a:r>
              <a:rPr lang="en-US" sz="1800" b="1">
                <a:solidFill>
                  <a:srgbClr val="3366FF"/>
                </a:solidFill>
                <a:latin typeface="Helvetica Neue"/>
                <a:ea typeface="Helvetica Neue"/>
                <a:cs typeface="Helvetica Neue"/>
                <a:sym typeface="Helvetica Neue"/>
              </a:rPr>
              <a:t>registers</a:t>
            </a:r>
            <a:r>
              <a:rPr lang="en-US" sz="1800">
                <a:latin typeface="Helvetica Neue"/>
                <a:ea typeface="Helvetica Neue"/>
                <a:cs typeface="Helvetica Neue"/>
                <a:sym typeface="Helvetica Neue"/>
              </a:rPr>
              <a:t> define the logical address space</a:t>
            </a:r>
            <a:endParaRPr/>
          </a:p>
          <a:p>
            <a:pPr marL="342900" lvl="0" indent="-342900" algn="l" rtl="0">
              <a:spcBef>
                <a:spcPts val="360"/>
              </a:spcBef>
              <a:spcAft>
                <a:spcPts val="0"/>
              </a:spcAft>
              <a:buClr>
                <a:schemeClr val="dk1"/>
              </a:buClr>
              <a:buSzPts val="1800"/>
              <a:buChar char="•"/>
            </a:pPr>
            <a:r>
              <a:rPr lang="en-US" sz="1800">
                <a:latin typeface="Helvetica Neue"/>
                <a:ea typeface="Helvetica Neue"/>
                <a:cs typeface="Helvetica Neue"/>
                <a:sym typeface="Helvetica Neue"/>
              </a:rPr>
              <a:t>CPU must check every memory access generated in user mode to be sure it is between base and limit for that user.</a:t>
            </a:r>
            <a:endParaRPr/>
          </a:p>
          <a:p>
            <a:pPr marL="342900" lvl="0" indent="-342900" algn="l" rtl="0">
              <a:spcBef>
                <a:spcPts val="360"/>
              </a:spcBef>
              <a:spcAft>
                <a:spcPts val="0"/>
              </a:spcAft>
              <a:buClr>
                <a:schemeClr val="dk1"/>
              </a:buClr>
              <a:buSzPts val="1800"/>
              <a:buChar char="•"/>
            </a:pPr>
            <a:r>
              <a:rPr lang="en-US" sz="1800">
                <a:latin typeface="Helvetica Neue"/>
                <a:ea typeface="Helvetica Neue"/>
                <a:cs typeface="Helvetica Neue"/>
                <a:sym typeface="Helvetica Neue"/>
              </a:rPr>
              <a:t>Limit register  = 120900</a:t>
            </a:r>
            <a:endParaRPr/>
          </a:p>
        </p:txBody>
      </p:sp>
      <p:pic>
        <p:nvPicPr>
          <p:cNvPr id="110" name="Google Shape;110;p3" descr="W:\os-book\OS10\slide-dir\os-figures\9_01.jpg"/>
          <p:cNvPicPr preferRelativeResize="0"/>
          <p:nvPr/>
        </p:nvPicPr>
        <p:blipFill rotWithShape="1">
          <a:blip r:embed="rId3">
            <a:alphaModFix/>
          </a:blip>
          <a:srcRect/>
          <a:stretch/>
        </p:blipFill>
        <p:spPr>
          <a:xfrm>
            <a:off x="3964609" y="2352261"/>
            <a:ext cx="3726733" cy="3639728"/>
          </a:xfrm>
          <a:prstGeom prst="rect">
            <a:avLst/>
          </a:prstGeom>
          <a:noFill/>
          <a:ln>
            <a:noFill/>
          </a:ln>
        </p:spPr>
      </p:pic>
      <p:sp>
        <p:nvSpPr>
          <p:cNvPr id="111" name="Google Shape;111;p3"/>
          <p:cNvSpPr/>
          <p:nvPr/>
        </p:nvSpPr>
        <p:spPr>
          <a:xfrm>
            <a:off x="537834" y="828028"/>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12" name="Google Shape;112;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13" name="Google Shape;113;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4"/>
          <p:cNvSpPr txBox="1">
            <a:spLocks noGrp="1"/>
          </p:cNvSpPr>
          <p:nvPr>
            <p:ph type="title"/>
          </p:nvPr>
        </p:nvSpPr>
        <p:spPr>
          <a:xfrm>
            <a:off x="941388" y="228636"/>
            <a:ext cx="7745412"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sz="4000" b="1">
                <a:solidFill>
                  <a:schemeClr val="accent1"/>
                </a:solidFill>
              </a:rPr>
              <a:t>Hardware Address Protection</a:t>
            </a:r>
            <a:endParaRPr/>
          </a:p>
        </p:txBody>
      </p:sp>
      <p:sp>
        <p:nvSpPr>
          <p:cNvPr id="119" name="Google Shape;119;p4"/>
          <p:cNvSpPr txBox="1">
            <a:spLocks noGrp="1"/>
          </p:cNvSpPr>
          <p:nvPr>
            <p:ph type="body" idx="1"/>
          </p:nvPr>
        </p:nvSpPr>
        <p:spPr>
          <a:xfrm>
            <a:off x="1036825" y="1269241"/>
            <a:ext cx="7380514" cy="46101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a:t>CPU must check every memory access generated in user mode to be sure it is between base and limit for that user</a:t>
            </a: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0" lvl="0" indent="0" algn="l" rtl="0">
              <a:spcBef>
                <a:spcPts val="448"/>
              </a:spcBef>
              <a:spcAft>
                <a:spcPts val="0"/>
              </a:spcAft>
              <a:buClr>
                <a:schemeClr val="dk1"/>
              </a:buClr>
              <a:buSzPct val="100000"/>
              <a:buNone/>
            </a:pPr>
            <a:endParaRPr/>
          </a:p>
          <a:p>
            <a:pPr marL="342900" lvl="0" indent="-342900" algn="l" rtl="0">
              <a:spcBef>
                <a:spcPts val="448"/>
              </a:spcBef>
              <a:spcAft>
                <a:spcPts val="0"/>
              </a:spcAft>
              <a:buClr>
                <a:schemeClr val="dk1"/>
              </a:buClr>
              <a:buSzPct val="100000"/>
              <a:buChar char="•"/>
            </a:pPr>
            <a:r>
              <a:rPr lang="en-US"/>
              <a:t>the instructions to loading the base and limit registers are privileged </a:t>
            </a: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p:txBody>
      </p:sp>
      <p:pic>
        <p:nvPicPr>
          <p:cNvPr id="120" name="Google Shape;120;p4" descr="W:\os-book\OS10\slide-dir\os-figures\9_02.jpg"/>
          <p:cNvPicPr preferRelativeResize="0"/>
          <p:nvPr/>
        </p:nvPicPr>
        <p:blipFill rotWithShape="1">
          <a:blip r:embed="rId3">
            <a:alphaModFix/>
          </a:blip>
          <a:srcRect/>
          <a:stretch/>
        </p:blipFill>
        <p:spPr>
          <a:xfrm>
            <a:off x="1747493" y="2252869"/>
            <a:ext cx="5251450" cy="2425700"/>
          </a:xfrm>
          <a:prstGeom prst="rect">
            <a:avLst/>
          </a:prstGeom>
          <a:noFill/>
          <a:ln>
            <a:noFill/>
          </a:ln>
        </p:spPr>
      </p:pic>
      <p:sp>
        <p:nvSpPr>
          <p:cNvPr id="121" name="Google Shape;121;p4"/>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22" name="Google Shape;12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23" name="Google Shape;12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xfrm>
            <a:off x="457200" y="235568"/>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sz="4400" b="1">
                <a:solidFill>
                  <a:schemeClr val="accent1"/>
                </a:solidFill>
              </a:rPr>
              <a:t>Address Binding</a:t>
            </a:r>
            <a:endParaRPr/>
          </a:p>
        </p:txBody>
      </p:sp>
      <p:sp>
        <p:nvSpPr>
          <p:cNvPr id="129" name="Google Shape;129;p5"/>
          <p:cNvSpPr txBox="1">
            <a:spLocks noGrp="1"/>
          </p:cNvSpPr>
          <p:nvPr>
            <p:ph type="body" idx="1"/>
          </p:nvPr>
        </p:nvSpPr>
        <p:spPr>
          <a:xfrm>
            <a:off x="849085" y="1144588"/>
            <a:ext cx="7688424" cy="4926012"/>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Char char="•"/>
            </a:pPr>
            <a:r>
              <a:rPr lang="en-US"/>
              <a:t>Programs on disk, ready to be brought into memory to execute form an </a:t>
            </a:r>
            <a:r>
              <a:rPr lang="en-US" b="1">
                <a:solidFill>
                  <a:srgbClr val="006699"/>
                </a:solidFill>
                <a:latin typeface="Calibri"/>
                <a:ea typeface="Calibri"/>
                <a:cs typeface="Calibri"/>
                <a:sym typeface="Calibri"/>
              </a:rPr>
              <a:t>input queue</a:t>
            </a:r>
            <a:endParaRPr/>
          </a:p>
          <a:p>
            <a:pPr marL="742950" lvl="1" indent="-285750" algn="l" rtl="0">
              <a:spcBef>
                <a:spcPts val="392"/>
              </a:spcBef>
              <a:spcAft>
                <a:spcPts val="0"/>
              </a:spcAft>
              <a:buClr>
                <a:schemeClr val="dk1"/>
              </a:buClr>
              <a:buSzPct val="100000"/>
              <a:buChar char="–"/>
            </a:pPr>
            <a:r>
              <a:rPr lang="en-US"/>
              <a:t>Without support, must be loaded into address 0000</a:t>
            </a:r>
            <a:endParaRPr/>
          </a:p>
          <a:p>
            <a:pPr marL="342900" lvl="0" indent="-342900" algn="l" rtl="0">
              <a:spcBef>
                <a:spcPts val="448"/>
              </a:spcBef>
              <a:spcAft>
                <a:spcPts val="0"/>
              </a:spcAft>
              <a:buClr>
                <a:schemeClr val="dk1"/>
              </a:buClr>
              <a:buSzPct val="100000"/>
              <a:buChar char="•"/>
            </a:pPr>
            <a:r>
              <a:rPr lang="en-US"/>
              <a:t>Inconvenient to have first user process physical address always at 0000 </a:t>
            </a:r>
            <a:endParaRPr/>
          </a:p>
          <a:p>
            <a:pPr marL="742950" lvl="1" indent="-285750" algn="l" rtl="0">
              <a:spcBef>
                <a:spcPts val="392"/>
              </a:spcBef>
              <a:spcAft>
                <a:spcPts val="0"/>
              </a:spcAft>
              <a:buClr>
                <a:schemeClr val="dk1"/>
              </a:buClr>
              <a:buSzPct val="100000"/>
              <a:buChar char="–"/>
            </a:pPr>
            <a:r>
              <a:rPr lang="en-US"/>
              <a:t>How can it not be?</a:t>
            </a:r>
            <a:endParaRPr/>
          </a:p>
          <a:p>
            <a:pPr marL="342900" lvl="0" indent="-342900" algn="l" rtl="0">
              <a:spcBef>
                <a:spcPts val="448"/>
              </a:spcBef>
              <a:spcAft>
                <a:spcPts val="0"/>
              </a:spcAft>
              <a:buClr>
                <a:schemeClr val="dk1"/>
              </a:buClr>
              <a:buSzPct val="100000"/>
              <a:buChar char="•"/>
            </a:pPr>
            <a:r>
              <a:rPr lang="en-US"/>
              <a:t>Addresses represented in different ways at different stages of a program’s life</a:t>
            </a:r>
            <a:endParaRPr/>
          </a:p>
          <a:p>
            <a:pPr marL="742950" lvl="1" indent="-285750" algn="l" rtl="0">
              <a:spcBef>
                <a:spcPts val="392"/>
              </a:spcBef>
              <a:spcAft>
                <a:spcPts val="0"/>
              </a:spcAft>
              <a:buClr>
                <a:schemeClr val="dk1"/>
              </a:buClr>
              <a:buSzPct val="100000"/>
              <a:buChar char="–"/>
            </a:pPr>
            <a:r>
              <a:rPr lang="en-US"/>
              <a:t>Source code addresses usually symbolic</a:t>
            </a:r>
            <a:endParaRPr/>
          </a:p>
          <a:p>
            <a:pPr marL="742950" lvl="1" indent="-285750" algn="l" rtl="0">
              <a:spcBef>
                <a:spcPts val="392"/>
              </a:spcBef>
              <a:spcAft>
                <a:spcPts val="0"/>
              </a:spcAft>
              <a:buClr>
                <a:schemeClr val="dk1"/>
              </a:buClr>
              <a:buSzPct val="100000"/>
              <a:buChar char="–"/>
            </a:pPr>
            <a:r>
              <a:rPr lang="en-US"/>
              <a:t>Compiled code addresses </a:t>
            </a:r>
            <a:r>
              <a:rPr lang="en-US" b="1">
                <a:solidFill>
                  <a:srgbClr val="006699"/>
                </a:solidFill>
                <a:latin typeface="Calibri"/>
                <a:ea typeface="Calibri"/>
                <a:cs typeface="Calibri"/>
                <a:sym typeface="Calibri"/>
              </a:rPr>
              <a:t>bind</a:t>
            </a:r>
            <a:r>
              <a:rPr lang="en-US" b="1">
                <a:solidFill>
                  <a:srgbClr val="0000FF"/>
                </a:solidFill>
              </a:rPr>
              <a:t> </a:t>
            </a:r>
            <a:r>
              <a:rPr lang="en-US"/>
              <a:t>to relocatable addresses</a:t>
            </a:r>
            <a:endParaRPr/>
          </a:p>
          <a:p>
            <a:pPr marL="1143000" lvl="2" indent="-228600" algn="l" rtl="0">
              <a:spcBef>
                <a:spcPts val="336"/>
              </a:spcBef>
              <a:spcAft>
                <a:spcPts val="0"/>
              </a:spcAft>
              <a:buClr>
                <a:schemeClr val="dk1"/>
              </a:buClr>
              <a:buSzPct val="100000"/>
              <a:buChar char="•"/>
            </a:pPr>
            <a:r>
              <a:rPr lang="en-US"/>
              <a:t>i.e., “14 bytes from beginning of this module”</a:t>
            </a:r>
            <a:endParaRPr/>
          </a:p>
          <a:p>
            <a:pPr marL="742950" lvl="1" indent="-285750" algn="l" rtl="0">
              <a:spcBef>
                <a:spcPts val="392"/>
              </a:spcBef>
              <a:spcAft>
                <a:spcPts val="0"/>
              </a:spcAft>
              <a:buClr>
                <a:schemeClr val="dk1"/>
              </a:buClr>
              <a:buSzPct val="100000"/>
              <a:buChar char="–"/>
            </a:pPr>
            <a:r>
              <a:rPr lang="en-US"/>
              <a:t>Linker or loader will bind relocatable addresses to absolute addresses</a:t>
            </a:r>
            <a:endParaRPr/>
          </a:p>
          <a:p>
            <a:pPr marL="1143000" lvl="2" indent="-228600" algn="l" rtl="0">
              <a:spcBef>
                <a:spcPts val="336"/>
              </a:spcBef>
              <a:spcAft>
                <a:spcPts val="0"/>
              </a:spcAft>
              <a:buClr>
                <a:schemeClr val="dk1"/>
              </a:buClr>
              <a:buSzPct val="100000"/>
              <a:buChar char="•"/>
            </a:pPr>
            <a:r>
              <a:rPr lang="en-US"/>
              <a:t>i.e., 74014</a:t>
            </a:r>
            <a:endParaRPr/>
          </a:p>
          <a:p>
            <a:pPr marL="742950" lvl="1" indent="-285750" algn="l" rtl="0">
              <a:spcBef>
                <a:spcPts val="392"/>
              </a:spcBef>
              <a:spcAft>
                <a:spcPts val="0"/>
              </a:spcAft>
              <a:buClr>
                <a:schemeClr val="dk1"/>
              </a:buClr>
              <a:buSzPct val="100000"/>
              <a:buChar char="–"/>
            </a:pPr>
            <a:r>
              <a:rPr lang="en-US"/>
              <a:t>Each binding maps one address space to another</a:t>
            </a:r>
            <a:endParaRPr/>
          </a:p>
          <a:p>
            <a:pPr marL="342900" lvl="0" indent="-342900" algn="l" rtl="0">
              <a:spcBef>
                <a:spcPts val="448"/>
              </a:spcBef>
              <a:spcAft>
                <a:spcPts val="0"/>
              </a:spcAft>
              <a:buClr>
                <a:schemeClr val="dk1"/>
              </a:buClr>
              <a:buSzPct val="100000"/>
              <a:buFont typeface="Arial"/>
              <a:buNone/>
            </a:pPr>
            <a:endParaRPr/>
          </a:p>
          <a:p>
            <a:pPr marL="742950" lvl="1" indent="-161290" algn="l" rtl="0">
              <a:spcBef>
                <a:spcPts val="392"/>
              </a:spcBef>
              <a:spcAft>
                <a:spcPts val="0"/>
              </a:spcAft>
              <a:buClr>
                <a:schemeClr val="dk1"/>
              </a:buClr>
              <a:buSzPct val="100000"/>
              <a:buNone/>
            </a:pPr>
            <a:endParaRPr/>
          </a:p>
        </p:txBody>
      </p:sp>
      <p:sp>
        <p:nvSpPr>
          <p:cNvPr id="130" name="Google Shape;130;p5"/>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31" name="Google Shape;1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32" name="Google Shape;1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title"/>
          </p:nvPr>
        </p:nvSpPr>
        <p:spPr>
          <a:xfrm>
            <a:off x="996662" y="2073192"/>
            <a:ext cx="2581425" cy="266446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Calibri"/>
              <a:buNone/>
            </a:pPr>
            <a:r>
              <a:rPr lang="en-US" sz="3000"/>
              <a:t>Multistep Processing of a User Program </a:t>
            </a:r>
            <a:endParaRPr sz="3000"/>
          </a:p>
        </p:txBody>
      </p:sp>
      <p:pic>
        <p:nvPicPr>
          <p:cNvPr id="149" name="Google Shape;149;p7" descr="8"/>
          <p:cNvPicPr preferRelativeResize="0"/>
          <p:nvPr/>
        </p:nvPicPr>
        <p:blipFill rotWithShape="1">
          <a:blip r:embed="rId3">
            <a:alphaModFix/>
          </a:blip>
          <a:srcRect/>
          <a:stretch/>
        </p:blipFill>
        <p:spPr>
          <a:xfrm>
            <a:off x="4509260" y="368064"/>
            <a:ext cx="3132827" cy="5813937"/>
          </a:xfrm>
          <a:prstGeom prst="rect">
            <a:avLst/>
          </a:prstGeom>
          <a:noFill/>
          <a:ln>
            <a:noFill/>
          </a:ln>
        </p:spPr>
      </p:pic>
      <p:sp>
        <p:nvSpPr>
          <p:cNvPr id="150" name="Google Shape;150;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51" name="Google Shape;151;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6"/>
          <p:cNvSpPr txBox="1">
            <a:spLocks noGrp="1"/>
          </p:cNvSpPr>
          <p:nvPr>
            <p:ph type="title"/>
          </p:nvPr>
        </p:nvSpPr>
        <p:spPr>
          <a:xfrm>
            <a:off x="520344" y="467978"/>
            <a:ext cx="8134350" cy="457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3600">
                <a:latin typeface="Calibri"/>
                <a:ea typeface="Calibri"/>
                <a:cs typeface="Calibri"/>
                <a:sym typeface="Calibri"/>
              </a:rPr>
              <a:t>Binding of Instructions and Data to Memory</a:t>
            </a:r>
            <a:endParaRPr/>
          </a:p>
        </p:txBody>
      </p:sp>
      <p:sp>
        <p:nvSpPr>
          <p:cNvPr id="139" name="Google Shape;139;p6"/>
          <p:cNvSpPr txBox="1">
            <a:spLocks noGrp="1"/>
          </p:cNvSpPr>
          <p:nvPr>
            <p:ph type="body" idx="1"/>
          </p:nvPr>
        </p:nvSpPr>
        <p:spPr>
          <a:xfrm>
            <a:off x="673652" y="1334277"/>
            <a:ext cx="7854528" cy="504885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ct val="100000"/>
              <a:buChar char="•"/>
            </a:pPr>
            <a:r>
              <a:rPr lang="en-US"/>
              <a:t>Address binding of instructions and data to memory addresses can happen at three different stages</a:t>
            </a:r>
            <a:endParaRPr/>
          </a:p>
          <a:p>
            <a:pPr marL="742950" lvl="1" indent="-285750" algn="l" rtl="0">
              <a:spcBef>
                <a:spcPts val="476"/>
              </a:spcBef>
              <a:spcAft>
                <a:spcPts val="0"/>
              </a:spcAft>
              <a:buClr>
                <a:schemeClr val="dk1"/>
              </a:buClr>
              <a:buSzPct val="100000"/>
              <a:buChar char="–"/>
            </a:pPr>
            <a:r>
              <a:rPr lang="en-US" b="1"/>
              <a:t>Compile time</a:t>
            </a:r>
            <a:r>
              <a:rPr lang="en-US"/>
              <a:t>:  If memory location known a priori, </a:t>
            </a:r>
            <a:r>
              <a:rPr lang="en-US" b="1">
                <a:solidFill>
                  <a:srgbClr val="006699"/>
                </a:solidFill>
                <a:latin typeface="Calibri"/>
                <a:ea typeface="Calibri"/>
                <a:cs typeface="Calibri"/>
                <a:sym typeface="Calibri"/>
              </a:rPr>
              <a:t>absolute code </a:t>
            </a:r>
            <a:r>
              <a:rPr lang="en-US"/>
              <a:t>can be generated; must recompile code if starting location changes.</a:t>
            </a:r>
            <a:endParaRPr/>
          </a:p>
          <a:p>
            <a:pPr marL="742950" lvl="1" indent="-134619" algn="l" rtl="0">
              <a:spcBef>
                <a:spcPts val="476"/>
              </a:spcBef>
              <a:spcAft>
                <a:spcPts val="0"/>
              </a:spcAft>
              <a:buClr>
                <a:schemeClr val="dk1"/>
              </a:buClr>
              <a:buSzPct val="100000"/>
              <a:buNone/>
            </a:pPr>
            <a:endParaRPr/>
          </a:p>
          <a:p>
            <a:pPr marL="742950" lvl="1" indent="-285750" algn="l" rtl="0">
              <a:spcBef>
                <a:spcPts val="476"/>
              </a:spcBef>
              <a:spcAft>
                <a:spcPts val="0"/>
              </a:spcAft>
              <a:buClr>
                <a:schemeClr val="dk1"/>
              </a:buClr>
              <a:buSzPct val="100000"/>
              <a:buChar char="–"/>
            </a:pPr>
            <a:r>
              <a:rPr lang="en-US" b="1"/>
              <a:t>Load time</a:t>
            </a:r>
            <a:r>
              <a:rPr lang="en-US"/>
              <a:t>:  Must generate </a:t>
            </a:r>
            <a:r>
              <a:rPr lang="en-US" b="1">
                <a:solidFill>
                  <a:srgbClr val="006699"/>
                </a:solidFill>
                <a:latin typeface="Calibri"/>
                <a:ea typeface="Calibri"/>
                <a:cs typeface="Calibri"/>
                <a:sym typeface="Calibri"/>
              </a:rPr>
              <a:t>relocatable code </a:t>
            </a:r>
            <a:r>
              <a:rPr lang="en-US"/>
              <a:t>if memory location is not known at compile time.</a:t>
            </a:r>
            <a:endParaRPr/>
          </a:p>
          <a:p>
            <a:pPr marL="742950" lvl="1" indent="-134619" algn="l" rtl="0">
              <a:spcBef>
                <a:spcPts val="476"/>
              </a:spcBef>
              <a:spcAft>
                <a:spcPts val="0"/>
              </a:spcAft>
              <a:buClr>
                <a:schemeClr val="dk1"/>
              </a:buClr>
              <a:buSzPct val="100000"/>
              <a:buNone/>
            </a:pPr>
            <a:endParaRPr/>
          </a:p>
          <a:p>
            <a:pPr marL="742950" lvl="1" indent="-285750" algn="l" rtl="0">
              <a:spcBef>
                <a:spcPts val="476"/>
              </a:spcBef>
              <a:spcAft>
                <a:spcPts val="0"/>
              </a:spcAft>
              <a:buClr>
                <a:schemeClr val="dk1"/>
              </a:buClr>
              <a:buSzPct val="100000"/>
              <a:buChar char="–"/>
            </a:pPr>
            <a:r>
              <a:rPr lang="en-US" b="1"/>
              <a:t>Execution time</a:t>
            </a:r>
            <a:r>
              <a:rPr lang="en-US"/>
              <a:t>:  Binding delayed until run time if the process can be moved during its execution from one memory segment to another.</a:t>
            </a:r>
            <a:endParaRPr/>
          </a:p>
          <a:p>
            <a:pPr marL="1143000" lvl="2" indent="-228600" algn="l" rtl="0">
              <a:spcBef>
                <a:spcPts val="408"/>
              </a:spcBef>
              <a:spcAft>
                <a:spcPts val="0"/>
              </a:spcAft>
              <a:buClr>
                <a:schemeClr val="dk1"/>
              </a:buClr>
              <a:buSzPct val="100000"/>
              <a:buChar char="•"/>
            </a:pPr>
            <a:r>
              <a:rPr lang="en-US"/>
              <a:t>Need hardware support for address maps (e.g., base and limit</a:t>
            </a:r>
            <a:r>
              <a:rPr lang="en-US" i="1"/>
              <a:t> </a:t>
            </a:r>
            <a:r>
              <a:rPr lang="en-US"/>
              <a:t>registers)</a:t>
            </a:r>
            <a:endParaRPr/>
          </a:p>
        </p:txBody>
      </p:sp>
      <p:sp>
        <p:nvSpPr>
          <p:cNvPr id="140" name="Google Shape;140;p6"/>
          <p:cNvSpPr/>
          <p:nvPr/>
        </p:nvSpPr>
        <p:spPr>
          <a:xfrm>
            <a:off x="457418" y="114681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41" name="Google Shape;141;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42" name="Google Shape;14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706678" y="147415"/>
            <a:ext cx="7548562"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sz="3600" b="1">
                <a:solidFill>
                  <a:schemeClr val="accent1"/>
                </a:solidFill>
              </a:rPr>
              <a:t>Logical vs. Physical Address Space</a:t>
            </a:r>
            <a:endParaRPr/>
          </a:p>
        </p:txBody>
      </p:sp>
      <p:sp>
        <p:nvSpPr>
          <p:cNvPr id="158" name="Google Shape;158;p8"/>
          <p:cNvSpPr txBox="1">
            <a:spLocks noGrp="1"/>
          </p:cNvSpPr>
          <p:nvPr>
            <p:ph type="body" idx="1"/>
          </p:nvPr>
        </p:nvSpPr>
        <p:spPr>
          <a:xfrm>
            <a:off x="652015" y="1225826"/>
            <a:ext cx="7729985" cy="4998692"/>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sz="2600"/>
              <a:t>The concept of a logical address space that is bound to a separate </a:t>
            </a:r>
            <a:r>
              <a:rPr lang="en-US" sz="2600" b="1">
                <a:solidFill>
                  <a:srgbClr val="006699"/>
                </a:solidFill>
              </a:rPr>
              <a:t>physical</a:t>
            </a:r>
            <a:r>
              <a:rPr lang="en-US" sz="2600" b="1">
                <a:solidFill>
                  <a:srgbClr val="3366FF"/>
                </a:solidFill>
              </a:rPr>
              <a:t> </a:t>
            </a:r>
            <a:r>
              <a:rPr lang="en-US" sz="2600" b="1">
                <a:solidFill>
                  <a:srgbClr val="006699"/>
                </a:solidFill>
              </a:rPr>
              <a:t>address</a:t>
            </a:r>
            <a:r>
              <a:rPr lang="en-US" sz="2600" b="1">
                <a:solidFill>
                  <a:srgbClr val="3366FF"/>
                </a:solidFill>
              </a:rPr>
              <a:t> </a:t>
            </a:r>
            <a:r>
              <a:rPr lang="en-US" sz="2600" b="1">
                <a:solidFill>
                  <a:srgbClr val="006699"/>
                </a:solidFill>
              </a:rPr>
              <a:t>space</a:t>
            </a:r>
            <a:r>
              <a:rPr lang="en-US" sz="2600">
                <a:solidFill>
                  <a:srgbClr val="3366FF"/>
                </a:solidFill>
              </a:rPr>
              <a:t> </a:t>
            </a:r>
            <a:r>
              <a:rPr lang="en-US" sz="2600"/>
              <a:t>is central to proper memory management</a:t>
            </a:r>
            <a:endParaRPr/>
          </a:p>
          <a:p>
            <a:pPr marL="742950" lvl="1" indent="-285750" algn="l" rtl="0">
              <a:spcBef>
                <a:spcPts val="341"/>
              </a:spcBef>
              <a:spcAft>
                <a:spcPts val="0"/>
              </a:spcAft>
              <a:buClr>
                <a:srgbClr val="006699"/>
              </a:buClr>
              <a:buSzPct val="100000"/>
              <a:buChar char="–"/>
            </a:pPr>
            <a:r>
              <a:rPr lang="en-US" sz="2200" b="1">
                <a:solidFill>
                  <a:srgbClr val="006699"/>
                </a:solidFill>
              </a:rPr>
              <a:t>Logical</a:t>
            </a:r>
            <a:r>
              <a:rPr lang="en-US" sz="2200" b="1">
                <a:solidFill>
                  <a:srgbClr val="3366FF"/>
                </a:solidFill>
              </a:rPr>
              <a:t> </a:t>
            </a:r>
            <a:r>
              <a:rPr lang="en-US" sz="2200" b="1">
                <a:solidFill>
                  <a:srgbClr val="006699"/>
                </a:solidFill>
              </a:rPr>
              <a:t>address</a:t>
            </a:r>
            <a:r>
              <a:rPr lang="en-US" sz="2200">
                <a:solidFill>
                  <a:srgbClr val="3366FF"/>
                </a:solidFill>
              </a:rPr>
              <a:t> </a:t>
            </a:r>
            <a:r>
              <a:rPr lang="en-US" sz="2200"/>
              <a:t>– generated by the CPU; also referred to as </a:t>
            </a:r>
            <a:r>
              <a:rPr lang="en-US" sz="2200" b="1">
                <a:solidFill>
                  <a:srgbClr val="006699"/>
                </a:solidFill>
              </a:rPr>
              <a:t>virtual</a:t>
            </a:r>
            <a:r>
              <a:rPr lang="en-US" sz="2200" b="1">
                <a:solidFill>
                  <a:srgbClr val="3366FF"/>
                </a:solidFill>
              </a:rPr>
              <a:t> </a:t>
            </a:r>
            <a:r>
              <a:rPr lang="en-US" sz="2200" b="1">
                <a:solidFill>
                  <a:srgbClr val="006699"/>
                </a:solidFill>
              </a:rPr>
              <a:t>address</a:t>
            </a:r>
            <a:endParaRPr/>
          </a:p>
          <a:p>
            <a:pPr marL="742950" lvl="1" indent="-285750" algn="l" rtl="0">
              <a:spcBef>
                <a:spcPts val="341"/>
              </a:spcBef>
              <a:spcAft>
                <a:spcPts val="0"/>
              </a:spcAft>
              <a:buClr>
                <a:srgbClr val="006699"/>
              </a:buClr>
              <a:buSzPct val="100000"/>
              <a:buChar char="–"/>
            </a:pPr>
            <a:r>
              <a:rPr lang="en-US" sz="2200" b="1">
                <a:solidFill>
                  <a:srgbClr val="006699"/>
                </a:solidFill>
              </a:rPr>
              <a:t>Physical</a:t>
            </a:r>
            <a:r>
              <a:rPr lang="en-US" sz="2200" b="1">
                <a:solidFill>
                  <a:srgbClr val="3366FF"/>
                </a:solidFill>
              </a:rPr>
              <a:t> </a:t>
            </a:r>
            <a:r>
              <a:rPr lang="en-US" sz="2200" b="1">
                <a:solidFill>
                  <a:srgbClr val="006699"/>
                </a:solidFill>
              </a:rPr>
              <a:t>address</a:t>
            </a:r>
            <a:r>
              <a:rPr lang="en-US" sz="2200">
                <a:solidFill>
                  <a:srgbClr val="3366FF"/>
                </a:solidFill>
              </a:rPr>
              <a:t> </a:t>
            </a:r>
            <a:r>
              <a:rPr lang="en-US" sz="2200"/>
              <a:t>– address seen by the memory unit.</a:t>
            </a:r>
            <a:endParaRPr/>
          </a:p>
          <a:p>
            <a:pPr marL="457200" lvl="1" indent="0" algn="l" rtl="0">
              <a:spcBef>
                <a:spcPts val="341"/>
              </a:spcBef>
              <a:spcAft>
                <a:spcPts val="0"/>
              </a:spcAft>
              <a:buClr>
                <a:schemeClr val="dk1"/>
              </a:buClr>
              <a:buSzPct val="100000"/>
              <a:buNone/>
            </a:pPr>
            <a:endParaRPr sz="2200"/>
          </a:p>
          <a:p>
            <a:pPr marL="342900" lvl="0" indent="-342900" algn="l" rtl="0">
              <a:spcBef>
                <a:spcPts val="403"/>
              </a:spcBef>
              <a:spcAft>
                <a:spcPts val="0"/>
              </a:spcAft>
              <a:buClr>
                <a:schemeClr val="dk1"/>
              </a:buClr>
              <a:buSzPct val="100000"/>
              <a:buChar char="•"/>
            </a:pPr>
            <a:r>
              <a:rPr lang="en-US" sz="2600"/>
              <a:t>Logical and physical addresses are the same in compile-time and load-time address-binding schemes; logical (virtual) and physical addresses differ in execution-time address-binding scheme.</a:t>
            </a:r>
            <a:endParaRPr/>
          </a:p>
          <a:p>
            <a:pPr marL="0" lvl="0" indent="0" algn="l" rtl="0">
              <a:spcBef>
                <a:spcPts val="403"/>
              </a:spcBef>
              <a:spcAft>
                <a:spcPts val="0"/>
              </a:spcAft>
              <a:buClr>
                <a:schemeClr val="dk1"/>
              </a:buClr>
              <a:buSzPct val="100000"/>
              <a:buNone/>
            </a:pPr>
            <a:endParaRPr sz="2600"/>
          </a:p>
          <a:p>
            <a:pPr marL="342900" lvl="0" indent="-342900" algn="l" rtl="0">
              <a:spcBef>
                <a:spcPts val="403"/>
              </a:spcBef>
              <a:spcAft>
                <a:spcPts val="0"/>
              </a:spcAft>
              <a:buClr>
                <a:srgbClr val="006699"/>
              </a:buClr>
              <a:buSzPct val="100000"/>
              <a:buChar char="•"/>
            </a:pPr>
            <a:r>
              <a:rPr lang="en-US" sz="2600" b="1">
                <a:solidFill>
                  <a:srgbClr val="006699"/>
                </a:solidFill>
              </a:rPr>
              <a:t>Logical</a:t>
            </a:r>
            <a:r>
              <a:rPr lang="en-US" sz="2600" b="1">
                <a:solidFill>
                  <a:srgbClr val="3366FF"/>
                </a:solidFill>
              </a:rPr>
              <a:t> </a:t>
            </a:r>
            <a:r>
              <a:rPr lang="en-US" sz="2600" b="1">
                <a:solidFill>
                  <a:srgbClr val="006699"/>
                </a:solidFill>
              </a:rPr>
              <a:t>address</a:t>
            </a:r>
            <a:r>
              <a:rPr lang="en-US" sz="2600" b="1">
                <a:solidFill>
                  <a:srgbClr val="3366FF"/>
                </a:solidFill>
              </a:rPr>
              <a:t> </a:t>
            </a:r>
            <a:r>
              <a:rPr lang="en-US" sz="2600" b="1">
                <a:solidFill>
                  <a:srgbClr val="006699"/>
                </a:solidFill>
              </a:rPr>
              <a:t>space</a:t>
            </a:r>
            <a:r>
              <a:rPr lang="en-US" sz="2600" b="1">
                <a:solidFill>
                  <a:srgbClr val="3366FF"/>
                </a:solidFill>
              </a:rPr>
              <a:t> </a:t>
            </a:r>
            <a:r>
              <a:rPr lang="en-US" sz="2600"/>
              <a:t>is the set of all logical addresses generated by a program.</a:t>
            </a:r>
            <a:endParaRPr/>
          </a:p>
          <a:p>
            <a:pPr marL="0" lvl="0" indent="0" algn="l" rtl="0">
              <a:spcBef>
                <a:spcPts val="403"/>
              </a:spcBef>
              <a:spcAft>
                <a:spcPts val="0"/>
              </a:spcAft>
              <a:buClr>
                <a:schemeClr val="dk1"/>
              </a:buClr>
              <a:buSzPct val="100000"/>
              <a:buNone/>
            </a:pPr>
            <a:endParaRPr sz="2600"/>
          </a:p>
          <a:p>
            <a:pPr marL="342900" lvl="0" indent="-342900" algn="l" rtl="0">
              <a:spcBef>
                <a:spcPts val="403"/>
              </a:spcBef>
              <a:spcAft>
                <a:spcPts val="0"/>
              </a:spcAft>
              <a:buClr>
                <a:srgbClr val="006699"/>
              </a:buClr>
              <a:buSzPct val="100000"/>
              <a:buChar char="•"/>
            </a:pPr>
            <a:r>
              <a:rPr lang="en-US" sz="2600" b="1">
                <a:solidFill>
                  <a:srgbClr val="006699"/>
                </a:solidFill>
              </a:rPr>
              <a:t>Physical</a:t>
            </a:r>
            <a:r>
              <a:rPr lang="en-US" sz="2600" b="1">
                <a:solidFill>
                  <a:srgbClr val="3366FF"/>
                </a:solidFill>
              </a:rPr>
              <a:t> </a:t>
            </a:r>
            <a:r>
              <a:rPr lang="en-US" sz="2600" b="1">
                <a:solidFill>
                  <a:srgbClr val="006699"/>
                </a:solidFill>
              </a:rPr>
              <a:t>address</a:t>
            </a:r>
            <a:r>
              <a:rPr lang="en-US" sz="2600" b="1">
                <a:solidFill>
                  <a:srgbClr val="3366FF"/>
                </a:solidFill>
              </a:rPr>
              <a:t> </a:t>
            </a:r>
            <a:r>
              <a:rPr lang="en-US" sz="2600" b="1">
                <a:solidFill>
                  <a:srgbClr val="006699"/>
                </a:solidFill>
              </a:rPr>
              <a:t>space</a:t>
            </a:r>
            <a:r>
              <a:rPr lang="en-US" sz="2600" b="1">
                <a:solidFill>
                  <a:srgbClr val="3366FF"/>
                </a:solidFill>
              </a:rPr>
              <a:t> </a:t>
            </a:r>
            <a:r>
              <a:rPr lang="en-US" sz="2600"/>
              <a:t>is the set of all physical addresses generated by a program</a:t>
            </a:r>
            <a:endParaRPr/>
          </a:p>
          <a:p>
            <a:pPr marL="342900" lvl="0" indent="-185420" algn="l" rtl="0">
              <a:spcBef>
                <a:spcPts val="496"/>
              </a:spcBef>
              <a:spcAft>
                <a:spcPts val="0"/>
              </a:spcAft>
              <a:buClr>
                <a:schemeClr val="dk1"/>
              </a:buClr>
              <a:buSzPct val="100000"/>
              <a:buNone/>
            </a:pPr>
            <a:endParaRPr/>
          </a:p>
          <a:p>
            <a:pPr marL="342900" lvl="0" indent="-185420" algn="l" rtl="0">
              <a:spcBef>
                <a:spcPts val="496"/>
              </a:spcBef>
              <a:spcAft>
                <a:spcPts val="0"/>
              </a:spcAft>
              <a:buClr>
                <a:schemeClr val="dk1"/>
              </a:buClr>
              <a:buSzPct val="100000"/>
              <a:buNone/>
            </a:pPr>
            <a:endParaRPr/>
          </a:p>
        </p:txBody>
      </p:sp>
      <p:sp>
        <p:nvSpPr>
          <p:cNvPr id="159" name="Google Shape;159;p8"/>
          <p:cNvSpPr/>
          <p:nvPr/>
        </p:nvSpPr>
        <p:spPr>
          <a:xfrm>
            <a:off x="474196" y="89514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60" name="Google Shape;160;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61" name="Google Shape;16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65"/>
        <p:cNvGrpSpPr/>
        <p:nvPr/>
      </p:nvGrpSpPr>
      <p:grpSpPr>
        <a:xfrm>
          <a:off x="0" y="0"/>
          <a:ext cx="0" cy="0"/>
          <a:chOff x="0" y="0"/>
          <a:chExt cx="0" cy="0"/>
        </a:xfrm>
      </p:grpSpPr>
      <p:sp>
        <p:nvSpPr>
          <p:cNvPr id="166" name="Google Shape;166;p9"/>
          <p:cNvSpPr/>
          <p:nvPr/>
        </p:nvSpPr>
        <p:spPr>
          <a:xfrm>
            <a:off x="457418" y="114681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67" name="Google Shape;167;p9"/>
          <p:cNvSpPr txBox="1">
            <a:spLocks noGrp="1"/>
          </p:cNvSpPr>
          <p:nvPr>
            <p:ph type="title"/>
          </p:nvPr>
        </p:nvSpPr>
        <p:spPr>
          <a:xfrm>
            <a:off x="737512" y="616365"/>
            <a:ext cx="7378117" cy="430887"/>
          </a:xfrm>
          <a:prstGeom prst="rect">
            <a:avLst/>
          </a:prstGeom>
          <a:noFill/>
          <a:ln>
            <a:noFill/>
          </a:ln>
        </p:spPr>
        <p:txBody>
          <a:bodyPr spcFirstLastPara="1" wrap="square" lIns="0" tIns="0" rIns="0" bIns="0" anchor="ctr" anchorCtr="0">
            <a:spAutoFit/>
          </a:bodyPr>
          <a:lstStyle/>
          <a:p>
            <a:pPr marL="1371468" lvl="0" indent="0" algn="l" rtl="0">
              <a:spcBef>
                <a:spcPts val="0"/>
              </a:spcBef>
              <a:spcAft>
                <a:spcPts val="0"/>
              </a:spcAft>
              <a:buClr>
                <a:schemeClr val="accent1"/>
              </a:buClr>
              <a:buSzPts val="2800"/>
              <a:buFont typeface="Calibri"/>
              <a:buNone/>
            </a:pPr>
            <a:r>
              <a:rPr lang="en-US" sz="2800" b="1">
                <a:solidFill>
                  <a:schemeClr val="accent1"/>
                </a:solidFill>
              </a:rPr>
              <a:t>MEMORY-MANAGEMENT</a:t>
            </a:r>
            <a:r>
              <a:rPr lang="en-US" sz="2800" b="1">
                <a:solidFill>
                  <a:schemeClr val="accent1"/>
                </a:solidFill>
                <a:latin typeface="Times New Roman"/>
                <a:ea typeface="Times New Roman"/>
                <a:cs typeface="Times New Roman"/>
                <a:sym typeface="Times New Roman"/>
              </a:rPr>
              <a:t> </a:t>
            </a:r>
            <a:r>
              <a:rPr lang="en-US" sz="2800" b="1">
                <a:solidFill>
                  <a:schemeClr val="accent1"/>
                </a:solidFill>
              </a:rPr>
              <a:t>UNIT</a:t>
            </a:r>
            <a:r>
              <a:rPr lang="en-US" sz="2800" b="1">
                <a:solidFill>
                  <a:schemeClr val="accent1"/>
                </a:solidFill>
                <a:latin typeface="Times New Roman"/>
                <a:ea typeface="Times New Roman"/>
                <a:cs typeface="Times New Roman"/>
                <a:sym typeface="Times New Roman"/>
              </a:rPr>
              <a:t> </a:t>
            </a:r>
            <a:r>
              <a:rPr lang="en-US" sz="2800" b="1">
                <a:solidFill>
                  <a:schemeClr val="accent1"/>
                </a:solidFill>
              </a:rPr>
              <a:t>(MMU)</a:t>
            </a:r>
            <a:endParaRPr sz="2800" b="1">
              <a:solidFill>
                <a:schemeClr val="accent1"/>
              </a:solidFill>
              <a:latin typeface="Times New Roman"/>
              <a:ea typeface="Times New Roman"/>
              <a:cs typeface="Times New Roman"/>
              <a:sym typeface="Times New Roman"/>
            </a:endParaRPr>
          </a:p>
        </p:txBody>
      </p:sp>
      <p:sp>
        <p:nvSpPr>
          <p:cNvPr id="168" name="Google Shape;168;p9"/>
          <p:cNvSpPr txBox="1"/>
          <p:nvPr/>
        </p:nvSpPr>
        <p:spPr>
          <a:xfrm>
            <a:off x="853678" y="1378579"/>
            <a:ext cx="7145786" cy="5031506"/>
          </a:xfrm>
          <a:prstGeom prst="rect">
            <a:avLst/>
          </a:prstGeom>
          <a:noFill/>
          <a:ln>
            <a:noFill/>
          </a:ln>
        </p:spPr>
        <p:txBody>
          <a:bodyPr spcFirstLastPara="1" wrap="square" lIns="0" tIns="0" rIns="0" bIns="0" anchor="t" anchorCtr="0">
            <a:spAutoFit/>
          </a:bodyPr>
          <a:lstStyle/>
          <a:p>
            <a:pPr marL="336623" marR="0" lvl="0" indent="-325765" algn="l" rtl="0">
              <a:spcBef>
                <a:spcPts val="0"/>
              </a:spcBef>
              <a:spcAft>
                <a:spcPts val="0"/>
              </a:spcAft>
              <a:buClr>
                <a:srgbClr val="993200"/>
              </a:buClr>
              <a:buSzPts val="1603"/>
              <a:buFont typeface="Noto Sans Symbols"/>
              <a:buChar char="■"/>
            </a:pPr>
            <a:r>
              <a:rPr lang="en-US" sz="1795">
                <a:solidFill>
                  <a:schemeClr val="dk1"/>
                </a:solidFill>
                <a:latin typeface="Arial"/>
                <a:ea typeface="Arial"/>
                <a:cs typeface="Arial"/>
                <a:sym typeface="Arial"/>
              </a:rPr>
              <a:t>MMU is a hardware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device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that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run</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time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maps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virtual</a:t>
            </a:r>
            <a:r>
              <a:rPr lang="en-US" sz="1795">
                <a:solidFill>
                  <a:schemeClr val="dk1"/>
                </a:solidFill>
                <a:latin typeface="Times New Roman"/>
                <a:ea typeface="Times New Roman"/>
                <a:cs typeface="Times New Roman"/>
                <a:sym typeface="Times New Roman"/>
              </a:rPr>
              <a:t> address </a:t>
            </a:r>
            <a:r>
              <a:rPr lang="en-US" sz="1795">
                <a:solidFill>
                  <a:schemeClr val="dk1"/>
                </a:solidFill>
                <a:latin typeface="Arial"/>
                <a:ea typeface="Arial"/>
                <a:cs typeface="Arial"/>
                <a:sym typeface="Arial"/>
              </a:rPr>
              <a:t>to</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physical</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address</a:t>
            </a:r>
            <a:endParaRPr/>
          </a:p>
          <a:p>
            <a:pPr marL="336623" marR="0" lvl="0" indent="-223939" algn="l" rtl="0">
              <a:spcBef>
                <a:spcPts val="0"/>
              </a:spcBef>
              <a:spcAft>
                <a:spcPts val="0"/>
              </a:spcAft>
              <a:buClr>
                <a:srgbClr val="993200"/>
              </a:buClr>
              <a:buSzPts val="1604"/>
              <a:buFont typeface="Noto Sans Symbols"/>
              <a:buNone/>
            </a:pPr>
            <a:endParaRPr sz="1795">
              <a:solidFill>
                <a:schemeClr val="dk1"/>
              </a:solidFill>
              <a:latin typeface="Arial"/>
              <a:ea typeface="Arial"/>
              <a:cs typeface="Arial"/>
              <a:sym typeface="Arial"/>
            </a:endParaRPr>
          </a:p>
          <a:p>
            <a:pPr marL="336623" marR="0" lvl="0" indent="-223939" algn="l" rtl="0">
              <a:spcBef>
                <a:spcPts val="0"/>
              </a:spcBef>
              <a:spcAft>
                <a:spcPts val="0"/>
              </a:spcAft>
              <a:buClr>
                <a:srgbClr val="993200"/>
              </a:buClr>
              <a:buSzPts val="1604"/>
              <a:buFont typeface="Noto Sans Symbols"/>
              <a:buNone/>
            </a:pPr>
            <a:endParaRPr sz="1795">
              <a:solidFill>
                <a:schemeClr val="dk1"/>
              </a:solidFill>
              <a:latin typeface="Arial"/>
              <a:ea typeface="Arial"/>
              <a:cs typeface="Arial"/>
              <a:sym typeface="Arial"/>
            </a:endParaRPr>
          </a:p>
          <a:p>
            <a:pPr marL="336623" marR="0" lvl="0" indent="-223939" algn="l" rtl="0">
              <a:spcBef>
                <a:spcPts val="0"/>
              </a:spcBef>
              <a:spcAft>
                <a:spcPts val="0"/>
              </a:spcAft>
              <a:buClr>
                <a:srgbClr val="993200"/>
              </a:buClr>
              <a:buSzPts val="1604"/>
              <a:buFont typeface="Noto Sans Symbols"/>
              <a:buNone/>
            </a:pPr>
            <a:endParaRPr sz="1795">
              <a:solidFill>
                <a:schemeClr val="dk1"/>
              </a:solidFill>
              <a:latin typeface="Arial"/>
              <a:ea typeface="Arial"/>
              <a:cs typeface="Arial"/>
              <a:sym typeface="Arial"/>
            </a:endParaRPr>
          </a:p>
          <a:p>
            <a:pPr marL="336623" marR="0" lvl="0" indent="-223939" algn="l" rtl="0">
              <a:spcBef>
                <a:spcPts val="0"/>
              </a:spcBef>
              <a:spcAft>
                <a:spcPts val="0"/>
              </a:spcAft>
              <a:buClr>
                <a:srgbClr val="993200"/>
              </a:buClr>
              <a:buSzPts val="1604"/>
              <a:buFont typeface="Noto Sans Symbols"/>
              <a:buNone/>
            </a:pPr>
            <a:endParaRPr sz="1795">
              <a:solidFill>
                <a:schemeClr val="dk1"/>
              </a:solidFill>
              <a:latin typeface="Arial"/>
              <a:ea typeface="Arial"/>
              <a:cs typeface="Arial"/>
              <a:sym typeface="Arial"/>
            </a:endParaRPr>
          </a:p>
          <a:p>
            <a:pPr marL="0" marR="0" lvl="0" indent="0" algn="l" rtl="0">
              <a:spcBef>
                <a:spcPts val="21"/>
              </a:spcBef>
              <a:spcAft>
                <a:spcPts val="0"/>
              </a:spcAft>
              <a:buClr>
                <a:srgbClr val="993200"/>
              </a:buClr>
              <a:buSzPts val="1796"/>
              <a:buFont typeface="Noto Sans Symbols"/>
              <a:buNone/>
            </a:pPr>
            <a:endParaRPr sz="1795">
              <a:solidFill>
                <a:schemeClr val="dk1"/>
              </a:solidFill>
              <a:latin typeface="Times New Roman"/>
              <a:ea typeface="Times New Roman"/>
              <a:cs typeface="Times New Roman"/>
              <a:sym typeface="Times New Roman"/>
            </a:endParaRPr>
          </a:p>
          <a:p>
            <a:pPr marL="336623" marR="4344" lvl="0" indent="-325765" algn="l" rtl="0">
              <a:spcBef>
                <a:spcPts val="0"/>
              </a:spcBef>
              <a:spcAft>
                <a:spcPts val="0"/>
              </a:spcAft>
              <a:buClr>
                <a:srgbClr val="993200"/>
              </a:buClr>
              <a:buSzPts val="1603"/>
              <a:buFont typeface="Noto Sans Symbols"/>
              <a:buChar char="■"/>
            </a:pPr>
            <a:r>
              <a:rPr lang="en-US" sz="1795">
                <a:solidFill>
                  <a:schemeClr val="dk1"/>
                </a:solidFill>
                <a:latin typeface="Arial"/>
                <a:ea typeface="Arial"/>
                <a:cs typeface="Arial"/>
                <a:sym typeface="Arial"/>
              </a:rPr>
              <a:t>To</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start,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consider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simple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scheme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where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value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in</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relocation</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register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added</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to</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every</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address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generated</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by</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user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process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time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sent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to</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memory</a:t>
            </a:r>
            <a:endParaRPr/>
          </a:p>
          <a:p>
            <a:pPr marL="716681" marR="0" lvl="1" indent="-272012" algn="l" rtl="0">
              <a:spcBef>
                <a:spcPts val="500"/>
              </a:spcBef>
              <a:spcAft>
                <a:spcPts val="0"/>
              </a:spcAft>
              <a:buClr>
                <a:srgbClr val="CC6500"/>
              </a:buClr>
              <a:buSzPts val="1410"/>
              <a:buFont typeface="Noto Sans Symbols"/>
              <a:buChar char="•"/>
            </a:pPr>
            <a:r>
              <a:rPr lang="en-US" sz="1795" b="0" i="0" u="none" strike="noStrike" cap="none">
                <a:solidFill>
                  <a:schemeClr val="dk1"/>
                </a:solidFill>
                <a:latin typeface="Arial"/>
                <a:ea typeface="Arial"/>
                <a:cs typeface="Arial"/>
                <a:sym typeface="Arial"/>
              </a:rPr>
              <a:t>Base</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register</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now</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called</a:t>
            </a:r>
            <a:r>
              <a:rPr lang="en-US" sz="1795" b="0" i="0" u="none" strike="noStrike" cap="none">
                <a:solidFill>
                  <a:schemeClr val="dk1"/>
                </a:solidFill>
                <a:latin typeface="Times New Roman"/>
                <a:ea typeface="Times New Roman"/>
                <a:cs typeface="Times New Roman"/>
                <a:sym typeface="Times New Roman"/>
              </a:rPr>
              <a:t> </a:t>
            </a:r>
            <a:r>
              <a:rPr lang="en-US" sz="1795" b="1" i="0" u="none" strike="noStrike" cap="none">
                <a:solidFill>
                  <a:srgbClr val="0000FF"/>
                </a:solidFill>
                <a:latin typeface="Arial"/>
                <a:ea typeface="Arial"/>
                <a:cs typeface="Arial"/>
                <a:sym typeface="Arial"/>
              </a:rPr>
              <a:t>relocation</a:t>
            </a:r>
            <a:r>
              <a:rPr lang="en-US" sz="1795" b="1" i="0" u="none" strike="noStrike" cap="none">
                <a:solidFill>
                  <a:srgbClr val="0000FF"/>
                </a:solidFill>
                <a:latin typeface="Times New Roman"/>
                <a:ea typeface="Times New Roman"/>
                <a:cs typeface="Times New Roman"/>
                <a:sym typeface="Times New Roman"/>
              </a:rPr>
              <a:t> </a:t>
            </a:r>
            <a:r>
              <a:rPr lang="en-US" sz="1795" b="1" i="0" u="none" strike="noStrike" cap="none">
                <a:solidFill>
                  <a:srgbClr val="0000FF"/>
                </a:solidFill>
                <a:latin typeface="Arial"/>
                <a:ea typeface="Arial"/>
                <a:cs typeface="Arial"/>
                <a:sym typeface="Arial"/>
              </a:rPr>
              <a:t>register</a:t>
            </a:r>
            <a:endParaRPr sz="1795" b="0" i="0" u="none" strike="noStrike" cap="none">
              <a:solidFill>
                <a:schemeClr val="dk1"/>
              </a:solidFill>
              <a:latin typeface="Arial"/>
              <a:ea typeface="Arial"/>
              <a:cs typeface="Arial"/>
              <a:sym typeface="Arial"/>
            </a:endParaRPr>
          </a:p>
          <a:p>
            <a:pPr marL="716681" marR="0" lvl="1" indent="-272012" algn="l" rtl="0">
              <a:spcBef>
                <a:spcPts val="500"/>
              </a:spcBef>
              <a:spcAft>
                <a:spcPts val="0"/>
              </a:spcAft>
              <a:buClr>
                <a:srgbClr val="CC6500"/>
              </a:buClr>
              <a:buSzPts val="1410"/>
              <a:buFont typeface="Noto Sans Symbols"/>
              <a:buChar char="•"/>
            </a:pPr>
            <a:r>
              <a:rPr lang="en-US" sz="1795" b="0" i="0" u="none" strike="noStrike" cap="none">
                <a:solidFill>
                  <a:schemeClr val="dk1"/>
                </a:solidFill>
                <a:latin typeface="Arial"/>
                <a:ea typeface="Arial"/>
                <a:cs typeface="Arial"/>
                <a:sym typeface="Arial"/>
              </a:rPr>
              <a:t>MS-DOS</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on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Intel</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80x86</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used</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4</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relocation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registers</a:t>
            </a:r>
            <a:endParaRPr/>
          </a:p>
          <a:p>
            <a:pPr marL="457200" marR="0" lvl="1" indent="0" algn="l" rtl="0">
              <a:lnSpc>
                <a:spcPct val="100000"/>
              </a:lnSpc>
              <a:spcBef>
                <a:spcPts val="0"/>
              </a:spcBef>
              <a:spcAft>
                <a:spcPts val="0"/>
              </a:spcAft>
              <a:buClr>
                <a:srgbClr val="CC6500"/>
              </a:buClr>
              <a:buSzPts val="1796"/>
              <a:buFont typeface="Noto Sans Symbols"/>
              <a:buNone/>
            </a:pPr>
            <a:endParaRPr sz="1795" b="0" i="0" u="none" strike="noStrike" cap="none">
              <a:solidFill>
                <a:schemeClr val="dk1"/>
              </a:solidFill>
              <a:latin typeface="Times New Roman"/>
              <a:ea typeface="Times New Roman"/>
              <a:cs typeface="Times New Roman"/>
              <a:sym typeface="Times New Roman"/>
            </a:endParaRPr>
          </a:p>
          <a:p>
            <a:pPr marL="336623" marR="0" lvl="0" indent="-325765" algn="l" rtl="0">
              <a:spcBef>
                <a:spcPts val="1073"/>
              </a:spcBef>
              <a:spcAft>
                <a:spcPts val="0"/>
              </a:spcAft>
              <a:buClr>
                <a:srgbClr val="993200"/>
              </a:buClr>
              <a:buSzPts val="1603"/>
              <a:buFont typeface="Noto Sans Symbols"/>
              <a:buChar char="■"/>
            </a:pP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user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program</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deals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with</a:t>
            </a:r>
            <a:r>
              <a:rPr lang="en-US" sz="1795">
                <a:solidFill>
                  <a:schemeClr val="dk1"/>
                </a:solidFill>
                <a:latin typeface="Times New Roman"/>
                <a:ea typeface="Times New Roman"/>
                <a:cs typeface="Times New Roman"/>
                <a:sym typeface="Times New Roman"/>
              </a:rPr>
              <a:t> </a:t>
            </a:r>
            <a:r>
              <a:rPr lang="en-US" sz="1795" i="1">
                <a:solidFill>
                  <a:schemeClr val="dk1"/>
                </a:solidFill>
                <a:latin typeface="Arial"/>
                <a:ea typeface="Arial"/>
                <a:cs typeface="Arial"/>
                <a:sym typeface="Arial"/>
              </a:rPr>
              <a:t>logical</a:t>
            </a:r>
            <a:r>
              <a:rPr lang="en-US" sz="1795" i="1">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addresses;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never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sees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i="1">
                <a:solidFill>
                  <a:schemeClr val="dk1"/>
                </a:solidFill>
                <a:latin typeface="Arial"/>
                <a:ea typeface="Arial"/>
                <a:cs typeface="Arial"/>
                <a:sym typeface="Arial"/>
              </a:rPr>
              <a:t>real</a:t>
            </a:r>
            <a:r>
              <a:rPr lang="en-US" sz="1795" i="1">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physical</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addresses</a:t>
            </a:r>
            <a:endParaRPr/>
          </a:p>
          <a:p>
            <a:pPr marL="716681" marR="0" lvl="1" indent="-272012" algn="l" rtl="0">
              <a:spcBef>
                <a:spcPts val="500"/>
              </a:spcBef>
              <a:spcAft>
                <a:spcPts val="0"/>
              </a:spcAft>
              <a:buClr>
                <a:srgbClr val="CC6500"/>
              </a:buClr>
              <a:buSzPts val="1410"/>
              <a:buFont typeface="Noto Sans Symbols"/>
              <a:buChar char="•"/>
            </a:pPr>
            <a:r>
              <a:rPr lang="en-US" sz="1795" b="0" i="0" u="none" strike="noStrike" cap="none">
                <a:solidFill>
                  <a:schemeClr val="dk1"/>
                </a:solidFill>
                <a:latin typeface="Arial"/>
                <a:ea typeface="Arial"/>
                <a:cs typeface="Arial"/>
                <a:sym typeface="Arial"/>
              </a:rPr>
              <a:t>Execution-time</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binding</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occurs</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when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reference</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is</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made</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to</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location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in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memory</a:t>
            </a:r>
            <a:endParaRPr/>
          </a:p>
        </p:txBody>
      </p:sp>
      <p:pic>
        <p:nvPicPr>
          <p:cNvPr id="169" name="Google Shape;169;p9" descr="W:\os-book\OS10\slide-dir\os-figures\9_04.jpg"/>
          <p:cNvPicPr preferRelativeResize="0"/>
          <p:nvPr/>
        </p:nvPicPr>
        <p:blipFill rotWithShape="1">
          <a:blip r:embed="rId3">
            <a:alphaModFix/>
          </a:blip>
          <a:srcRect/>
          <a:stretch/>
        </p:blipFill>
        <p:spPr>
          <a:xfrm>
            <a:off x="3347206" y="1683798"/>
            <a:ext cx="4008665" cy="1456795"/>
          </a:xfrm>
          <a:prstGeom prst="rect">
            <a:avLst/>
          </a:prstGeom>
          <a:noFill/>
          <a:ln>
            <a:noFill/>
          </a:ln>
        </p:spPr>
      </p:pic>
      <p:sp>
        <p:nvSpPr>
          <p:cNvPr id="170" name="Google Shape;170;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71" name="Google Shape;171;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0"/>
          <p:cNvSpPr/>
          <p:nvPr/>
        </p:nvSpPr>
        <p:spPr>
          <a:xfrm>
            <a:off x="457418" y="114681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77" name="Google Shape;177;p10"/>
          <p:cNvSpPr txBox="1"/>
          <p:nvPr/>
        </p:nvSpPr>
        <p:spPr>
          <a:xfrm>
            <a:off x="838924" y="581197"/>
            <a:ext cx="7466152" cy="407932"/>
          </a:xfrm>
          <a:prstGeom prst="rect">
            <a:avLst/>
          </a:prstGeom>
          <a:noFill/>
          <a:ln>
            <a:noFill/>
          </a:ln>
        </p:spPr>
        <p:txBody>
          <a:bodyPr spcFirstLastPara="1" wrap="square" lIns="0" tIns="0" rIns="0" bIns="0" anchor="t" anchorCtr="0">
            <a:spAutoFit/>
          </a:bodyPr>
          <a:lstStyle/>
          <a:p>
            <a:pPr marL="10859" marR="0" lvl="0" indent="0" algn="l" rtl="0">
              <a:spcBef>
                <a:spcPts val="0"/>
              </a:spcBef>
              <a:spcAft>
                <a:spcPts val="0"/>
              </a:spcAft>
              <a:buNone/>
            </a:pPr>
            <a:r>
              <a:rPr lang="en-US" sz="2651" b="1">
                <a:solidFill>
                  <a:srgbClr val="006599"/>
                </a:solidFill>
                <a:latin typeface="Arial"/>
                <a:ea typeface="Arial"/>
                <a:cs typeface="Arial"/>
                <a:sym typeface="Arial"/>
              </a:rPr>
              <a:t>Dynamic</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relocation</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using</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a</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relocation</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register</a:t>
            </a:r>
            <a:endParaRPr sz="2651">
              <a:solidFill>
                <a:schemeClr val="dk1"/>
              </a:solidFill>
              <a:latin typeface="Arial"/>
              <a:ea typeface="Arial"/>
              <a:cs typeface="Arial"/>
              <a:sym typeface="Arial"/>
            </a:endParaRPr>
          </a:p>
        </p:txBody>
      </p:sp>
      <p:sp>
        <p:nvSpPr>
          <p:cNvPr id="178" name="Google Shape;178;p10"/>
          <p:cNvSpPr/>
          <p:nvPr/>
        </p:nvSpPr>
        <p:spPr>
          <a:xfrm>
            <a:off x="4475129" y="2073365"/>
            <a:ext cx="4282044" cy="383529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79" name="Google Shape;179;p10"/>
          <p:cNvSpPr txBox="1"/>
          <p:nvPr/>
        </p:nvSpPr>
        <p:spPr>
          <a:xfrm>
            <a:off x="811448" y="1239378"/>
            <a:ext cx="3459951" cy="4692118"/>
          </a:xfrm>
          <a:prstGeom prst="rect">
            <a:avLst/>
          </a:prstGeom>
          <a:noFill/>
          <a:ln>
            <a:noFill/>
          </a:ln>
        </p:spPr>
        <p:txBody>
          <a:bodyPr spcFirstLastPara="1" wrap="square" lIns="0" tIns="0" rIns="0" bIns="0" anchor="t" anchorCtr="0">
            <a:spAutoFit/>
          </a:bodyPr>
          <a:lstStyle/>
          <a:p>
            <a:pPr marL="336623" marR="0" lvl="0" indent="-325765" algn="l" rtl="0">
              <a:spcBef>
                <a:spcPts val="0"/>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Routine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not</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loaded</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until</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it</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called</a:t>
            </a:r>
            <a:endParaRPr/>
          </a:p>
          <a:p>
            <a:pPr marL="0" marR="0" lvl="0" indent="0" algn="l" rtl="0">
              <a:lnSpc>
                <a:spcPct val="100000"/>
              </a:lnSpc>
              <a:spcBef>
                <a:spcPts val="0"/>
              </a:spcBef>
              <a:spcAft>
                <a:spcPts val="0"/>
              </a:spcAft>
              <a:buClr>
                <a:srgbClr val="993200"/>
              </a:buClr>
              <a:buSzPts val="1368"/>
              <a:buFont typeface="Noto Sans Symbols"/>
              <a:buNone/>
            </a:pPr>
            <a:endParaRPr sz="1368">
              <a:solidFill>
                <a:schemeClr val="dk1"/>
              </a:solidFill>
              <a:latin typeface="Times New Roman"/>
              <a:ea typeface="Times New Roman"/>
              <a:cs typeface="Times New Roman"/>
              <a:sym typeface="Times New Roman"/>
            </a:endParaRPr>
          </a:p>
          <a:p>
            <a:pPr marL="336623" marR="401776" lvl="0" indent="-325765" algn="l" rtl="0">
              <a:spcBef>
                <a:spcPts val="1065"/>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Better</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memory-space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utilization;</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unused</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routine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never</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loaded</a:t>
            </a:r>
            <a:endParaRPr/>
          </a:p>
          <a:p>
            <a:pPr marL="0" marR="0" lvl="0" indent="0" algn="l" rtl="0">
              <a:lnSpc>
                <a:spcPct val="100000"/>
              </a:lnSpc>
              <a:spcBef>
                <a:spcPts val="0"/>
              </a:spcBef>
              <a:spcAft>
                <a:spcPts val="0"/>
              </a:spcAft>
              <a:buClr>
                <a:srgbClr val="993200"/>
              </a:buClr>
              <a:buSzPts val="1368"/>
              <a:buFont typeface="Noto Sans Symbols"/>
              <a:buNone/>
            </a:pPr>
            <a:endParaRPr sz="1368">
              <a:solidFill>
                <a:schemeClr val="dk1"/>
              </a:solidFill>
              <a:latin typeface="Times New Roman"/>
              <a:ea typeface="Times New Roman"/>
              <a:cs typeface="Times New Roman"/>
              <a:sym typeface="Times New Roman"/>
            </a:endParaRPr>
          </a:p>
          <a:p>
            <a:pPr marL="336623" marR="234008" lvl="0" indent="-325765" algn="l" rtl="0">
              <a:spcBef>
                <a:spcPts val="1065"/>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All</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routines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kept</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on</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disk</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in</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relocatable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load</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format</a:t>
            </a:r>
            <a:endParaRPr/>
          </a:p>
          <a:p>
            <a:pPr marL="0" marR="0" lvl="0" indent="0" algn="l" rtl="0">
              <a:lnSpc>
                <a:spcPct val="100000"/>
              </a:lnSpc>
              <a:spcBef>
                <a:spcPts val="0"/>
              </a:spcBef>
              <a:spcAft>
                <a:spcPts val="0"/>
              </a:spcAft>
              <a:buClr>
                <a:srgbClr val="993200"/>
              </a:buClr>
              <a:buSzPts val="1368"/>
              <a:buFont typeface="Noto Sans Symbols"/>
              <a:buNone/>
            </a:pPr>
            <a:endParaRPr sz="1368">
              <a:solidFill>
                <a:schemeClr val="dk1"/>
              </a:solidFill>
              <a:latin typeface="Times New Roman"/>
              <a:ea typeface="Times New Roman"/>
              <a:cs typeface="Times New Roman"/>
              <a:sym typeface="Times New Roman"/>
            </a:endParaRPr>
          </a:p>
          <a:p>
            <a:pPr marL="336623" marR="4344" lvl="0" indent="-325765" algn="l" rtl="0">
              <a:spcBef>
                <a:spcPts val="1073"/>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Useful</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when</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large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amounts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of</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code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are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needed</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to</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handle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infrequently</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occurring</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cases</a:t>
            </a:r>
            <a:endParaRPr/>
          </a:p>
          <a:p>
            <a:pPr marL="0" marR="0" lvl="0" indent="0" algn="l" rtl="0">
              <a:lnSpc>
                <a:spcPct val="100000"/>
              </a:lnSpc>
              <a:spcBef>
                <a:spcPts val="0"/>
              </a:spcBef>
              <a:spcAft>
                <a:spcPts val="0"/>
              </a:spcAft>
              <a:buClr>
                <a:srgbClr val="993200"/>
              </a:buClr>
              <a:buSzPts val="1368"/>
              <a:buFont typeface="Noto Sans Symbols"/>
              <a:buNone/>
            </a:pPr>
            <a:endParaRPr sz="1368">
              <a:solidFill>
                <a:schemeClr val="dk1"/>
              </a:solidFill>
              <a:latin typeface="Times New Roman"/>
              <a:ea typeface="Times New Roman"/>
              <a:cs typeface="Times New Roman"/>
              <a:sym typeface="Times New Roman"/>
            </a:endParaRPr>
          </a:p>
          <a:p>
            <a:pPr marL="336623" marR="55922" lvl="0" indent="-325765" algn="l" rtl="0">
              <a:spcBef>
                <a:spcPts val="1065"/>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No</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special</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support</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from</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the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operating</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system</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required</a:t>
            </a:r>
            <a:endParaRPr/>
          </a:p>
          <a:p>
            <a:pPr marL="716681" marR="0" lvl="1" indent="-272012" algn="l" rtl="0">
              <a:spcBef>
                <a:spcPts val="500"/>
              </a:spcBef>
              <a:spcAft>
                <a:spcPts val="0"/>
              </a:spcAft>
              <a:buClr>
                <a:srgbClr val="CC6500"/>
              </a:buClr>
              <a:buSzPts val="1075"/>
              <a:buFont typeface="Noto Sans Symbols"/>
              <a:buChar char="•"/>
            </a:pPr>
            <a:r>
              <a:rPr lang="en-US" sz="1368" b="0" i="0" u="none" strike="noStrike" cap="none">
                <a:solidFill>
                  <a:schemeClr val="dk1"/>
                </a:solidFill>
                <a:latin typeface="Arial"/>
                <a:ea typeface="Arial"/>
                <a:cs typeface="Arial"/>
                <a:sym typeface="Arial"/>
              </a:rPr>
              <a:t>Implemented</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through</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program</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design</a:t>
            </a:r>
            <a:endParaRPr/>
          </a:p>
          <a:p>
            <a:pPr marL="716681" marR="292644" lvl="1" indent="-272012" algn="l" rtl="0">
              <a:spcBef>
                <a:spcPts val="500"/>
              </a:spcBef>
              <a:spcAft>
                <a:spcPts val="0"/>
              </a:spcAft>
              <a:buClr>
                <a:srgbClr val="CC6500"/>
              </a:buClr>
              <a:buSzPts val="1075"/>
              <a:buFont typeface="Noto Sans Symbols"/>
              <a:buChar char="•"/>
            </a:pPr>
            <a:r>
              <a:rPr lang="en-US" sz="1368" b="0" i="0" u="none" strike="noStrike" cap="none">
                <a:solidFill>
                  <a:schemeClr val="dk1"/>
                </a:solidFill>
                <a:latin typeface="Arial"/>
                <a:ea typeface="Arial"/>
                <a:cs typeface="Arial"/>
                <a:sym typeface="Arial"/>
              </a:rPr>
              <a:t>OS</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can</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help</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by</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providing</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libraries</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to</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implement</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dynamic</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loading</a:t>
            </a:r>
            <a:endParaRPr/>
          </a:p>
        </p:txBody>
      </p:sp>
      <p:sp>
        <p:nvSpPr>
          <p:cNvPr id="180" name="Google Shape;18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81" name="Google Shape;18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1"/>
          <p:cNvSpPr/>
          <p:nvPr/>
        </p:nvSpPr>
        <p:spPr>
          <a:xfrm>
            <a:off x="457418" y="114681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87" name="Google Shape;187;p11"/>
          <p:cNvSpPr txBox="1">
            <a:spLocks noGrp="1"/>
          </p:cNvSpPr>
          <p:nvPr>
            <p:ph type="body" idx="1"/>
          </p:nvPr>
        </p:nvSpPr>
        <p:spPr>
          <a:xfrm>
            <a:off x="457200" y="2377928"/>
            <a:ext cx="8229600" cy="2868614"/>
          </a:xfrm>
          <a:prstGeom prst="rect">
            <a:avLst/>
          </a:prstGeom>
          <a:noFill/>
          <a:ln>
            <a:noFill/>
          </a:ln>
        </p:spPr>
        <p:txBody>
          <a:bodyPr spcFirstLastPara="1" wrap="square" lIns="0" tIns="84950" rIns="0" bIns="0" anchor="t" anchorCtr="0">
            <a:spAutoFit/>
          </a:bodyPr>
          <a:lstStyle/>
          <a:p>
            <a:pPr marL="335537" lvl="0" indent="-325765" algn="l" rtl="0">
              <a:spcBef>
                <a:spcPts val="0"/>
              </a:spcBef>
              <a:spcAft>
                <a:spcPts val="0"/>
              </a:spcAft>
              <a:buClr>
                <a:srgbClr val="993200"/>
              </a:buClr>
              <a:buSzPts val="1832"/>
              <a:buFont typeface="Noto Sans Symbols"/>
              <a:buChar char="■"/>
            </a:pPr>
            <a:r>
              <a:rPr lang="en-US" sz="2052">
                <a:solidFill>
                  <a:srgbClr val="0070C0"/>
                </a:solidFill>
                <a:latin typeface="Arial"/>
                <a:ea typeface="Arial"/>
                <a:cs typeface="Arial"/>
                <a:sym typeface="Arial"/>
              </a:rPr>
              <a:t>Static</a:t>
            </a:r>
            <a:r>
              <a:rPr lang="en-US" sz="2052">
                <a:solidFill>
                  <a:srgbClr val="0070C0"/>
                </a:solidFill>
                <a:latin typeface="Times New Roman"/>
                <a:ea typeface="Times New Roman"/>
                <a:cs typeface="Times New Roman"/>
                <a:sym typeface="Times New Roman"/>
              </a:rPr>
              <a:t> </a:t>
            </a:r>
            <a:r>
              <a:rPr lang="en-US" sz="2052">
                <a:solidFill>
                  <a:srgbClr val="0070C0"/>
                </a:solidFill>
                <a:latin typeface="Arial"/>
                <a:ea typeface="Arial"/>
                <a:cs typeface="Arial"/>
                <a:sym typeface="Arial"/>
              </a:rPr>
              <a:t>linking</a:t>
            </a:r>
            <a:r>
              <a:rPr lang="en-US" sz="2052">
                <a:solidFill>
                  <a:srgbClr val="0070C0"/>
                </a:solidFill>
                <a:latin typeface="Times New Roman"/>
                <a:ea typeface="Times New Roman"/>
                <a:cs typeface="Times New Roman"/>
                <a:sym typeface="Times New Roman"/>
              </a:rPr>
              <a:t> </a:t>
            </a:r>
            <a:r>
              <a:rPr lang="en-US" sz="2052"/>
              <a:t>–</a:t>
            </a:r>
            <a:r>
              <a:rPr lang="en-US" sz="2052">
                <a:latin typeface="Times New Roman"/>
                <a:ea typeface="Times New Roman"/>
                <a:cs typeface="Times New Roman"/>
                <a:sym typeface="Times New Roman"/>
              </a:rPr>
              <a:t> </a:t>
            </a:r>
            <a:r>
              <a:rPr lang="en-US" sz="2052"/>
              <a:t>system</a:t>
            </a:r>
            <a:r>
              <a:rPr lang="en-US" sz="2052">
                <a:latin typeface="Times New Roman"/>
                <a:ea typeface="Times New Roman"/>
                <a:cs typeface="Times New Roman"/>
                <a:sym typeface="Times New Roman"/>
              </a:rPr>
              <a:t> </a:t>
            </a:r>
            <a:r>
              <a:rPr lang="en-US" sz="2052"/>
              <a:t>libraries</a:t>
            </a:r>
            <a:r>
              <a:rPr lang="en-US" sz="2052">
                <a:latin typeface="Times New Roman"/>
                <a:ea typeface="Times New Roman"/>
                <a:cs typeface="Times New Roman"/>
                <a:sym typeface="Times New Roman"/>
              </a:rPr>
              <a:t> </a:t>
            </a:r>
            <a:r>
              <a:rPr lang="en-US" sz="2052"/>
              <a:t>and</a:t>
            </a:r>
            <a:r>
              <a:rPr lang="en-US" sz="2052">
                <a:latin typeface="Times New Roman"/>
                <a:ea typeface="Times New Roman"/>
                <a:cs typeface="Times New Roman"/>
                <a:sym typeface="Times New Roman"/>
              </a:rPr>
              <a:t> </a:t>
            </a:r>
            <a:r>
              <a:rPr lang="en-US" sz="2052"/>
              <a:t>program</a:t>
            </a:r>
            <a:r>
              <a:rPr lang="en-US" sz="2052">
                <a:latin typeface="Times New Roman"/>
                <a:ea typeface="Times New Roman"/>
                <a:cs typeface="Times New Roman"/>
                <a:sym typeface="Times New Roman"/>
              </a:rPr>
              <a:t> </a:t>
            </a:r>
            <a:r>
              <a:rPr lang="en-US" sz="2052"/>
              <a:t>code</a:t>
            </a:r>
            <a:r>
              <a:rPr lang="en-US" sz="2052">
                <a:latin typeface="Times New Roman"/>
                <a:ea typeface="Times New Roman"/>
                <a:cs typeface="Times New Roman"/>
                <a:sym typeface="Times New Roman"/>
              </a:rPr>
              <a:t> </a:t>
            </a:r>
            <a:r>
              <a:rPr lang="en-US" sz="2052"/>
              <a:t>combined</a:t>
            </a:r>
            <a:r>
              <a:rPr lang="en-US" sz="2052">
                <a:latin typeface="Times New Roman"/>
                <a:ea typeface="Times New Roman"/>
                <a:cs typeface="Times New Roman"/>
                <a:sym typeface="Times New Roman"/>
              </a:rPr>
              <a:t> </a:t>
            </a:r>
            <a:r>
              <a:rPr lang="en-US" sz="2052"/>
              <a:t>by</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loader</a:t>
            </a:r>
            <a:r>
              <a:rPr lang="en-US" sz="2052">
                <a:latin typeface="Times New Roman"/>
                <a:ea typeface="Times New Roman"/>
                <a:cs typeface="Times New Roman"/>
                <a:sym typeface="Times New Roman"/>
              </a:rPr>
              <a:t> </a:t>
            </a:r>
            <a:r>
              <a:rPr lang="en-US" sz="2052"/>
              <a:t>into</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binary</a:t>
            </a:r>
            <a:r>
              <a:rPr lang="en-US" sz="2052">
                <a:latin typeface="Times New Roman"/>
                <a:ea typeface="Times New Roman"/>
                <a:cs typeface="Times New Roman"/>
                <a:sym typeface="Times New Roman"/>
              </a:rPr>
              <a:t> </a:t>
            </a:r>
            <a:r>
              <a:rPr lang="en-US" sz="2052"/>
              <a:t>program</a:t>
            </a:r>
            <a:r>
              <a:rPr lang="en-US" sz="2052">
                <a:latin typeface="Times New Roman"/>
                <a:ea typeface="Times New Roman"/>
                <a:cs typeface="Times New Roman"/>
                <a:sym typeface="Times New Roman"/>
              </a:rPr>
              <a:t> </a:t>
            </a:r>
            <a:r>
              <a:rPr lang="en-US" sz="2052"/>
              <a:t>image</a:t>
            </a:r>
            <a:endParaRPr/>
          </a:p>
          <a:p>
            <a:pPr marL="335537" lvl="0" indent="-325765" algn="l" rtl="0">
              <a:spcBef>
                <a:spcPts val="500"/>
              </a:spcBef>
              <a:spcAft>
                <a:spcPts val="0"/>
              </a:spcAft>
              <a:buClr>
                <a:srgbClr val="993200"/>
              </a:buClr>
              <a:buSzPts val="1832"/>
              <a:buFont typeface="Noto Sans Symbols"/>
              <a:buChar char="■"/>
            </a:pPr>
            <a:r>
              <a:rPr lang="en-US" sz="2052">
                <a:solidFill>
                  <a:srgbClr val="0070C0"/>
                </a:solidFill>
              </a:rPr>
              <a:t>Dynamic</a:t>
            </a:r>
            <a:r>
              <a:rPr lang="en-US" sz="2052">
                <a:solidFill>
                  <a:srgbClr val="0070C0"/>
                </a:solidFill>
                <a:latin typeface="Times New Roman"/>
                <a:ea typeface="Times New Roman"/>
                <a:cs typeface="Times New Roman"/>
                <a:sym typeface="Times New Roman"/>
              </a:rPr>
              <a:t> </a:t>
            </a:r>
            <a:r>
              <a:rPr lang="en-US" sz="2052">
                <a:solidFill>
                  <a:srgbClr val="0070C0"/>
                </a:solidFill>
              </a:rPr>
              <a:t>linking</a:t>
            </a:r>
            <a:r>
              <a:rPr lang="en-US" sz="2052">
                <a:latin typeface="Times New Roman"/>
                <a:ea typeface="Times New Roman"/>
                <a:cs typeface="Times New Roman"/>
                <a:sym typeface="Times New Roman"/>
              </a:rPr>
              <a:t> </a:t>
            </a:r>
            <a:r>
              <a:rPr lang="en-US" sz="2052"/>
              <a:t>–linking</a:t>
            </a:r>
            <a:r>
              <a:rPr lang="en-US" sz="2052">
                <a:latin typeface="Times New Roman"/>
                <a:ea typeface="Times New Roman"/>
                <a:cs typeface="Times New Roman"/>
                <a:sym typeface="Times New Roman"/>
              </a:rPr>
              <a:t> </a:t>
            </a:r>
            <a:r>
              <a:rPr lang="en-US" sz="2052"/>
              <a:t>postponed</a:t>
            </a:r>
            <a:r>
              <a:rPr lang="en-US" sz="2052">
                <a:latin typeface="Times New Roman"/>
                <a:ea typeface="Times New Roman"/>
                <a:cs typeface="Times New Roman"/>
                <a:sym typeface="Times New Roman"/>
              </a:rPr>
              <a:t> </a:t>
            </a:r>
            <a:r>
              <a:rPr lang="en-US" sz="2052"/>
              <a:t>until</a:t>
            </a:r>
            <a:r>
              <a:rPr lang="en-US" sz="2052">
                <a:latin typeface="Times New Roman"/>
                <a:ea typeface="Times New Roman"/>
                <a:cs typeface="Times New Roman"/>
                <a:sym typeface="Times New Roman"/>
              </a:rPr>
              <a:t> </a:t>
            </a:r>
            <a:r>
              <a:rPr lang="en-US" sz="2052"/>
              <a:t>execution</a:t>
            </a:r>
            <a:r>
              <a:rPr lang="en-US" sz="2052">
                <a:latin typeface="Times New Roman"/>
                <a:ea typeface="Times New Roman"/>
                <a:cs typeface="Times New Roman"/>
                <a:sym typeface="Times New Roman"/>
              </a:rPr>
              <a:t> </a:t>
            </a:r>
            <a:r>
              <a:rPr lang="en-US" sz="2052"/>
              <a:t>time</a:t>
            </a:r>
            <a:endParaRPr/>
          </a:p>
          <a:p>
            <a:pPr marL="335537" lvl="0" indent="-325765" algn="l" rtl="0">
              <a:spcBef>
                <a:spcPts val="500"/>
              </a:spcBef>
              <a:spcAft>
                <a:spcPts val="0"/>
              </a:spcAft>
              <a:buClr>
                <a:srgbClr val="993200"/>
              </a:buClr>
              <a:buSzPts val="1832"/>
              <a:buFont typeface="Noto Sans Symbols"/>
              <a:buChar char="■"/>
            </a:pPr>
            <a:r>
              <a:rPr lang="en-US" sz="2052"/>
              <a:t>Small</a:t>
            </a:r>
            <a:r>
              <a:rPr lang="en-US" sz="2052">
                <a:latin typeface="Times New Roman"/>
                <a:ea typeface="Times New Roman"/>
                <a:cs typeface="Times New Roman"/>
                <a:sym typeface="Times New Roman"/>
              </a:rPr>
              <a:t> </a:t>
            </a:r>
            <a:r>
              <a:rPr lang="en-US" sz="2052"/>
              <a:t>piece</a:t>
            </a:r>
            <a:r>
              <a:rPr lang="en-US" sz="2052">
                <a:latin typeface="Times New Roman"/>
                <a:ea typeface="Times New Roman"/>
                <a:cs typeface="Times New Roman"/>
                <a:sym typeface="Times New Roman"/>
              </a:rPr>
              <a:t> </a:t>
            </a:r>
            <a:r>
              <a:rPr lang="en-US" sz="2052"/>
              <a:t>of</a:t>
            </a:r>
            <a:r>
              <a:rPr lang="en-US" sz="2052">
                <a:latin typeface="Times New Roman"/>
                <a:ea typeface="Times New Roman"/>
                <a:cs typeface="Times New Roman"/>
                <a:sym typeface="Times New Roman"/>
              </a:rPr>
              <a:t> </a:t>
            </a:r>
            <a:r>
              <a:rPr lang="en-US" sz="2052"/>
              <a:t>code,</a:t>
            </a:r>
            <a:r>
              <a:rPr lang="en-US" sz="2052">
                <a:latin typeface="Times New Roman"/>
                <a:ea typeface="Times New Roman"/>
                <a:cs typeface="Times New Roman"/>
                <a:sym typeface="Times New Roman"/>
              </a:rPr>
              <a:t> </a:t>
            </a:r>
            <a:r>
              <a:rPr lang="en-US" sz="2052">
                <a:solidFill>
                  <a:srgbClr val="3265FF"/>
                </a:solidFill>
                <a:latin typeface="Arial"/>
                <a:ea typeface="Arial"/>
                <a:cs typeface="Arial"/>
                <a:sym typeface="Arial"/>
              </a:rPr>
              <a:t>stub</a:t>
            </a:r>
            <a:r>
              <a:rPr lang="en-US" sz="2052"/>
              <a:t>,</a:t>
            </a:r>
            <a:r>
              <a:rPr lang="en-US" sz="2052">
                <a:latin typeface="Times New Roman"/>
                <a:ea typeface="Times New Roman"/>
                <a:cs typeface="Times New Roman"/>
                <a:sym typeface="Times New Roman"/>
              </a:rPr>
              <a:t> </a:t>
            </a:r>
            <a:r>
              <a:rPr lang="en-US" sz="2052"/>
              <a:t>used</a:t>
            </a:r>
            <a:r>
              <a:rPr lang="en-US" sz="2052">
                <a:latin typeface="Times New Roman"/>
                <a:ea typeface="Times New Roman"/>
                <a:cs typeface="Times New Roman"/>
                <a:sym typeface="Times New Roman"/>
              </a:rPr>
              <a:t> </a:t>
            </a:r>
            <a:r>
              <a:rPr lang="en-US" sz="2052"/>
              <a:t>to</a:t>
            </a:r>
            <a:r>
              <a:rPr lang="en-US" sz="2052">
                <a:latin typeface="Times New Roman"/>
                <a:ea typeface="Times New Roman"/>
                <a:cs typeface="Times New Roman"/>
                <a:sym typeface="Times New Roman"/>
              </a:rPr>
              <a:t> </a:t>
            </a:r>
            <a:r>
              <a:rPr lang="en-US" sz="2052"/>
              <a:t>locate</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appropriate</a:t>
            </a:r>
            <a:r>
              <a:rPr lang="en-US" sz="2052">
                <a:latin typeface="Times New Roman"/>
                <a:ea typeface="Times New Roman"/>
                <a:cs typeface="Times New Roman"/>
                <a:sym typeface="Times New Roman"/>
              </a:rPr>
              <a:t> </a:t>
            </a:r>
            <a:r>
              <a:rPr lang="en-US" sz="2052"/>
              <a:t>memory-resident</a:t>
            </a:r>
            <a:r>
              <a:rPr lang="en-US" sz="2052">
                <a:latin typeface="Times New Roman"/>
                <a:ea typeface="Times New Roman"/>
                <a:cs typeface="Times New Roman"/>
                <a:sym typeface="Times New Roman"/>
              </a:rPr>
              <a:t> </a:t>
            </a:r>
            <a:r>
              <a:rPr lang="en-US" sz="2052"/>
              <a:t>library</a:t>
            </a:r>
            <a:r>
              <a:rPr lang="en-US" sz="2052">
                <a:latin typeface="Times New Roman"/>
                <a:ea typeface="Times New Roman"/>
                <a:cs typeface="Times New Roman"/>
                <a:sym typeface="Times New Roman"/>
              </a:rPr>
              <a:t> </a:t>
            </a:r>
            <a:r>
              <a:rPr lang="en-US" sz="2052"/>
              <a:t>routine</a:t>
            </a:r>
            <a:endParaRPr/>
          </a:p>
          <a:p>
            <a:pPr marL="335537" lvl="0" indent="-325765" algn="l" rtl="0">
              <a:spcBef>
                <a:spcPts val="500"/>
              </a:spcBef>
              <a:spcAft>
                <a:spcPts val="0"/>
              </a:spcAft>
              <a:buClr>
                <a:srgbClr val="993200"/>
              </a:buClr>
              <a:buSzPts val="1832"/>
              <a:buFont typeface="Noto Sans Symbols"/>
              <a:buChar char="■"/>
            </a:pPr>
            <a:r>
              <a:rPr lang="en-US" sz="2052"/>
              <a:t>Stub</a:t>
            </a:r>
            <a:r>
              <a:rPr lang="en-US" sz="2052">
                <a:latin typeface="Times New Roman"/>
                <a:ea typeface="Times New Roman"/>
                <a:cs typeface="Times New Roman"/>
                <a:sym typeface="Times New Roman"/>
              </a:rPr>
              <a:t> </a:t>
            </a:r>
            <a:r>
              <a:rPr lang="en-US" sz="2052"/>
              <a:t>replaces</a:t>
            </a:r>
            <a:r>
              <a:rPr lang="en-US" sz="2052">
                <a:latin typeface="Times New Roman"/>
                <a:ea typeface="Times New Roman"/>
                <a:cs typeface="Times New Roman"/>
                <a:sym typeface="Times New Roman"/>
              </a:rPr>
              <a:t> </a:t>
            </a:r>
            <a:r>
              <a:rPr lang="en-US" sz="2052"/>
              <a:t>itself</a:t>
            </a:r>
            <a:r>
              <a:rPr lang="en-US" sz="2052">
                <a:latin typeface="Times New Roman"/>
                <a:ea typeface="Times New Roman"/>
                <a:cs typeface="Times New Roman"/>
                <a:sym typeface="Times New Roman"/>
              </a:rPr>
              <a:t> </a:t>
            </a:r>
            <a:r>
              <a:rPr lang="en-US" sz="2052"/>
              <a:t>with</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address</a:t>
            </a:r>
            <a:r>
              <a:rPr lang="en-US" sz="2052">
                <a:latin typeface="Times New Roman"/>
                <a:ea typeface="Times New Roman"/>
                <a:cs typeface="Times New Roman"/>
                <a:sym typeface="Times New Roman"/>
              </a:rPr>
              <a:t> </a:t>
            </a:r>
            <a:r>
              <a:rPr lang="en-US" sz="2052"/>
              <a:t>of</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routine,</a:t>
            </a:r>
            <a:r>
              <a:rPr lang="en-US" sz="2052">
                <a:latin typeface="Times New Roman"/>
                <a:ea typeface="Times New Roman"/>
                <a:cs typeface="Times New Roman"/>
                <a:sym typeface="Times New Roman"/>
              </a:rPr>
              <a:t> </a:t>
            </a:r>
            <a:r>
              <a:rPr lang="en-US" sz="2052"/>
              <a:t>and</a:t>
            </a:r>
            <a:r>
              <a:rPr lang="en-US" sz="2052">
                <a:latin typeface="Times New Roman"/>
                <a:ea typeface="Times New Roman"/>
                <a:cs typeface="Times New Roman"/>
                <a:sym typeface="Times New Roman"/>
              </a:rPr>
              <a:t> </a:t>
            </a:r>
            <a:r>
              <a:rPr lang="en-US" sz="2052"/>
              <a:t>executes</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routine</a:t>
            </a:r>
            <a:endParaRPr/>
          </a:p>
          <a:p>
            <a:pPr marL="335537" lvl="0" indent="-325765" algn="l" rtl="0">
              <a:spcBef>
                <a:spcPts val="500"/>
              </a:spcBef>
              <a:spcAft>
                <a:spcPts val="0"/>
              </a:spcAft>
              <a:buClr>
                <a:srgbClr val="993200"/>
              </a:buClr>
              <a:buSzPts val="1832"/>
              <a:buFont typeface="Noto Sans Symbols"/>
              <a:buChar char="■"/>
            </a:pPr>
            <a:r>
              <a:rPr lang="en-US" sz="2052"/>
              <a:t>Dynamic</a:t>
            </a:r>
            <a:r>
              <a:rPr lang="en-US" sz="2052">
                <a:latin typeface="Times New Roman"/>
                <a:ea typeface="Times New Roman"/>
                <a:cs typeface="Times New Roman"/>
                <a:sym typeface="Times New Roman"/>
              </a:rPr>
              <a:t> </a:t>
            </a:r>
            <a:r>
              <a:rPr lang="en-US" sz="2052"/>
              <a:t>linking</a:t>
            </a:r>
            <a:r>
              <a:rPr lang="en-US" sz="2052">
                <a:latin typeface="Times New Roman"/>
                <a:ea typeface="Times New Roman"/>
                <a:cs typeface="Times New Roman"/>
                <a:sym typeface="Times New Roman"/>
              </a:rPr>
              <a:t> </a:t>
            </a:r>
            <a:r>
              <a:rPr lang="en-US" sz="2052"/>
              <a:t>is</a:t>
            </a:r>
            <a:r>
              <a:rPr lang="en-US" sz="2052">
                <a:latin typeface="Times New Roman"/>
                <a:ea typeface="Times New Roman"/>
                <a:cs typeface="Times New Roman"/>
                <a:sym typeface="Times New Roman"/>
              </a:rPr>
              <a:t> </a:t>
            </a:r>
            <a:r>
              <a:rPr lang="en-US" sz="2052"/>
              <a:t>particularly</a:t>
            </a:r>
            <a:r>
              <a:rPr lang="en-US" sz="2052">
                <a:latin typeface="Times New Roman"/>
                <a:ea typeface="Times New Roman"/>
                <a:cs typeface="Times New Roman"/>
                <a:sym typeface="Times New Roman"/>
              </a:rPr>
              <a:t> </a:t>
            </a:r>
            <a:r>
              <a:rPr lang="en-US" sz="2052"/>
              <a:t>useful</a:t>
            </a:r>
            <a:r>
              <a:rPr lang="en-US" sz="2052">
                <a:latin typeface="Times New Roman"/>
                <a:ea typeface="Times New Roman"/>
                <a:cs typeface="Times New Roman"/>
                <a:sym typeface="Times New Roman"/>
              </a:rPr>
              <a:t> </a:t>
            </a:r>
            <a:r>
              <a:rPr lang="en-US" sz="2052"/>
              <a:t>for</a:t>
            </a:r>
            <a:r>
              <a:rPr lang="en-US" sz="2052">
                <a:latin typeface="Times New Roman"/>
                <a:ea typeface="Times New Roman"/>
                <a:cs typeface="Times New Roman"/>
                <a:sym typeface="Times New Roman"/>
              </a:rPr>
              <a:t> </a:t>
            </a:r>
            <a:r>
              <a:rPr lang="en-US" sz="2052"/>
              <a:t>libraries</a:t>
            </a:r>
            <a:endParaRPr/>
          </a:p>
        </p:txBody>
      </p:sp>
      <p:sp>
        <p:nvSpPr>
          <p:cNvPr id="188" name="Google Shape;188;p11"/>
          <p:cNvSpPr txBox="1">
            <a:spLocks noGrp="1"/>
          </p:cNvSpPr>
          <p:nvPr>
            <p:ph type="title"/>
          </p:nvPr>
        </p:nvSpPr>
        <p:spPr>
          <a:xfrm>
            <a:off x="828413" y="572418"/>
            <a:ext cx="7487174" cy="500009"/>
          </a:xfrm>
          <a:prstGeom prst="rect">
            <a:avLst/>
          </a:prstGeom>
          <a:noFill/>
          <a:ln>
            <a:noFill/>
          </a:ln>
        </p:spPr>
        <p:txBody>
          <a:bodyPr spcFirstLastPara="1" wrap="square" lIns="0" tIns="0" rIns="0" bIns="0" anchor="ctr" anchorCtr="0">
            <a:spAutoFit/>
          </a:bodyPr>
          <a:lstStyle/>
          <a:p>
            <a:pPr marL="2577880" lvl="0" indent="0" algn="ctr" rtl="0">
              <a:spcBef>
                <a:spcPts val="0"/>
              </a:spcBef>
              <a:spcAft>
                <a:spcPts val="0"/>
              </a:spcAft>
              <a:buClr>
                <a:schemeClr val="accent1"/>
              </a:buClr>
              <a:buSzPts val="3249"/>
              <a:buFont typeface="Calibri"/>
              <a:buNone/>
            </a:pPr>
            <a:r>
              <a:rPr lang="en-US" sz="3249" b="1">
                <a:solidFill>
                  <a:schemeClr val="accent1"/>
                </a:solidFill>
              </a:rPr>
              <a:t>STATIC &amp; DYNAMIC</a:t>
            </a:r>
            <a:r>
              <a:rPr lang="en-US" sz="3249" b="1">
                <a:solidFill>
                  <a:schemeClr val="accent1"/>
                </a:solidFill>
                <a:latin typeface="Times New Roman"/>
                <a:ea typeface="Times New Roman"/>
                <a:cs typeface="Times New Roman"/>
                <a:sym typeface="Times New Roman"/>
              </a:rPr>
              <a:t> </a:t>
            </a:r>
            <a:r>
              <a:rPr lang="en-US" sz="3249" b="1">
                <a:solidFill>
                  <a:schemeClr val="accent1"/>
                </a:solidFill>
              </a:rPr>
              <a:t>LINKING</a:t>
            </a:r>
            <a:endParaRPr/>
          </a:p>
        </p:txBody>
      </p:sp>
      <p:sp>
        <p:nvSpPr>
          <p:cNvPr id="189" name="Google Shape;18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90" name="Google Shape;19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8"/>
          <p:cNvSpPr txBox="1">
            <a:spLocks noGrp="1"/>
          </p:cNvSpPr>
          <p:nvPr>
            <p:ph type="title"/>
          </p:nvPr>
        </p:nvSpPr>
        <p:spPr>
          <a:xfrm>
            <a:off x="773468" y="476674"/>
            <a:ext cx="7820025"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CONTIGUOUS ALLOCATION</a:t>
            </a:r>
            <a:endParaRPr/>
          </a:p>
        </p:txBody>
      </p:sp>
      <p:sp>
        <p:nvSpPr>
          <p:cNvPr id="254" name="Google Shape;254;p18"/>
          <p:cNvSpPr txBox="1">
            <a:spLocks noGrp="1"/>
          </p:cNvSpPr>
          <p:nvPr>
            <p:ph type="body" idx="1"/>
          </p:nvPr>
        </p:nvSpPr>
        <p:spPr>
          <a:xfrm>
            <a:off x="866775" y="1237304"/>
            <a:ext cx="7633413" cy="4991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Main memory must support both </a:t>
            </a:r>
            <a:r>
              <a:rPr lang="en-US" sz="2400">
                <a:solidFill>
                  <a:srgbClr val="538CD5"/>
                </a:solidFill>
              </a:rPr>
              <a:t>OS</a:t>
            </a:r>
            <a:r>
              <a:rPr lang="en-US" sz="2400"/>
              <a:t> and </a:t>
            </a:r>
            <a:r>
              <a:rPr lang="en-US" sz="2400">
                <a:solidFill>
                  <a:srgbClr val="558ED5"/>
                </a:solidFill>
              </a:rPr>
              <a:t>user processes</a:t>
            </a:r>
            <a:endParaRPr/>
          </a:p>
          <a:p>
            <a:pPr marL="342900" lvl="0" indent="-342900" algn="l" rtl="0">
              <a:spcBef>
                <a:spcPts val="480"/>
              </a:spcBef>
              <a:spcAft>
                <a:spcPts val="0"/>
              </a:spcAft>
              <a:buClr>
                <a:schemeClr val="dk1"/>
              </a:buClr>
              <a:buSzPts val="2400"/>
              <a:buChar char="•"/>
            </a:pPr>
            <a:r>
              <a:rPr lang="en-US" sz="2400"/>
              <a:t>Limited resource, must allocate efficiently</a:t>
            </a:r>
            <a:endParaRPr/>
          </a:p>
          <a:p>
            <a:pPr marL="342900" lvl="0" indent="-342900" algn="l" rtl="0">
              <a:spcBef>
                <a:spcPts val="480"/>
              </a:spcBef>
              <a:spcAft>
                <a:spcPts val="0"/>
              </a:spcAft>
              <a:buClr>
                <a:schemeClr val="dk1"/>
              </a:buClr>
              <a:buSzPts val="2400"/>
              <a:buChar char="•"/>
            </a:pPr>
            <a:r>
              <a:rPr lang="en-US" sz="2400"/>
              <a:t>Contiguous allocation is one early method</a:t>
            </a:r>
            <a:endParaRPr/>
          </a:p>
          <a:p>
            <a:pPr marL="342900" lvl="0" indent="-342900" algn="l" rtl="0">
              <a:spcBef>
                <a:spcPts val="480"/>
              </a:spcBef>
              <a:spcAft>
                <a:spcPts val="0"/>
              </a:spcAft>
              <a:buClr>
                <a:schemeClr val="dk1"/>
              </a:buClr>
              <a:buSzPts val="2400"/>
              <a:buChar char="•"/>
            </a:pPr>
            <a:r>
              <a:rPr lang="en-US" sz="2400"/>
              <a:t>Main memory usually into two </a:t>
            </a:r>
            <a:r>
              <a:rPr lang="en-US" sz="2400" b="1">
                <a:solidFill>
                  <a:srgbClr val="006699"/>
                </a:solidFill>
                <a:latin typeface="Calibri"/>
                <a:ea typeface="Calibri"/>
                <a:cs typeface="Calibri"/>
                <a:sym typeface="Calibri"/>
              </a:rPr>
              <a:t>partitions</a:t>
            </a:r>
            <a:r>
              <a:rPr lang="en-US" sz="2400"/>
              <a:t>:</a:t>
            </a:r>
            <a:endParaRPr/>
          </a:p>
          <a:p>
            <a:pPr marL="742950" lvl="1" indent="-285750" algn="l" rtl="0">
              <a:spcBef>
                <a:spcPts val="400"/>
              </a:spcBef>
              <a:spcAft>
                <a:spcPts val="0"/>
              </a:spcAft>
              <a:buClr>
                <a:schemeClr val="dk1"/>
              </a:buClr>
              <a:buSzPts val="2000"/>
              <a:buChar char="–"/>
            </a:pPr>
            <a:r>
              <a:rPr lang="en-US" sz="2000"/>
              <a:t>Resident operating system, usually held in low memory with interrupt vector</a:t>
            </a:r>
            <a:endParaRPr/>
          </a:p>
          <a:p>
            <a:pPr marL="742950" lvl="1" indent="-285750" algn="l" rtl="0">
              <a:spcBef>
                <a:spcPts val="400"/>
              </a:spcBef>
              <a:spcAft>
                <a:spcPts val="0"/>
              </a:spcAft>
              <a:buClr>
                <a:schemeClr val="dk1"/>
              </a:buClr>
              <a:buSzPts val="2000"/>
              <a:buChar char="–"/>
            </a:pPr>
            <a:r>
              <a:rPr lang="en-US" sz="2000"/>
              <a:t>User processes then held in high memory</a:t>
            </a:r>
            <a:endParaRPr/>
          </a:p>
          <a:p>
            <a:pPr marL="742950" lvl="1" indent="-285750" algn="l" rtl="0">
              <a:spcBef>
                <a:spcPts val="400"/>
              </a:spcBef>
              <a:spcAft>
                <a:spcPts val="0"/>
              </a:spcAft>
              <a:buClr>
                <a:schemeClr val="dk1"/>
              </a:buClr>
              <a:buSzPts val="2000"/>
              <a:buChar char="–"/>
            </a:pPr>
            <a:r>
              <a:rPr lang="en-US" sz="2000"/>
              <a:t>Each process contained in single contiguous section of memory</a:t>
            </a:r>
            <a:endParaRPr/>
          </a:p>
          <a:p>
            <a:pPr marL="342900" lvl="0" indent="-139700" algn="l" rtl="0">
              <a:spcBef>
                <a:spcPts val="640"/>
              </a:spcBef>
              <a:spcAft>
                <a:spcPts val="0"/>
              </a:spcAft>
              <a:buClr>
                <a:schemeClr val="dk1"/>
              </a:buClr>
              <a:buSzPts val="3200"/>
              <a:buNone/>
            </a:pPr>
            <a:endParaRPr/>
          </a:p>
        </p:txBody>
      </p:sp>
      <p:sp>
        <p:nvSpPr>
          <p:cNvPr id="255" name="Google Shape;255;p18"/>
          <p:cNvSpPr/>
          <p:nvPr/>
        </p:nvSpPr>
        <p:spPr>
          <a:xfrm>
            <a:off x="431857" y="1050454"/>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56" name="Google Shape;25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57" name="Google Shape;25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866775" y="232005"/>
            <a:ext cx="7820025"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Contiguous Allocation (Cont.)</a:t>
            </a:r>
            <a:endParaRPr/>
          </a:p>
        </p:txBody>
      </p:sp>
      <p:sp>
        <p:nvSpPr>
          <p:cNvPr id="264" name="Google Shape;264;p19"/>
          <p:cNvSpPr txBox="1">
            <a:spLocks noGrp="1"/>
          </p:cNvSpPr>
          <p:nvPr>
            <p:ph type="body" idx="1"/>
          </p:nvPr>
        </p:nvSpPr>
        <p:spPr>
          <a:xfrm>
            <a:off x="866775" y="1093788"/>
            <a:ext cx="7605421" cy="4991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Char char="•"/>
            </a:pPr>
            <a:r>
              <a:rPr lang="en-US" sz="2800"/>
              <a:t>Relocation registers used to protect user processes from each other, and from changing operating-system code and data</a:t>
            </a:r>
            <a:endParaRPr/>
          </a:p>
          <a:p>
            <a:pPr marL="742950" lvl="1" indent="-285750" algn="l" rtl="0">
              <a:spcBef>
                <a:spcPts val="480"/>
              </a:spcBef>
              <a:spcAft>
                <a:spcPts val="0"/>
              </a:spcAft>
              <a:buClr>
                <a:schemeClr val="dk1"/>
              </a:buClr>
              <a:buSzPts val="2400"/>
              <a:buChar char="–"/>
            </a:pPr>
            <a:r>
              <a:rPr lang="en-US" sz="2400"/>
              <a:t>Base register contains value of smallest physical address</a:t>
            </a:r>
            <a:endParaRPr/>
          </a:p>
          <a:p>
            <a:pPr marL="742950" lvl="1" indent="-285750" algn="l" rtl="0">
              <a:spcBef>
                <a:spcPts val="480"/>
              </a:spcBef>
              <a:spcAft>
                <a:spcPts val="0"/>
              </a:spcAft>
              <a:buClr>
                <a:schemeClr val="dk1"/>
              </a:buClr>
              <a:buSzPts val="2400"/>
              <a:buChar char="–"/>
            </a:pPr>
            <a:r>
              <a:rPr lang="en-US" sz="2400"/>
              <a:t>Limit register contains range of logical addresses – each logical address must be less than the limit register </a:t>
            </a:r>
            <a:endParaRPr/>
          </a:p>
          <a:p>
            <a:pPr marL="742950" lvl="1" indent="-285750" algn="l" rtl="0">
              <a:spcBef>
                <a:spcPts val="480"/>
              </a:spcBef>
              <a:spcAft>
                <a:spcPts val="0"/>
              </a:spcAft>
              <a:buClr>
                <a:schemeClr val="dk1"/>
              </a:buClr>
              <a:buSzPts val="2400"/>
              <a:buChar char="–"/>
            </a:pPr>
            <a:r>
              <a:rPr lang="en-US" sz="2400"/>
              <a:t>MMU maps logical address </a:t>
            </a:r>
            <a:r>
              <a:rPr lang="en-US" sz="2400" i="1"/>
              <a:t>dynamically</a:t>
            </a:r>
            <a:endParaRPr/>
          </a:p>
          <a:p>
            <a:pPr marL="742950" lvl="1" indent="-285750" algn="l" rtl="0">
              <a:spcBef>
                <a:spcPts val="480"/>
              </a:spcBef>
              <a:spcAft>
                <a:spcPts val="0"/>
              </a:spcAft>
              <a:buClr>
                <a:schemeClr val="dk1"/>
              </a:buClr>
              <a:buSzPts val="2400"/>
              <a:buChar char="–"/>
            </a:pPr>
            <a:r>
              <a:rPr lang="en-US" sz="2400"/>
              <a:t>Can then allow actions such as kernel code being </a:t>
            </a:r>
            <a:r>
              <a:rPr lang="en-US" sz="2400" b="1">
                <a:solidFill>
                  <a:srgbClr val="006699"/>
                </a:solidFill>
                <a:latin typeface="Calibri"/>
                <a:ea typeface="Calibri"/>
                <a:cs typeface="Calibri"/>
                <a:sym typeface="Calibri"/>
              </a:rPr>
              <a:t>transient</a:t>
            </a:r>
            <a:r>
              <a:rPr lang="en-US" sz="2400" b="1">
                <a:solidFill>
                  <a:srgbClr val="0000FF"/>
                </a:solidFill>
              </a:rPr>
              <a:t> </a:t>
            </a:r>
            <a:r>
              <a:rPr lang="en-US" sz="2400"/>
              <a:t>and kernel changing size</a:t>
            </a:r>
            <a:endParaRPr/>
          </a:p>
        </p:txBody>
      </p:sp>
      <p:sp>
        <p:nvSpPr>
          <p:cNvPr id="265" name="Google Shape;265;p19"/>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66" name="Google Shape;2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67" name="Google Shape;2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0"/>
          <p:cNvSpPr txBox="1">
            <a:spLocks noGrp="1"/>
          </p:cNvSpPr>
          <p:nvPr>
            <p:ph type="title"/>
          </p:nvPr>
        </p:nvSpPr>
        <p:spPr>
          <a:xfrm>
            <a:off x="302780" y="839396"/>
            <a:ext cx="8442325" cy="5762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400"/>
              <a:buFont typeface="Calibri"/>
              <a:buNone/>
            </a:pPr>
            <a:r>
              <a:rPr lang="en-US" sz="2400"/>
              <a:t>Hardware Support for Relocation and Limit Registers</a:t>
            </a:r>
            <a:endParaRPr/>
          </a:p>
        </p:txBody>
      </p:sp>
      <p:pic>
        <p:nvPicPr>
          <p:cNvPr id="274" name="Google Shape;274;p20" descr="8"/>
          <p:cNvPicPr preferRelativeResize="0"/>
          <p:nvPr/>
        </p:nvPicPr>
        <p:blipFill rotWithShape="1">
          <a:blip r:embed="rId3">
            <a:alphaModFix/>
          </a:blip>
          <a:srcRect/>
          <a:stretch/>
        </p:blipFill>
        <p:spPr>
          <a:xfrm>
            <a:off x="1701110" y="1966223"/>
            <a:ext cx="5845175" cy="2901950"/>
          </a:xfrm>
          <a:prstGeom prst="rect">
            <a:avLst/>
          </a:prstGeom>
          <a:noFill/>
          <a:ln>
            <a:noFill/>
          </a:ln>
        </p:spPr>
      </p:pic>
      <p:sp>
        <p:nvSpPr>
          <p:cNvPr id="275" name="Google Shape;275;p20"/>
          <p:cNvSpPr/>
          <p:nvPr/>
        </p:nvSpPr>
        <p:spPr>
          <a:xfrm>
            <a:off x="537834" y="141317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76" name="Google Shape;27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77" name="Google Shape;27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1"/>
          <p:cNvSpPr txBox="1">
            <a:spLocks noGrp="1"/>
          </p:cNvSpPr>
          <p:nvPr>
            <p:ph type="title"/>
          </p:nvPr>
        </p:nvSpPr>
        <p:spPr>
          <a:xfrm>
            <a:off x="559837" y="184150"/>
            <a:ext cx="8438113" cy="61595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Variable Partition</a:t>
            </a:r>
            <a:endParaRPr/>
          </a:p>
        </p:txBody>
      </p:sp>
      <p:sp>
        <p:nvSpPr>
          <p:cNvPr id="284" name="Google Shape;284;p21"/>
          <p:cNvSpPr txBox="1">
            <a:spLocks noGrp="1"/>
          </p:cNvSpPr>
          <p:nvPr>
            <p:ph type="body" idx="1"/>
          </p:nvPr>
        </p:nvSpPr>
        <p:spPr>
          <a:xfrm>
            <a:off x="787400" y="1076325"/>
            <a:ext cx="7770813" cy="326231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Multiple-partition allocation</a:t>
            </a:r>
            <a:endParaRPr/>
          </a:p>
          <a:p>
            <a:pPr marL="742950" lvl="1" indent="-285750" algn="l" rtl="0">
              <a:spcBef>
                <a:spcPts val="320"/>
              </a:spcBef>
              <a:spcAft>
                <a:spcPts val="0"/>
              </a:spcAft>
              <a:buClr>
                <a:schemeClr val="dk1"/>
              </a:buClr>
              <a:buSzPts val="1600"/>
              <a:buChar char="–"/>
            </a:pPr>
            <a:r>
              <a:rPr lang="en-US" sz="1600"/>
              <a:t>Degree of multiprogramming limited by number of partitions</a:t>
            </a:r>
            <a:endParaRPr/>
          </a:p>
          <a:p>
            <a:pPr marL="742950" lvl="1" indent="-285750" algn="l" rtl="0">
              <a:spcBef>
                <a:spcPts val="360"/>
              </a:spcBef>
              <a:spcAft>
                <a:spcPts val="0"/>
              </a:spcAft>
              <a:buClr>
                <a:srgbClr val="006699"/>
              </a:buClr>
              <a:buSzPts val="1800"/>
              <a:buChar char="–"/>
            </a:pPr>
            <a:r>
              <a:rPr lang="en-US" sz="1800" b="1">
                <a:solidFill>
                  <a:srgbClr val="006699"/>
                </a:solidFill>
                <a:latin typeface="Calibri"/>
                <a:ea typeface="Calibri"/>
                <a:cs typeface="Calibri"/>
                <a:sym typeface="Calibri"/>
              </a:rPr>
              <a:t>Variable-partition</a:t>
            </a:r>
            <a:r>
              <a:rPr lang="en-US" sz="1100" b="1">
                <a:solidFill>
                  <a:srgbClr val="0000FF"/>
                </a:solidFill>
              </a:rPr>
              <a:t> </a:t>
            </a:r>
            <a:r>
              <a:rPr lang="en-US" sz="1600"/>
              <a:t>sizes for efficiency (sized to a given process’ needs)</a:t>
            </a:r>
            <a:endParaRPr/>
          </a:p>
          <a:p>
            <a:pPr marL="742950" lvl="1" indent="-285750" algn="l" rtl="0">
              <a:spcBef>
                <a:spcPts val="360"/>
              </a:spcBef>
              <a:spcAft>
                <a:spcPts val="0"/>
              </a:spcAft>
              <a:buClr>
                <a:srgbClr val="006699"/>
              </a:buClr>
              <a:buSzPts val="1800"/>
              <a:buChar char="–"/>
            </a:pPr>
            <a:r>
              <a:rPr lang="en-US" sz="1800" b="1">
                <a:solidFill>
                  <a:srgbClr val="006699"/>
                </a:solidFill>
                <a:latin typeface="Calibri"/>
                <a:ea typeface="Calibri"/>
                <a:cs typeface="Calibri"/>
                <a:sym typeface="Calibri"/>
              </a:rPr>
              <a:t>Hole</a:t>
            </a:r>
            <a:r>
              <a:rPr lang="en-US" sz="1100"/>
              <a:t> </a:t>
            </a:r>
            <a:r>
              <a:rPr lang="en-US" sz="1600"/>
              <a:t>– block of available memory; holes of various size are scattered throughout memory</a:t>
            </a:r>
            <a:endParaRPr/>
          </a:p>
          <a:p>
            <a:pPr marL="742950" lvl="1" indent="-285750" algn="l" rtl="0">
              <a:spcBef>
                <a:spcPts val="320"/>
              </a:spcBef>
              <a:spcAft>
                <a:spcPts val="0"/>
              </a:spcAft>
              <a:buClr>
                <a:schemeClr val="dk1"/>
              </a:buClr>
              <a:buSzPts val="1600"/>
              <a:buChar char="–"/>
            </a:pPr>
            <a:r>
              <a:rPr lang="en-US" sz="1600"/>
              <a:t>When a process arrives, it is allocated memory from a hole large enough to accommodate it</a:t>
            </a:r>
            <a:endParaRPr/>
          </a:p>
          <a:p>
            <a:pPr marL="742950" lvl="1" indent="-285750" algn="l" rtl="0">
              <a:spcBef>
                <a:spcPts val="320"/>
              </a:spcBef>
              <a:spcAft>
                <a:spcPts val="0"/>
              </a:spcAft>
              <a:buClr>
                <a:schemeClr val="dk1"/>
              </a:buClr>
              <a:buSzPts val="1600"/>
              <a:buChar char="–"/>
            </a:pPr>
            <a:r>
              <a:rPr lang="en-US" sz="1600"/>
              <a:t>Process exiting frees its partition, adjacent free partitions combined</a:t>
            </a:r>
            <a:endParaRPr/>
          </a:p>
          <a:p>
            <a:pPr marL="742950" lvl="1" indent="-285750" algn="l" rtl="0">
              <a:spcBef>
                <a:spcPts val="320"/>
              </a:spcBef>
              <a:spcAft>
                <a:spcPts val="0"/>
              </a:spcAft>
              <a:buClr>
                <a:schemeClr val="dk1"/>
              </a:buClr>
              <a:buSzPts val="1600"/>
              <a:buChar char="–"/>
            </a:pPr>
            <a:r>
              <a:rPr lang="en-US" sz="1600"/>
              <a:t>Operating system maintains information about:</a:t>
            </a:r>
            <a:br>
              <a:rPr lang="en-US" sz="1600"/>
            </a:br>
            <a:r>
              <a:rPr lang="en-US" sz="1600"/>
              <a:t>a) allocated partitions    b) free partitions (hole)</a:t>
            </a:r>
            <a:endParaRPr/>
          </a:p>
        </p:txBody>
      </p:sp>
      <p:pic>
        <p:nvPicPr>
          <p:cNvPr id="285" name="Google Shape;285;p21" descr="W:\os-book\OS10\slide-dir\os-figures\9_07.jpg"/>
          <p:cNvPicPr preferRelativeResize="0"/>
          <p:nvPr/>
        </p:nvPicPr>
        <p:blipFill rotWithShape="1">
          <a:blip r:embed="rId3">
            <a:alphaModFix/>
          </a:blip>
          <a:srcRect/>
          <a:stretch/>
        </p:blipFill>
        <p:spPr>
          <a:xfrm>
            <a:off x="2397125" y="4446588"/>
            <a:ext cx="4899025" cy="1454150"/>
          </a:xfrm>
          <a:prstGeom prst="rect">
            <a:avLst/>
          </a:prstGeom>
          <a:noFill/>
          <a:ln>
            <a:noFill/>
          </a:ln>
        </p:spPr>
      </p:pic>
      <p:sp>
        <p:nvSpPr>
          <p:cNvPr id="286" name="Google Shape;286;p21"/>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87" name="Google Shape;28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88" name="Google Shape;28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2"/>
          <p:cNvSpPr txBox="1">
            <a:spLocks noGrp="1"/>
          </p:cNvSpPr>
          <p:nvPr>
            <p:ph type="title"/>
          </p:nvPr>
        </p:nvSpPr>
        <p:spPr>
          <a:xfrm>
            <a:off x="685799" y="325323"/>
            <a:ext cx="77724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Dynamic Storage-Allocation Problem</a:t>
            </a:r>
            <a:endParaRPr/>
          </a:p>
        </p:txBody>
      </p:sp>
      <p:sp>
        <p:nvSpPr>
          <p:cNvPr id="295" name="Google Shape;295;p22"/>
          <p:cNvSpPr txBox="1">
            <a:spLocks noGrp="1"/>
          </p:cNvSpPr>
          <p:nvPr>
            <p:ph type="body" idx="1"/>
          </p:nvPr>
        </p:nvSpPr>
        <p:spPr>
          <a:xfrm>
            <a:off x="742425" y="1228755"/>
            <a:ext cx="7659149" cy="4605557"/>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rgbClr val="006699"/>
              </a:buClr>
              <a:buSzPts val="2000"/>
              <a:buChar char="•"/>
            </a:pPr>
            <a:r>
              <a:rPr lang="en-US" sz="2000" b="1">
                <a:solidFill>
                  <a:srgbClr val="006699"/>
                </a:solidFill>
                <a:latin typeface="Calibri"/>
                <a:ea typeface="Calibri"/>
                <a:cs typeface="Calibri"/>
                <a:sym typeface="Calibri"/>
              </a:rPr>
              <a:t>First-fit</a:t>
            </a:r>
            <a:r>
              <a:rPr lang="en-US" sz="2000"/>
              <a:t>:  First Fit fits data into memory by scanning from the beginning of available memory to the end, until the first free space which is at least big enough to accept the data is found. This space is then allocated to the data. Any left over becomes a smaller, separate free space.</a:t>
            </a:r>
            <a:endParaRPr sz="2000"/>
          </a:p>
          <a:p>
            <a:pPr marL="342900" lvl="0" indent="-342900" algn="l" rtl="0">
              <a:lnSpc>
                <a:spcPct val="90000"/>
              </a:lnSpc>
              <a:spcBef>
                <a:spcPts val="400"/>
              </a:spcBef>
              <a:spcAft>
                <a:spcPts val="0"/>
              </a:spcAft>
              <a:buClr>
                <a:srgbClr val="006699"/>
              </a:buClr>
              <a:buSzPts val="2000"/>
              <a:buChar char="•"/>
            </a:pPr>
            <a:r>
              <a:rPr lang="en-US" sz="2000" b="1">
                <a:solidFill>
                  <a:srgbClr val="006699"/>
                </a:solidFill>
                <a:latin typeface="Calibri"/>
                <a:ea typeface="Calibri"/>
                <a:cs typeface="Calibri"/>
                <a:sym typeface="Calibri"/>
              </a:rPr>
              <a:t>Best-fit</a:t>
            </a:r>
            <a:r>
              <a:rPr lang="en-US" sz="2000"/>
              <a:t>:  </a:t>
            </a:r>
            <a:r>
              <a:rPr lang="en-US" sz="1800"/>
              <a:t>The best fit deals with allocating the smallest free partition which meets the requirement of the requesting process. This algorithm first searches the entire list of free partitions and considers the smallest hole that is adequate. It then tries to find a hole which is close to actual process size needed.</a:t>
            </a:r>
            <a:endParaRPr sz="2800"/>
          </a:p>
          <a:p>
            <a:pPr marL="342900" lvl="0" indent="-342900" algn="l" rtl="0">
              <a:lnSpc>
                <a:spcPct val="90000"/>
              </a:lnSpc>
              <a:spcBef>
                <a:spcPts val="400"/>
              </a:spcBef>
              <a:spcAft>
                <a:spcPts val="0"/>
              </a:spcAft>
              <a:buClr>
                <a:srgbClr val="006699"/>
              </a:buClr>
              <a:buSzPts val="2000"/>
              <a:buChar char="•"/>
            </a:pPr>
            <a:r>
              <a:rPr lang="en-US" sz="2000" b="1">
                <a:solidFill>
                  <a:srgbClr val="006699"/>
                </a:solidFill>
                <a:latin typeface="Calibri"/>
                <a:ea typeface="Calibri"/>
                <a:cs typeface="Calibri"/>
                <a:sym typeface="Calibri"/>
              </a:rPr>
              <a:t>Worst-fit</a:t>
            </a:r>
            <a:r>
              <a:rPr lang="en-US" sz="2000"/>
              <a:t>:  </a:t>
            </a:r>
            <a:r>
              <a:rPr lang="en-US" sz="1900"/>
              <a:t>The algorithm searches for free-space in memory in which it can store the desired information. The algorithm selects the largest possible free space that the information can be stored on (i.e. that is bigger than the information needing to be stored) and stores it there. </a:t>
            </a:r>
            <a:endParaRPr sz="1800"/>
          </a:p>
        </p:txBody>
      </p:sp>
      <p:sp>
        <p:nvSpPr>
          <p:cNvPr id="296" name="Google Shape;296;p22"/>
          <p:cNvSpPr txBox="1"/>
          <p:nvPr/>
        </p:nvSpPr>
        <p:spPr>
          <a:xfrm>
            <a:off x="627061" y="5444581"/>
            <a:ext cx="8342452" cy="369328"/>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First-fit and best-fit better than worst-fit in terms of speed and storage utilization</a:t>
            </a:r>
            <a:endParaRPr/>
          </a:p>
        </p:txBody>
      </p:sp>
      <p:sp>
        <p:nvSpPr>
          <p:cNvPr id="297" name="Google Shape;297;p22"/>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98" name="Google Shape;29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99" name="Google Shape;29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3"/>
          <p:cNvSpPr/>
          <p:nvPr/>
        </p:nvSpPr>
        <p:spPr>
          <a:xfrm>
            <a:off x="452784" y="1016000"/>
            <a:ext cx="8039650" cy="5355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Verdana"/>
                <a:ea typeface="Verdana"/>
                <a:cs typeface="Verdana"/>
                <a:sym typeface="Verdana"/>
              </a:rPr>
              <a:t>Given five memory partitions of 100Kb, 500Kb, 200Kb, 300Kb, 600Kb (in order), how would the first-fit, best-fit, and worst-fit algorithms place processes of 212 Kb, 417 Kb, 112 Kb, and 426 Kb (in order)? Which algorithm makes the most efficient use of memory?</a:t>
            </a:r>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First-fit:</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212K is put in 500K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417K is put in 600K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112K is put in 288K partition (new partition 288K = 500K - 212K)</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426K must wait</a:t>
            </a:r>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Best-fit:</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212K is put in 300K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417K is put in 500K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112K is put in 200K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426K is put in 600K partition</a:t>
            </a:r>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a:t>
            </a:r>
            <a:endParaRPr/>
          </a:p>
        </p:txBody>
      </p:sp>
      <p:sp>
        <p:nvSpPr>
          <p:cNvPr id="305" name="Google Shape;305;p23"/>
          <p:cNvSpPr txBox="1">
            <a:spLocks noGrp="1"/>
          </p:cNvSpPr>
          <p:nvPr>
            <p:ph type="title"/>
          </p:nvPr>
        </p:nvSpPr>
        <p:spPr>
          <a:xfrm>
            <a:off x="691722" y="235762"/>
            <a:ext cx="77724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Dynamic Storage-Allocation Problem</a:t>
            </a:r>
            <a:endParaRPr/>
          </a:p>
        </p:txBody>
      </p:sp>
      <p:sp>
        <p:nvSpPr>
          <p:cNvPr id="306" name="Google Shape;30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07" name="Google Shape;30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4"/>
          <p:cNvSpPr/>
          <p:nvPr/>
        </p:nvSpPr>
        <p:spPr>
          <a:xfrm>
            <a:off x="717826" y="1855304"/>
            <a:ext cx="7874000"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Verdana"/>
                <a:ea typeface="Verdana"/>
                <a:cs typeface="Verdana"/>
                <a:sym typeface="Verdana"/>
              </a:rPr>
              <a:t>Worst-fit:</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212K is put in 600K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417K is put in 500K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112K is put in 388K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426K must wait</a:t>
            </a:r>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In this example, best-fit turns out to be the best</a:t>
            </a:r>
            <a:endParaRPr/>
          </a:p>
        </p:txBody>
      </p:sp>
      <p:sp>
        <p:nvSpPr>
          <p:cNvPr id="313" name="Google Shape;313;p24"/>
          <p:cNvSpPr txBox="1">
            <a:spLocks noGrp="1"/>
          </p:cNvSpPr>
          <p:nvPr>
            <p:ph type="title"/>
          </p:nvPr>
        </p:nvSpPr>
        <p:spPr>
          <a:xfrm>
            <a:off x="702756" y="533936"/>
            <a:ext cx="77724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Dynamic Storage-Allocation Problem</a:t>
            </a:r>
            <a:endParaRPr/>
          </a:p>
        </p:txBody>
      </p:sp>
      <p:sp>
        <p:nvSpPr>
          <p:cNvPr id="314" name="Google Shape;314;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15" name="Google Shape;315;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5"/>
          <p:cNvSpPr txBox="1">
            <a:spLocks noGrp="1"/>
          </p:cNvSpPr>
          <p:nvPr>
            <p:ph type="title"/>
          </p:nvPr>
        </p:nvSpPr>
        <p:spPr>
          <a:xfrm>
            <a:off x="855663" y="236379"/>
            <a:ext cx="7831137"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Fragmentation</a:t>
            </a:r>
            <a:endParaRPr/>
          </a:p>
        </p:txBody>
      </p:sp>
      <p:sp>
        <p:nvSpPr>
          <p:cNvPr id="322" name="Google Shape;322;p25"/>
          <p:cNvSpPr txBox="1">
            <a:spLocks noGrp="1"/>
          </p:cNvSpPr>
          <p:nvPr>
            <p:ph type="body" idx="1"/>
          </p:nvPr>
        </p:nvSpPr>
        <p:spPr>
          <a:xfrm>
            <a:off x="855663" y="1114425"/>
            <a:ext cx="7663186" cy="499903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006699"/>
              </a:buClr>
              <a:buSzPts val="2800"/>
              <a:buChar char="•"/>
            </a:pPr>
            <a:r>
              <a:rPr lang="en-US" sz="2800" b="1">
                <a:solidFill>
                  <a:srgbClr val="006699"/>
                </a:solidFill>
                <a:latin typeface="Calibri"/>
                <a:ea typeface="Calibri"/>
                <a:cs typeface="Calibri"/>
                <a:sym typeface="Calibri"/>
              </a:rPr>
              <a:t>External</a:t>
            </a:r>
            <a:r>
              <a:rPr lang="en-US" sz="2800" b="1">
                <a:solidFill>
                  <a:srgbClr val="3366FF"/>
                </a:solidFill>
              </a:rPr>
              <a:t> </a:t>
            </a:r>
            <a:r>
              <a:rPr lang="en-US" sz="2800" b="1">
                <a:solidFill>
                  <a:srgbClr val="006699"/>
                </a:solidFill>
                <a:latin typeface="Calibri"/>
                <a:ea typeface="Calibri"/>
                <a:cs typeface="Calibri"/>
                <a:sym typeface="Calibri"/>
              </a:rPr>
              <a:t>Fragmentation</a:t>
            </a:r>
            <a:r>
              <a:rPr lang="en-US" sz="2800">
                <a:solidFill>
                  <a:srgbClr val="3366FF"/>
                </a:solidFill>
              </a:rPr>
              <a:t> </a:t>
            </a:r>
            <a:r>
              <a:rPr lang="en-US" sz="2800"/>
              <a:t>– total memory space exists to satisfy a request, but it is not contiguous</a:t>
            </a:r>
            <a:endParaRPr sz="2800" b="1">
              <a:solidFill>
                <a:srgbClr val="3366FF"/>
              </a:solidFill>
            </a:endParaRPr>
          </a:p>
          <a:p>
            <a:pPr marL="342900" lvl="0" indent="-342900" algn="l" rtl="0">
              <a:spcBef>
                <a:spcPts val="560"/>
              </a:spcBef>
              <a:spcAft>
                <a:spcPts val="0"/>
              </a:spcAft>
              <a:buClr>
                <a:srgbClr val="006699"/>
              </a:buClr>
              <a:buSzPts val="2800"/>
              <a:buChar char="•"/>
            </a:pPr>
            <a:r>
              <a:rPr lang="en-US" sz="2800" b="1">
                <a:solidFill>
                  <a:srgbClr val="006699"/>
                </a:solidFill>
                <a:latin typeface="Calibri"/>
                <a:ea typeface="Calibri"/>
                <a:cs typeface="Calibri"/>
                <a:sym typeface="Calibri"/>
              </a:rPr>
              <a:t>Internal</a:t>
            </a:r>
            <a:r>
              <a:rPr lang="en-US" sz="2800" b="1">
                <a:solidFill>
                  <a:srgbClr val="3366FF"/>
                </a:solidFill>
              </a:rPr>
              <a:t> </a:t>
            </a:r>
            <a:r>
              <a:rPr lang="en-US" sz="2800" b="1">
                <a:solidFill>
                  <a:srgbClr val="006699"/>
                </a:solidFill>
                <a:latin typeface="Calibri"/>
                <a:ea typeface="Calibri"/>
                <a:cs typeface="Calibri"/>
                <a:sym typeface="Calibri"/>
              </a:rPr>
              <a:t>Fragmentation</a:t>
            </a:r>
            <a:r>
              <a:rPr lang="en-US" sz="2800">
                <a:solidFill>
                  <a:srgbClr val="3366FF"/>
                </a:solidFill>
              </a:rPr>
              <a:t> </a:t>
            </a:r>
            <a:r>
              <a:rPr lang="en-US" sz="2800"/>
              <a:t>– allocated memory may be slightly larger than requested memory; this size difference is memory internal to a partition, but not being used</a:t>
            </a:r>
            <a:endParaRPr/>
          </a:p>
          <a:p>
            <a:pPr marL="342900" lvl="0" indent="-342900" algn="l" rtl="0">
              <a:spcBef>
                <a:spcPts val="560"/>
              </a:spcBef>
              <a:spcAft>
                <a:spcPts val="0"/>
              </a:spcAft>
              <a:buClr>
                <a:schemeClr val="dk1"/>
              </a:buClr>
              <a:buSzPts val="2800"/>
              <a:buChar char="•"/>
            </a:pPr>
            <a:r>
              <a:rPr lang="en-US" sz="2800"/>
              <a:t>First fit analysis reveals that given </a:t>
            </a:r>
            <a:r>
              <a:rPr lang="en-US" sz="2800" i="1"/>
              <a:t>N</a:t>
            </a:r>
            <a:r>
              <a:rPr lang="en-US" sz="2800"/>
              <a:t> blocks allocated, 0.5 </a:t>
            </a:r>
            <a:r>
              <a:rPr lang="en-US" sz="2800" i="1"/>
              <a:t>N</a:t>
            </a:r>
            <a:r>
              <a:rPr lang="en-US" sz="2800"/>
              <a:t> blocks lost to fragmentation</a:t>
            </a:r>
            <a:endParaRPr/>
          </a:p>
          <a:p>
            <a:pPr marL="742950" lvl="1" indent="-285750" algn="l" rtl="0">
              <a:spcBef>
                <a:spcPts val="480"/>
              </a:spcBef>
              <a:spcAft>
                <a:spcPts val="0"/>
              </a:spcAft>
              <a:buClr>
                <a:schemeClr val="dk1"/>
              </a:buClr>
              <a:buSzPts val="2400"/>
              <a:buChar char="–"/>
            </a:pPr>
            <a:r>
              <a:rPr lang="en-US" sz="2400"/>
              <a:t>1/3 may be unusable -&gt; </a:t>
            </a:r>
            <a:r>
              <a:rPr lang="en-US" sz="2400" b="1">
                <a:solidFill>
                  <a:srgbClr val="006699"/>
                </a:solidFill>
                <a:latin typeface="Calibri"/>
                <a:ea typeface="Calibri"/>
                <a:cs typeface="Calibri"/>
                <a:sym typeface="Calibri"/>
              </a:rPr>
              <a:t>50-percent</a:t>
            </a:r>
            <a:r>
              <a:rPr lang="en-US" sz="2400" b="1">
                <a:solidFill>
                  <a:srgbClr val="3366FF"/>
                </a:solidFill>
              </a:rPr>
              <a:t> </a:t>
            </a:r>
            <a:r>
              <a:rPr lang="en-US" sz="2400" b="1">
                <a:solidFill>
                  <a:srgbClr val="006699"/>
                </a:solidFill>
                <a:latin typeface="Calibri"/>
                <a:ea typeface="Calibri"/>
                <a:cs typeface="Calibri"/>
                <a:sym typeface="Calibri"/>
              </a:rPr>
              <a:t>rule</a:t>
            </a:r>
            <a:endParaRPr/>
          </a:p>
        </p:txBody>
      </p:sp>
      <p:sp>
        <p:nvSpPr>
          <p:cNvPr id="323" name="Google Shape;323;p25"/>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24" name="Google Shape;324;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25" name="Google Shape;325;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4400"/>
              <a:buFont typeface="Calibri"/>
              <a:buNone/>
            </a:pPr>
            <a:r>
              <a:rPr lang="en-US" b="1">
                <a:solidFill>
                  <a:schemeClr val="accent1"/>
                </a:solidFill>
              </a:rPr>
              <a:t>Fragmentation</a:t>
            </a:r>
            <a:endParaRPr/>
          </a:p>
        </p:txBody>
      </p:sp>
      <p:pic>
        <p:nvPicPr>
          <p:cNvPr id="331" name="Google Shape;331;p26" descr="Diagram&#10;&#10;Description automatically generated"/>
          <p:cNvPicPr preferRelativeResize="0">
            <a:picLocks noGrp="1"/>
          </p:cNvPicPr>
          <p:nvPr>
            <p:ph type="body" idx="1"/>
          </p:nvPr>
        </p:nvPicPr>
        <p:blipFill rotWithShape="1">
          <a:blip r:embed="rId3">
            <a:alphaModFix/>
          </a:blip>
          <a:srcRect/>
          <a:stretch/>
        </p:blipFill>
        <p:spPr>
          <a:xfrm>
            <a:off x="2704308" y="2606041"/>
            <a:ext cx="4114286" cy="2561905"/>
          </a:xfrm>
          <a:prstGeom prst="rect">
            <a:avLst/>
          </a:prstGeom>
          <a:solidFill>
            <a:srgbClr val="000000"/>
          </a:solidFill>
          <a:ln w="444500" cap="sq" cmpd="sng">
            <a:solidFill>
              <a:srgbClr val="000000"/>
            </a:solidFill>
            <a:prstDash val="solid"/>
            <a:miter lim="800000"/>
            <a:headEnd type="none" w="sm" len="sm"/>
            <a:tailEnd type="none" w="sm" len="sm"/>
          </a:ln>
          <a:effectLst>
            <a:outerShdw blurRad="254000" dist="190500" dir="2700000" sy="90000" algn="bl" rotWithShape="0">
              <a:srgbClr val="000000">
                <a:alpha val="40000"/>
              </a:srgbClr>
            </a:outerShdw>
          </a:effectLst>
        </p:spPr>
      </p:pic>
      <p:sp>
        <p:nvSpPr>
          <p:cNvPr id="332" name="Google Shape;33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33" name="Google Shape;33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7"/>
          <p:cNvSpPr txBox="1">
            <a:spLocks noGrp="1"/>
          </p:cNvSpPr>
          <p:nvPr>
            <p:ph type="title"/>
          </p:nvPr>
        </p:nvSpPr>
        <p:spPr>
          <a:xfrm>
            <a:off x="457200" y="248493"/>
            <a:ext cx="822960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Fragmentation (Cont.)</a:t>
            </a:r>
            <a:endParaRPr/>
          </a:p>
        </p:txBody>
      </p:sp>
      <p:sp>
        <p:nvSpPr>
          <p:cNvPr id="339" name="Google Shape;339;p27"/>
          <p:cNvSpPr txBox="1">
            <a:spLocks noGrp="1"/>
          </p:cNvSpPr>
          <p:nvPr>
            <p:ph type="body" idx="1"/>
          </p:nvPr>
        </p:nvSpPr>
        <p:spPr>
          <a:xfrm>
            <a:off x="849086" y="1154113"/>
            <a:ext cx="7651102" cy="453072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Char char="•"/>
            </a:pPr>
            <a:r>
              <a:rPr lang="en-US" sz="2800"/>
              <a:t>Reduce external fragmentation by </a:t>
            </a:r>
            <a:r>
              <a:rPr lang="en-US" sz="2800" b="1">
                <a:solidFill>
                  <a:srgbClr val="006699"/>
                </a:solidFill>
                <a:latin typeface="Calibri"/>
                <a:ea typeface="Calibri"/>
                <a:cs typeface="Calibri"/>
                <a:sym typeface="Calibri"/>
              </a:rPr>
              <a:t>compaction</a:t>
            </a:r>
            <a:endParaRPr/>
          </a:p>
          <a:p>
            <a:pPr marL="742950" lvl="1" indent="-285750" algn="l" rtl="0">
              <a:spcBef>
                <a:spcPts val="480"/>
              </a:spcBef>
              <a:spcAft>
                <a:spcPts val="0"/>
              </a:spcAft>
              <a:buClr>
                <a:schemeClr val="dk1"/>
              </a:buClr>
              <a:buSzPts val="2400"/>
              <a:buChar char="–"/>
            </a:pPr>
            <a:r>
              <a:rPr lang="en-US" sz="2400"/>
              <a:t>Shuffle memory contents to place all free memory together in one large block</a:t>
            </a:r>
            <a:endParaRPr/>
          </a:p>
          <a:p>
            <a:pPr marL="742950" lvl="1" indent="-285750" algn="l" rtl="0">
              <a:spcBef>
                <a:spcPts val="480"/>
              </a:spcBef>
              <a:spcAft>
                <a:spcPts val="0"/>
              </a:spcAft>
              <a:buClr>
                <a:schemeClr val="dk1"/>
              </a:buClr>
              <a:buSzPts val="2400"/>
              <a:buChar char="–"/>
            </a:pPr>
            <a:r>
              <a:rPr lang="en-US" sz="2400"/>
              <a:t>Compaction is possible </a:t>
            </a:r>
            <a:r>
              <a:rPr lang="en-US" sz="2400" i="1"/>
              <a:t>only</a:t>
            </a:r>
            <a:r>
              <a:rPr lang="en-US" sz="2400"/>
              <a:t> if relocation is dynamic, and is done at execution time</a:t>
            </a:r>
            <a:endParaRPr/>
          </a:p>
          <a:p>
            <a:pPr marL="742950" lvl="1" indent="-285750" algn="l" rtl="0">
              <a:spcBef>
                <a:spcPts val="480"/>
              </a:spcBef>
              <a:spcAft>
                <a:spcPts val="0"/>
              </a:spcAft>
              <a:buClr>
                <a:schemeClr val="dk1"/>
              </a:buClr>
              <a:buSzPts val="2400"/>
              <a:buChar char="–"/>
            </a:pPr>
            <a:r>
              <a:rPr lang="en-US" sz="2400"/>
              <a:t>I/O problem</a:t>
            </a:r>
            <a:endParaRPr/>
          </a:p>
          <a:p>
            <a:pPr marL="1143000" lvl="2" indent="-228600" algn="l" rtl="0">
              <a:spcBef>
                <a:spcPts val="400"/>
              </a:spcBef>
              <a:spcAft>
                <a:spcPts val="0"/>
              </a:spcAft>
              <a:buClr>
                <a:schemeClr val="dk1"/>
              </a:buClr>
              <a:buSzPts val="2000"/>
              <a:buChar char="•"/>
            </a:pPr>
            <a:r>
              <a:rPr lang="en-US" sz="2000"/>
              <a:t>Latch job in memory while it is involved in I/O</a:t>
            </a:r>
            <a:endParaRPr/>
          </a:p>
          <a:p>
            <a:pPr marL="1143000" lvl="2" indent="-228600" algn="l" rtl="0">
              <a:spcBef>
                <a:spcPts val="400"/>
              </a:spcBef>
              <a:spcAft>
                <a:spcPts val="0"/>
              </a:spcAft>
              <a:buClr>
                <a:schemeClr val="dk1"/>
              </a:buClr>
              <a:buSzPts val="2000"/>
              <a:buChar char="•"/>
            </a:pPr>
            <a:r>
              <a:rPr lang="en-US" sz="2000"/>
              <a:t>Do I/O only into OS buffers</a:t>
            </a:r>
            <a:endParaRPr/>
          </a:p>
          <a:p>
            <a:pPr marL="342900" lvl="0" indent="-342900" algn="l" rtl="0">
              <a:spcBef>
                <a:spcPts val="560"/>
              </a:spcBef>
              <a:spcAft>
                <a:spcPts val="0"/>
              </a:spcAft>
              <a:buClr>
                <a:schemeClr val="dk1"/>
              </a:buClr>
              <a:buSzPts val="2800"/>
              <a:buChar char="•"/>
            </a:pPr>
            <a:r>
              <a:rPr lang="en-US" sz="2800"/>
              <a:t>Now consider that backing store has same fragmentation problems</a:t>
            </a:r>
            <a:endParaRPr/>
          </a:p>
        </p:txBody>
      </p:sp>
      <p:sp>
        <p:nvSpPr>
          <p:cNvPr id="340" name="Google Shape;340;p27"/>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41" name="Google Shape;341;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42" name="Google Shape;34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8"/>
          <p:cNvSpPr txBox="1">
            <a:spLocks noGrp="1"/>
          </p:cNvSpPr>
          <p:nvPr>
            <p:ph type="title"/>
          </p:nvPr>
        </p:nvSpPr>
        <p:spPr>
          <a:xfrm>
            <a:off x="457200" y="236379"/>
            <a:ext cx="822960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PAGING</a:t>
            </a:r>
            <a:endParaRPr/>
          </a:p>
        </p:txBody>
      </p:sp>
      <p:sp>
        <p:nvSpPr>
          <p:cNvPr id="349" name="Google Shape;349;p28"/>
          <p:cNvSpPr txBox="1">
            <a:spLocks noGrp="1"/>
          </p:cNvSpPr>
          <p:nvPr>
            <p:ph type="body" idx="1"/>
          </p:nvPr>
        </p:nvSpPr>
        <p:spPr>
          <a:xfrm>
            <a:off x="739913" y="985148"/>
            <a:ext cx="7676322" cy="5375896"/>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Font typeface="Noto Sans Symbols"/>
              <a:buChar char="⮚"/>
            </a:pPr>
            <a:r>
              <a:rPr lang="en-US"/>
              <a:t>Physical  address space of a process can be noncontiguous; process is allocated physical memory whenever the latter is available</a:t>
            </a:r>
            <a:endParaRPr/>
          </a:p>
          <a:p>
            <a:pPr marL="742950" lvl="1" indent="-285750" algn="l" rtl="0">
              <a:spcBef>
                <a:spcPts val="350"/>
              </a:spcBef>
              <a:spcAft>
                <a:spcPts val="0"/>
              </a:spcAft>
              <a:buClr>
                <a:schemeClr val="dk1"/>
              </a:buClr>
              <a:buSzPct val="100000"/>
              <a:buFont typeface="Arial"/>
              <a:buChar char="•"/>
            </a:pPr>
            <a:r>
              <a:rPr lang="en-US"/>
              <a:t>Avoids external fragmentation</a:t>
            </a:r>
            <a:endParaRPr/>
          </a:p>
          <a:p>
            <a:pPr marL="742950" lvl="1" indent="-285750" algn="l" rtl="0">
              <a:spcBef>
                <a:spcPts val="350"/>
              </a:spcBef>
              <a:spcAft>
                <a:spcPts val="0"/>
              </a:spcAft>
              <a:buClr>
                <a:schemeClr val="dk1"/>
              </a:buClr>
              <a:buSzPct val="100000"/>
              <a:buFont typeface="Arial"/>
              <a:buChar char="•"/>
            </a:pPr>
            <a:r>
              <a:rPr lang="en-US"/>
              <a:t>Avoids problem of varying sized memory chunks</a:t>
            </a:r>
            <a:endParaRPr/>
          </a:p>
          <a:p>
            <a:pPr marL="742950" lvl="1" indent="-174625" algn="l" rtl="0">
              <a:spcBef>
                <a:spcPts val="350"/>
              </a:spcBef>
              <a:spcAft>
                <a:spcPts val="0"/>
              </a:spcAft>
              <a:buClr>
                <a:schemeClr val="dk1"/>
              </a:buClr>
              <a:buSzPct val="100000"/>
              <a:buFont typeface="Arial"/>
              <a:buNone/>
            </a:pPr>
            <a:endParaRPr/>
          </a:p>
          <a:p>
            <a:pPr marL="742950" lvl="1" indent="-254000" algn="l" rtl="0">
              <a:spcBef>
                <a:spcPts val="100"/>
              </a:spcBef>
              <a:spcAft>
                <a:spcPts val="0"/>
              </a:spcAft>
              <a:buClr>
                <a:schemeClr val="dk1"/>
              </a:buClr>
              <a:buSzPct val="100000"/>
              <a:buFont typeface="Noto Sans Symbols"/>
              <a:buNone/>
            </a:pPr>
            <a:endParaRPr sz="800"/>
          </a:p>
          <a:p>
            <a:pPr marL="342900" lvl="0" indent="-342900" algn="l" rtl="0">
              <a:spcBef>
                <a:spcPts val="400"/>
              </a:spcBef>
              <a:spcAft>
                <a:spcPts val="0"/>
              </a:spcAft>
              <a:buClr>
                <a:schemeClr val="dk1"/>
              </a:buClr>
              <a:buSzPct val="100000"/>
              <a:buFont typeface="Noto Sans Symbols"/>
              <a:buChar char="⮚"/>
            </a:pPr>
            <a:r>
              <a:rPr lang="en-US"/>
              <a:t>Divide physical memory into fixed-sized blocks called </a:t>
            </a:r>
            <a:r>
              <a:rPr lang="en-US" b="1">
                <a:solidFill>
                  <a:srgbClr val="006699"/>
                </a:solidFill>
                <a:latin typeface="Calibri"/>
                <a:ea typeface="Calibri"/>
                <a:cs typeface="Calibri"/>
                <a:sym typeface="Calibri"/>
              </a:rPr>
              <a:t>frames</a:t>
            </a:r>
            <a:endParaRPr/>
          </a:p>
          <a:p>
            <a:pPr marL="742950" lvl="1" indent="-285750" algn="l" rtl="0">
              <a:spcBef>
                <a:spcPts val="350"/>
              </a:spcBef>
              <a:spcAft>
                <a:spcPts val="0"/>
              </a:spcAft>
              <a:buClr>
                <a:srgbClr val="000000"/>
              </a:buClr>
              <a:buSzPct val="100000"/>
              <a:buFont typeface="Arial"/>
              <a:buChar char="•"/>
            </a:pPr>
            <a:r>
              <a:rPr lang="en-US">
                <a:solidFill>
                  <a:srgbClr val="000000"/>
                </a:solidFill>
              </a:rPr>
              <a:t>Size </a:t>
            </a:r>
            <a:r>
              <a:rPr lang="en-US"/>
              <a:t>is power of 2, between 512 bytes and 16 Mbytes.</a:t>
            </a:r>
            <a:endParaRPr/>
          </a:p>
          <a:p>
            <a:pPr marL="742950" lvl="1" indent="-254000" algn="l" rtl="0">
              <a:spcBef>
                <a:spcPts val="100"/>
              </a:spcBef>
              <a:spcAft>
                <a:spcPts val="0"/>
              </a:spcAft>
              <a:buClr>
                <a:schemeClr val="dk1"/>
              </a:buClr>
              <a:buSzPct val="100000"/>
              <a:buFont typeface="Arial"/>
              <a:buNone/>
            </a:pPr>
            <a:endParaRPr sz="800"/>
          </a:p>
          <a:p>
            <a:pPr marL="342900" lvl="0" indent="-342900" algn="l" rtl="0">
              <a:spcBef>
                <a:spcPts val="400"/>
              </a:spcBef>
              <a:spcAft>
                <a:spcPts val="0"/>
              </a:spcAft>
              <a:buClr>
                <a:schemeClr val="dk1"/>
              </a:buClr>
              <a:buSzPct val="100000"/>
              <a:buFont typeface="Noto Sans Symbols"/>
              <a:buChar char="⮚"/>
            </a:pPr>
            <a:r>
              <a:rPr lang="en-US"/>
              <a:t>Divide logical memory into blocks of same size called </a:t>
            </a:r>
            <a:r>
              <a:rPr lang="en-US" b="1">
                <a:solidFill>
                  <a:srgbClr val="006699"/>
                </a:solidFill>
                <a:latin typeface="Calibri"/>
                <a:ea typeface="Calibri"/>
                <a:cs typeface="Calibri"/>
                <a:sym typeface="Calibri"/>
              </a:rPr>
              <a:t>pages</a:t>
            </a:r>
            <a:endParaRPr/>
          </a:p>
          <a:p>
            <a:pPr marL="342900" lvl="0" indent="-215900" algn="l" rtl="0">
              <a:spcBef>
                <a:spcPts val="400"/>
              </a:spcBef>
              <a:spcAft>
                <a:spcPts val="0"/>
              </a:spcAft>
              <a:buClr>
                <a:schemeClr val="dk1"/>
              </a:buClr>
              <a:buSzPct val="100000"/>
              <a:buFont typeface="Noto Sans Symbols"/>
              <a:buNone/>
            </a:pPr>
            <a:endParaRPr b="1">
              <a:solidFill>
                <a:srgbClr val="006699"/>
              </a:solidFill>
              <a:latin typeface="Calibri"/>
              <a:ea typeface="Calibri"/>
              <a:cs typeface="Calibri"/>
              <a:sym typeface="Calibri"/>
            </a:endParaRPr>
          </a:p>
          <a:p>
            <a:pPr marL="342900" lvl="0" indent="-342900" algn="l" rtl="0">
              <a:spcBef>
                <a:spcPts val="400"/>
              </a:spcBef>
              <a:spcAft>
                <a:spcPts val="0"/>
              </a:spcAft>
              <a:buClr>
                <a:schemeClr val="dk1"/>
              </a:buClr>
              <a:buSzPct val="100000"/>
              <a:buFont typeface="Noto Sans Symbols"/>
              <a:buChar char="⮚"/>
            </a:pPr>
            <a:r>
              <a:rPr lang="en-US"/>
              <a:t>Keep track of all free frames</a:t>
            </a:r>
            <a:endParaRPr/>
          </a:p>
          <a:p>
            <a:pPr marL="342900" lvl="0" indent="-311150" algn="l" rtl="0">
              <a:spcBef>
                <a:spcPts val="100"/>
              </a:spcBef>
              <a:spcAft>
                <a:spcPts val="0"/>
              </a:spcAft>
              <a:buClr>
                <a:schemeClr val="dk1"/>
              </a:buClr>
              <a:buSzPct val="100000"/>
              <a:buFont typeface="Noto Sans Symbols"/>
              <a:buNone/>
            </a:pPr>
            <a:endParaRPr sz="800"/>
          </a:p>
          <a:p>
            <a:pPr marL="342900" lvl="0" indent="-342900" algn="l" rtl="0">
              <a:spcBef>
                <a:spcPts val="400"/>
              </a:spcBef>
              <a:spcAft>
                <a:spcPts val="0"/>
              </a:spcAft>
              <a:buClr>
                <a:schemeClr val="dk1"/>
              </a:buClr>
              <a:buSzPct val="100000"/>
              <a:buFont typeface="Noto Sans Symbols"/>
              <a:buChar char="⮚"/>
            </a:pPr>
            <a:r>
              <a:rPr lang="en-US"/>
              <a:t>To run a program of size </a:t>
            </a:r>
            <a:r>
              <a:rPr lang="en-US" b="1" i="1"/>
              <a:t>N</a:t>
            </a:r>
            <a:r>
              <a:rPr lang="en-US" i="1"/>
              <a:t> </a:t>
            </a:r>
            <a:r>
              <a:rPr lang="en-US"/>
              <a:t>pages, need to find </a:t>
            </a:r>
            <a:r>
              <a:rPr lang="en-US" b="1" i="1"/>
              <a:t>N</a:t>
            </a:r>
            <a:r>
              <a:rPr lang="en-US"/>
              <a:t> free frames and load program</a:t>
            </a:r>
            <a:endParaRPr/>
          </a:p>
          <a:p>
            <a:pPr marL="342900" lvl="0" indent="-311150" algn="l" rtl="0">
              <a:spcBef>
                <a:spcPts val="100"/>
              </a:spcBef>
              <a:spcAft>
                <a:spcPts val="0"/>
              </a:spcAft>
              <a:buClr>
                <a:schemeClr val="dk1"/>
              </a:buClr>
              <a:buSzPct val="100000"/>
              <a:buFont typeface="Noto Sans Symbols"/>
              <a:buNone/>
            </a:pPr>
            <a:endParaRPr sz="800"/>
          </a:p>
          <a:p>
            <a:pPr marL="342900" lvl="0" indent="-342900" algn="l" rtl="0">
              <a:spcBef>
                <a:spcPts val="400"/>
              </a:spcBef>
              <a:spcAft>
                <a:spcPts val="0"/>
              </a:spcAft>
              <a:buClr>
                <a:schemeClr val="dk1"/>
              </a:buClr>
              <a:buSzPct val="100000"/>
              <a:buFont typeface="Noto Sans Symbols"/>
              <a:buChar char="⮚"/>
            </a:pPr>
            <a:r>
              <a:rPr lang="en-US"/>
              <a:t>Set up a </a:t>
            </a:r>
            <a:r>
              <a:rPr lang="en-US" b="1">
                <a:solidFill>
                  <a:srgbClr val="006699"/>
                </a:solidFill>
                <a:latin typeface="Calibri"/>
                <a:ea typeface="Calibri"/>
                <a:cs typeface="Calibri"/>
                <a:sym typeface="Calibri"/>
              </a:rPr>
              <a:t>page</a:t>
            </a:r>
            <a:r>
              <a:rPr lang="en-US" b="1">
                <a:solidFill>
                  <a:srgbClr val="3366FF"/>
                </a:solidFill>
              </a:rPr>
              <a:t> </a:t>
            </a:r>
            <a:r>
              <a:rPr lang="en-US" b="1">
                <a:solidFill>
                  <a:srgbClr val="006699"/>
                </a:solidFill>
                <a:latin typeface="Calibri"/>
                <a:ea typeface="Calibri"/>
                <a:cs typeface="Calibri"/>
                <a:sym typeface="Calibri"/>
              </a:rPr>
              <a:t>table</a:t>
            </a:r>
            <a:r>
              <a:rPr lang="en-US"/>
              <a:t> to translate logical to physical addresses</a:t>
            </a:r>
            <a:endParaRPr/>
          </a:p>
          <a:p>
            <a:pPr marL="342900" lvl="0" indent="-311150" algn="l" rtl="0">
              <a:spcBef>
                <a:spcPts val="100"/>
              </a:spcBef>
              <a:spcAft>
                <a:spcPts val="0"/>
              </a:spcAft>
              <a:buClr>
                <a:schemeClr val="dk1"/>
              </a:buClr>
              <a:buSzPct val="100000"/>
              <a:buFont typeface="Noto Sans Symbols"/>
              <a:buNone/>
            </a:pPr>
            <a:endParaRPr sz="800"/>
          </a:p>
          <a:p>
            <a:pPr marL="342900" lvl="0" indent="-342900" algn="l" rtl="0">
              <a:spcBef>
                <a:spcPts val="400"/>
              </a:spcBef>
              <a:spcAft>
                <a:spcPts val="0"/>
              </a:spcAft>
              <a:buClr>
                <a:schemeClr val="dk1"/>
              </a:buClr>
              <a:buSzPct val="100000"/>
              <a:buFont typeface="Noto Sans Symbols"/>
              <a:buChar char="⮚"/>
            </a:pPr>
            <a:r>
              <a:rPr lang="en-US"/>
              <a:t>Backing store likewise split into pages</a:t>
            </a:r>
            <a:endParaRPr/>
          </a:p>
          <a:p>
            <a:pPr marL="342900" lvl="0" indent="-215900" algn="l" rtl="0">
              <a:spcBef>
                <a:spcPts val="400"/>
              </a:spcBef>
              <a:spcAft>
                <a:spcPts val="0"/>
              </a:spcAft>
              <a:buClr>
                <a:schemeClr val="dk1"/>
              </a:buClr>
              <a:buSzPct val="100000"/>
              <a:buFont typeface="Noto Sans Symbols"/>
              <a:buNone/>
            </a:pPr>
            <a:endParaRPr/>
          </a:p>
          <a:p>
            <a:pPr marL="342900" lvl="0" indent="-342900" algn="l" rtl="0">
              <a:spcBef>
                <a:spcPts val="400"/>
              </a:spcBef>
              <a:spcAft>
                <a:spcPts val="0"/>
              </a:spcAft>
              <a:buClr>
                <a:schemeClr val="dk1"/>
              </a:buClr>
              <a:buSzPct val="100000"/>
              <a:buFont typeface="Noto Sans Symbols"/>
              <a:buChar char="⮚"/>
            </a:pPr>
            <a:r>
              <a:rPr lang="en-US"/>
              <a:t>Still have Internal fragmentation</a:t>
            </a:r>
            <a:endParaRPr/>
          </a:p>
        </p:txBody>
      </p:sp>
      <p:sp>
        <p:nvSpPr>
          <p:cNvPr id="350" name="Google Shape;350;p28"/>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51" name="Google Shape;35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52" name="Google Shape;35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9"/>
          <p:cNvSpPr txBox="1">
            <a:spLocks noGrp="1"/>
          </p:cNvSpPr>
          <p:nvPr>
            <p:ph type="title"/>
          </p:nvPr>
        </p:nvSpPr>
        <p:spPr>
          <a:xfrm>
            <a:off x="488950" y="309250"/>
            <a:ext cx="8229600" cy="54341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PAGING</a:t>
            </a:r>
            <a:r>
              <a:rPr lang="en-US"/>
              <a:t> (Cont.)</a:t>
            </a:r>
            <a:endParaRPr/>
          </a:p>
        </p:txBody>
      </p:sp>
      <p:sp>
        <p:nvSpPr>
          <p:cNvPr id="358" name="Google Shape;358;p29"/>
          <p:cNvSpPr txBox="1">
            <a:spLocks noGrp="1"/>
          </p:cNvSpPr>
          <p:nvPr>
            <p:ph type="body" idx="1"/>
          </p:nvPr>
        </p:nvSpPr>
        <p:spPr>
          <a:xfrm>
            <a:off x="488950" y="1382912"/>
            <a:ext cx="8337550" cy="4546392"/>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a:t>Calculating internal fragmentation</a:t>
            </a:r>
            <a:endParaRPr/>
          </a:p>
          <a:p>
            <a:pPr marL="383558" lvl="1" indent="0" algn="l" rtl="0">
              <a:spcBef>
                <a:spcPts val="476"/>
              </a:spcBef>
              <a:spcAft>
                <a:spcPts val="0"/>
              </a:spcAft>
              <a:buClr>
                <a:schemeClr val="dk1"/>
              </a:buClr>
              <a:buSzPct val="100000"/>
              <a:buNone/>
            </a:pPr>
            <a:r>
              <a:rPr lang="en-US" b="1" i="1"/>
              <a:t>Given:</a:t>
            </a:r>
            <a:endParaRPr/>
          </a:p>
          <a:p>
            <a:pPr marL="742950" lvl="1" indent="-285750" algn="l" rtl="0">
              <a:spcBef>
                <a:spcPts val="476"/>
              </a:spcBef>
              <a:spcAft>
                <a:spcPts val="0"/>
              </a:spcAft>
              <a:buClr>
                <a:schemeClr val="dk1"/>
              </a:buClr>
              <a:buSzPct val="100000"/>
              <a:buChar char="–"/>
            </a:pPr>
            <a:r>
              <a:rPr lang="en-US"/>
              <a:t>Page size = 2,048 bytes</a:t>
            </a:r>
            <a:endParaRPr/>
          </a:p>
          <a:p>
            <a:pPr marL="742950" lvl="1" indent="-285750" algn="l" rtl="0">
              <a:spcBef>
                <a:spcPts val="476"/>
              </a:spcBef>
              <a:spcAft>
                <a:spcPts val="0"/>
              </a:spcAft>
              <a:buClr>
                <a:schemeClr val="dk1"/>
              </a:buClr>
              <a:buSzPct val="100000"/>
              <a:buChar char="–"/>
            </a:pPr>
            <a:r>
              <a:rPr lang="en-US"/>
              <a:t>Process size = 72,766 bytes</a:t>
            </a:r>
            <a:endParaRPr/>
          </a:p>
          <a:p>
            <a:pPr marL="742950" lvl="1" indent="-285750" algn="l" rtl="0">
              <a:spcBef>
                <a:spcPts val="476"/>
              </a:spcBef>
              <a:spcAft>
                <a:spcPts val="0"/>
              </a:spcAft>
              <a:buClr>
                <a:schemeClr val="dk1"/>
              </a:buClr>
              <a:buSzPct val="100000"/>
              <a:buChar char="–"/>
            </a:pPr>
            <a:r>
              <a:rPr lang="en-US"/>
              <a:t>35 pages + 1,086 bytes</a:t>
            </a:r>
            <a:endParaRPr/>
          </a:p>
          <a:p>
            <a:pPr marL="383558" lvl="1" indent="0" algn="l" rtl="0">
              <a:spcBef>
                <a:spcPts val="476"/>
              </a:spcBef>
              <a:spcAft>
                <a:spcPts val="0"/>
              </a:spcAft>
              <a:buClr>
                <a:schemeClr val="dk1"/>
              </a:buClr>
              <a:buSzPct val="100000"/>
              <a:buNone/>
            </a:pPr>
            <a:r>
              <a:rPr lang="en-US" b="1" i="1"/>
              <a:t>Calculate:</a:t>
            </a:r>
            <a:endParaRPr/>
          </a:p>
          <a:p>
            <a:pPr marL="742950" lvl="1" indent="-285750" algn="l" rtl="0">
              <a:spcBef>
                <a:spcPts val="476"/>
              </a:spcBef>
              <a:spcAft>
                <a:spcPts val="0"/>
              </a:spcAft>
              <a:buClr>
                <a:schemeClr val="dk1"/>
              </a:buClr>
              <a:buSzPct val="100000"/>
              <a:buChar char="–"/>
            </a:pPr>
            <a:r>
              <a:rPr lang="en-US"/>
              <a:t>Internal fragmentation of 2,048 - 1,086 = 962 bytes</a:t>
            </a:r>
            <a:endParaRPr/>
          </a:p>
          <a:p>
            <a:pPr marL="742950" lvl="1" indent="-285750" algn="l" rtl="0">
              <a:spcBef>
                <a:spcPts val="476"/>
              </a:spcBef>
              <a:spcAft>
                <a:spcPts val="0"/>
              </a:spcAft>
              <a:buClr>
                <a:schemeClr val="dk1"/>
              </a:buClr>
              <a:buSzPct val="100000"/>
              <a:buChar char="–"/>
            </a:pPr>
            <a:r>
              <a:rPr lang="en-US"/>
              <a:t>Worst case fragmentation = 1 frame – 1 byte</a:t>
            </a:r>
            <a:endParaRPr/>
          </a:p>
          <a:p>
            <a:pPr marL="742950" lvl="1" indent="-285750" algn="l" rtl="0">
              <a:spcBef>
                <a:spcPts val="476"/>
              </a:spcBef>
              <a:spcAft>
                <a:spcPts val="0"/>
              </a:spcAft>
              <a:buClr>
                <a:schemeClr val="dk1"/>
              </a:buClr>
              <a:buSzPct val="100000"/>
              <a:buChar char="–"/>
            </a:pPr>
            <a:r>
              <a:rPr lang="en-US"/>
              <a:t>On average fragmentation = 1 / 2 frame size</a:t>
            </a:r>
            <a:endParaRPr/>
          </a:p>
          <a:p>
            <a:pPr marL="342900" lvl="0" indent="-342900" algn="l" rtl="0">
              <a:spcBef>
                <a:spcPts val="544"/>
              </a:spcBef>
              <a:spcAft>
                <a:spcPts val="0"/>
              </a:spcAft>
              <a:buClr>
                <a:schemeClr val="dk1"/>
              </a:buClr>
              <a:buSzPct val="100000"/>
              <a:buChar char="•"/>
            </a:pPr>
            <a:r>
              <a:rPr lang="en-US"/>
              <a:t>Process view and physical memory now very different</a:t>
            </a:r>
            <a:endParaRPr/>
          </a:p>
          <a:p>
            <a:pPr marL="342900" lvl="0" indent="-342900" algn="l" rtl="0">
              <a:spcBef>
                <a:spcPts val="544"/>
              </a:spcBef>
              <a:spcAft>
                <a:spcPts val="0"/>
              </a:spcAft>
              <a:buClr>
                <a:schemeClr val="dk1"/>
              </a:buClr>
              <a:buSzPct val="100000"/>
              <a:buChar char="•"/>
            </a:pPr>
            <a:r>
              <a:rPr lang="en-US"/>
              <a:t>By implementation process can only access its own memory</a:t>
            </a:r>
            <a:endParaRPr/>
          </a:p>
        </p:txBody>
      </p:sp>
      <p:sp>
        <p:nvSpPr>
          <p:cNvPr id="359" name="Google Shape;359;p29"/>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60" name="Google Shape;36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61" name="Google Shape;36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0"/>
          <p:cNvSpPr txBox="1">
            <a:spLocks noGrp="1"/>
          </p:cNvSpPr>
          <p:nvPr>
            <p:ph type="title"/>
          </p:nvPr>
        </p:nvSpPr>
        <p:spPr>
          <a:xfrm>
            <a:off x="846138" y="236379"/>
            <a:ext cx="7840662"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Address Translation Scheme</a:t>
            </a:r>
            <a:endParaRPr/>
          </a:p>
        </p:txBody>
      </p:sp>
      <p:sp>
        <p:nvSpPr>
          <p:cNvPr id="368" name="Google Shape;368;p30"/>
          <p:cNvSpPr txBox="1">
            <a:spLocks noGrp="1"/>
          </p:cNvSpPr>
          <p:nvPr>
            <p:ph type="body" idx="1"/>
          </p:nvPr>
        </p:nvSpPr>
        <p:spPr>
          <a:xfrm>
            <a:off x="664679" y="1181653"/>
            <a:ext cx="8203233" cy="4802464"/>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Char char="•"/>
            </a:pPr>
            <a:r>
              <a:rPr lang="en-US" sz="2800"/>
              <a:t>Address generated by CPU is divided into:</a:t>
            </a:r>
            <a:endParaRPr/>
          </a:p>
          <a:p>
            <a:pPr marL="742950" lvl="1" indent="-285750" algn="l" rtl="0">
              <a:spcBef>
                <a:spcPts val="480"/>
              </a:spcBef>
              <a:spcAft>
                <a:spcPts val="0"/>
              </a:spcAft>
              <a:buClr>
                <a:srgbClr val="006699"/>
              </a:buClr>
              <a:buSzPts val="2400"/>
              <a:buChar char="–"/>
            </a:pPr>
            <a:r>
              <a:rPr lang="en-US" sz="2400" b="1">
                <a:solidFill>
                  <a:srgbClr val="006699"/>
                </a:solidFill>
                <a:latin typeface="Calibri"/>
                <a:ea typeface="Calibri"/>
                <a:cs typeface="Calibri"/>
                <a:sym typeface="Calibri"/>
              </a:rPr>
              <a:t>Page</a:t>
            </a:r>
            <a:r>
              <a:rPr lang="en-US" sz="2400" b="1">
                <a:solidFill>
                  <a:srgbClr val="3366FF"/>
                </a:solidFill>
              </a:rPr>
              <a:t> </a:t>
            </a:r>
            <a:r>
              <a:rPr lang="en-US" sz="2400" b="1">
                <a:solidFill>
                  <a:srgbClr val="006699"/>
                </a:solidFill>
                <a:latin typeface="Calibri"/>
                <a:ea typeface="Calibri"/>
                <a:cs typeface="Calibri"/>
                <a:sym typeface="Calibri"/>
              </a:rPr>
              <a:t>number</a:t>
            </a:r>
            <a:r>
              <a:rPr lang="en-US" sz="2400" b="1">
                <a:solidFill>
                  <a:srgbClr val="3366FF"/>
                </a:solidFill>
              </a:rPr>
              <a:t> </a:t>
            </a:r>
            <a:r>
              <a:rPr lang="en-US" sz="2400"/>
              <a:t>(</a:t>
            </a:r>
            <a:r>
              <a:rPr lang="en-US" sz="2400" b="1" i="1">
                <a:solidFill>
                  <a:srgbClr val="006699"/>
                </a:solidFill>
                <a:latin typeface="Calibri"/>
                <a:ea typeface="Calibri"/>
                <a:cs typeface="Calibri"/>
                <a:sym typeface="Calibri"/>
              </a:rPr>
              <a:t>p</a:t>
            </a:r>
            <a:r>
              <a:rPr lang="en-US" sz="2400"/>
              <a:t>)</a:t>
            </a:r>
            <a:r>
              <a:rPr lang="en-US" sz="2400">
                <a:solidFill>
                  <a:srgbClr val="3366FF"/>
                </a:solidFill>
              </a:rPr>
              <a:t> </a:t>
            </a:r>
            <a:r>
              <a:rPr lang="en-US" sz="2400"/>
              <a:t>– used as an index into a </a:t>
            </a:r>
            <a:r>
              <a:rPr lang="en-US" sz="2400" b="1">
                <a:solidFill>
                  <a:srgbClr val="006699"/>
                </a:solidFill>
                <a:latin typeface="Calibri"/>
                <a:ea typeface="Calibri"/>
                <a:cs typeface="Calibri"/>
                <a:sym typeface="Calibri"/>
              </a:rPr>
              <a:t>page</a:t>
            </a:r>
            <a:r>
              <a:rPr lang="en-US" sz="2400" b="1">
                <a:solidFill>
                  <a:srgbClr val="3366FF"/>
                </a:solidFill>
              </a:rPr>
              <a:t> </a:t>
            </a:r>
            <a:r>
              <a:rPr lang="en-US" sz="2400" b="1">
                <a:solidFill>
                  <a:srgbClr val="006699"/>
                </a:solidFill>
                <a:latin typeface="Calibri"/>
                <a:ea typeface="Calibri"/>
                <a:cs typeface="Calibri"/>
                <a:sym typeface="Calibri"/>
              </a:rPr>
              <a:t>table</a:t>
            </a:r>
            <a:r>
              <a:rPr lang="en-US" sz="2400" b="1">
                <a:solidFill>
                  <a:srgbClr val="3366FF"/>
                </a:solidFill>
              </a:rPr>
              <a:t> </a:t>
            </a:r>
            <a:r>
              <a:rPr lang="en-US" sz="2400"/>
              <a:t>which contains base address of each page in physical memory</a:t>
            </a:r>
            <a:endParaRPr/>
          </a:p>
          <a:p>
            <a:pPr marL="742950" lvl="1" indent="-285750" algn="l" rtl="0">
              <a:spcBef>
                <a:spcPts val="480"/>
              </a:spcBef>
              <a:spcAft>
                <a:spcPts val="0"/>
              </a:spcAft>
              <a:buClr>
                <a:srgbClr val="006699"/>
              </a:buClr>
              <a:buSzPts val="2400"/>
              <a:buChar char="–"/>
            </a:pPr>
            <a:r>
              <a:rPr lang="en-US" sz="2400" b="1">
                <a:solidFill>
                  <a:srgbClr val="006699"/>
                </a:solidFill>
                <a:latin typeface="Calibri"/>
                <a:ea typeface="Calibri"/>
                <a:cs typeface="Calibri"/>
                <a:sym typeface="Calibri"/>
              </a:rPr>
              <a:t>Page</a:t>
            </a:r>
            <a:r>
              <a:rPr lang="en-US" sz="2400" b="1">
                <a:solidFill>
                  <a:srgbClr val="3366FF"/>
                </a:solidFill>
              </a:rPr>
              <a:t> </a:t>
            </a:r>
            <a:r>
              <a:rPr lang="en-US" sz="2400" b="1">
                <a:solidFill>
                  <a:srgbClr val="006699"/>
                </a:solidFill>
                <a:latin typeface="Calibri"/>
                <a:ea typeface="Calibri"/>
                <a:cs typeface="Calibri"/>
                <a:sym typeface="Calibri"/>
              </a:rPr>
              <a:t>offset</a:t>
            </a:r>
            <a:r>
              <a:rPr lang="en-US" sz="2400" b="1">
                <a:solidFill>
                  <a:srgbClr val="3366FF"/>
                </a:solidFill>
              </a:rPr>
              <a:t> </a:t>
            </a:r>
            <a:r>
              <a:rPr lang="en-US" sz="2400"/>
              <a:t>(</a:t>
            </a:r>
            <a:r>
              <a:rPr lang="en-US" sz="2400" b="1" i="1">
                <a:solidFill>
                  <a:srgbClr val="006699"/>
                </a:solidFill>
                <a:latin typeface="Calibri"/>
                <a:ea typeface="Calibri"/>
                <a:cs typeface="Calibri"/>
                <a:sym typeface="Calibri"/>
              </a:rPr>
              <a:t>d</a:t>
            </a:r>
            <a:r>
              <a:rPr lang="en-US" sz="2400"/>
              <a:t>)</a:t>
            </a:r>
            <a:r>
              <a:rPr lang="en-US" sz="2400">
                <a:solidFill>
                  <a:srgbClr val="3366FF"/>
                </a:solidFill>
              </a:rPr>
              <a:t> </a:t>
            </a:r>
            <a:r>
              <a:rPr lang="en-US" sz="2400"/>
              <a:t>– combined with base address to define the physical memory address that is sent to the memory unit</a:t>
            </a:r>
            <a:endParaRPr/>
          </a:p>
          <a:p>
            <a:pPr marL="742950" lvl="1" indent="-133350" algn="l" rtl="0">
              <a:spcBef>
                <a:spcPts val="480"/>
              </a:spcBef>
              <a:spcAft>
                <a:spcPts val="0"/>
              </a:spcAft>
              <a:buClr>
                <a:schemeClr val="dk1"/>
              </a:buClr>
              <a:buSzPts val="2400"/>
              <a:buNone/>
            </a:pPr>
            <a:endParaRPr sz="2400"/>
          </a:p>
          <a:p>
            <a:pPr marL="742950" lvl="1" indent="-133350" algn="l" rtl="0">
              <a:spcBef>
                <a:spcPts val="480"/>
              </a:spcBef>
              <a:spcAft>
                <a:spcPts val="0"/>
              </a:spcAft>
              <a:buClr>
                <a:schemeClr val="dk1"/>
              </a:buClr>
              <a:buSzPts val="2400"/>
              <a:buNone/>
            </a:pPr>
            <a:endParaRPr sz="2400"/>
          </a:p>
          <a:p>
            <a:pPr marL="457200" lvl="1" indent="0" algn="l" rtl="0">
              <a:spcBef>
                <a:spcPts val="480"/>
              </a:spcBef>
              <a:spcAft>
                <a:spcPts val="0"/>
              </a:spcAft>
              <a:buClr>
                <a:schemeClr val="dk1"/>
              </a:buClr>
              <a:buSzPts val="2400"/>
              <a:buFont typeface="Arial"/>
              <a:buNone/>
            </a:pPr>
            <a:endParaRPr sz="2400"/>
          </a:p>
          <a:p>
            <a:pPr marL="742950" lvl="1" indent="-133350" algn="l" rtl="0">
              <a:spcBef>
                <a:spcPts val="480"/>
              </a:spcBef>
              <a:spcAft>
                <a:spcPts val="0"/>
              </a:spcAft>
              <a:buClr>
                <a:schemeClr val="dk1"/>
              </a:buClr>
              <a:buSzPts val="2400"/>
              <a:buNone/>
            </a:pPr>
            <a:endParaRPr sz="2400"/>
          </a:p>
          <a:p>
            <a:pPr marL="742950" lvl="1" indent="-285750" algn="l" rtl="0">
              <a:spcBef>
                <a:spcPts val="480"/>
              </a:spcBef>
              <a:spcAft>
                <a:spcPts val="0"/>
              </a:spcAft>
              <a:buClr>
                <a:schemeClr val="dk1"/>
              </a:buClr>
              <a:buSzPts val="2400"/>
              <a:buChar char="–"/>
            </a:pPr>
            <a:r>
              <a:rPr lang="en-US" sz="2400"/>
              <a:t>For given logical address space 2</a:t>
            </a:r>
            <a:r>
              <a:rPr lang="en-US" sz="2400" i="1" baseline="30000"/>
              <a:t>m </a:t>
            </a:r>
            <a:r>
              <a:rPr lang="en-US" sz="2400"/>
              <a:t>and page size</a:t>
            </a:r>
            <a:r>
              <a:rPr lang="en-US" sz="2400" baseline="30000"/>
              <a:t> </a:t>
            </a:r>
            <a:r>
              <a:rPr lang="en-US" sz="2400" i="1"/>
              <a:t>2</a:t>
            </a:r>
            <a:r>
              <a:rPr lang="en-US" sz="2400" baseline="30000"/>
              <a:t>n</a:t>
            </a:r>
            <a:endParaRPr/>
          </a:p>
        </p:txBody>
      </p:sp>
      <p:pic>
        <p:nvPicPr>
          <p:cNvPr id="369" name="Google Shape;369;p30"/>
          <p:cNvPicPr preferRelativeResize="0"/>
          <p:nvPr/>
        </p:nvPicPr>
        <p:blipFill rotWithShape="1">
          <a:blip r:embed="rId3">
            <a:alphaModFix/>
          </a:blip>
          <a:srcRect/>
          <a:stretch/>
        </p:blipFill>
        <p:spPr>
          <a:xfrm>
            <a:off x="2845146" y="4197074"/>
            <a:ext cx="3343275" cy="1228725"/>
          </a:xfrm>
          <a:prstGeom prst="rect">
            <a:avLst/>
          </a:prstGeom>
          <a:noFill/>
          <a:ln>
            <a:noFill/>
          </a:ln>
        </p:spPr>
      </p:pic>
      <p:sp>
        <p:nvSpPr>
          <p:cNvPr id="370" name="Google Shape;370;p30"/>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71" name="Google Shape;371;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72" name="Google Shape;372;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1"/>
          <p:cNvSpPr txBox="1">
            <a:spLocks noGrp="1"/>
          </p:cNvSpPr>
          <p:nvPr>
            <p:ph type="title"/>
          </p:nvPr>
        </p:nvSpPr>
        <p:spPr>
          <a:xfrm>
            <a:off x="749300" y="223291"/>
            <a:ext cx="793750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PAGING HARDWARE</a:t>
            </a:r>
            <a:endParaRPr/>
          </a:p>
        </p:txBody>
      </p:sp>
      <p:pic>
        <p:nvPicPr>
          <p:cNvPr id="379" name="Google Shape;379;p31" descr="C:\Users\as668\Desktop\9_08.jpg"/>
          <p:cNvPicPr preferRelativeResize="0"/>
          <p:nvPr/>
        </p:nvPicPr>
        <p:blipFill rotWithShape="1">
          <a:blip r:embed="rId3">
            <a:alphaModFix/>
          </a:blip>
          <a:srcRect/>
          <a:stretch/>
        </p:blipFill>
        <p:spPr>
          <a:xfrm>
            <a:off x="578354" y="1324737"/>
            <a:ext cx="8108446" cy="4506429"/>
          </a:xfrm>
          <a:prstGeom prst="rect">
            <a:avLst/>
          </a:prstGeom>
          <a:noFill/>
          <a:ln>
            <a:noFill/>
          </a:ln>
        </p:spPr>
      </p:pic>
      <p:sp>
        <p:nvSpPr>
          <p:cNvPr id="380" name="Google Shape;380;p31"/>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81" name="Google Shape;381;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82" name="Google Shape;382;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title"/>
          </p:nvPr>
        </p:nvSpPr>
        <p:spPr>
          <a:xfrm>
            <a:off x="285254" y="299860"/>
            <a:ext cx="8229600" cy="6445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2600"/>
              <a:buFont typeface="Calibri"/>
              <a:buNone/>
            </a:pPr>
            <a:r>
              <a:rPr lang="en-US" sz="2600" b="1">
                <a:solidFill>
                  <a:schemeClr val="accent1"/>
                </a:solidFill>
              </a:rPr>
              <a:t>Paging Model of Logical and  Physical Memory</a:t>
            </a:r>
            <a:endParaRPr/>
          </a:p>
        </p:txBody>
      </p:sp>
      <p:pic>
        <p:nvPicPr>
          <p:cNvPr id="389" name="Google Shape;389;p32"/>
          <p:cNvPicPr preferRelativeResize="0"/>
          <p:nvPr/>
        </p:nvPicPr>
        <p:blipFill rotWithShape="1">
          <a:blip r:embed="rId3">
            <a:alphaModFix/>
          </a:blip>
          <a:srcRect/>
          <a:stretch/>
        </p:blipFill>
        <p:spPr>
          <a:xfrm>
            <a:off x="1930698" y="1480162"/>
            <a:ext cx="4938712" cy="4613275"/>
          </a:xfrm>
          <a:prstGeom prst="rect">
            <a:avLst/>
          </a:prstGeom>
          <a:noFill/>
          <a:ln>
            <a:noFill/>
          </a:ln>
        </p:spPr>
      </p:pic>
      <p:sp>
        <p:nvSpPr>
          <p:cNvPr id="390" name="Google Shape;390;p32"/>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91" name="Google Shape;391;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92" name="Google Shape;392;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3"/>
          <p:cNvSpPr txBox="1">
            <a:spLocks noGrp="1"/>
          </p:cNvSpPr>
          <p:nvPr>
            <p:ph type="title"/>
          </p:nvPr>
        </p:nvSpPr>
        <p:spPr>
          <a:xfrm>
            <a:off x="457200" y="236379"/>
            <a:ext cx="822960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FREE FRAMES</a:t>
            </a:r>
            <a:endParaRPr/>
          </a:p>
        </p:txBody>
      </p:sp>
      <p:sp>
        <p:nvSpPr>
          <p:cNvPr id="399" name="Google Shape;399;p33"/>
          <p:cNvSpPr txBox="1"/>
          <p:nvPr/>
        </p:nvSpPr>
        <p:spPr>
          <a:xfrm>
            <a:off x="2300288" y="5721350"/>
            <a:ext cx="1901825" cy="36988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Before allocation</a:t>
            </a:r>
            <a:endParaRPr/>
          </a:p>
        </p:txBody>
      </p:sp>
      <p:sp>
        <p:nvSpPr>
          <p:cNvPr id="400" name="Google Shape;400;p33"/>
          <p:cNvSpPr txBox="1"/>
          <p:nvPr/>
        </p:nvSpPr>
        <p:spPr>
          <a:xfrm>
            <a:off x="5343525" y="5734050"/>
            <a:ext cx="1711325" cy="36988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After allocation</a:t>
            </a:r>
            <a:endParaRPr/>
          </a:p>
        </p:txBody>
      </p:sp>
      <p:pic>
        <p:nvPicPr>
          <p:cNvPr id="401" name="Google Shape;401;p33"/>
          <p:cNvPicPr preferRelativeResize="0"/>
          <p:nvPr/>
        </p:nvPicPr>
        <p:blipFill rotWithShape="1">
          <a:blip r:embed="rId3">
            <a:alphaModFix/>
          </a:blip>
          <a:srcRect/>
          <a:stretch/>
        </p:blipFill>
        <p:spPr>
          <a:xfrm>
            <a:off x="1825625" y="1244600"/>
            <a:ext cx="5903913" cy="4235450"/>
          </a:xfrm>
          <a:prstGeom prst="rect">
            <a:avLst/>
          </a:prstGeom>
          <a:noFill/>
          <a:ln>
            <a:noFill/>
          </a:ln>
        </p:spPr>
      </p:pic>
      <p:sp>
        <p:nvSpPr>
          <p:cNvPr id="402" name="Google Shape;402;p33"/>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03" name="Google Shape;403;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04" name="Google Shape;404;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title"/>
          </p:nvPr>
        </p:nvSpPr>
        <p:spPr>
          <a:xfrm>
            <a:off x="817563" y="238549"/>
            <a:ext cx="7869237"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83333"/>
              <a:buFont typeface="Calibri"/>
              <a:buNone/>
            </a:pPr>
            <a:r>
              <a:rPr lang="en-US">
                <a:solidFill>
                  <a:schemeClr val="accent1"/>
                </a:solidFill>
              </a:rPr>
              <a:t>SWAPPING WITH PAGING</a:t>
            </a:r>
            <a:endParaRPr sz="2400">
              <a:solidFill>
                <a:schemeClr val="accent1"/>
              </a:solidFill>
            </a:endParaRPr>
          </a:p>
        </p:txBody>
      </p:sp>
      <p:pic>
        <p:nvPicPr>
          <p:cNvPr id="411" name="Google Shape;411;p34" descr="W:\os-book\OS10\slide-dir\os-figures\9_20.jpg"/>
          <p:cNvPicPr preferRelativeResize="0"/>
          <p:nvPr/>
        </p:nvPicPr>
        <p:blipFill rotWithShape="1">
          <a:blip r:embed="rId3">
            <a:alphaModFix/>
          </a:blip>
          <a:srcRect/>
          <a:stretch/>
        </p:blipFill>
        <p:spPr>
          <a:xfrm>
            <a:off x="1839913" y="1295400"/>
            <a:ext cx="4875212" cy="4546600"/>
          </a:xfrm>
          <a:prstGeom prst="rect">
            <a:avLst/>
          </a:prstGeom>
          <a:noFill/>
          <a:ln>
            <a:noFill/>
          </a:ln>
        </p:spPr>
      </p:pic>
      <p:sp>
        <p:nvSpPr>
          <p:cNvPr id="412" name="Google Shape;412;p34"/>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13" name="Google Shape;41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14" name="Google Shape;41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Paging Numerical-1</a:t>
            </a:r>
            <a:endParaRPr/>
          </a:p>
        </p:txBody>
      </p:sp>
      <p:sp>
        <p:nvSpPr>
          <p:cNvPr id="420" name="Google Shape;420;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Assuming a 1-KB page size, what are the page numbers and offsets for the following address references (provided as decimal numbers):</a:t>
            </a:r>
            <a:endParaRPr/>
          </a:p>
          <a:p>
            <a:pPr marL="0" lvl="0" indent="0" algn="l" rtl="0">
              <a:spcBef>
                <a:spcPts val="592"/>
              </a:spcBef>
              <a:spcAft>
                <a:spcPts val="0"/>
              </a:spcAft>
              <a:buClr>
                <a:schemeClr val="dk1"/>
              </a:buClr>
              <a:buSzPct val="100000"/>
              <a:buNone/>
            </a:pPr>
            <a:r>
              <a:rPr lang="en-US"/>
              <a:t>a. 3085</a:t>
            </a:r>
            <a:endParaRPr/>
          </a:p>
          <a:p>
            <a:pPr marL="0" lvl="0" indent="0" algn="l" rtl="0">
              <a:spcBef>
                <a:spcPts val="592"/>
              </a:spcBef>
              <a:spcAft>
                <a:spcPts val="0"/>
              </a:spcAft>
              <a:buClr>
                <a:schemeClr val="dk1"/>
              </a:buClr>
              <a:buSzPct val="100000"/>
              <a:buNone/>
            </a:pPr>
            <a:r>
              <a:rPr lang="en-US"/>
              <a:t>b. 42095</a:t>
            </a:r>
            <a:endParaRPr/>
          </a:p>
          <a:p>
            <a:pPr marL="0" lvl="0" indent="0" algn="l" rtl="0">
              <a:spcBef>
                <a:spcPts val="592"/>
              </a:spcBef>
              <a:spcAft>
                <a:spcPts val="0"/>
              </a:spcAft>
              <a:buClr>
                <a:schemeClr val="dk1"/>
              </a:buClr>
              <a:buSzPct val="100000"/>
              <a:buNone/>
            </a:pPr>
            <a:r>
              <a:rPr lang="en-US"/>
              <a:t>c. 215201</a:t>
            </a:r>
            <a:endParaRPr/>
          </a:p>
          <a:p>
            <a:pPr marL="0" lvl="0" indent="0" algn="l" rtl="0">
              <a:spcBef>
                <a:spcPts val="592"/>
              </a:spcBef>
              <a:spcAft>
                <a:spcPts val="0"/>
              </a:spcAft>
              <a:buClr>
                <a:schemeClr val="dk1"/>
              </a:buClr>
              <a:buSzPct val="100000"/>
              <a:buNone/>
            </a:pPr>
            <a:r>
              <a:rPr lang="en-US"/>
              <a:t>d. 650000</a:t>
            </a:r>
            <a:endParaRPr/>
          </a:p>
          <a:p>
            <a:pPr marL="0" lvl="0" indent="0" algn="l" rtl="0">
              <a:spcBef>
                <a:spcPts val="592"/>
              </a:spcBef>
              <a:spcAft>
                <a:spcPts val="0"/>
              </a:spcAft>
              <a:buClr>
                <a:schemeClr val="dk1"/>
              </a:buClr>
              <a:buSzPct val="100000"/>
              <a:buNone/>
            </a:pPr>
            <a:r>
              <a:rPr lang="en-US"/>
              <a:t>e. 2000001</a:t>
            </a:r>
            <a:endParaRPr/>
          </a:p>
          <a:p>
            <a:pPr marL="0" lvl="0" indent="0" algn="l" rtl="0">
              <a:spcBef>
                <a:spcPts val="592"/>
              </a:spcBef>
              <a:spcAft>
                <a:spcPts val="0"/>
              </a:spcAft>
              <a:buClr>
                <a:schemeClr val="dk1"/>
              </a:buClr>
              <a:buSzPct val="100000"/>
              <a:buNone/>
            </a:pPr>
            <a:r>
              <a:rPr lang="en-US"/>
              <a:t> </a:t>
            </a:r>
            <a:endParaRPr/>
          </a:p>
          <a:p>
            <a:pPr marL="342900" lvl="0" indent="-154940" algn="l" rtl="0">
              <a:spcBef>
                <a:spcPts val="592"/>
              </a:spcBef>
              <a:spcAft>
                <a:spcPts val="0"/>
              </a:spcAft>
              <a:buClr>
                <a:schemeClr val="dk1"/>
              </a:buClr>
              <a:buSzPct val="100000"/>
              <a:buNone/>
            </a:pPr>
            <a:endParaRPr/>
          </a:p>
        </p:txBody>
      </p:sp>
      <p:sp>
        <p:nvSpPr>
          <p:cNvPr id="421" name="Google Shape;421;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22" name="Google Shape;422;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Page Numerical-1 (Solution2)</a:t>
            </a:r>
            <a:endParaRPr/>
          </a:p>
        </p:txBody>
      </p:sp>
      <p:pic>
        <p:nvPicPr>
          <p:cNvPr id="428" name="Google Shape;428;p36" descr="Screen Shot 2020-11-20 at 1.43.28 AM.png"/>
          <p:cNvPicPr preferRelativeResize="0">
            <a:picLocks noGrp="1"/>
          </p:cNvPicPr>
          <p:nvPr>
            <p:ph type="body" idx="1"/>
          </p:nvPr>
        </p:nvPicPr>
        <p:blipFill rotWithShape="1">
          <a:blip r:embed="rId3">
            <a:alphaModFix/>
          </a:blip>
          <a:srcRect t="-57198" b="-57198"/>
          <a:stretch/>
        </p:blipFill>
        <p:spPr>
          <a:xfrm>
            <a:off x="457200" y="1600200"/>
            <a:ext cx="8229600" cy="4525963"/>
          </a:xfrm>
          <a:prstGeom prst="rect">
            <a:avLst/>
          </a:prstGeom>
          <a:noFill/>
          <a:ln>
            <a:noFill/>
          </a:ln>
        </p:spPr>
      </p:pic>
      <p:sp>
        <p:nvSpPr>
          <p:cNvPr id="429" name="Google Shape;429;p36"/>
          <p:cNvSpPr txBox="1"/>
          <p:nvPr/>
        </p:nvSpPr>
        <p:spPr>
          <a:xfrm>
            <a:off x="708868" y="1853967"/>
            <a:ext cx="5629013"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Verdana"/>
                <a:ea typeface="Verdana"/>
                <a:cs typeface="Verdana"/>
                <a:sym typeface="Verdana"/>
              </a:rPr>
              <a:t>3085/1024= 3.0126953125</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3 = pages</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0.126953125 * 1024 = 13</a:t>
            </a:r>
            <a:endParaRPr/>
          </a:p>
        </p:txBody>
      </p:sp>
      <p:sp>
        <p:nvSpPr>
          <p:cNvPr id="430" name="Google Shape;430;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31" name="Google Shape;431;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Paging Numerical-2</a:t>
            </a:r>
            <a:endParaRPr/>
          </a:p>
        </p:txBody>
      </p:sp>
      <p:sp>
        <p:nvSpPr>
          <p:cNvPr id="437" name="Google Shape;437;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600"/>
              <a:buChar char="•"/>
            </a:pPr>
            <a:r>
              <a:rPr lang="en-US" sz="2600"/>
              <a:t>Consider a logical address space (LAS) of 32 pages with 1024 words per page; mapped onto a physical memory of 16 frames. </a:t>
            </a:r>
            <a:endParaRPr/>
          </a:p>
          <a:p>
            <a:pPr marL="514350" lvl="0" indent="-514350" algn="l" rtl="0">
              <a:spcBef>
                <a:spcPts val="520"/>
              </a:spcBef>
              <a:spcAft>
                <a:spcPts val="0"/>
              </a:spcAft>
              <a:buClr>
                <a:schemeClr val="dk1"/>
              </a:buClr>
              <a:buSzPts val="2600"/>
              <a:buFont typeface="Calibri"/>
              <a:buAutoNum type="arabicPeriod"/>
            </a:pPr>
            <a:r>
              <a:rPr lang="en-US" sz="2600"/>
              <a:t>How many bits are required in the logical address? </a:t>
            </a:r>
            <a:endParaRPr/>
          </a:p>
          <a:p>
            <a:pPr marL="514350" lvl="0" indent="-514350" algn="l" rtl="0">
              <a:spcBef>
                <a:spcPts val="520"/>
              </a:spcBef>
              <a:spcAft>
                <a:spcPts val="0"/>
              </a:spcAft>
              <a:buClr>
                <a:schemeClr val="dk1"/>
              </a:buClr>
              <a:buSzPts val="2600"/>
              <a:buFont typeface="Calibri"/>
              <a:buAutoNum type="arabicPeriod"/>
            </a:pPr>
            <a:r>
              <a:rPr lang="en-US" sz="2600"/>
              <a:t>How many bits are required in the physical address?  </a:t>
            </a:r>
            <a:endParaRPr/>
          </a:p>
          <a:p>
            <a:pPr marL="0" lvl="0" indent="0" algn="l" rtl="0">
              <a:spcBef>
                <a:spcPts val="480"/>
              </a:spcBef>
              <a:spcAft>
                <a:spcPts val="0"/>
              </a:spcAft>
              <a:buClr>
                <a:schemeClr val="dk1"/>
              </a:buClr>
              <a:buSzPts val="2400"/>
              <a:buNone/>
            </a:pPr>
            <a:endParaRPr sz="2400"/>
          </a:p>
          <a:p>
            <a:pPr marL="0" lvl="0" indent="0" algn="l" rtl="0">
              <a:spcBef>
                <a:spcPts val="480"/>
              </a:spcBef>
              <a:spcAft>
                <a:spcPts val="0"/>
              </a:spcAft>
              <a:buClr>
                <a:schemeClr val="dk1"/>
              </a:buClr>
              <a:buSzPts val="2400"/>
              <a:buNone/>
            </a:pPr>
            <a:r>
              <a:rPr lang="en-US" sz="2400"/>
              <a:t>Answer: </a:t>
            </a:r>
            <a:endParaRPr/>
          </a:p>
          <a:p>
            <a:pPr marL="514350" lvl="0" indent="-514350" algn="l" rtl="0">
              <a:spcBef>
                <a:spcPts val="480"/>
              </a:spcBef>
              <a:spcAft>
                <a:spcPts val="0"/>
              </a:spcAft>
              <a:buClr>
                <a:schemeClr val="dk1"/>
              </a:buClr>
              <a:buSzPts val="2400"/>
              <a:buFont typeface="Calibri"/>
              <a:buAutoNum type="arabicPeriod"/>
            </a:pPr>
            <a:r>
              <a:rPr lang="en-US" sz="2400"/>
              <a:t>2^5  * 2^10  = 2^15 =  15 bits.  </a:t>
            </a:r>
            <a:endParaRPr/>
          </a:p>
          <a:p>
            <a:pPr marL="514350" lvl="0" indent="-514350" algn="l" rtl="0">
              <a:spcBef>
                <a:spcPts val="480"/>
              </a:spcBef>
              <a:spcAft>
                <a:spcPts val="0"/>
              </a:spcAft>
              <a:buClr>
                <a:schemeClr val="dk1"/>
              </a:buClr>
              <a:buSzPts val="2400"/>
              <a:buFont typeface="Calibri"/>
              <a:buAutoNum type="arabicPeriod"/>
            </a:pPr>
            <a:r>
              <a:rPr lang="en-US" sz="2400"/>
              <a:t>2^4  * 2^10  = 2^14  = 14 bits. </a:t>
            </a:r>
            <a:endParaRPr/>
          </a:p>
        </p:txBody>
      </p:sp>
      <p:sp>
        <p:nvSpPr>
          <p:cNvPr id="438" name="Google Shape;438;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39" name="Google Shape;439;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8"/>
          <p:cNvSpPr txBox="1">
            <a:spLocks noGrp="1"/>
          </p:cNvSpPr>
          <p:nvPr>
            <p:ph type="title"/>
          </p:nvPr>
        </p:nvSpPr>
        <p:spPr>
          <a:xfrm>
            <a:off x="646113" y="235762"/>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Implementation of Page Table</a:t>
            </a:r>
            <a:endParaRPr/>
          </a:p>
        </p:txBody>
      </p:sp>
      <p:sp>
        <p:nvSpPr>
          <p:cNvPr id="446" name="Google Shape;446;p38"/>
          <p:cNvSpPr txBox="1">
            <a:spLocks noGrp="1"/>
          </p:cNvSpPr>
          <p:nvPr>
            <p:ph type="body" idx="1"/>
          </p:nvPr>
        </p:nvSpPr>
        <p:spPr>
          <a:xfrm>
            <a:off x="793102" y="1243004"/>
            <a:ext cx="7725746" cy="46863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ct val="100000"/>
              <a:buChar char="•"/>
            </a:pPr>
            <a:r>
              <a:rPr lang="en-US" sz="2400"/>
              <a:t>Page table is kept in main memory</a:t>
            </a:r>
            <a:endParaRPr/>
          </a:p>
          <a:p>
            <a:pPr marL="742950" lvl="1" indent="-285750" algn="l" rtl="0">
              <a:spcBef>
                <a:spcPts val="444"/>
              </a:spcBef>
              <a:spcAft>
                <a:spcPts val="0"/>
              </a:spcAft>
              <a:buClr>
                <a:srgbClr val="006699"/>
              </a:buClr>
              <a:buSzPct val="100000"/>
              <a:buChar char="–"/>
            </a:pPr>
            <a:r>
              <a:rPr lang="en-US" sz="2400" b="1">
                <a:solidFill>
                  <a:srgbClr val="006699"/>
                </a:solidFill>
                <a:latin typeface="Calibri"/>
                <a:ea typeface="Calibri"/>
                <a:cs typeface="Calibri"/>
                <a:sym typeface="Calibri"/>
              </a:rPr>
              <a:t>Page-table</a:t>
            </a:r>
            <a:r>
              <a:rPr lang="en-US" sz="2400" b="1">
                <a:solidFill>
                  <a:srgbClr val="3366FF"/>
                </a:solidFill>
              </a:rPr>
              <a:t> </a:t>
            </a:r>
            <a:r>
              <a:rPr lang="en-US" sz="2400" b="1">
                <a:solidFill>
                  <a:srgbClr val="006699"/>
                </a:solidFill>
                <a:latin typeface="Calibri"/>
                <a:ea typeface="Calibri"/>
                <a:cs typeface="Calibri"/>
                <a:sym typeface="Calibri"/>
              </a:rPr>
              <a:t>base</a:t>
            </a:r>
            <a:r>
              <a:rPr lang="en-US" sz="2400" b="1">
                <a:solidFill>
                  <a:srgbClr val="3366FF"/>
                </a:solidFill>
              </a:rPr>
              <a:t> </a:t>
            </a:r>
            <a:r>
              <a:rPr lang="en-US" sz="2400" b="1">
                <a:solidFill>
                  <a:srgbClr val="006699"/>
                </a:solidFill>
                <a:latin typeface="Calibri"/>
                <a:ea typeface="Calibri"/>
                <a:cs typeface="Calibri"/>
                <a:sym typeface="Calibri"/>
              </a:rPr>
              <a:t>register</a:t>
            </a:r>
            <a:r>
              <a:rPr lang="en-US" sz="2400" b="1">
                <a:solidFill>
                  <a:srgbClr val="3366FF"/>
                </a:solidFill>
              </a:rPr>
              <a:t> </a:t>
            </a:r>
            <a:r>
              <a:rPr lang="en-US" sz="2400"/>
              <a:t>(</a:t>
            </a:r>
            <a:r>
              <a:rPr lang="en-US" sz="2400" b="1">
                <a:solidFill>
                  <a:srgbClr val="006699"/>
                </a:solidFill>
                <a:latin typeface="Calibri"/>
                <a:ea typeface="Calibri"/>
                <a:cs typeface="Calibri"/>
                <a:sym typeface="Calibri"/>
              </a:rPr>
              <a:t>PTBR</a:t>
            </a:r>
            <a:r>
              <a:rPr lang="en-US" sz="2400"/>
              <a:t>)</a:t>
            </a:r>
            <a:r>
              <a:rPr lang="en-US" sz="2400">
                <a:solidFill>
                  <a:srgbClr val="3366FF"/>
                </a:solidFill>
              </a:rPr>
              <a:t> </a:t>
            </a:r>
            <a:r>
              <a:rPr lang="en-US" sz="2400"/>
              <a:t>points to the page table</a:t>
            </a:r>
            <a:endParaRPr/>
          </a:p>
          <a:p>
            <a:pPr marL="742950" lvl="1" indent="-285750" algn="l" rtl="0">
              <a:spcBef>
                <a:spcPts val="444"/>
              </a:spcBef>
              <a:spcAft>
                <a:spcPts val="0"/>
              </a:spcAft>
              <a:buClr>
                <a:srgbClr val="006699"/>
              </a:buClr>
              <a:buSzPct val="100000"/>
              <a:buChar char="–"/>
            </a:pPr>
            <a:r>
              <a:rPr lang="en-US" sz="2400" b="1">
                <a:solidFill>
                  <a:srgbClr val="006699"/>
                </a:solidFill>
                <a:latin typeface="Calibri"/>
                <a:ea typeface="Calibri"/>
                <a:cs typeface="Calibri"/>
                <a:sym typeface="Calibri"/>
              </a:rPr>
              <a:t>Page-table</a:t>
            </a:r>
            <a:r>
              <a:rPr lang="en-US" sz="2400" b="1">
                <a:solidFill>
                  <a:srgbClr val="3366FF"/>
                </a:solidFill>
              </a:rPr>
              <a:t> </a:t>
            </a:r>
            <a:r>
              <a:rPr lang="en-US" sz="2400" b="1">
                <a:solidFill>
                  <a:srgbClr val="006699"/>
                </a:solidFill>
                <a:latin typeface="Calibri"/>
                <a:ea typeface="Calibri"/>
                <a:cs typeface="Calibri"/>
                <a:sym typeface="Calibri"/>
              </a:rPr>
              <a:t>length</a:t>
            </a:r>
            <a:r>
              <a:rPr lang="en-US" sz="2400" b="1">
                <a:solidFill>
                  <a:srgbClr val="3366FF"/>
                </a:solidFill>
              </a:rPr>
              <a:t> </a:t>
            </a:r>
            <a:r>
              <a:rPr lang="en-US" sz="2400" b="1">
                <a:solidFill>
                  <a:srgbClr val="006699"/>
                </a:solidFill>
                <a:latin typeface="Calibri"/>
                <a:ea typeface="Calibri"/>
                <a:cs typeface="Calibri"/>
                <a:sym typeface="Calibri"/>
              </a:rPr>
              <a:t>register</a:t>
            </a:r>
            <a:r>
              <a:rPr lang="en-US" sz="2400" b="1">
                <a:solidFill>
                  <a:srgbClr val="3366FF"/>
                </a:solidFill>
              </a:rPr>
              <a:t> </a:t>
            </a:r>
            <a:r>
              <a:rPr lang="en-US" sz="2400"/>
              <a:t>(</a:t>
            </a:r>
            <a:r>
              <a:rPr lang="en-US" sz="2400" b="1">
                <a:solidFill>
                  <a:srgbClr val="006699"/>
                </a:solidFill>
                <a:latin typeface="Calibri"/>
                <a:ea typeface="Calibri"/>
                <a:cs typeface="Calibri"/>
                <a:sym typeface="Calibri"/>
              </a:rPr>
              <a:t>PTLR</a:t>
            </a:r>
            <a:r>
              <a:rPr lang="en-US" sz="2400"/>
              <a:t>)</a:t>
            </a:r>
            <a:r>
              <a:rPr lang="en-US" sz="2400">
                <a:solidFill>
                  <a:srgbClr val="3366FF"/>
                </a:solidFill>
              </a:rPr>
              <a:t> </a:t>
            </a:r>
            <a:r>
              <a:rPr lang="en-US" sz="2400"/>
              <a:t>indicates size of the page table</a:t>
            </a:r>
            <a:endParaRPr/>
          </a:p>
          <a:p>
            <a:pPr marL="342900" lvl="0" indent="-342900" algn="l" rtl="0">
              <a:spcBef>
                <a:spcPts val="444"/>
              </a:spcBef>
              <a:spcAft>
                <a:spcPts val="0"/>
              </a:spcAft>
              <a:buClr>
                <a:schemeClr val="dk1"/>
              </a:buClr>
              <a:buSzPct val="100000"/>
              <a:buChar char="•"/>
            </a:pPr>
            <a:r>
              <a:rPr lang="en-US" sz="2400"/>
              <a:t>In this scheme every data/instruction access requires two memory accesses</a:t>
            </a:r>
            <a:endParaRPr/>
          </a:p>
          <a:p>
            <a:pPr marL="742950" lvl="1" indent="-285750" algn="l" rtl="0">
              <a:spcBef>
                <a:spcPts val="444"/>
              </a:spcBef>
              <a:spcAft>
                <a:spcPts val="0"/>
              </a:spcAft>
              <a:buClr>
                <a:schemeClr val="dk1"/>
              </a:buClr>
              <a:buSzPct val="100000"/>
              <a:buChar char="–"/>
            </a:pPr>
            <a:r>
              <a:rPr lang="en-US" sz="2400"/>
              <a:t>One for the page table and one for the data / instruction</a:t>
            </a:r>
            <a:endParaRPr/>
          </a:p>
          <a:p>
            <a:pPr marL="342900" lvl="0" indent="-342900" algn="l" rtl="0">
              <a:spcBef>
                <a:spcPts val="444"/>
              </a:spcBef>
              <a:spcAft>
                <a:spcPts val="0"/>
              </a:spcAft>
              <a:buClr>
                <a:schemeClr val="dk1"/>
              </a:buClr>
              <a:buSzPct val="100000"/>
              <a:buChar char="•"/>
            </a:pPr>
            <a:r>
              <a:rPr lang="en-US" sz="2400"/>
              <a:t>The two-memory access problem can be solved using a special fast-lookup hardware cache called  </a:t>
            </a:r>
            <a:r>
              <a:rPr lang="en-US" sz="2400" b="1">
                <a:solidFill>
                  <a:srgbClr val="006699"/>
                </a:solidFill>
                <a:latin typeface="Calibri"/>
                <a:ea typeface="Calibri"/>
                <a:cs typeface="Calibri"/>
                <a:sym typeface="Calibri"/>
              </a:rPr>
              <a:t>translation</a:t>
            </a:r>
            <a:r>
              <a:rPr lang="en-US" sz="2400" b="1">
                <a:solidFill>
                  <a:srgbClr val="3366FF"/>
                </a:solidFill>
              </a:rPr>
              <a:t> </a:t>
            </a:r>
            <a:r>
              <a:rPr lang="en-US" sz="2400" b="1">
                <a:solidFill>
                  <a:srgbClr val="006699"/>
                </a:solidFill>
                <a:latin typeface="Calibri"/>
                <a:ea typeface="Calibri"/>
                <a:cs typeface="Calibri"/>
                <a:sym typeface="Calibri"/>
              </a:rPr>
              <a:t>look-aside</a:t>
            </a:r>
            <a:r>
              <a:rPr lang="en-US" sz="2400" b="1">
                <a:solidFill>
                  <a:srgbClr val="3366FF"/>
                </a:solidFill>
              </a:rPr>
              <a:t> </a:t>
            </a:r>
            <a:r>
              <a:rPr lang="en-US" sz="2400" b="1">
                <a:solidFill>
                  <a:srgbClr val="006699"/>
                </a:solidFill>
                <a:latin typeface="Calibri"/>
                <a:ea typeface="Calibri"/>
                <a:cs typeface="Calibri"/>
                <a:sym typeface="Calibri"/>
              </a:rPr>
              <a:t>buffers</a:t>
            </a:r>
            <a:r>
              <a:rPr lang="en-US" sz="2400" b="1">
                <a:solidFill>
                  <a:srgbClr val="3366FF"/>
                </a:solidFill>
              </a:rPr>
              <a:t> </a:t>
            </a:r>
            <a:r>
              <a:rPr lang="en-US" sz="2400"/>
              <a:t>(</a:t>
            </a:r>
            <a:r>
              <a:rPr lang="en-US" sz="2400" b="1">
                <a:solidFill>
                  <a:srgbClr val="006699"/>
                </a:solidFill>
                <a:latin typeface="Calibri"/>
                <a:ea typeface="Calibri"/>
                <a:cs typeface="Calibri"/>
                <a:sym typeface="Calibri"/>
              </a:rPr>
              <a:t>TLBs</a:t>
            </a:r>
            <a:r>
              <a:rPr lang="en-US" sz="2400"/>
              <a:t>) (also called </a:t>
            </a:r>
            <a:r>
              <a:rPr lang="en-US" sz="2400" b="1">
                <a:solidFill>
                  <a:srgbClr val="006699"/>
                </a:solidFill>
                <a:latin typeface="Calibri"/>
                <a:ea typeface="Calibri"/>
                <a:cs typeface="Calibri"/>
                <a:sym typeface="Calibri"/>
              </a:rPr>
              <a:t>associative</a:t>
            </a:r>
            <a:r>
              <a:rPr lang="en-US" sz="2400" b="1">
                <a:solidFill>
                  <a:srgbClr val="3366FF"/>
                </a:solidFill>
              </a:rPr>
              <a:t> </a:t>
            </a:r>
            <a:r>
              <a:rPr lang="en-US" sz="2400" b="1">
                <a:solidFill>
                  <a:srgbClr val="006699"/>
                </a:solidFill>
                <a:latin typeface="Calibri"/>
                <a:ea typeface="Calibri"/>
                <a:cs typeface="Calibri"/>
                <a:sym typeface="Calibri"/>
              </a:rPr>
              <a:t>memory</a:t>
            </a:r>
            <a:r>
              <a:rPr lang="en-US" sz="2400"/>
              <a:t>).</a:t>
            </a:r>
            <a:endParaRPr/>
          </a:p>
        </p:txBody>
      </p:sp>
      <p:sp>
        <p:nvSpPr>
          <p:cNvPr id="447" name="Google Shape;447;p38"/>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48" name="Google Shape;44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49" name="Google Shape;44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9"/>
          <p:cNvSpPr txBox="1">
            <a:spLocks noGrp="1"/>
          </p:cNvSpPr>
          <p:nvPr>
            <p:ph type="title"/>
          </p:nvPr>
        </p:nvSpPr>
        <p:spPr>
          <a:xfrm>
            <a:off x="391886" y="254794"/>
            <a:ext cx="8360228"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Translation Lookaside Buffer </a:t>
            </a:r>
            <a:endParaRPr/>
          </a:p>
        </p:txBody>
      </p:sp>
      <p:sp>
        <p:nvSpPr>
          <p:cNvPr id="456" name="Google Shape;456;p39"/>
          <p:cNvSpPr txBox="1">
            <a:spLocks noGrp="1"/>
          </p:cNvSpPr>
          <p:nvPr>
            <p:ph type="body" idx="1"/>
          </p:nvPr>
        </p:nvSpPr>
        <p:spPr>
          <a:xfrm>
            <a:off x="767935" y="1381067"/>
            <a:ext cx="7746892" cy="4606925"/>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2400"/>
              <a:buChar char="•"/>
            </a:pPr>
            <a:r>
              <a:rPr lang="en-US" sz="2400"/>
              <a:t>Some TLBs store</a:t>
            </a:r>
            <a:r>
              <a:rPr lang="en-US" sz="2400" b="1"/>
              <a:t> </a:t>
            </a:r>
            <a:r>
              <a:rPr lang="en-US" sz="2400" b="1">
                <a:solidFill>
                  <a:srgbClr val="006699"/>
                </a:solidFill>
                <a:latin typeface="Calibri"/>
                <a:ea typeface="Calibri"/>
                <a:cs typeface="Calibri"/>
                <a:sym typeface="Calibri"/>
              </a:rPr>
              <a:t>address-space</a:t>
            </a:r>
            <a:r>
              <a:rPr lang="en-US" sz="2400" b="1">
                <a:solidFill>
                  <a:srgbClr val="3366FF"/>
                </a:solidFill>
              </a:rPr>
              <a:t> </a:t>
            </a:r>
            <a:r>
              <a:rPr lang="en-US" sz="2400" b="1">
                <a:solidFill>
                  <a:srgbClr val="006699"/>
                </a:solidFill>
                <a:latin typeface="Calibri"/>
                <a:ea typeface="Calibri"/>
                <a:cs typeface="Calibri"/>
                <a:sym typeface="Calibri"/>
              </a:rPr>
              <a:t>identifiers</a:t>
            </a:r>
            <a:r>
              <a:rPr lang="en-US" sz="2400" b="1">
                <a:solidFill>
                  <a:srgbClr val="3366FF"/>
                </a:solidFill>
              </a:rPr>
              <a:t> </a:t>
            </a:r>
            <a:r>
              <a:rPr lang="en-US" sz="2400"/>
              <a:t>(</a:t>
            </a:r>
            <a:r>
              <a:rPr lang="en-US" sz="2400" b="1">
                <a:solidFill>
                  <a:srgbClr val="006699"/>
                </a:solidFill>
                <a:latin typeface="Calibri"/>
                <a:ea typeface="Calibri"/>
                <a:cs typeface="Calibri"/>
                <a:sym typeface="Calibri"/>
              </a:rPr>
              <a:t>ASIDs</a:t>
            </a:r>
            <a:r>
              <a:rPr lang="en-US" sz="2400"/>
              <a:t>)</a:t>
            </a:r>
            <a:r>
              <a:rPr lang="en-US" sz="2400" b="1">
                <a:solidFill>
                  <a:srgbClr val="3366FF"/>
                </a:solidFill>
              </a:rPr>
              <a:t> </a:t>
            </a:r>
            <a:r>
              <a:rPr lang="en-US" sz="2400"/>
              <a:t>in each TLB entry – uniquely identifies each process to provide address-space protection for that process</a:t>
            </a:r>
            <a:endParaRPr/>
          </a:p>
          <a:p>
            <a:pPr marL="742950" lvl="1" indent="-285750" algn="l" rtl="0">
              <a:spcBef>
                <a:spcPts val="480"/>
              </a:spcBef>
              <a:spcAft>
                <a:spcPts val="0"/>
              </a:spcAft>
              <a:buClr>
                <a:schemeClr val="dk1"/>
              </a:buClr>
              <a:buSzPts val="2400"/>
              <a:buChar char="–"/>
            </a:pPr>
            <a:r>
              <a:rPr lang="en-US" sz="2400"/>
              <a:t>Otherwise need to flush at every context switch.</a:t>
            </a:r>
            <a:endParaRPr/>
          </a:p>
          <a:p>
            <a:pPr marL="742950" lvl="1" indent="-133350" algn="l" rtl="0">
              <a:spcBef>
                <a:spcPts val="480"/>
              </a:spcBef>
              <a:spcAft>
                <a:spcPts val="0"/>
              </a:spcAft>
              <a:buClr>
                <a:schemeClr val="dk1"/>
              </a:buClr>
              <a:buSzPts val="2400"/>
              <a:buNone/>
            </a:pPr>
            <a:endParaRPr sz="2400"/>
          </a:p>
          <a:p>
            <a:pPr marL="342900" lvl="0" indent="-342900" algn="l" rtl="0">
              <a:spcBef>
                <a:spcPts val="480"/>
              </a:spcBef>
              <a:spcAft>
                <a:spcPts val="0"/>
              </a:spcAft>
              <a:buClr>
                <a:schemeClr val="dk1"/>
              </a:buClr>
              <a:buSzPts val="2400"/>
              <a:buChar char="•"/>
            </a:pPr>
            <a:r>
              <a:rPr lang="en-US" sz="2400"/>
              <a:t>TLBs typically small (64 to 1,024 entries)</a:t>
            </a:r>
            <a:endParaRPr/>
          </a:p>
          <a:p>
            <a:pPr marL="342900" lvl="0" indent="-190500" algn="l" rtl="0">
              <a:spcBef>
                <a:spcPts val="480"/>
              </a:spcBef>
              <a:spcAft>
                <a:spcPts val="0"/>
              </a:spcAft>
              <a:buClr>
                <a:schemeClr val="dk1"/>
              </a:buClr>
              <a:buSzPts val="2400"/>
              <a:buNone/>
            </a:pPr>
            <a:endParaRPr sz="2400"/>
          </a:p>
          <a:p>
            <a:pPr marL="342900" lvl="0" indent="-342900" algn="l" rtl="0">
              <a:spcBef>
                <a:spcPts val="480"/>
              </a:spcBef>
              <a:spcAft>
                <a:spcPts val="0"/>
              </a:spcAft>
              <a:buClr>
                <a:schemeClr val="dk1"/>
              </a:buClr>
              <a:buSzPts val="2400"/>
              <a:buChar char="•"/>
            </a:pPr>
            <a:r>
              <a:rPr lang="en-US" sz="2400"/>
              <a:t>On a TLB miss, value is loaded into the TLB for faster access next time</a:t>
            </a:r>
            <a:endParaRPr/>
          </a:p>
          <a:p>
            <a:pPr marL="742950" lvl="1" indent="-285750" algn="l" rtl="0">
              <a:spcBef>
                <a:spcPts val="480"/>
              </a:spcBef>
              <a:spcAft>
                <a:spcPts val="0"/>
              </a:spcAft>
              <a:buClr>
                <a:schemeClr val="dk1"/>
              </a:buClr>
              <a:buSzPts val="2400"/>
              <a:buChar char="–"/>
            </a:pPr>
            <a:r>
              <a:rPr lang="en-US" sz="2400"/>
              <a:t>Replacement policies must be considered</a:t>
            </a:r>
            <a:endParaRPr/>
          </a:p>
          <a:p>
            <a:pPr marL="742950" lvl="1" indent="-285750" algn="l" rtl="0">
              <a:spcBef>
                <a:spcPts val="480"/>
              </a:spcBef>
              <a:spcAft>
                <a:spcPts val="0"/>
              </a:spcAft>
              <a:buClr>
                <a:schemeClr val="dk1"/>
              </a:buClr>
              <a:buSzPts val="2400"/>
              <a:buChar char="–"/>
            </a:pPr>
            <a:r>
              <a:rPr lang="en-US" sz="2400"/>
              <a:t>Some entries can be</a:t>
            </a:r>
            <a:r>
              <a:rPr lang="en-US" sz="2400" b="1">
                <a:solidFill>
                  <a:srgbClr val="3366FF"/>
                </a:solidFill>
              </a:rPr>
              <a:t> </a:t>
            </a:r>
            <a:r>
              <a:rPr lang="en-US" sz="2400" b="1">
                <a:solidFill>
                  <a:srgbClr val="006699"/>
                </a:solidFill>
                <a:latin typeface="Calibri"/>
                <a:ea typeface="Calibri"/>
                <a:cs typeface="Calibri"/>
                <a:sym typeface="Calibri"/>
              </a:rPr>
              <a:t>wired</a:t>
            </a:r>
            <a:r>
              <a:rPr lang="en-US" sz="2400" b="1">
                <a:solidFill>
                  <a:srgbClr val="3366FF"/>
                </a:solidFill>
              </a:rPr>
              <a:t> </a:t>
            </a:r>
            <a:r>
              <a:rPr lang="en-US" sz="2400" b="1">
                <a:solidFill>
                  <a:srgbClr val="006699"/>
                </a:solidFill>
                <a:latin typeface="Calibri"/>
                <a:ea typeface="Calibri"/>
                <a:cs typeface="Calibri"/>
                <a:sym typeface="Calibri"/>
              </a:rPr>
              <a:t>down</a:t>
            </a:r>
            <a:r>
              <a:rPr lang="en-US" sz="2400" b="1">
                <a:solidFill>
                  <a:srgbClr val="3366FF"/>
                </a:solidFill>
              </a:rPr>
              <a:t> </a:t>
            </a:r>
            <a:r>
              <a:rPr lang="en-US" sz="2400"/>
              <a:t>for permanent fast access</a:t>
            </a:r>
            <a:endParaRPr/>
          </a:p>
        </p:txBody>
      </p:sp>
      <p:sp>
        <p:nvSpPr>
          <p:cNvPr id="457" name="Google Shape;457;p39"/>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58" name="Google Shape;458;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59" name="Google Shape;459;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40"/>
          <p:cNvSpPr txBox="1">
            <a:spLocks noGrp="1"/>
          </p:cNvSpPr>
          <p:nvPr>
            <p:ph type="title"/>
          </p:nvPr>
        </p:nvSpPr>
        <p:spPr>
          <a:xfrm>
            <a:off x="457200" y="232005"/>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ASSOCIATIVE MEMORY</a:t>
            </a:r>
            <a:endParaRPr/>
          </a:p>
        </p:txBody>
      </p:sp>
      <p:sp>
        <p:nvSpPr>
          <p:cNvPr id="466" name="Google Shape;466;p40"/>
          <p:cNvSpPr txBox="1">
            <a:spLocks noGrp="1"/>
          </p:cNvSpPr>
          <p:nvPr>
            <p:ph type="body" idx="1"/>
          </p:nvPr>
        </p:nvSpPr>
        <p:spPr>
          <a:xfrm>
            <a:off x="811763" y="1211263"/>
            <a:ext cx="7735078" cy="44831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ct val="100000"/>
              <a:buChar char="•"/>
            </a:pPr>
            <a:r>
              <a:rPr lang="en-US"/>
              <a:t>Associative memory – parallel search </a:t>
            </a:r>
            <a:endParaRPr/>
          </a:p>
          <a:p>
            <a:pPr marL="342900" lvl="0" indent="-154940" algn="l" rtl="0">
              <a:spcBef>
                <a:spcPts val="592"/>
              </a:spcBef>
              <a:spcAft>
                <a:spcPts val="0"/>
              </a:spcAft>
              <a:buClr>
                <a:schemeClr val="dk1"/>
              </a:buClr>
              <a:buSzPct val="100000"/>
              <a:buNone/>
            </a:pPr>
            <a:endParaRPr/>
          </a:p>
          <a:p>
            <a:pPr marL="342900" lvl="0" indent="-154940" algn="l" rtl="0">
              <a:spcBef>
                <a:spcPts val="592"/>
              </a:spcBef>
              <a:spcAft>
                <a:spcPts val="0"/>
              </a:spcAft>
              <a:buClr>
                <a:schemeClr val="dk1"/>
              </a:buClr>
              <a:buSzPct val="100000"/>
              <a:buNone/>
            </a:pPr>
            <a:endParaRPr/>
          </a:p>
          <a:p>
            <a:pPr marL="342900" lvl="0" indent="-154940" algn="l" rtl="0">
              <a:spcBef>
                <a:spcPts val="592"/>
              </a:spcBef>
              <a:spcAft>
                <a:spcPts val="0"/>
              </a:spcAft>
              <a:buClr>
                <a:schemeClr val="dk1"/>
              </a:buClr>
              <a:buSzPct val="100000"/>
              <a:buNone/>
            </a:pPr>
            <a:endParaRPr/>
          </a:p>
          <a:p>
            <a:pPr marL="342900" lvl="0" indent="-342900" algn="l" rtl="0">
              <a:spcBef>
                <a:spcPts val="592"/>
              </a:spcBef>
              <a:spcAft>
                <a:spcPts val="0"/>
              </a:spcAft>
              <a:buClr>
                <a:schemeClr val="dk1"/>
              </a:buClr>
              <a:buSzPct val="100000"/>
              <a:buFont typeface="Arial"/>
              <a:buNone/>
            </a:pPr>
            <a:endParaRPr/>
          </a:p>
          <a:p>
            <a:pPr marL="342900" lvl="0" indent="-342900" algn="l" rtl="0">
              <a:spcBef>
                <a:spcPts val="592"/>
              </a:spcBef>
              <a:spcAft>
                <a:spcPts val="0"/>
              </a:spcAft>
              <a:buClr>
                <a:schemeClr val="dk1"/>
              </a:buClr>
              <a:buSzPct val="100000"/>
              <a:buChar char="•"/>
            </a:pPr>
            <a:r>
              <a:rPr lang="en-US"/>
              <a:t>Address translation (p, d)</a:t>
            </a:r>
            <a:endParaRPr/>
          </a:p>
          <a:p>
            <a:pPr marL="627063" lvl="1" indent="-285750" algn="l" rtl="0">
              <a:spcBef>
                <a:spcPts val="518"/>
              </a:spcBef>
              <a:spcAft>
                <a:spcPts val="0"/>
              </a:spcAft>
              <a:buClr>
                <a:schemeClr val="dk1"/>
              </a:buClr>
              <a:buSzPct val="100000"/>
              <a:buChar char="–"/>
            </a:pPr>
            <a:r>
              <a:rPr lang="en-US"/>
              <a:t>If p is in associative register, get frame # out</a:t>
            </a:r>
            <a:endParaRPr/>
          </a:p>
          <a:p>
            <a:pPr marL="627063" lvl="1" indent="-285750" algn="l" rtl="0">
              <a:spcBef>
                <a:spcPts val="518"/>
              </a:spcBef>
              <a:spcAft>
                <a:spcPts val="0"/>
              </a:spcAft>
              <a:buClr>
                <a:schemeClr val="dk1"/>
              </a:buClr>
              <a:buSzPct val="100000"/>
              <a:buChar char="–"/>
            </a:pPr>
            <a:r>
              <a:rPr lang="en-US"/>
              <a:t>Otherwise get frame # from page table in memory</a:t>
            </a:r>
            <a:endParaRPr/>
          </a:p>
          <a:p>
            <a:pPr marL="627063" lvl="1" indent="-121284" algn="l" rtl="0">
              <a:spcBef>
                <a:spcPts val="518"/>
              </a:spcBef>
              <a:spcAft>
                <a:spcPts val="0"/>
              </a:spcAft>
              <a:buClr>
                <a:schemeClr val="dk1"/>
              </a:buClr>
              <a:buSzPct val="100000"/>
              <a:buNone/>
            </a:pPr>
            <a:endParaRPr/>
          </a:p>
        </p:txBody>
      </p:sp>
      <p:pic>
        <p:nvPicPr>
          <p:cNvPr id="467" name="Google Shape;467;p40"/>
          <p:cNvPicPr preferRelativeResize="0"/>
          <p:nvPr/>
        </p:nvPicPr>
        <p:blipFill rotWithShape="1">
          <a:blip r:embed="rId3">
            <a:alphaModFix/>
          </a:blip>
          <a:srcRect/>
          <a:stretch/>
        </p:blipFill>
        <p:spPr>
          <a:xfrm>
            <a:off x="3208352" y="2130090"/>
            <a:ext cx="2943225" cy="1590675"/>
          </a:xfrm>
          <a:prstGeom prst="rect">
            <a:avLst/>
          </a:prstGeom>
          <a:noFill/>
          <a:ln>
            <a:noFill/>
          </a:ln>
        </p:spPr>
      </p:pic>
      <p:sp>
        <p:nvSpPr>
          <p:cNvPr id="468" name="Google Shape;468;p40"/>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69" name="Google Shape;469;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70" name="Google Shape;470;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1"/>
          <p:cNvSpPr txBox="1">
            <a:spLocks noGrp="1"/>
          </p:cNvSpPr>
          <p:nvPr>
            <p:ph type="title"/>
          </p:nvPr>
        </p:nvSpPr>
        <p:spPr>
          <a:xfrm>
            <a:off x="488950" y="238549"/>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83333"/>
              <a:buFont typeface="Calibri"/>
              <a:buNone/>
            </a:pPr>
            <a:r>
              <a:rPr lang="en-US">
                <a:solidFill>
                  <a:schemeClr val="accent1"/>
                </a:solidFill>
              </a:rPr>
              <a:t>Paging Hardware With TLB</a:t>
            </a:r>
            <a:endParaRPr sz="2400">
              <a:solidFill>
                <a:schemeClr val="accent1"/>
              </a:solidFill>
            </a:endParaRPr>
          </a:p>
        </p:txBody>
      </p:sp>
      <p:pic>
        <p:nvPicPr>
          <p:cNvPr id="477" name="Google Shape;477;p41"/>
          <p:cNvPicPr preferRelativeResize="0"/>
          <p:nvPr/>
        </p:nvPicPr>
        <p:blipFill rotWithShape="1">
          <a:blip r:embed="rId3">
            <a:alphaModFix/>
          </a:blip>
          <a:srcRect/>
          <a:stretch/>
        </p:blipFill>
        <p:spPr>
          <a:xfrm>
            <a:off x="1176744" y="1175791"/>
            <a:ext cx="6854012" cy="5180559"/>
          </a:xfrm>
          <a:prstGeom prst="rect">
            <a:avLst/>
          </a:prstGeom>
          <a:noFill/>
          <a:ln>
            <a:noFill/>
          </a:ln>
        </p:spPr>
      </p:pic>
      <p:sp>
        <p:nvSpPr>
          <p:cNvPr id="478" name="Google Shape;478;p41"/>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79" name="Google Shape;47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80" name="Google Shape;48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42"/>
          <p:cNvSpPr txBox="1">
            <a:spLocks noGrp="1"/>
          </p:cNvSpPr>
          <p:nvPr>
            <p:ph type="title"/>
          </p:nvPr>
        </p:nvSpPr>
        <p:spPr>
          <a:xfrm>
            <a:off x="457200" y="339190"/>
            <a:ext cx="8229600" cy="54341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Hit ratio</a:t>
            </a:r>
            <a:endParaRPr>
              <a:solidFill>
                <a:schemeClr val="accent1"/>
              </a:solidFill>
            </a:endParaRPr>
          </a:p>
        </p:txBody>
      </p:sp>
      <p:sp>
        <p:nvSpPr>
          <p:cNvPr id="487" name="Google Shape;487;p42"/>
          <p:cNvSpPr txBox="1">
            <a:spLocks noGrp="1"/>
          </p:cNvSpPr>
          <p:nvPr>
            <p:ph type="body" idx="1"/>
          </p:nvPr>
        </p:nvSpPr>
        <p:spPr>
          <a:xfrm>
            <a:off x="904875" y="1409066"/>
            <a:ext cx="7781925" cy="4760464"/>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accent1"/>
              </a:buClr>
              <a:buSzPts val="3200"/>
              <a:buChar char="•"/>
            </a:pPr>
            <a:r>
              <a:rPr lang="en-US" b="1">
                <a:solidFill>
                  <a:schemeClr val="accent1"/>
                </a:solidFill>
              </a:rPr>
              <a:t>Hit ratio = α</a:t>
            </a:r>
            <a:endParaRPr/>
          </a:p>
          <a:p>
            <a:pPr marL="742950" lvl="1" indent="-285750" algn="l" rtl="0">
              <a:lnSpc>
                <a:spcPct val="90000"/>
              </a:lnSpc>
              <a:spcBef>
                <a:spcPts val="640"/>
              </a:spcBef>
              <a:spcAft>
                <a:spcPts val="0"/>
              </a:spcAft>
              <a:buClr>
                <a:schemeClr val="dk1"/>
              </a:buClr>
              <a:buSzPts val="3200"/>
              <a:buChar char="–"/>
            </a:pPr>
            <a:r>
              <a:rPr lang="en-US" sz="3200"/>
              <a:t>Hit ratio – percentage of times that a page number is found in the  TLB</a:t>
            </a:r>
            <a:endParaRPr/>
          </a:p>
          <a:p>
            <a:pPr marL="457200" lvl="1" indent="0" algn="l" rtl="0">
              <a:lnSpc>
                <a:spcPct val="90000"/>
              </a:lnSpc>
              <a:spcBef>
                <a:spcPts val="640"/>
              </a:spcBef>
              <a:spcAft>
                <a:spcPts val="0"/>
              </a:spcAft>
              <a:buClr>
                <a:schemeClr val="dk1"/>
              </a:buClr>
              <a:buSzPts val="3200"/>
              <a:buNone/>
            </a:pPr>
            <a:endParaRPr sz="3200"/>
          </a:p>
          <a:p>
            <a:pPr marL="342900" lvl="0" indent="-342900" algn="l" rtl="0">
              <a:lnSpc>
                <a:spcPct val="90000"/>
              </a:lnSpc>
              <a:spcBef>
                <a:spcPts val="480"/>
              </a:spcBef>
              <a:spcAft>
                <a:spcPts val="0"/>
              </a:spcAft>
              <a:buClr>
                <a:schemeClr val="dk1"/>
              </a:buClr>
              <a:buSzPts val="2400"/>
              <a:buChar char="•"/>
            </a:pPr>
            <a:r>
              <a:rPr lang="en-US" sz="2400"/>
              <a:t>An 80% hit ratio means that we find the desired  page number  in the TLB 80% of the time.</a:t>
            </a:r>
            <a:endParaRPr/>
          </a:p>
          <a:p>
            <a:pPr marL="342900" lvl="0" indent="-190500" algn="l" rtl="0">
              <a:lnSpc>
                <a:spcPct val="90000"/>
              </a:lnSpc>
              <a:spcBef>
                <a:spcPts val="480"/>
              </a:spcBef>
              <a:spcAft>
                <a:spcPts val="0"/>
              </a:spcAft>
              <a:buClr>
                <a:schemeClr val="dk1"/>
              </a:buClr>
              <a:buSzPts val="2400"/>
              <a:buNone/>
            </a:pPr>
            <a:endParaRPr sz="2400"/>
          </a:p>
          <a:p>
            <a:pPr marL="342900" lvl="0" indent="-342900" algn="l" rtl="0">
              <a:lnSpc>
                <a:spcPct val="90000"/>
              </a:lnSpc>
              <a:spcBef>
                <a:spcPts val="480"/>
              </a:spcBef>
              <a:spcAft>
                <a:spcPts val="0"/>
              </a:spcAft>
              <a:buClr>
                <a:schemeClr val="dk1"/>
              </a:buClr>
              <a:buSzPts val="2400"/>
              <a:buChar char="•"/>
            </a:pPr>
            <a:r>
              <a:rPr lang="en-US" sz="2400"/>
              <a:t>Suppose that 10 nanoseconds to access memory.  </a:t>
            </a:r>
            <a:endParaRPr/>
          </a:p>
          <a:p>
            <a:pPr marL="742950" lvl="1" indent="-285750" algn="l" rtl="0">
              <a:lnSpc>
                <a:spcPct val="90000"/>
              </a:lnSpc>
              <a:spcBef>
                <a:spcPts val="400"/>
              </a:spcBef>
              <a:spcAft>
                <a:spcPts val="0"/>
              </a:spcAft>
              <a:buClr>
                <a:schemeClr val="dk1"/>
              </a:buClr>
              <a:buSzPts val="2000"/>
              <a:buChar char="–"/>
            </a:pPr>
            <a:r>
              <a:rPr lang="en-US" sz="2000"/>
              <a:t>If we find the desired page in TLB then a mapped-memory access take 10 ns</a:t>
            </a:r>
            <a:endParaRPr/>
          </a:p>
          <a:p>
            <a:pPr marL="742950" lvl="1" indent="-285750" algn="l" rtl="0">
              <a:lnSpc>
                <a:spcPct val="90000"/>
              </a:lnSpc>
              <a:spcBef>
                <a:spcPts val="400"/>
              </a:spcBef>
              <a:spcAft>
                <a:spcPts val="0"/>
              </a:spcAft>
              <a:buClr>
                <a:schemeClr val="dk1"/>
              </a:buClr>
              <a:buSzPts val="2000"/>
              <a:buChar char="–"/>
            </a:pPr>
            <a:r>
              <a:rPr lang="en-US" sz="2000"/>
              <a:t>Otherwise, we need two memory access, so it is 20 ns</a:t>
            </a:r>
            <a:endParaRPr/>
          </a:p>
          <a:p>
            <a:pPr marL="742950" lvl="1" indent="-107950" algn="l" rtl="0">
              <a:lnSpc>
                <a:spcPct val="90000"/>
              </a:lnSpc>
              <a:spcBef>
                <a:spcPts val="560"/>
              </a:spcBef>
              <a:spcAft>
                <a:spcPts val="0"/>
              </a:spcAft>
              <a:buClr>
                <a:schemeClr val="dk1"/>
              </a:buClr>
              <a:buSzPts val="2800"/>
              <a:buNone/>
            </a:pPr>
            <a:endParaRPr/>
          </a:p>
          <a:p>
            <a:pPr marL="742950" lvl="1" indent="-107950" algn="l" rtl="0">
              <a:lnSpc>
                <a:spcPct val="90000"/>
              </a:lnSpc>
              <a:spcBef>
                <a:spcPts val="560"/>
              </a:spcBef>
              <a:spcAft>
                <a:spcPts val="0"/>
              </a:spcAft>
              <a:buClr>
                <a:schemeClr val="dk1"/>
              </a:buClr>
              <a:buSzPts val="2800"/>
              <a:buNone/>
            </a:pPr>
            <a:endParaRPr/>
          </a:p>
          <a:p>
            <a:pPr marL="342900" lvl="0" indent="-139700" algn="l" rtl="0">
              <a:lnSpc>
                <a:spcPct val="90000"/>
              </a:lnSpc>
              <a:spcBef>
                <a:spcPts val="640"/>
              </a:spcBef>
              <a:spcAft>
                <a:spcPts val="0"/>
              </a:spcAft>
              <a:buClr>
                <a:schemeClr val="dk1"/>
              </a:buClr>
              <a:buSzPts val="3200"/>
              <a:buNone/>
            </a:pPr>
            <a:endParaRPr/>
          </a:p>
          <a:p>
            <a:pPr marL="742950" lvl="1" indent="-107950" algn="l" rtl="0">
              <a:lnSpc>
                <a:spcPct val="90000"/>
              </a:lnSpc>
              <a:spcBef>
                <a:spcPts val="560"/>
              </a:spcBef>
              <a:spcAft>
                <a:spcPts val="0"/>
              </a:spcAft>
              <a:buClr>
                <a:schemeClr val="dk1"/>
              </a:buClr>
              <a:buSzPts val="2800"/>
              <a:buNone/>
            </a:pPr>
            <a:endParaRPr/>
          </a:p>
          <a:p>
            <a:pPr marL="342900" lvl="0" indent="-342900" algn="l" rtl="0">
              <a:lnSpc>
                <a:spcPct val="90000"/>
              </a:lnSpc>
              <a:spcBef>
                <a:spcPts val="640"/>
              </a:spcBef>
              <a:spcAft>
                <a:spcPts val="0"/>
              </a:spcAft>
              <a:buClr>
                <a:schemeClr val="dk1"/>
              </a:buClr>
              <a:buSzPts val="3200"/>
              <a:buNone/>
            </a:pPr>
            <a:endParaRPr/>
          </a:p>
        </p:txBody>
      </p:sp>
      <p:sp>
        <p:nvSpPr>
          <p:cNvPr id="488" name="Google Shape;488;p42"/>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89" name="Google Shape;489;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90" name="Google Shape;490;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4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rgbClr val="3366FF"/>
              </a:buClr>
              <a:buSzPts val="3200"/>
              <a:buChar char="•"/>
            </a:pPr>
            <a:r>
              <a:rPr lang="en-US" b="1">
                <a:solidFill>
                  <a:srgbClr val="3366FF"/>
                </a:solidFill>
              </a:rPr>
              <a:t>Effective Access Time</a:t>
            </a:r>
            <a:r>
              <a:rPr lang="en-US">
                <a:solidFill>
                  <a:srgbClr val="3366FF"/>
                </a:solidFill>
              </a:rPr>
              <a:t> </a:t>
            </a:r>
            <a:r>
              <a:rPr lang="en-US"/>
              <a:t>(</a:t>
            </a:r>
            <a:r>
              <a:rPr lang="en-US" b="1">
                <a:solidFill>
                  <a:srgbClr val="3366FF"/>
                </a:solidFill>
              </a:rPr>
              <a:t>EAT</a:t>
            </a:r>
            <a:r>
              <a:rPr lang="en-US"/>
              <a:t>)</a:t>
            </a:r>
            <a:endParaRPr/>
          </a:p>
          <a:p>
            <a:pPr marL="342900" lvl="0" indent="-342900" algn="l" rtl="0">
              <a:lnSpc>
                <a:spcPct val="90000"/>
              </a:lnSpc>
              <a:spcBef>
                <a:spcPts val="640"/>
              </a:spcBef>
              <a:spcAft>
                <a:spcPts val="0"/>
              </a:spcAft>
              <a:buClr>
                <a:schemeClr val="dk1"/>
              </a:buClr>
              <a:buSzPts val="3200"/>
              <a:buNone/>
            </a:pPr>
            <a:r>
              <a:rPr lang="en-US"/>
              <a:t>		</a:t>
            </a:r>
            <a:endParaRPr/>
          </a:p>
          <a:p>
            <a:pPr marL="342900" lvl="0" indent="-342900" algn="l" rtl="0">
              <a:lnSpc>
                <a:spcPct val="90000"/>
              </a:lnSpc>
              <a:spcBef>
                <a:spcPts val="640"/>
              </a:spcBef>
              <a:spcAft>
                <a:spcPts val="0"/>
              </a:spcAft>
              <a:buClr>
                <a:schemeClr val="dk1"/>
              </a:buClr>
              <a:buSzPts val="3200"/>
              <a:buNone/>
            </a:pPr>
            <a:r>
              <a:rPr lang="en-US"/>
              <a:t>EAT= α x memory access time (hit) + fail x memory access time (failed)</a:t>
            </a:r>
            <a:endParaRPr/>
          </a:p>
          <a:p>
            <a:pPr marL="342900" lvl="0" indent="-139700" algn="l" rtl="0">
              <a:spcBef>
                <a:spcPts val="640"/>
              </a:spcBef>
              <a:spcAft>
                <a:spcPts val="0"/>
              </a:spcAft>
              <a:buClr>
                <a:schemeClr val="dk1"/>
              </a:buClr>
              <a:buSzPts val="3200"/>
              <a:buNone/>
            </a:pPr>
            <a:endParaRPr/>
          </a:p>
        </p:txBody>
      </p:sp>
      <p:sp>
        <p:nvSpPr>
          <p:cNvPr id="496" name="Google Shape;496;p43"/>
          <p:cNvSpPr txBox="1"/>
          <p:nvPr/>
        </p:nvSpPr>
        <p:spPr>
          <a:xfrm>
            <a:off x="457200" y="339190"/>
            <a:ext cx="8229600" cy="543412"/>
          </a:xfrm>
          <a:prstGeom prst="rect">
            <a:avLst/>
          </a:prstGeom>
          <a:noFill/>
          <a:ln>
            <a:noFill/>
          </a:ln>
        </p:spPr>
        <p:txBody>
          <a:bodyPr spcFirstLastPara="1" wrap="square" lIns="91425" tIns="45700" rIns="91425" bIns="45700" anchor="ctr" anchorCtr="0">
            <a:normAutofit fontScale="82500" lnSpcReduction="20000"/>
          </a:bodyPr>
          <a:lstStyle/>
          <a:p>
            <a:pPr marL="0" marR="0" lvl="0" indent="0" algn="ctr" rtl="0">
              <a:spcBef>
                <a:spcPts val="0"/>
              </a:spcBef>
              <a:spcAft>
                <a:spcPts val="0"/>
              </a:spcAft>
              <a:buClr>
                <a:schemeClr val="accent1"/>
              </a:buClr>
              <a:buSzPct val="100000"/>
              <a:buFont typeface="Calibri"/>
              <a:buNone/>
            </a:pPr>
            <a:r>
              <a:rPr lang="en-US" sz="4400" b="1">
                <a:solidFill>
                  <a:schemeClr val="accent1"/>
                </a:solidFill>
                <a:latin typeface="Calibri"/>
                <a:ea typeface="Calibri"/>
                <a:cs typeface="Calibri"/>
                <a:sym typeface="Calibri"/>
              </a:rPr>
              <a:t>Effective Access Time </a:t>
            </a:r>
            <a:endParaRPr/>
          </a:p>
        </p:txBody>
      </p:sp>
      <p:sp>
        <p:nvSpPr>
          <p:cNvPr id="497" name="Google Shape;497;p43"/>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98" name="Google Shape;498;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99" name="Google Shape;499;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4"/>
          <p:cNvSpPr txBox="1">
            <a:spLocks noGrp="1"/>
          </p:cNvSpPr>
          <p:nvPr>
            <p:ph type="body" idx="1"/>
          </p:nvPr>
        </p:nvSpPr>
        <p:spPr>
          <a:xfrm>
            <a:off x="433878" y="1532301"/>
            <a:ext cx="8229600" cy="469854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3200"/>
              <a:buChar char="•"/>
            </a:pPr>
            <a:r>
              <a:rPr lang="en-US"/>
              <a:t> Consider α = 80%, 100ns for memory access</a:t>
            </a:r>
            <a:endParaRPr/>
          </a:p>
          <a:p>
            <a:pPr marL="742950" lvl="1" indent="-285750" algn="l" rtl="0">
              <a:lnSpc>
                <a:spcPct val="90000"/>
              </a:lnSpc>
              <a:spcBef>
                <a:spcPts val="560"/>
              </a:spcBef>
              <a:spcAft>
                <a:spcPts val="0"/>
              </a:spcAft>
              <a:buClr>
                <a:schemeClr val="dk1"/>
              </a:buClr>
              <a:buSzPts val="2800"/>
              <a:buChar char="–"/>
            </a:pPr>
            <a:r>
              <a:rPr lang="en-US"/>
              <a:t>EAT = 0.80 x 100 + 0.20 x (100+100) = 120ns</a:t>
            </a:r>
            <a:endParaRPr/>
          </a:p>
          <a:p>
            <a:pPr marL="742950" lvl="1" indent="-107950" algn="l" rtl="0">
              <a:lnSpc>
                <a:spcPct val="90000"/>
              </a:lnSpc>
              <a:spcBef>
                <a:spcPts val="560"/>
              </a:spcBef>
              <a:spcAft>
                <a:spcPts val="0"/>
              </a:spcAft>
              <a:buClr>
                <a:schemeClr val="dk1"/>
              </a:buClr>
              <a:buSzPts val="2800"/>
              <a:buNone/>
            </a:pPr>
            <a:endParaRPr/>
          </a:p>
          <a:p>
            <a:pPr marL="742950" lvl="1" indent="-107950" algn="l" rtl="0">
              <a:lnSpc>
                <a:spcPct val="90000"/>
              </a:lnSpc>
              <a:spcBef>
                <a:spcPts val="560"/>
              </a:spcBef>
              <a:spcAft>
                <a:spcPts val="0"/>
              </a:spcAft>
              <a:buClr>
                <a:schemeClr val="dk1"/>
              </a:buClr>
              <a:buSzPts val="2800"/>
              <a:buNone/>
            </a:pPr>
            <a:endParaRPr/>
          </a:p>
          <a:p>
            <a:pPr marL="342900" lvl="0" indent="-342900" algn="l" rtl="0">
              <a:lnSpc>
                <a:spcPct val="90000"/>
              </a:lnSpc>
              <a:spcBef>
                <a:spcPts val="640"/>
              </a:spcBef>
              <a:spcAft>
                <a:spcPts val="0"/>
              </a:spcAft>
              <a:buClr>
                <a:schemeClr val="dk1"/>
              </a:buClr>
              <a:buSzPts val="3200"/>
              <a:buChar char="•"/>
            </a:pPr>
            <a:r>
              <a:rPr lang="en-US"/>
              <a:t>Consider more realistic hit ratio -&gt;  α = 99% , 100ns for memory access</a:t>
            </a:r>
            <a:endParaRPr/>
          </a:p>
          <a:p>
            <a:pPr marL="742950" lvl="1" indent="-285750" algn="l" rtl="0">
              <a:lnSpc>
                <a:spcPct val="90000"/>
              </a:lnSpc>
              <a:spcBef>
                <a:spcPts val="560"/>
              </a:spcBef>
              <a:spcAft>
                <a:spcPts val="0"/>
              </a:spcAft>
              <a:buClr>
                <a:schemeClr val="dk1"/>
              </a:buClr>
              <a:buSzPts val="2800"/>
              <a:buChar char="–"/>
            </a:pPr>
            <a:r>
              <a:rPr lang="en-US"/>
              <a:t>EAT = 0.99 x 100 + 0.01 x (100+100) = 101ns</a:t>
            </a:r>
            <a:endParaRPr/>
          </a:p>
        </p:txBody>
      </p:sp>
      <p:sp>
        <p:nvSpPr>
          <p:cNvPr id="505" name="Google Shape;505;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4400"/>
              <a:buFont typeface="Calibri"/>
              <a:buNone/>
            </a:pPr>
            <a:r>
              <a:rPr lang="en-US">
                <a:solidFill>
                  <a:schemeClr val="accent1"/>
                </a:solidFill>
              </a:rPr>
              <a:t>Effective Access Time </a:t>
            </a:r>
            <a:r>
              <a:rPr lang="en-US"/>
              <a:t>(Cont.)</a:t>
            </a:r>
            <a:endParaRPr/>
          </a:p>
        </p:txBody>
      </p:sp>
      <p:sp>
        <p:nvSpPr>
          <p:cNvPr id="506" name="Google Shape;506;p44"/>
          <p:cNvSpPr/>
          <p:nvPr/>
        </p:nvSpPr>
        <p:spPr>
          <a:xfrm>
            <a:off x="457200" y="123070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507" name="Google Shape;50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08" name="Google Shape;50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EAT Numerical </a:t>
            </a:r>
            <a:endParaRPr/>
          </a:p>
        </p:txBody>
      </p:sp>
      <p:sp>
        <p:nvSpPr>
          <p:cNvPr id="514" name="Google Shape;514;p4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r>
              <a:rPr lang="en-US" sz="2400"/>
              <a:t>Consider a paging system with the page table stored in memory.  </a:t>
            </a:r>
            <a:endParaRPr/>
          </a:p>
          <a:p>
            <a:pPr marL="514350" lvl="0" indent="-514350" algn="l" rtl="0">
              <a:spcBef>
                <a:spcPts val="480"/>
              </a:spcBef>
              <a:spcAft>
                <a:spcPts val="0"/>
              </a:spcAft>
              <a:buClr>
                <a:schemeClr val="dk1"/>
              </a:buClr>
              <a:buSzPts val="2400"/>
              <a:buFont typeface="Calibri"/>
              <a:buAutoNum type="arabicPeriod"/>
            </a:pPr>
            <a:r>
              <a:rPr lang="en-US" sz="2400"/>
              <a:t>If a memory reference takes 200 nanoseconds, how long does a paged memory reference take?  </a:t>
            </a:r>
            <a:endParaRPr/>
          </a:p>
          <a:p>
            <a:pPr marL="514350" lvl="0" indent="-514350" algn="l" rtl="0">
              <a:spcBef>
                <a:spcPts val="480"/>
              </a:spcBef>
              <a:spcAft>
                <a:spcPts val="0"/>
              </a:spcAft>
              <a:buClr>
                <a:schemeClr val="dk1"/>
              </a:buClr>
              <a:buSzPts val="2400"/>
              <a:buFont typeface="Calibri"/>
              <a:buAutoNum type="arabicPeriod"/>
            </a:pPr>
            <a:r>
              <a:rPr lang="en-US" sz="2400"/>
              <a:t>If we add associative registers, and 75 percent of all page-table references are found in the associative registers, what is the effective memory reference time? (Assume that finding a page-table entry in the associative registers takes zero time if the entry is there.) </a:t>
            </a:r>
            <a:endParaRPr/>
          </a:p>
          <a:p>
            <a:pPr marL="342900" lvl="0" indent="-139700" algn="l" rtl="0">
              <a:spcBef>
                <a:spcPts val="640"/>
              </a:spcBef>
              <a:spcAft>
                <a:spcPts val="0"/>
              </a:spcAft>
              <a:buClr>
                <a:schemeClr val="dk1"/>
              </a:buClr>
              <a:buSzPts val="3200"/>
              <a:buNone/>
            </a:pPr>
            <a:endParaRPr/>
          </a:p>
        </p:txBody>
      </p:sp>
      <p:sp>
        <p:nvSpPr>
          <p:cNvPr id="515" name="Google Shape;515;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16" name="Google Shape;516;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EAT Numerical (Sol)</a:t>
            </a:r>
            <a:endParaRPr/>
          </a:p>
        </p:txBody>
      </p:sp>
      <p:sp>
        <p:nvSpPr>
          <p:cNvPr id="522" name="Google Shape;522;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Answer:  </a:t>
            </a:r>
            <a:endParaRPr/>
          </a:p>
          <a:p>
            <a:pPr marL="514350" lvl="0" indent="-514350" algn="l" rtl="0">
              <a:spcBef>
                <a:spcPts val="640"/>
              </a:spcBef>
              <a:spcAft>
                <a:spcPts val="0"/>
              </a:spcAft>
              <a:buClr>
                <a:schemeClr val="dk1"/>
              </a:buClr>
              <a:buSzPts val="3200"/>
              <a:buFont typeface="Calibri"/>
              <a:buAutoNum type="arabicPeriod"/>
            </a:pPr>
            <a:r>
              <a:rPr lang="en-US"/>
              <a:t>400 nanoseconds: 200 nanoseconds to access the page table and 200 nanoseconds to access the word in memory.  </a:t>
            </a:r>
            <a:endParaRPr/>
          </a:p>
          <a:p>
            <a:pPr marL="514350" lvl="0" indent="-514350" algn="l" rtl="0">
              <a:spcBef>
                <a:spcPts val="640"/>
              </a:spcBef>
              <a:spcAft>
                <a:spcPts val="0"/>
              </a:spcAft>
              <a:buClr>
                <a:schemeClr val="dk1"/>
              </a:buClr>
              <a:buSzPts val="3200"/>
              <a:buFont typeface="Calibri"/>
              <a:buAutoNum type="arabicPeriod"/>
            </a:pPr>
            <a:r>
              <a:rPr lang="en-US"/>
              <a:t>Effective access time = 0.75 × (200 nanoseconds) + 0.25 × (400 nanoseconds) = 250 nanoseconds. </a:t>
            </a:r>
            <a:endParaRPr/>
          </a:p>
          <a:p>
            <a:pPr marL="342900" lvl="0" indent="-139700" algn="l" rtl="0">
              <a:spcBef>
                <a:spcPts val="640"/>
              </a:spcBef>
              <a:spcAft>
                <a:spcPts val="0"/>
              </a:spcAft>
              <a:buClr>
                <a:schemeClr val="dk1"/>
              </a:buClr>
              <a:buSzPts val="3200"/>
              <a:buNone/>
            </a:pPr>
            <a:endParaRPr/>
          </a:p>
        </p:txBody>
      </p:sp>
      <p:sp>
        <p:nvSpPr>
          <p:cNvPr id="523" name="Google Shape;523;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24" name="Google Shape;524;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7"/>
          <p:cNvSpPr txBox="1">
            <a:spLocks noGrp="1"/>
          </p:cNvSpPr>
          <p:nvPr>
            <p:ph type="title"/>
          </p:nvPr>
        </p:nvSpPr>
        <p:spPr>
          <a:xfrm>
            <a:off x="457200" y="247880"/>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Memory Protection</a:t>
            </a:r>
            <a:endParaRPr/>
          </a:p>
        </p:txBody>
      </p:sp>
      <p:sp>
        <p:nvSpPr>
          <p:cNvPr id="531" name="Google Shape;531;p47"/>
          <p:cNvSpPr txBox="1">
            <a:spLocks noGrp="1"/>
          </p:cNvSpPr>
          <p:nvPr>
            <p:ph type="body" idx="1"/>
          </p:nvPr>
        </p:nvSpPr>
        <p:spPr>
          <a:xfrm>
            <a:off x="508000" y="1115391"/>
            <a:ext cx="8139043" cy="5068957"/>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Memory protection implemented by associating protection bit with each frame to indicate if read-only or read-write access is allowed</a:t>
            </a:r>
            <a:endParaRPr/>
          </a:p>
          <a:p>
            <a:pPr marL="742950" lvl="1" indent="-285750" algn="l" rtl="0">
              <a:spcBef>
                <a:spcPts val="400"/>
              </a:spcBef>
              <a:spcAft>
                <a:spcPts val="0"/>
              </a:spcAft>
              <a:buClr>
                <a:schemeClr val="dk1"/>
              </a:buClr>
              <a:buSzPts val="2000"/>
              <a:buChar char="–"/>
            </a:pPr>
            <a:r>
              <a:rPr lang="en-US" sz="2000"/>
              <a:t>Can also add more bits to indicate page execute-only, and so on</a:t>
            </a:r>
            <a:endParaRPr/>
          </a:p>
          <a:p>
            <a:pPr marL="742950" lvl="1" indent="-158750" algn="l" rtl="0">
              <a:spcBef>
                <a:spcPts val="400"/>
              </a:spcBef>
              <a:spcAft>
                <a:spcPts val="0"/>
              </a:spcAft>
              <a:buClr>
                <a:schemeClr val="dk1"/>
              </a:buClr>
              <a:buSzPts val="2000"/>
              <a:buNone/>
            </a:pPr>
            <a:endParaRPr sz="2000"/>
          </a:p>
          <a:p>
            <a:pPr marL="342900" lvl="0" indent="-342900" algn="l" rtl="0">
              <a:spcBef>
                <a:spcPts val="480"/>
              </a:spcBef>
              <a:spcAft>
                <a:spcPts val="0"/>
              </a:spcAft>
              <a:buClr>
                <a:srgbClr val="006699"/>
              </a:buClr>
              <a:buSzPts val="2400"/>
              <a:buChar char="•"/>
            </a:pPr>
            <a:r>
              <a:rPr lang="en-US" sz="2400" b="1">
                <a:solidFill>
                  <a:srgbClr val="006699"/>
                </a:solidFill>
                <a:latin typeface="Calibri"/>
                <a:ea typeface="Calibri"/>
                <a:cs typeface="Calibri"/>
                <a:sym typeface="Calibri"/>
              </a:rPr>
              <a:t>Valid-invalid</a:t>
            </a:r>
            <a:r>
              <a:rPr lang="en-US" sz="2400">
                <a:solidFill>
                  <a:srgbClr val="3366FF"/>
                </a:solidFill>
              </a:rPr>
              <a:t> </a:t>
            </a:r>
            <a:r>
              <a:rPr lang="en-US" sz="2400"/>
              <a:t>bit attached to each entry in the page table:</a:t>
            </a:r>
            <a:endParaRPr/>
          </a:p>
          <a:p>
            <a:pPr marL="742950" lvl="1" indent="-285750" algn="l" rtl="0">
              <a:spcBef>
                <a:spcPts val="400"/>
              </a:spcBef>
              <a:spcAft>
                <a:spcPts val="0"/>
              </a:spcAft>
              <a:buClr>
                <a:schemeClr val="dk1"/>
              </a:buClr>
              <a:buSzPts val="2000"/>
              <a:buChar char="–"/>
            </a:pPr>
            <a:r>
              <a:rPr lang="en-US" sz="2000"/>
              <a:t>“valid” indicates that the associated page is in the process’ logical address space, and is thus a legal page</a:t>
            </a:r>
            <a:endParaRPr/>
          </a:p>
          <a:p>
            <a:pPr marL="742950" lvl="1" indent="-285750" algn="l" rtl="0">
              <a:spcBef>
                <a:spcPts val="400"/>
              </a:spcBef>
              <a:spcAft>
                <a:spcPts val="0"/>
              </a:spcAft>
              <a:buClr>
                <a:schemeClr val="dk1"/>
              </a:buClr>
              <a:buSzPts val="2000"/>
              <a:buChar char="–"/>
            </a:pPr>
            <a:r>
              <a:rPr lang="en-US" sz="2000"/>
              <a:t>“invalid” indicates that the page is not in the process’ logical address space</a:t>
            </a:r>
            <a:endParaRPr/>
          </a:p>
          <a:p>
            <a:pPr marL="742950" lvl="1" indent="-285750" algn="l" rtl="0">
              <a:spcBef>
                <a:spcPts val="400"/>
              </a:spcBef>
              <a:spcAft>
                <a:spcPts val="0"/>
              </a:spcAft>
              <a:buClr>
                <a:schemeClr val="dk1"/>
              </a:buClr>
              <a:buSzPts val="2000"/>
              <a:buChar char="–"/>
            </a:pPr>
            <a:r>
              <a:rPr lang="en-US" sz="2000"/>
              <a:t>Or use </a:t>
            </a:r>
            <a:r>
              <a:rPr lang="en-US" sz="2000" b="1">
                <a:solidFill>
                  <a:srgbClr val="006699"/>
                </a:solidFill>
                <a:latin typeface="Calibri"/>
                <a:ea typeface="Calibri"/>
                <a:cs typeface="Calibri"/>
                <a:sym typeface="Calibri"/>
              </a:rPr>
              <a:t>page-table</a:t>
            </a:r>
            <a:r>
              <a:rPr lang="en-US" sz="2000" b="1">
                <a:solidFill>
                  <a:srgbClr val="3366FF"/>
                </a:solidFill>
              </a:rPr>
              <a:t> </a:t>
            </a:r>
            <a:r>
              <a:rPr lang="en-US" sz="2000" b="1">
                <a:solidFill>
                  <a:srgbClr val="006699"/>
                </a:solidFill>
                <a:latin typeface="Calibri"/>
                <a:ea typeface="Calibri"/>
                <a:cs typeface="Calibri"/>
                <a:sym typeface="Calibri"/>
              </a:rPr>
              <a:t>length</a:t>
            </a:r>
            <a:r>
              <a:rPr lang="en-US" sz="2000" b="1">
                <a:solidFill>
                  <a:srgbClr val="3366FF"/>
                </a:solidFill>
              </a:rPr>
              <a:t> </a:t>
            </a:r>
            <a:r>
              <a:rPr lang="en-US" sz="2000" b="1">
                <a:solidFill>
                  <a:srgbClr val="006699"/>
                </a:solidFill>
                <a:latin typeface="Calibri"/>
                <a:ea typeface="Calibri"/>
                <a:cs typeface="Calibri"/>
                <a:sym typeface="Calibri"/>
              </a:rPr>
              <a:t>register</a:t>
            </a:r>
            <a:r>
              <a:rPr lang="en-US" sz="2000" b="1">
                <a:solidFill>
                  <a:srgbClr val="3366FF"/>
                </a:solidFill>
              </a:rPr>
              <a:t> </a:t>
            </a:r>
            <a:r>
              <a:rPr lang="en-US" sz="2000"/>
              <a:t>(</a:t>
            </a:r>
            <a:r>
              <a:rPr lang="en-US" sz="2000" b="1">
                <a:solidFill>
                  <a:srgbClr val="006699"/>
                </a:solidFill>
                <a:latin typeface="Calibri"/>
                <a:ea typeface="Calibri"/>
                <a:cs typeface="Calibri"/>
                <a:sym typeface="Calibri"/>
              </a:rPr>
              <a:t>PTLR</a:t>
            </a:r>
            <a:r>
              <a:rPr lang="en-US" sz="2000"/>
              <a:t>)</a:t>
            </a:r>
            <a:endParaRPr/>
          </a:p>
          <a:p>
            <a:pPr marL="457200" lvl="1" indent="0" algn="l" rtl="0">
              <a:spcBef>
                <a:spcPts val="400"/>
              </a:spcBef>
              <a:spcAft>
                <a:spcPts val="0"/>
              </a:spcAft>
              <a:buClr>
                <a:schemeClr val="dk1"/>
              </a:buClr>
              <a:buSzPts val="2000"/>
              <a:buNone/>
            </a:pPr>
            <a:endParaRPr sz="2000"/>
          </a:p>
        </p:txBody>
      </p:sp>
      <p:sp>
        <p:nvSpPr>
          <p:cNvPr id="532" name="Google Shape;532;p47"/>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533" name="Google Shape;533;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34" name="Google Shape;534;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8"/>
          <p:cNvSpPr txBox="1">
            <a:spLocks noGrp="1"/>
          </p:cNvSpPr>
          <p:nvPr>
            <p:ph type="title"/>
          </p:nvPr>
        </p:nvSpPr>
        <p:spPr>
          <a:xfrm>
            <a:off x="786453" y="231913"/>
            <a:ext cx="7672873" cy="564728"/>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2800"/>
              <a:buFont typeface="Calibri"/>
              <a:buNone/>
            </a:pPr>
            <a:r>
              <a:rPr lang="en-US" sz="2800">
                <a:solidFill>
                  <a:schemeClr val="accent1"/>
                </a:solidFill>
              </a:rPr>
              <a:t>Valid (v) or Invalid (i) Bit In A Page Table</a:t>
            </a:r>
            <a:endParaRPr/>
          </a:p>
        </p:txBody>
      </p:sp>
      <p:pic>
        <p:nvPicPr>
          <p:cNvPr id="541" name="Google Shape;541;p48"/>
          <p:cNvPicPr preferRelativeResize="0"/>
          <p:nvPr/>
        </p:nvPicPr>
        <p:blipFill rotWithShape="1">
          <a:blip r:embed="rId3">
            <a:alphaModFix/>
          </a:blip>
          <a:srcRect/>
          <a:stretch/>
        </p:blipFill>
        <p:spPr>
          <a:xfrm>
            <a:off x="1643250" y="1056141"/>
            <a:ext cx="6316593" cy="5482771"/>
          </a:xfrm>
          <a:prstGeom prst="rect">
            <a:avLst/>
          </a:prstGeom>
          <a:noFill/>
          <a:ln>
            <a:noFill/>
          </a:ln>
        </p:spPr>
      </p:pic>
      <p:sp>
        <p:nvSpPr>
          <p:cNvPr id="542" name="Google Shape;542;p48"/>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543" name="Google Shape;543;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44" name="Google Shape;544;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9"/>
          <p:cNvSpPr txBox="1">
            <a:spLocks noGrp="1"/>
          </p:cNvSpPr>
          <p:nvPr>
            <p:ph type="title"/>
          </p:nvPr>
        </p:nvSpPr>
        <p:spPr>
          <a:xfrm>
            <a:off x="457200" y="274638"/>
            <a:ext cx="8229600" cy="51932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SHARED PAGES</a:t>
            </a:r>
            <a:endParaRPr/>
          </a:p>
        </p:txBody>
      </p:sp>
      <p:sp>
        <p:nvSpPr>
          <p:cNvPr id="550" name="Google Shape;550;p49"/>
          <p:cNvSpPr txBox="1">
            <a:spLocks noGrp="1"/>
          </p:cNvSpPr>
          <p:nvPr>
            <p:ph type="body" idx="1"/>
          </p:nvPr>
        </p:nvSpPr>
        <p:spPr>
          <a:xfrm>
            <a:off x="5072064" y="1827210"/>
            <a:ext cx="4071937" cy="4134717"/>
          </a:xfrm>
          <a:prstGeom prst="rect">
            <a:avLst/>
          </a:prstGeom>
          <a:noFill/>
          <a:ln>
            <a:noFill/>
          </a:ln>
        </p:spPr>
        <p:txBody>
          <a:bodyPr spcFirstLastPara="1" wrap="square" lIns="91425" tIns="45700" rIns="91425" bIns="45700" anchor="t" anchorCtr="0">
            <a:normAutofit fontScale="92500"/>
          </a:bodyPr>
          <a:lstStyle/>
          <a:p>
            <a:pPr marL="342900" lvl="0" indent="-342923" algn="l" rtl="0">
              <a:lnSpc>
                <a:spcPct val="90000"/>
              </a:lnSpc>
              <a:spcBef>
                <a:spcPts val="0"/>
              </a:spcBef>
              <a:spcAft>
                <a:spcPts val="0"/>
              </a:spcAft>
              <a:buClr>
                <a:schemeClr val="dk1"/>
              </a:buClr>
              <a:buSzPct val="99944"/>
              <a:buChar char="•"/>
            </a:pPr>
            <a:r>
              <a:rPr lang="en-US" sz="1795"/>
              <a:t>Shared code</a:t>
            </a:r>
            <a:endParaRPr/>
          </a:p>
          <a:p>
            <a:pPr marL="742950" lvl="1" indent="-285773" algn="l" rtl="0">
              <a:lnSpc>
                <a:spcPct val="90000"/>
              </a:lnSpc>
              <a:spcBef>
                <a:spcPts val="332"/>
              </a:spcBef>
              <a:spcAft>
                <a:spcPts val="0"/>
              </a:spcAft>
              <a:buClr>
                <a:schemeClr val="dk1"/>
              </a:buClr>
              <a:buSzPct val="99944"/>
              <a:buChar char="–"/>
            </a:pPr>
            <a:r>
              <a:rPr lang="en-US" sz="1795"/>
              <a:t>Read-only (reentrant) code shared among processes</a:t>
            </a:r>
            <a:endParaRPr/>
          </a:p>
          <a:p>
            <a:pPr marL="742950" lvl="1" indent="-285773" algn="l" rtl="0">
              <a:lnSpc>
                <a:spcPct val="90000"/>
              </a:lnSpc>
              <a:spcBef>
                <a:spcPts val="332"/>
              </a:spcBef>
              <a:spcAft>
                <a:spcPts val="0"/>
              </a:spcAft>
              <a:buClr>
                <a:schemeClr val="dk1"/>
              </a:buClr>
              <a:buSzPct val="99944"/>
              <a:buChar char="–"/>
            </a:pPr>
            <a:r>
              <a:rPr lang="en-US" sz="1795"/>
              <a:t>Shared code appeared in same location in the physical address space</a:t>
            </a:r>
            <a:endParaRPr/>
          </a:p>
          <a:p>
            <a:pPr marL="342900" lvl="0" indent="-342923" algn="l" rtl="0">
              <a:lnSpc>
                <a:spcPct val="90000"/>
              </a:lnSpc>
              <a:spcBef>
                <a:spcPts val="332"/>
              </a:spcBef>
              <a:spcAft>
                <a:spcPts val="0"/>
              </a:spcAft>
              <a:buClr>
                <a:schemeClr val="dk1"/>
              </a:buClr>
              <a:buSzPct val="99944"/>
              <a:buChar char="•"/>
            </a:pPr>
            <a:r>
              <a:rPr lang="en-US" sz="1795"/>
              <a:t>Private code and data </a:t>
            </a:r>
            <a:endParaRPr/>
          </a:p>
          <a:p>
            <a:pPr marL="742950" lvl="1" indent="-285773" algn="l" rtl="0">
              <a:lnSpc>
                <a:spcPct val="90000"/>
              </a:lnSpc>
              <a:spcBef>
                <a:spcPts val="332"/>
              </a:spcBef>
              <a:spcAft>
                <a:spcPts val="0"/>
              </a:spcAft>
              <a:buClr>
                <a:schemeClr val="dk1"/>
              </a:buClr>
              <a:buSzPct val="99944"/>
              <a:buChar char="–"/>
            </a:pPr>
            <a:r>
              <a:rPr lang="en-US" sz="1795"/>
              <a:t>Each process keeps a separate copy of the code and data, (e.g., stack).</a:t>
            </a:r>
            <a:endParaRPr/>
          </a:p>
          <a:p>
            <a:pPr marL="742950" lvl="1" indent="-285773" algn="l" rtl="0">
              <a:lnSpc>
                <a:spcPct val="90000"/>
              </a:lnSpc>
              <a:spcBef>
                <a:spcPts val="332"/>
              </a:spcBef>
              <a:spcAft>
                <a:spcPts val="0"/>
              </a:spcAft>
              <a:buClr>
                <a:schemeClr val="dk1"/>
              </a:buClr>
              <a:buSzPct val="99944"/>
              <a:buChar char="–"/>
            </a:pPr>
            <a:r>
              <a:rPr lang="en-US" sz="1795"/>
              <a:t>Private page can appear anywhere in the physical address space.</a:t>
            </a:r>
            <a:endParaRPr/>
          </a:p>
          <a:p>
            <a:pPr marL="342900" lvl="0" indent="-342923" algn="l" rtl="0">
              <a:lnSpc>
                <a:spcPct val="90000"/>
              </a:lnSpc>
              <a:spcBef>
                <a:spcPts val="332"/>
              </a:spcBef>
              <a:spcAft>
                <a:spcPts val="0"/>
              </a:spcAft>
              <a:buClr>
                <a:schemeClr val="dk1"/>
              </a:buClr>
              <a:buSzPct val="99944"/>
              <a:buChar char="•"/>
            </a:pPr>
            <a:r>
              <a:rPr lang="en-US" sz="1795"/>
              <a:t>Copy on write</a:t>
            </a:r>
            <a:endParaRPr/>
          </a:p>
          <a:p>
            <a:pPr marL="742950" lvl="1" indent="-285773" algn="l" rtl="0">
              <a:lnSpc>
                <a:spcPct val="90000"/>
              </a:lnSpc>
              <a:spcBef>
                <a:spcPts val="332"/>
              </a:spcBef>
              <a:spcAft>
                <a:spcPts val="0"/>
              </a:spcAft>
              <a:buClr>
                <a:schemeClr val="dk1"/>
              </a:buClr>
              <a:buSzPct val="99944"/>
              <a:buChar char="–"/>
            </a:pPr>
            <a:r>
              <a:rPr lang="en-US" sz="1795"/>
              <a:t>Pages may be initially shared upon a fork</a:t>
            </a:r>
            <a:endParaRPr/>
          </a:p>
          <a:p>
            <a:pPr marL="742950" lvl="1" indent="-285773" algn="l" rtl="0">
              <a:lnSpc>
                <a:spcPct val="90000"/>
              </a:lnSpc>
              <a:spcBef>
                <a:spcPts val="332"/>
              </a:spcBef>
              <a:spcAft>
                <a:spcPts val="0"/>
              </a:spcAft>
              <a:buClr>
                <a:schemeClr val="dk1"/>
              </a:buClr>
              <a:buSzPct val="99944"/>
              <a:buChar char="–"/>
            </a:pPr>
            <a:r>
              <a:rPr lang="en-US" sz="1795"/>
              <a:t>They will be duplicated upon a write</a:t>
            </a:r>
            <a:endParaRPr/>
          </a:p>
        </p:txBody>
      </p:sp>
      <p:pic>
        <p:nvPicPr>
          <p:cNvPr id="551" name="Google Shape;551;p49"/>
          <p:cNvPicPr preferRelativeResize="0"/>
          <p:nvPr/>
        </p:nvPicPr>
        <p:blipFill rotWithShape="1">
          <a:blip r:embed="rId3">
            <a:alphaModFix/>
          </a:blip>
          <a:srcRect l="1698" t="848" r="1698" b="850"/>
          <a:stretch/>
        </p:blipFill>
        <p:spPr>
          <a:xfrm>
            <a:off x="0" y="1832450"/>
            <a:ext cx="5029200" cy="3860766"/>
          </a:xfrm>
          <a:prstGeom prst="rect">
            <a:avLst/>
          </a:prstGeom>
          <a:noFill/>
          <a:ln>
            <a:noFill/>
          </a:ln>
        </p:spPr>
      </p:pic>
      <p:cxnSp>
        <p:nvCxnSpPr>
          <p:cNvPr id="552" name="Google Shape;552;p49"/>
          <p:cNvCxnSpPr/>
          <p:nvPr/>
        </p:nvCxnSpPr>
        <p:spPr>
          <a:xfrm>
            <a:off x="644526" y="2342177"/>
            <a:ext cx="377825" cy="270958"/>
          </a:xfrm>
          <a:prstGeom prst="straightConnector1">
            <a:avLst/>
          </a:prstGeom>
          <a:noFill/>
          <a:ln w="9525" cap="flat" cmpd="sng">
            <a:solidFill>
              <a:schemeClr val="dk1"/>
            </a:solidFill>
            <a:prstDash val="solid"/>
            <a:miter lim="800000"/>
            <a:headEnd type="none" w="med" len="med"/>
            <a:tailEnd type="triangle" w="med" len="med"/>
          </a:ln>
        </p:spPr>
      </p:cxnSp>
      <p:cxnSp>
        <p:nvCxnSpPr>
          <p:cNvPr id="553" name="Google Shape;553;p49"/>
          <p:cNvCxnSpPr/>
          <p:nvPr/>
        </p:nvCxnSpPr>
        <p:spPr>
          <a:xfrm>
            <a:off x="1236663" y="2613135"/>
            <a:ext cx="3119437" cy="709579"/>
          </a:xfrm>
          <a:prstGeom prst="straightConnector1">
            <a:avLst/>
          </a:prstGeom>
          <a:noFill/>
          <a:ln w="9525" cap="flat" cmpd="sng">
            <a:solidFill>
              <a:schemeClr val="dk1"/>
            </a:solidFill>
            <a:prstDash val="solid"/>
            <a:miter lim="800000"/>
            <a:headEnd type="none" w="med" len="med"/>
            <a:tailEnd type="triangle" w="med" len="med"/>
          </a:ln>
        </p:spPr>
      </p:cxnSp>
      <p:cxnSp>
        <p:nvCxnSpPr>
          <p:cNvPr id="554" name="Google Shape;554;p49"/>
          <p:cNvCxnSpPr/>
          <p:nvPr/>
        </p:nvCxnSpPr>
        <p:spPr>
          <a:xfrm rot="10800000" flipH="1">
            <a:off x="3335339" y="3357145"/>
            <a:ext cx="968375" cy="405688"/>
          </a:xfrm>
          <a:prstGeom prst="straightConnector1">
            <a:avLst/>
          </a:prstGeom>
          <a:noFill/>
          <a:ln w="9525" cap="flat" cmpd="sng">
            <a:solidFill>
              <a:schemeClr val="dk1"/>
            </a:solidFill>
            <a:prstDash val="solid"/>
            <a:miter lim="800000"/>
            <a:headEnd type="none" w="med" len="med"/>
            <a:tailEnd type="triangle" w="med" len="med"/>
          </a:ln>
        </p:spPr>
      </p:cxnSp>
      <p:cxnSp>
        <p:nvCxnSpPr>
          <p:cNvPr id="555" name="Google Shape;555;p49"/>
          <p:cNvCxnSpPr/>
          <p:nvPr/>
        </p:nvCxnSpPr>
        <p:spPr>
          <a:xfrm>
            <a:off x="2743201" y="3542772"/>
            <a:ext cx="341313" cy="203592"/>
          </a:xfrm>
          <a:prstGeom prst="straightConnector1">
            <a:avLst/>
          </a:prstGeom>
          <a:noFill/>
          <a:ln w="9525" cap="flat" cmpd="sng">
            <a:solidFill>
              <a:schemeClr val="dk1"/>
            </a:solidFill>
            <a:prstDash val="solid"/>
            <a:miter lim="800000"/>
            <a:headEnd type="none" w="med" len="med"/>
            <a:tailEnd type="none" w="med" len="med"/>
          </a:ln>
        </p:spPr>
      </p:cxnSp>
      <p:cxnSp>
        <p:nvCxnSpPr>
          <p:cNvPr id="556" name="Google Shape;556;p49"/>
          <p:cNvCxnSpPr/>
          <p:nvPr/>
        </p:nvCxnSpPr>
        <p:spPr>
          <a:xfrm>
            <a:off x="646114" y="4743368"/>
            <a:ext cx="376237" cy="220060"/>
          </a:xfrm>
          <a:prstGeom prst="straightConnector1">
            <a:avLst/>
          </a:prstGeom>
          <a:noFill/>
          <a:ln w="9525" cap="flat" cmpd="sng">
            <a:solidFill>
              <a:schemeClr val="dk1"/>
            </a:solidFill>
            <a:prstDash val="solid"/>
            <a:miter lim="800000"/>
            <a:headEnd type="none" w="med" len="med"/>
            <a:tailEnd type="triangle" w="med" len="med"/>
          </a:ln>
        </p:spPr>
      </p:cxnSp>
      <p:sp>
        <p:nvSpPr>
          <p:cNvPr id="557" name="Google Shape;557;p49"/>
          <p:cNvSpPr/>
          <p:nvPr/>
        </p:nvSpPr>
        <p:spPr>
          <a:xfrm>
            <a:off x="1255714" y="3475408"/>
            <a:ext cx="3011487" cy="1616762"/>
          </a:xfrm>
          <a:custGeom>
            <a:avLst/>
            <a:gdLst/>
            <a:ahLst/>
            <a:cxnLst/>
            <a:rect l="l" t="t" r="r" b="b"/>
            <a:pathLst>
              <a:path w="1897" h="1080" extrusionOk="0">
                <a:moveTo>
                  <a:pt x="0" y="983"/>
                </a:moveTo>
                <a:cubicBezTo>
                  <a:pt x="339" y="1031"/>
                  <a:pt x="679" y="1080"/>
                  <a:pt x="937" y="1050"/>
                </a:cubicBezTo>
                <a:cubicBezTo>
                  <a:pt x="1195" y="1020"/>
                  <a:pt x="1387" y="977"/>
                  <a:pt x="1547" y="802"/>
                </a:cubicBezTo>
                <a:cubicBezTo>
                  <a:pt x="1707" y="627"/>
                  <a:pt x="1802" y="313"/>
                  <a:pt x="1897" y="0"/>
                </a:cubicBezTo>
              </a:path>
            </a:pathLst>
          </a:custGeom>
          <a:noFill/>
          <a:ln w="9525" cap="flat" cmpd="sng">
            <a:solidFill>
              <a:schemeClr val="dk1"/>
            </a:solidFill>
            <a:prstDash val="solid"/>
            <a:miter lim="800000"/>
            <a:headEnd type="none" w="sm" len="sm"/>
            <a:tailEnd type="none" w="sm" len="sm"/>
          </a:ln>
        </p:spPr>
        <p:txBody>
          <a:bodyPr spcFirstLastPara="1" wrap="square" lIns="89200" tIns="44600" rIns="89200" bIns="446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cxnSp>
        <p:nvCxnSpPr>
          <p:cNvPr id="558" name="Google Shape;558;p49"/>
          <p:cNvCxnSpPr/>
          <p:nvPr/>
        </p:nvCxnSpPr>
        <p:spPr>
          <a:xfrm rot="10800000" flipH="1">
            <a:off x="646114" y="3171516"/>
            <a:ext cx="358775" cy="169162"/>
          </a:xfrm>
          <a:prstGeom prst="straightConnector1">
            <a:avLst/>
          </a:prstGeom>
          <a:noFill/>
          <a:ln w="9525" cap="flat" cmpd="sng">
            <a:solidFill>
              <a:schemeClr val="hlink"/>
            </a:solidFill>
            <a:prstDash val="solid"/>
            <a:miter lim="800000"/>
            <a:headEnd type="none" w="med" len="med"/>
            <a:tailEnd type="triangle" w="med" len="med"/>
          </a:ln>
        </p:spPr>
      </p:cxnSp>
      <p:cxnSp>
        <p:nvCxnSpPr>
          <p:cNvPr id="559" name="Google Shape;559;p49"/>
          <p:cNvCxnSpPr/>
          <p:nvPr/>
        </p:nvCxnSpPr>
        <p:spPr>
          <a:xfrm rot="10800000" flipH="1">
            <a:off x="2743200" y="4321213"/>
            <a:ext cx="376238" cy="220060"/>
          </a:xfrm>
          <a:prstGeom prst="straightConnector1">
            <a:avLst/>
          </a:prstGeom>
          <a:noFill/>
          <a:ln w="9525" cap="flat" cmpd="sng">
            <a:solidFill>
              <a:srgbClr val="00FF00"/>
            </a:solidFill>
            <a:prstDash val="solid"/>
            <a:miter lim="800000"/>
            <a:headEnd type="none" w="med" len="med"/>
            <a:tailEnd type="triangle" w="med" len="med"/>
          </a:ln>
        </p:spPr>
      </p:cxnSp>
      <p:cxnSp>
        <p:nvCxnSpPr>
          <p:cNvPr id="560" name="Google Shape;560;p49"/>
          <p:cNvCxnSpPr/>
          <p:nvPr/>
        </p:nvCxnSpPr>
        <p:spPr>
          <a:xfrm rot="10800000" flipH="1">
            <a:off x="681038" y="5538276"/>
            <a:ext cx="341312" cy="202095"/>
          </a:xfrm>
          <a:prstGeom prst="straightConnector1">
            <a:avLst/>
          </a:prstGeom>
          <a:noFill/>
          <a:ln w="9525" cap="flat" cmpd="sng">
            <a:solidFill>
              <a:srgbClr val="0000FF"/>
            </a:solidFill>
            <a:prstDash val="solid"/>
            <a:miter lim="800000"/>
            <a:headEnd type="none" w="med" len="med"/>
            <a:tailEnd type="triangle" w="med" len="med"/>
          </a:ln>
        </p:spPr>
      </p:cxnSp>
      <p:sp>
        <p:nvSpPr>
          <p:cNvPr id="561" name="Google Shape;561;p49"/>
          <p:cNvSpPr/>
          <p:nvPr/>
        </p:nvSpPr>
        <p:spPr>
          <a:xfrm>
            <a:off x="1236663" y="3069720"/>
            <a:ext cx="3013075" cy="2612268"/>
          </a:xfrm>
          <a:custGeom>
            <a:avLst/>
            <a:gdLst/>
            <a:ahLst/>
            <a:cxnLst/>
            <a:rect l="l" t="t" r="r" b="b"/>
            <a:pathLst>
              <a:path w="1898" h="1745" extrusionOk="0">
                <a:moveTo>
                  <a:pt x="0" y="1626"/>
                </a:moveTo>
                <a:cubicBezTo>
                  <a:pt x="678" y="1685"/>
                  <a:pt x="1356" y="1745"/>
                  <a:pt x="1627" y="1559"/>
                </a:cubicBezTo>
                <a:cubicBezTo>
                  <a:pt x="1898" y="1373"/>
                  <a:pt x="1582" y="768"/>
                  <a:pt x="1627" y="508"/>
                </a:cubicBezTo>
                <a:cubicBezTo>
                  <a:pt x="1672" y="248"/>
                  <a:pt x="1785" y="124"/>
                  <a:pt x="1898" y="0"/>
                </a:cubicBezTo>
              </a:path>
            </a:pathLst>
          </a:custGeom>
          <a:noFill/>
          <a:ln w="9525" cap="flat" cmpd="sng">
            <a:solidFill>
              <a:srgbClr val="0000FF"/>
            </a:solidFill>
            <a:prstDash val="solid"/>
            <a:miter lim="800000"/>
            <a:headEnd type="none" w="sm" len="sm"/>
            <a:tailEnd type="none" w="sm" len="sm"/>
          </a:ln>
        </p:spPr>
        <p:txBody>
          <a:bodyPr spcFirstLastPara="1" wrap="square" lIns="89200" tIns="44600" rIns="89200" bIns="446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cxnSp>
        <p:nvCxnSpPr>
          <p:cNvPr id="562" name="Google Shape;562;p49"/>
          <p:cNvCxnSpPr/>
          <p:nvPr/>
        </p:nvCxnSpPr>
        <p:spPr>
          <a:xfrm rot="10800000" flipH="1">
            <a:off x="1236663" y="2714931"/>
            <a:ext cx="3067050" cy="473052"/>
          </a:xfrm>
          <a:prstGeom prst="straightConnector1">
            <a:avLst/>
          </a:prstGeom>
          <a:noFill/>
          <a:ln w="9525" cap="flat" cmpd="sng">
            <a:solidFill>
              <a:schemeClr val="hlink"/>
            </a:solidFill>
            <a:prstDash val="solid"/>
            <a:miter lim="800000"/>
            <a:headEnd type="none" w="med" len="med"/>
            <a:tailEnd type="triangle" w="med" len="med"/>
          </a:ln>
        </p:spPr>
      </p:cxnSp>
      <p:cxnSp>
        <p:nvCxnSpPr>
          <p:cNvPr id="563" name="Google Shape;563;p49"/>
          <p:cNvCxnSpPr/>
          <p:nvPr/>
        </p:nvCxnSpPr>
        <p:spPr>
          <a:xfrm>
            <a:off x="3335338" y="4321213"/>
            <a:ext cx="914400" cy="438622"/>
          </a:xfrm>
          <a:prstGeom prst="straightConnector1">
            <a:avLst/>
          </a:prstGeom>
          <a:noFill/>
          <a:ln w="9525" cap="flat" cmpd="sng">
            <a:solidFill>
              <a:srgbClr val="00FF00"/>
            </a:solidFill>
            <a:prstDash val="solid"/>
            <a:miter lim="800000"/>
            <a:headEnd type="none" w="med" len="med"/>
            <a:tailEnd type="triangle" w="med" len="med"/>
          </a:ln>
        </p:spPr>
      </p:cxnSp>
      <p:sp>
        <p:nvSpPr>
          <p:cNvPr id="564" name="Google Shape;564;p49"/>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565" name="Google Shape;565;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66" name="Google Shape;566;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50"/>
          <p:cNvSpPr txBox="1">
            <a:spLocks noGrp="1"/>
          </p:cNvSpPr>
          <p:nvPr>
            <p:ph type="title"/>
          </p:nvPr>
        </p:nvSpPr>
        <p:spPr>
          <a:xfrm>
            <a:off x="520700" y="367633"/>
            <a:ext cx="8229600" cy="54341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Structure of the Page Table</a:t>
            </a:r>
            <a:endParaRPr/>
          </a:p>
        </p:txBody>
      </p:sp>
      <p:sp>
        <p:nvSpPr>
          <p:cNvPr id="573" name="Google Shape;573;p50"/>
          <p:cNvSpPr txBox="1">
            <a:spLocks noGrp="1"/>
          </p:cNvSpPr>
          <p:nvPr>
            <p:ph type="body" idx="1"/>
          </p:nvPr>
        </p:nvSpPr>
        <p:spPr>
          <a:xfrm>
            <a:off x="907584" y="1519931"/>
            <a:ext cx="7119938" cy="4227531"/>
          </a:xfrm>
          <a:prstGeom prst="rect">
            <a:avLst/>
          </a:prstGeom>
          <a:noFill/>
          <a:ln>
            <a:noFill/>
          </a:ln>
        </p:spPr>
        <p:txBody>
          <a:bodyPr spcFirstLastPara="1" wrap="square" lIns="91425" tIns="45700" rIns="91425" bIns="45700" anchor="t" anchorCtr="0">
            <a:normAutofit fontScale="92500" lnSpcReduction="20000"/>
          </a:bodyPr>
          <a:lstStyle/>
          <a:p>
            <a:pPr marL="342900" lvl="0" indent="-358140" algn="l" rtl="0">
              <a:spcBef>
                <a:spcPts val="0"/>
              </a:spcBef>
              <a:spcAft>
                <a:spcPts val="0"/>
              </a:spcAft>
              <a:buClr>
                <a:schemeClr val="dk1"/>
              </a:buClr>
              <a:buSzPct val="100000"/>
              <a:buChar char="•"/>
            </a:pPr>
            <a:r>
              <a:rPr lang="en-US"/>
              <a:t>Memory structures for paging can get huge using straightforward methods</a:t>
            </a:r>
            <a:endParaRPr/>
          </a:p>
          <a:p>
            <a:pPr marL="742950" lvl="1" indent="-299085" algn="l" rtl="0">
              <a:spcBef>
                <a:spcPts val="476"/>
              </a:spcBef>
              <a:spcAft>
                <a:spcPts val="0"/>
              </a:spcAft>
              <a:buClr>
                <a:schemeClr val="dk1"/>
              </a:buClr>
              <a:buSzPct val="100000"/>
              <a:buChar char="–"/>
            </a:pPr>
            <a:r>
              <a:rPr lang="en-US"/>
              <a:t>Consider a 32-bit logical address space as on modern computers</a:t>
            </a:r>
            <a:endParaRPr/>
          </a:p>
          <a:p>
            <a:pPr marL="742950" lvl="1" indent="-299085" algn="l" rtl="0">
              <a:spcBef>
                <a:spcPts val="476"/>
              </a:spcBef>
              <a:spcAft>
                <a:spcPts val="0"/>
              </a:spcAft>
              <a:buClr>
                <a:schemeClr val="dk1"/>
              </a:buClr>
              <a:buSzPct val="100000"/>
              <a:buChar char="–"/>
            </a:pPr>
            <a:r>
              <a:rPr lang="en-US"/>
              <a:t>Page size of 4 KB (2</a:t>
            </a:r>
            <a:r>
              <a:rPr lang="en-US" baseline="30000"/>
              <a:t>12</a:t>
            </a:r>
            <a:r>
              <a:rPr lang="en-US"/>
              <a:t>)</a:t>
            </a:r>
            <a:endParaRPr/>
          </a:p>
          <a:p>
            <a:pPr marL="742950" lvl="1" indent="-299085" algn="l" rtl="0">
              <a:spcBef>
                <a:spcPts val="476"/>
              </a:spcBef>
              <a:spcAft>
                <a:spcPts val="0"/>
              </a:spcAft>
              <a:buClr>
                <a:schemeClr val="dk1"/>
              </a:buClr>
              <a:buSzPct val="100000"/>
              <a:buChar char="–"/>
            </a:pPr>
            <a:r>
              <a:rPr lang="en-US"/>
              <a:t>Page table would have 1 million entries (2</a:t>
            </a:r>
            <a:r>
              <a:rPr lang="en-US" baseline="30000"/>
              <a:t>32</a:t>
            </a:r>
            <a:r>
              <a:rPr lang="en-US"/>
              <a:t> / 2</a:t>
            </a:r>
            <a:r>
              <a:rPr lang="en-US" baseline="30000"/>
              <a:t>12</a:t>
            </a:r>
            <a:r>
              <a:rPr lang="en-US"/>
              <a:t>)</a:t>
            </a:r>
            <a:endParaRPr/>
          </a:p>
          <a:p>
            <a:pPr marL="742950" lvl="1" indent="-299085" algn="l" rtl="0">
              <a:spcBef>
                <a:spcPts val="476"/>
              </a:spcBef>
              <a:spcAft>
                <a:spcPts val="0"/>
              </a:spcAft>
              <a:buClr>
                <a:schemeClr val="dk1"/>
              </a:buClr>
              <a:buSzPct val="100000"/>
              <a:buChar char="–"/>
            </a:pPr>
            <a:r>
              <a:rPr lang="en-US"/>
              <a:t>If each entry is 4 bytes -&gt; 4 MB of physical address space / memory for page table alone</a:t>
            </a:r>
            <a:endParaRPr/>
          </a:p>
          <a:p>
            <a:pPr marL="1143000" lvl="2" indent="-240030" algn="l" rtl="0">
              <a:spcBef>
                <a:spcPts val="408"/>
              </a:spcBef>
              <a:spcAft>
                <a:spcPts val="0"/>
              </a:spcAft>
              <a:buClr>
                <a:schemeClr val="dk1"/>
              </a:buClr>
              <a:buSzPct val="100000"/>
              <a:buChar char="•"/>
            </a:pPr>
            <a:r>
              <a:rPr lang="en-US"/>
              <a:t>That amount of memory used to cost a lot</a:t>
            </a:r>
            <a:endParaRPr/>
          </a:p>
          <a:p>
            <a:pPr marL="1143000" lvl="2" indent="-240030" algn="l" rtl="0">
              <a:spcBef>
                <a:spcPts val="408"/>
              </a:spcBef>
              <a:spcAft>
                <a:spcPts val="0"/>
              </a:spcAft>
              <a:buClr>
                <a:schemeClr val="dk1"/>
              </a:buClr>
              <a:buSzPct val="100000"/>
              <a:buChar char="•"/>
            </a:pPr>
            <a:r>
              <a:rPr lang="en-US"/>
              <a:t>Don’t want to allocate that contiguously in main memory</a:t>
            </a:r>
            <a:endParaRPr/>
          </a:p>
        </p:txBody>
      </p:sp>
      <p:sp>
        <p:nvSpPr>
          <p:cNvPr id="574" name="Google Shape;574;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75" name="Google Shape;575;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51"/>
          <p:cNvSpPr txBox="1">
            <a:spLocks noGrp="1"/>
          </p:cNvSpPr>
          <p:nvPr>
            <p:ph type="body" idx="1"/>
          </p:nvPr>
        </p:nvSpPr>
        <p:spPr>
          <a:xfrm>
            <a:off x="534505" y="1651472"/>
            <a:ext cx="8229600" cy="4525963"/>
          </a:xfrm>
          <a:prstGeom prst="rect">
            <a:avLst/>
          </a:prstGeom>
          <a:noFill/>
          <a:ln>
            <a:noFill/>
          </a:ln>
        </p:spPr>
        <p:txBody>
          <a:bodyPr spcFirstLastPara="1" wrap="square" lIns="91425" tIns="45700" rIns="91425" bIns="45700" anchor="t" anchorCtr="0">
            <a:normAutofit/>
          </a:bodyPr>
          <a:lstStyle/>
          <a:p>
            <a:pPr marL="514350" lvl="0" indent="-514350" algn="ctr" rtl="0">
              <a:spcBef>
                <a:spcPts val="0"/>
              </a:spcBef>
              <a:spcAft>
                <a:spcPts val="0"/>
              </a:spcAft>
              <a:buClr>
                <a:schemeClr val="dk1"/>
              </a:buClr>
              <a:buSzPts val="3200"/>
              <a:buFont typeface="Calibri"/>
              <a:buAutoNum type="arabicPeriod"/>
            </a:pPr>
            <a:r>
              <a:rPr lang="en-US"/>
              <a:t>Hierarchical Paging</a:t>
            </a:r>
            <a:endParaRPr/>
          </a:p>
          <a:p>
            <a:pPr marL="514350" lvl="0" indent="-311150" algn="ctr" rtl="0">
              <a:spcBef>
                <a:spcPts val="640"/>
              </a:spcBef>
              <a:spcAft>
                <a:spcPts val="0"/>
              </a:spcAft>
              <a:buClr>
                <a:schemeClr val="dk1"/>
              </a:buClr>
              <a:buSzPts val="3200"/>
              <a:buFont typeface="Calibri"/>
              <a:buNone/>
            </a:pPr>
            <a:endParaRPr/>
          </a:p>
          <a:p>
            <a:pPr marL="514350" lvl="0" indent="-514350" algn="ctr" rtl="0">
              <a:spcBef>
                <a:spcPts val="640"/>
              </a:spcBef>
              <a:spcAft>
                <a:spcPts val="0"/>
              </a:spcAft>
              <a:buClr>
                <a:schemeClr val="dk1"/>
              </a:buClr>
              <a:buSzPts val="3200"/>
              <a:buFont typeface="Calibri"/>
              <a:buAutoNum type="arabicPeriod"/>
            </a:pPr>
            <a:r>
              <a:rPr lang="en-US"/>
              <a:t>Hashed Page Tables</a:t>
            </a:r>
            <a:endParaRPr/>
          </a:p>
          <a:p>
            <a:pPr marL="514350" lvl="0" indent="-311150" algn="ctr" rtl="0">
              <a:spcBef>
                <a:spcPts val="640"/>
              </a:spcBef>
              <a:spcAft>
                <a:spcPts val="0"/>
              </a:spcAft>
              <a:buClr>
                <a:schemeClr val="dk1"/>
              </a:buClr>
              <a:buSzPts val="3200"/>
              <a:buFont typeface="Calibri"/>
              <a:buNone/>
            </a:pPr>
            <a:endParaRPr/>
          </a:p>
          <a:p>
            <a:pPr marL="514350" lvl="0" indent="-514350" algn="ctr" rtl="0">
              <a:spcBef>
                <a:spcPts val="640"/>
              </a:spcBef>
              <a:spcAft>
                <a:spcPts val="0"/>
              </a:spcAft>
              <a:buClr>
                <a:schemeClr val="dk1"/>
              </a:buClr>
              <a:buSzPts val="3200"/>
              <a:buFont typeface="Calibri"/>
              <a:buAutoNum type="arabicPeriod"/>
            </a:pPr>
            <a:r>
              <a:rPr lang="en-US"/>
              <a:t>Inverted Page Tables</a:t>
            </a:r>
            <a:endParaRPr/>
          </a:p>
          <a:p>
            <a:pPr marL="514350" lvl="0" indent="-311150" algn="ctr" rtl="0">
              <a:spcBef>
                <a:spcPts val="640"/>
              </a:spcBef>
              <a:spcAft>
                <a:spcPts val="0"/>
              </a:spcAft>
              <a:buClr>
                <a:schemeClr val="dk1"/>
              </a:buClr>
              <a:buSzPts val="3200"/>
              <a:buFont typeface="Calibri"/>
              <a:buNone/>
            </a:pPr>
            <a:endParaRPr/>
          </a:p>
        </p:txBody>
      </p:sp>
      <p:sp>
        <p:nvSpPr>
          <p:cNvPr id="581" name="Google Shape;581;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4400"/>
              <a:buFont typeface="Calibri"/>
              <a:buNone/>
            </a:pPr>
            <a:r>
              <a:rPr lang="en-US">
                <a:solidFill>
                  <a:srgbClr val="0070C0"/>
                </a:solidFill>
              </a:rPr>
              <a:t>Structure of the Page Table</a:t>
            </a:r>
            <a:endParaRPr/>
          </a:p>
        </p:txBody>
      </p:sp>
      <p:sp>
        <p:nvSpPr>
          <p:cNvPr id="582" name="Google Shape;582;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83" name="Google Shape;583;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52"/>
          <p:cNvSpPr txBox="1">
            <a:spLocks noGrp="1"/>
          </p:cNvSpPr>
          <p:nvPr>
            <p:ph type="title"/>
          </p:nvPr>
        </p:nvSpPr>
        <p:spPr>
          <a:xfrm>
            <a:off x="487317" y="351932"/>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Hierarchical Page Tables</a:t>
            </a:r>
            <a:endParaRPr/>
          </a:p>
        </p:txBody>
      </p:sp>
      <p:sp>
        <p:nvSpPr>
          <p:cNvPr id="590" name="Google Shape;590;p52"/>
          <p:cNvSpPr txBox="1">
            <a:spLocks noGrp="1"/>
          </p:cNvSpPr>
          <p:nvPr>
            <p:ph type="body" idx="1"/>
          </p:nvPr>
        </p:nvSpPr>
        <p:spPr>
          <a:xfrm>
            <a:off x="936884" y="1304815"/>
            <a:ext cx="7699582" cy="467491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Break up the logical address space into multiple page tables</a:t>
            </a:r>
            <a:endParaRPr/>
          </a:p>
          <a:p>
            <a:pPr marL="342900" lvl="0" indent="-342900" algn="l" rtl="0">
              <a:spcBef>
                <a:spcPts val="640"/>
              </a:spcBef>
              <a:spcAft>
                <a:spcPts val="0"/>
              </a:spcAft>
              <a:buClr>
                <a:schemeClr val="dk1"/>
              </a:buClr>
              <a:buSzPts val="3200"/>
              <a:buChar char="•"/>
            </a:pPr>
            <a:r>
              <a:rPr lang="en-US"/>
              <a:t>A simple technique is a two-level page table</a:t>
            </a:r>
            <a:endParaRPr/>
          </a:p>
          <a:p>
            <a:pPr marL="342900" lvl="0" indent="-342900" algn="l" rtl="0">
              <a:spcBef>
                <a:spcPts val="640"/>
              </a:spcBef>
              <a:spcAft>
                <a:spcPts val="0"/>
              </a:spcAft>
              <a:buClr>
                <a:schemeClr val="dk1"/>
              </a:buClr>
              <a:buSzPts val="3200"/>
              <a:buChar char="•"/>
            </a:pPr>
            <a:r>
              <a:rPr lang="en-US"/>
              <a:t>We then page the page table</a:t>
            </a:r>
            <a:endParaRPr/>
          </a:p>
        </p:txBody>
      </p:sp>
      <p:sp>
        <p:nvSpPr>
          <p:cNvPr id="591" name="Google Shape;591;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92" name="Google Shape;592;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53"/>
          <p:cNvSpPr txBox="1">
            <a:spLocks noGrp="1"/>
          </p:cNvSpPr>
          <p:nvPr>
            <p:ph type="title" idx="4294967295"/>
          </p:nvPr>
        </p:nvSpPr>
        <p:spPr>
          <a:xfrm>
            <a:off x="457743" y="394939"/>
            <a:ext cx="8229057" cy="57581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83333"/>
              <a:buFont typeface="Calibri"/>
              <a:buNone/>
            </a:pPr>
            <a:r>
              <a:rPr lang="en-US">
                <a:solidFill>
                  <a:srgbClr val="0070C0"/>
                </a:solidFill>
              </a:rPr>
              <a:t>Two-Level Page-Table Scheme</a:t>
            </a:r>
            <a:endParaRPr sz="2400">
              <a:solidFill>
                <a:srgbClr val="0070C0"/>
              </a:solidFill>
            </a:endParaRPr>
          </a:p>
        </p:txBody>
      </p:sp>
      <p:pic>
        <p:nvPicPr>
          <p:cNvPr id="599" name="Google Shape;599;p53" descr="8"/>
          <p:cNvPicPr preferRelativeResize="0"/>
          <p:nvPr/>
        </p:nvPicPr>
        <p:blipFill rotWithShape="1">
          <a:blip r:embed="rId3">
            <a:alphaModFix/>
          </a:blip>
          <a:srcRect/>
          <a:stretch/>
        </p:blipFill>
        <p:spPr>
          <a:xfrm>
            <a:off x="2301875" y="1268414"/>
            <a:ext cx="4248150" cy="4492625"/>
          </a:xfrm>
          <a:prstGeom prst="rect">
            <a:avLst/>
          </a:prstGeom>
          <a:noFill/>
          <a:ln>
            <a:noFill/>
          </a:ln>
        </p:spPr>
      </p:pic>
      <p:sp>
        <p:nvSpPr>
          <p:cNvPr id="600" name="Google Shape;600;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01" name="Google Shape;601;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54"/>
          <p:cNvSpPr txBox="1">
            <a:spLocks noGrp="1"/>
          </p:cNvSpPr>
          <p:nvPr>
            <p:ph type="title"/>
          </p:nvPr>
        </p:nvSpPr>
        <p:spPr>
          <a:xfrm>
            <a:off x="673652" y="241955"/>
            <a:ext cx="7762875"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Two-Level Paging Example</a:t>
            </a:r>
            <a:endParaRPr/>
          </a:p>
        </p:txBody>
      </p:sp>
      <p:sp>
        <p:nvSpPr>
          <p:cNvPr id="608" name="Google Shape;608;p54"/>
          <p:cNvSpPr txBox="1">
            <a:spLocks noGrp="1"/>
          </p:cNvSpPr>
          <p:nvPr>
            <p:ph type="body" idx="1"/>
          </p:nvPr>
        </p:nvSpPr>
        <p:spPr>
          <a:xfrm>
            <a:off x="673652" y="941464"/>
            <a:ext cx="8038667" cy="5386449"/>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lnSpc>
                <a:spcPct val="90000"/>
              </a:lnSpc>
              <a:spcBef>
                <a:spcPts val="0"/>
              </a:spcBef>
              <a:spcAft>
                <a:spcPts val="0"/>
              </a:spcAft>
              <a:buClr>
                <a:schemeClr val="dk1"/>
              </a:buClr>
              <a:buSzPct val="100000"/>
              <a:buChar char="•"/>
            </a:pPr>
            <a:r>
              <a:rPr lang="en-US"/>
              <a:t>A logical address (on 32-bit machine with 1K page size) is divided into:</a:t>
            </a:r>
            <a:endParaRPr/>
          </a:p>
          <a:p>
            <a:pPr marL="627007" lvl="1" indent="-285749" algn="l" rtl="0">
              <a:lnSpc>
                <a:spcPct val="90000"/>
              </a:lnSpc>
              <a:spcBef>
                <a:spcPts val="392"/>
              </a:spcBef>
              <a:spcAft>
                <a:spcPts val="0"/>
              </a:spcAft>
              <a:buClr>
                <a:schemeClr val="dk1"/>
              </a:buClr>
              <a:buSzPct val="100000"/>
              <a:buChar char="–"/>
            </a:pPr>
            <a:r>
              <a:rPr lang="en-US"/>
              <a:t>a page number consisting of 22 bits</a:t>
            </a:r>
            <a:endParaRPr/>
          </a:p>
          <a:p>
            <a:pPr marL="627007" lvl="1" indent="-285749" algn="l" rtl="0">
              <a:lnSpc>
                <a:spcPct val="90000"/>
              </a:lnSpc>
              <a:spcBef>
                <a:spcPts val="392"/>
              </a:spcBef>
              <a:spcAft>
                <a:spcPts val="0"/>
              </a:spcAft>
              <a:buClr>
                <a:schemeClr val="dk1"/>
              </a:buClr>
              <a:buSzPct val="100000"/>
              <a:buChar char="–"/>
            </a:pPr>
            <a:r>
              <a:rPr lang="en-US"/>
              <a:t>a page offset consisting of 10 bits</a:t>
            </a:r>
            <a:endParaRPr/>
          </a:p>
          <a:p>
            <a:pPr marL="627007" lvl="1" indent="-250189" algn="l" rtl="0">
              <a:lnSpc>
                <a:spcPct val="90000"/>
              </a:lnSpc>
              <a:spcBef>
                <a:spcPts val="112"/>
              </a:spcBef>
              <a:spcAft>
                <a:spcPts val="0"/>
              </a:spcAft>
              <a:buClr>
                <a:schemeClr val="dk1"/>
              </a:buClr>
              <a:buSzPct val="100000"/>
              <a:buNone/>
            </a:pPr>
            <a:endParaRPr sz="800"/>
          </a:p>
          <a:p>
            <a:pPr marL="342900" lvl="0" indent="-342900" algn="l" rtl="0">
              <a:lnSpc>
                <a:spcPct val="90000"/>
              </a:lnSpc>
              <a:spcBef>
                <a:spcPts val="448"/>
              </a:spcBef>
              <a:spcAft>
                <a:spcPts val="0"/>
              </a:spcAft>
              <a:buClr>
                <a:schemeClr val="dk1"/>
              </a:buClr>
              <a:buSzPct val="100000"/>
              <a:buChar char="•"/>
            </a:pPr>
            <a:r>
              <a:rPr lang="en-US"/>
              <a:t>Since the page table is paged, the page number is further divided into:</a:t>
            </a:r>
            <a:endParaRPr/>
          </a:p>
          <a:p>
            <a:pPr marL="627007" lvl="1" indent="-285749" algn="l" rtl="0">
              <a:lnSpc>
                <a:spcPct val="90000"/>
              </a:lnSpc>
              <a:spcBef>
                <a:spcPts val="392"/>
              </a:spcBef>
              <a:spcAft>
                <a:spcPts val="0"/>
              </a:spcAft>
              <a:buClr>
                <a:schemeClr val="dk1"/>
              </a:buClr>
              <a:buSzPct val="100000"/>
              <a:buChar char="–"/>
            </a:pPr>
            <a:r>
              <a:rPr lang="en-US"/>
              <a:t>a 12-bit page number </a:t>
            </a:r>
            <a:endParaRPr/>
          </a:p>
          <a:p>
            <a:pPr marL="627007" lvl="1" indent="-285749" algn="l" rtl="0">
              <a:lnSpc>
                <a:spcPct val="90000"/>
              </a:lnSpc>
              <a:spcBef>
                <a:spcPts val="392"/>
              </a:spcBef>
              <a:spcAft>
                <a:spcPts val="0"/>
              </a:spcAft>
              <a:buClr>
                <a:schemeClr val="dk1"/>
              </a:buClr>
              <a:buSzPct val="100000"/>
              <a:buChar char="–"/>
            </a:pPr>
            <a:r>
              <a:rPr lang="en-US"/>
              <a:t>a 10-bit page offset</a:t>
            </a:r>
            <a:endParaRPr/>
          </a:p>
          <a:p>
            <a:pPr marL="627007" lvl="1" indent="-250189" algn="l" rtl="0">
              <a:lnSpc>
                <a:spcPct val="90000"/>
              </a:lnSpc>
              <a:spcBef>
                <a:spcPts val="112"/>
              </a:spcBef>
              <a:spcAft>
                <a:spcPts val="0"/>
              </a:spcAft>
              <a:buClr>
                <a:schemeClr val="dk1"/>
              </a:buClr>
              <a:buSzPct val="100000"/>
              <a:buNone/>
            </a:pPr>
            <a:endParaRPr sz="800"/>
          </a:p>
          <a:p>
            <a:pPr marL="342900" lvl="0" indent="-342900" algn="l" rtl="0">
              <a:lnSpc>
                <a:spcPct val="90000"/>
              </a:lnSpc>
              <a:spcBef>
                <a:spcPts val="448"/>
              </a:spcBef>
              <a:spcAft>
                <a:spcPts val="0"/>
              </a:spcAft>
              <a:buClr>
                <a:schemeClr val="dk1"/>
              </a:buClr>
              <a:buSzPct val="100000"/>
              <a:buChar char="•"/>
            </a:pPr>
            <a:r>
              <a:rPr lang="en-US"/>
              <a:t>Thus, a logical address is as follows:</a:t>
            </a:r>
            <a:endParaRPr/>
          </a:p>
          <a:p>
            <a:pPr marL="342900" lvl="0" indent="-200660" algn="l" rtl="0">
              <a:lnSpc>
                <a:spcPct val="90000"/>
              </a:lnSpc>
              <a:spcBef>
                <a:spcPts val="448"/>
              </a:spcBef>
              <a:spcAft>
                <a:spcPts val="0"/>
              </a:spcAft>
              <a:buClr>
                <a:schemeClr val="dk1"/>
              </a:buClr>
              <a:buSzPct val="100000"/>
              <a:buNone/>
            </a:pPr>
            <a:endParaRPr/>
          </a:p>
          <a:p>
            <a:pPr marL="0" lvl="0" indent="0" algn="l" rtl="0">
              <a:lnSpc>
                <a:spcPct val="90000"/>
              </a:lnSpc>
              <a:spcBef>
                <a:spcPts val="448"/>
              </a:spcBef>
              <a:spcAft>
                <a:spcPts val="0"/>
              </a:spcAft>
              <a:buClr>
                <a:schemeClr val="dk1"/>
              </a:buClr>
              <a:buSzPct val="200000"/>
              <a:buNone/>
            </a:pPr>
            <a:br>
              <a:rPr lang="en-US"/>
            </a:br>
            <a:br>
              <a:rPr lang="en-US" sz="1600"/>
            </a:br>
            <a:br>
              <a:rPr lang="en-US" sz="1600"/>
            </a:br>
            <a:br>
              <a:rPr lang="en-US" sz="1600"/>
            </a:br>
            <a:br>
              <a:rPr lang="en-US" sz="1600"/>
            </a:br>
            <a:br>
              <a:rPr lang="en-US" sz="1600"/>
            </a:br>
            <a:endParaRPr sz="1600"/>
          </a:p>
          <a:p>
            <a:pPr marL="342900" lvl="0" indent="-200660" algn="l" rtl="0">
              <a:lnSpc>
                <a:spcPct val="90000"/>
              </a:lnSpc>
              <a:spcBef>
                <a:spcPts val="448"/>
              </a:spcBef>
              <a:spcAft>
                <a:spcPts val="0"/>
              </a:spcAft>
              <a:buClr>
                <a:schemeClr val="dk1"/>
              </a:buClr>
              <a:buSzPct val="100000"/>
              <a:buNone/>
            </a:pPr>
            <a:endParaRPr/>
          </a:p>
          <a:p>
            <a:pPr marL="342900" lvl="0" indent="-342900" algn="l" rtl="0">
              <a:lnSpc>
                <a:spcPct val="90000"/>
              </a:lnSpc>
              <a:spcBef>
                <a:spcPts val="448"/>
              </a:spcBef>
              <a:spcAft>
                <a:spcPts val="0"/>
              </a:spcAft>
              <a:buClr>
                <a:schemeClr val="dk1"/>
              </a:buClr>
              <a:buSzPct val="100000"/>
              <a:buChar char="•"/>
            </a:pPr>
            <a:r>
              <a:rPr lang="en-US"/>
              <a:t>where</a:t>
            </a:r>
            <a:r>
              <a:rPr lang="en-US" i="1"/>
              <a:t> p</a:t>
            </a:r>
            <a:r>
              <a:rPr lang="en-US" i="1" baseline="-25000"/>
              <a:t>1</a:t>
            </a:r>
            <a:r>
              <a:rPr lang="en-US"/>
              <a:t> is an index into the outer page table, and </a:t>
            </a:r>
            <a:r>
              <a:rPr lang="en-US" i="1"/>
              <a:t>p</a:t>
            </a:r>
            <a:r>
              <a:rPr lang="en-US" i="1" baseline="-25000"/>
              <a:t>2</a:t>
            </a:r>
            <a:r>
              <a:rPr lang="en-US"/>
              <a:t> is the displacement within the page of the inner page table</a:t>
            </a:r>
            <a:endParaRPr/>
          </a:p>
          <a:p>
            <a:pPr marL="342900" lvl="0" indent="-342900" algn="l" rtl="0">
              <a:lnSpc>
                <a:spcPct val="90000"/>
              </a:lnSpc>
              <a:spcBef>
                <a:spcPts val="448"/>
              </a:spcBef>
              <a:spcAft>
                <a:spcPts val="0"/>
              </a:spcAft>
              <a:buClr>
                <a:schemeClr val="dk1"/>
              </a:buClr>
              <a:buSzPct val="100000"/>
              <a:buChar char="•"/>
            </a:pPr>
            <a:r>
              <a:rPr lang="en-US"/>
              <a:t>Known as </a:t>
            </a:r>
            <a:r>
              <a:rPr lang="en-US" b="1">
                <a:solidFill>
                  <a:srgbClr val="0070C0"/>
                </a:solidFill>
              </a:rPr>
              <a:t>forward-mapped page table</a:t>
            </a:r>
            <a:endParaRPr/>
          </a:p>
        </p:txBody>
      </p:sp>
      <p:pic>
        <p:nvPicPr>
          <p:cNvPr id="609" name="Google Shape;609;p54"/>
          <p:cNvPicPr preferRelativeResize="0"/>
          <p:nvPr/>
        </p:nvPicPr>
        <p:blipFill rotWithShape="1">
          <a:blip r:embed="rId3">
            <a:alphaModFix/>
          </a:blip>
          <a:srcRect/>
          <a:stretch/>
        </p:blipFill>
        <p:spPr>
          <a:xfrm>
            <a:off x="3100495" y="3755278"/>
            <a:ext cx="3159125" cy="1055687"/>
          </a:xfrm>
          <a:prstGeom prst="rect">
            <a:avLst/>
          </a:prstGeom>
          <a:noFill/>
          <a:ln>
            <a:noFill/>
          </a:ln>
        </p:spPr>
      </p:pic>
      <p:sp>
        <p:nvSpPr>
          <p:cNvPr id="610" name="Google Shape;61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11" name="Google Shape;61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55"/>
          <p:cNvSpPr txBox="1">
            <a:spLocks noGrp="1"/>
          </p:cNvSpPr>
          <p:nvPr>
            <p:ph type="title"/>
          </p:nvPr>
        </p:nvSpPr>
        <p:spPr>
          <a:xfrm>
            <a:off x="974106" y="351183"/>
            <a:ext cx="7558087"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83333"/>
              <a:buFont typeface="Calibri"/>
              <a:buNone/>
            </a:pPr>
            <a:r>
              <a:rPr lang="en-US">
                <a:solidFill>
                  <a:srgbClr val="0070C0"/>
                </a:solidFill>
              </a:rPr>
              <a:t>Address-Translation Scheme</a:t>
            </a:r>
            <a:endParaRPr sz="2400">
              <a:solidFill>
                <a:srgbClr val="0070C0"/>
              </a:solidFill>
            </a:endParaRPr>
          </a:p>
        </p:txBody>
      </p:sp>
      <p:pic>
        <p:nvPicPr>
          <p:cNvPr id="618" name="Google Shape;618;p55"/>
          <p:cNvPicPr preferRelativeResize="0"/>
          <p:nvPr/>
        </p:nvPicPr>
        <p:blipFill rotWithShape="1">
          <a:blip r:embed="rId3">
            <a:alphaModFix/>
          </a:blip>
          <a:srcRect/>
          <a:stretch/>
        </p:blipFill>
        <p:spPr>
          <a:xfrm>
            <a:off x="647148" y="1623325"/>
            <a:ext cx="8198658" cy="3456676"/>
          </a:xfrm>
          <a:prstGeom prst="rect">
            <a:avLst/>
          </a:prstGeom>
          <a:noFill/>
          <a:ln>
            <a:noFill/>
          </a:ln>
        </p:spPr>
      </p:pic>
      <p:sp>
        <p:nvSpPr>
          <p:cNvPr id="619" name="Google Shape;619;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20" name="Google Shape;620;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6"/>
          <p:cNvSpPr txBox="1">
            <a:spLocks noGrp="1"/>
          </p:cNvSpPr>
          <p:nvPr>
            <p:ph type="title"/>
          </p:nvPr>
        </p:nvSpPr>
        <p:spPr>
          <a:xfrm>
            <a:off x="536575" y="304008"/>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64-bit Logical Address Space</a:t>
            </a:r>
            <a:endParaRPr/>
          </a:p>
        </p:txBody>
      </p:sp>
      <p:sp>
        <p:nvSpPr>
          <p:cNvPr id="626" name="Google Shape;626;p56"/>
          <p:cNvSpPr txBox="1">
            <a:spLocks noGrp="1"/>
          </p:cNvSpPr>
          <p:nvPr>
            <p:ph type="body" idx="1"/>
          </p:nvPr>
        </p:nvSpPr>
        <p:spPr>
          <a:xfrm>
            <a:off x="722560" y="1201738"/>
            <a:ext cx="8116888" cy="5087937"/>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Noto Sans Symbols"/>
              <a:buChar char="⮚"/>
            </a:pPr>
            <a:r>
              <a:rPr lang="en-US" sz="2400"/>
              <a:t>Even two-level paging scheme not sufficient.</a:t>
            </a:r>
            <a:endParaRPr/>
          </a:p>
          <a:p>
            <a:pPr marL="342900" lvl="0" indent="-190500" algn="l" rtl="0">
              <a:spcBef>
                <a:spcPts val="480"/>
              </a:spcBef>
              <a:spcAft>
                <a:spcPts val="0"/>
              </a:spcAft>
              <a:buClr>
                <a:schemeClr val="dk1"/>
              </a:buClr>
              <a:buSzPts val="2400"/>
              <a:buFont typeface="Noto Sans Symbols"/>
              <a:buNone/>
            </a:pPr>
            <a:endParaRPr sz="2400"/>
          </a:p>
          <a:p>
            <a:pPr marL="342900" lvl="0" indent="-342900" algn="l" rtl="0">
              <a:spcBef>
                <a:spcPts val="480"/>
              </a:spcBef>
              <a:spcAft>
                <a:spcPts val="0"/>
              </a:spcAft>
              <a:buClr>
                <a:schemeClr val="dk1"/>
              </a:buClr>
              <a:buSzPts val="2400"/>
              <a:buFont typeface="Noto Sans Symbols"/>
              <a:buChar char="⮚"/>
            </a:pPr>
            <a:r>
              <a:rPr lang="en-US" sz="2400"/>
              <a:t>If page size is 4 KB (2</a:t>
            </a:r>
            <a:r>
              <a:rPr lang="en-US" sz="2400" baseline="30000"/>
              <a:t>12</a:t>
            </a:r>
            <a:r>
              <a:rPr lang="en-US" sz="2400"/>
              <a:t>)</a:t>
            </a:r>
            <a:endParaRPr/>
          </a:p>
          <a:p>
            <a:pPr marL="914400" lvl="1" indent="-457200" algn="l" rtl="0">
              <a:spcBef>
                <a:spcPts val="480"/>
              </a:spcBef>
              <a:spcAft>
                <a:spcPts val="0"/>
              </a:spcAft>
              <a:buClr>
                <a:schemeClr val="dk1"/>
              </a:buClr>
              <a:buSzPts val="2400"/>
              <a:buFont typeface="Calibri"/>
              <a:buAutoNum type="arabicPeriod"/>
            </a:pPr>
            <a:r>
              <a:rPr lang="en-US" sz="2400"/>
              <a:t>Then page table has 2</a:t>
            </a:r>
            <a:r>
              <a:rPr lang="en-US" sz="2400" baseline="30000"/>
              <a:t>52</a:t>
            </a:r>
            <a:r>
              <a:rPr lang="en-US" sz="2400"/>
              <a:t> entries</a:t>
            </a:r>
            <a:endParaRPr/>
          </a:p>
          <a:p>
            <a:pPr marL="914400" lvl="1" indent="-457200" algn="l" rtl="0">
              <a:spcBef>
                <a:spcPts val="480"/>
              </a:spcBef>
              <a:spcAft>
                <a:spcPts val="0"/>
              </a:spcAft>
              <a:buClr>
                <a:schemeClr val="dk1"/>
              </a:buClr>
              <a:buSzPts val="2400"/>
              <a:buFont typeface="Calibri"/>
              <a:buAutoNum type="arabicPeriod"/>
            </a:pPr>
            <a:r>
              <a:rPr lang="en-US" sz="2400"/>
              <a:t>If two level scheme, inner page tables could be 2</a:t>
            </a:r>
            <a:r>
              <a:rPr lang="en-US" sz="2400" baseline="30000"/>
              <a:t>10</a:t>
            </a:r>
            <a:r>
              <a:rPr lang="en-US" sz="2400"/>
              <a:t> 4-byte entries</a:t>
            </a:r>
            <a:endParaRPr/>
          </a:p>
          <a:p>
            <a:pPr marL="914400" lvl="1" indent="-457200" algn="l" rtl="0">
              <a:spcBef>
                <a:spcPts val="480"/>
              </a:spcBef>
              <a:spcAft>
                <a:spcPts val="0"/>
              </a:spcAft>
              <a:buClr>
                <a:schemeClr val="dk1"/>
              </a:buClr>
              <a:buSzPts val="2400"/>
              <a:buFont typeface="Calibri"/>
              <a:buAutoNum type="arabicPeriod"/>
            </a:pPr>
            <a:r>
              <a:rPr lang="en-US" sz="2400"/>
              <a:t>One solution is to add a 2</a:t>
            </a:r>
            <a:r>
              <a:rPr lang="en-US" sz="2400" baseline="30000"/>
              <a:t>nd</a:t>
            </a:r>
            <a:r>
              <a:rPr lang="en-US" sz="2400"/>
              <a:t> outer page table</a:t>
            </a:r>
            <a:endParaRPr/>
          </a:p>
          <a:p>
            <a:pPr marL="914400" lvl="1" indent="-457200" algn="l" rtl="0">
              <a:spcBef>
                <a:spcPts val="480"/>
              </a:spcBef>
              <a:spcAft>
                <a:spcPts val="0"/>
              </a:spcAft>
              <a:buClr>
                <a:schemeClr val="dk1"/>
              </a:buClr>
              <a:buSzPts val="2400"/>
              <a:buFont typeface="Calibri"/>
              <a:buAutoNum type="arabicPeriod"/>
            </a:pPr>
            <a:r>
              <a:rPr lang="en-US" sz="2400"/>
              <a:t>But in the following example the 2</a:t>
            </a:r>
            <a:r>
              <a:rPr lang="en-US" sz="2400" baseline="30000"/>
              <a:t>nd</a:t>
            </a:r>
            <a:r>
              <a:rPr lang="en-US" sz="2400"/>
              <a:t> outer page table is still 2</a:t>
            </a:r>
            <a:r>
              <a:rPr lang="en-US" sz="2400" baseline="30000"/>
              <a:t>34</a:t>
            </a:r>
            <a:r>
              <a:rPr lang="en-US" sz="2400"/>
              <a:t> bytes in size</a:t>
            </a:r>
            <a:endParaRPr/>
          </a:p>
          <a:p>
            <a:pPr marL="1143000" lvl="2" indent="-228600" algn="l" rtl="0">
              <a:spcBef>
                <a:spcPts val="400"/>
              </a:spcBef>
              <a:spcAft>
                <a:spcPts val="0"/>
              </a:spcAft>
              <a:buClr>
                <a:schemeClr val="dk1"/>
              </a:buClr>
              <a:buSzPts val="2000"/>
              <a:buChar char="•"/>
            </a:pPr>
            <a:r>
              <a:rPr lang="en-US" sz="2000"/>
              <a:t>And possibly 4 memory access to get to one physical memory location</a:t>
            </a:r>
            <a:endParaRPr/>
          </a:p>
          <a:p>
            <a:pPr marL="742950" lvl="1" indent="-82550" algn="l" rtl="0">
              <a:spcBef>
                <a:spcPts val="640"/>
              </a:spcBef>
              <a:spcAft>
                <a:spcPts val="0"/>
              </a:spcAft>
              <a:buClr>
                <a:schemeClr val="dk1"/>
              </a:buClr>
              <a:buSzPts val="3200"/>
              <a:buFont typeface="Arial"/>
              <a:buNone/>
            </a:pPr>
            <a:endParaRPr sz="3200"/>
          </a:p>
        </p:txBody>
      </p:sp>
      <p:sp>
        <p:nvSpPr>
          <p:cNvPr id="627" name="Google Shape;627;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28" name="Google Shape;628;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7"/>
          <p:cNvSpPr txBox="1">
            <a:spLocks noGrp="1"/>
          </p:cNvSpPr>
          <p:nvPr>
            <p:ph type="title"/>
          </p:nvPr>
        </p:nvSpPr>
        <p:spPr>
          <a:xfrm>
            <a:off x="666414" y="346830"/>
            <a:ext cx="7821612"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Three-level Paging Scheme</a:t>
            </a:r>
            <a:endParaRPr/>
          </a:p>
        </p:txBody>
      </p:sp>
      <p:pic>
        <p:nvPicPr>
          <p:cNvPr id="635" name="Google Shape;635;p57"/>
          <p:cNvPicPr preferRelativeResize="0"/>
          <p:nvPr/>
        </p:nvPicPr>
        <p:blipFill rotWithShape="1">
          <a:blip r:embed="rId3">
            <a:alphaModFix/>
          </a:blip>
          <a:srcRect/>
          <a:stretch/>
        </p:blipFill>
        <p:spPr>
          <a:xfrm>
            <a:off x="1827165" y="1868049"/>
            <a:ext cx="5241925" cy="1168400"/>
          </a:xfrm>
          <a:prstGeom prst="rect">
            <a:avLst/>
          </a:prstGeom>
          <a:noFill/>
          <a:ln>
            <a:noFill/>
          </a:ln>
        </p:spPr>
      </p:pic>
      <p:pic>
        <p:nvPicPr>
          <p:cNvPr id="636" name="Google Shape;636;p57"/>
          <p:cNvPicPr preferRelativeResize="0"/>
          <p:nvPr/>
        </p:nvPicPr>
        <p:blipFill rotWithShape="1">
          <a:blip r:embed="rId4">
            <a:alphaModFix/>
          </a:blip>
          <a:srcRect/>
          <a:stretch/>
        </p:blipFill>
        <p:spPr>
          <a:xfrm>
            <a:off x="1814465" y="3704786"/>
            <a:ext cx="5486400" cy="1062038"/>
          </a:xfrm>
          <a:prstGeom prst="rect">
            <a:avLst/>
          </a:prstGeom>
          <a:noFill/>
          <a:ln>
            <a:noFill/>
          </a:ln>
        </p:spPr>
      </p:pic>
      <p:sp>
        <p:nvSpPr>
          <p:cNvPr id="637" name="Google Shape;637;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38" name="Google Shape;638;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58"/>
          <p:cNvSpPr txBox="1">
            <a:spLocks noGrp="1"/>
          </p:cNvSpPr>
          <p:nvPr>
            <p:ph type="title"/>
          </p:nvPr>
        </p:nvSpPr>
        <p:spPr>
          <a:xfrm>
            <a:off x="846138" y="166689"/>
            <a:ext cx="7840662"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Hashed Page Tables</a:t>
            </a:r>
            <a:endParaRPr/>
          </a:p>
        </p:txBody>
      </p:sp>
      <p:sp>
        <p:nvSpPr>
          <p:cNvPr id="645" name="Google Shape;645;p58"/>
          <p:cNvSpPr txBox="1">
            <a:spLocks noGrp="1"/>
          </p:cNvSpPr>
          <p:nvPr>
            <p:ph type="body" idx="1"/>
          </p:nvPr>
        </p:nvSpPr>
        <p:spPr>
          <a:xfrm>
            <a:off x="903288" y="1141413"/>
            <a:ext cx="7626350" cy="4722812"/>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a:t>Common in address spaces &gt; 32 bits</a:t>
            </a:r>
            <a:endParaRPr/>
          </a:p>
          <a:p>
            <a:pPr marL="342900" lvl="0" indent="-342900" algn="l" rtl="0">
              <a:spcBef>
                <a:spcPts val="448"/>
              </a:spcBef>
              <a:spcAft>
                <a:spcPts val="0"/>
              </a:spcAft>
              <a:buClr>
                <a:schemeClr val="dk1"/>
              </a:buClr>
              <a:buSzPct val="100000"/>
              <a:buChar char="•"/>
            </a:pPr>
            <a:r>
              <a:rPr lang="en-US"/>
              <a:t>The virtual page number is hashed into a page table</a:t>
            </a:r>
            <a:endParaRPr/>
          </a:p>
          <a:p>
            <a:pPr marL="742950" lvl="1" indent="-285750" algn="l" rtl="0">
              <a:spcBef>
                <a:spcPts val="392"/>
              </a:spcBef>
              <a:spcAft>
                <a:spcPts val="0"/>
              </a:spcAft>
              <a:buClr>
                <a:schemeClr val="dk1"/>
              </a:buClr>
              <a:buSzPct val="100000"/>
              <a:buChar char="–"/>
            </a:pPr>
            <a:r>
              <a:rPr lang="en-US"/>
              <a:t>This page table contains a chain of elements hashing to the same location</a:t>
            </a:r>
            <a:endParaRPr/>
          </a:p>
          <a:p>
            <a:pPr marL="342900" lvl="0" indent="-342900" algn="l" rtl="0">
              <a:spcBef>
                <a:spcPts val="448"/>
              </a:spcBef>
              <a:spcAft>
                <a:spcPts val="0"/>
              </a:spcAft>
              <a:buClr>
                <a:schemeClr val="dk1"/>
              </a:buClr>
              <a:buSzPct val="100000"/>
              <a:buChar char="•"/>
            </a:pPr>
            <a:r>
              <a:rPr lang="en-US"/>
              <a:t>Each element contains (1) the virtual page number (2) the value of the mapped page frame (3) a pointer to the next element</a:t>
            </a:r>
            <a:endParaRPr/>
          </a:p>
          <a:p>
            <a:pPr marL="342900" lvl="0" indent="-342900" algn="l" rtl="0">
              <a:spcBef>
                <a:spcPts val="448"/>
              </a:spcBef>
              <a:spcAft>
                <a:spcPts val="0"/>
              </a:spcAft>
              <a:buClr>
                <a:schemeClr val="dk1"/>
              </a:buClr>
              <a:buSzPct val="100000"/>
              <a:buChar char="•"/>
            </a:pPr>
            <a:r>
              <a:rPr lang="en-US"/>
              <a:t>Virtual page numbers are compared in this chain searching for a match</a:t>
            </a:r>
            <a:endParaRPr/>
          </a:p>
          <a:p>
            <a:pPr marL="742950" lvl="1" indent="-285750" algn="l" rtl="0">
              <a:spcBef>
                <a:spcPts val="392"/>
              </a:spcBef>
              <a:spcAft>
                <a:spcPts val="0"/>
              </a:spcAft>
              <a:buClr>
                <a:schemeClr val="dk1"/>
              </a:buClr>
              <a:buSzPct val="100000"/>
              <a:buChar char="–"/>
            </a:pPr>
            <a:r>
              <a:rPr lang="en-US"/>
              <a:t>If a match is found, the corresponding physical frame is extracted</a:t>
            </a:r>
            <a:endParaRPr/>
          </a:p>
          <a:p>
            <a:pPr marL="342900" lvl="0" indent="-342900" algn="l" rtl="0">
              <a:spcBef>
                <a:spcPts val="448"/>
              </a:spcBef>
              <a:spcAft>
                <a:spcPts val="0"/>
              </a:spcAft>
              <a:buClr>
                <a:schemeClr val="dk1"/>
              </a:buClr>
              <a:buSzPct val="100000"/>
              <a:buChar char="•"/>
            </a:pPr>
            <a:r>
              <a:rPr lang="en-US"/>
              <a:t>Variation for 64-bit addresses is </a:t>
            </a:r>
            <a:r>
              <a:rPr lang="en-US" b="1">
                <a:solidFill>
                  <a:srgbClr val="3366FF"/>
                </a:solidFill>
              </a:rPr>
              <a:t>clustered page tables</a:t>
            </a:r>
            <a:endParaRPr/>
          </a:p>
          <a:p>
            <a:pPr marL="742950" lvl="1" indent="-285750" algn="l" rtl="0">
              <a:spcBef>
                <a:spcPts val="392"/>
              </a:spcBef>
              <a:spcAft>
                <a:spcPts val="0"/>
              </a:spcAft>
              <a:buClr>
                <a:schemeClr val="dk1"/>
              </a:buClr>
              <a:buSzPct val="100000"/>
              <a:buChar char="–"/>
            </a:pPr>
            <a:r>
              <a:rPr lang="en-US"/>
              <a:t>Similar to hashed but each entry refers to several pages (such as 16) rather than 1</a:t>
            </a:r>
            <a:endParaRPr/>
          </a:p>
          <a:p>
            <a:pPr marL="742950" lvl="1" indent="-285750" algn="l" rtl="0">
              <a:spcBef>
                <a:spcPts val="392"/>
              </a:spcBef>
              <a:spcAft>
                <a:spcPts val="0"/>
              </a:spcAft>
              <a:buClr>
                <a:schemeClr val="dk1"/>
              </a:buClr>
              <a:buSzPct val="100000"/>
              <a:buChar char="–"/>
            </a:pPr>
            <a:r>
              <a:rPr lang="en-US"/>
              <a:t>Especially useful for </a:t>
            </a:r>
            <a:r>
              <a:rPr lang="en-US" b="1">
                <a:solidFill>
                  <a:srgbClr val="3366FF"/>
                </a:solidFill>
              </a:rPr>
              <a:t>sparse</a:t>
            </a:r>
            <a:r>
              <a:rPr lang="en-US"/>
              <a:t> address spaces (where memory references are non-contiguous and scattered) </a:t>
            </a:r>
            <a:endParaRPr/>
          </a:p>
        </p:txBody>
      </p:sp>
      <p:sp>
        <p:nvSpPr>
          <p:cNvPr id="646" name="Google Shape;64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47" name="Google Shape;647;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59"/>
          <p:cNvSpPr txBox="1">
            <a:spLocks noGrp="1"/>
          </p:cNvSpPr>
          <p:nvPr>
            <p:ph type="title" idx="4294967295"/>
          </p:nvPr>
        </p:nvSpPr>
        <p:spPr>
          <a:xfrm>
            <a:off x="553673" y="440501"/>
            <a:ext cx="8229057" cy="57581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83333"/>
              <a:buFont typeface="Calibri"/>
              <a:buNone/>
            </a:pPr>
            <a:r>
              <a:rPr lang="en-US">
                <a:solidFill>
                  <a:srgbClr val="0070C0"/>
                </a:solidFill>
              </a:rPr>
              <a:t>Hashed Page Table</a:t>
            </a:r>
            <a:endParaRPr sz="2400">
              <a:solidFill>
                <a:srgbClr val="0070C0"/>
              </a:solidFill>
            </a:endParaRPr>
          </a:p>
        </p:txBody>
      </p:sp>
      <p:pic>
        <p:nvPicPr>
          <p:cNvPr id="654" name="Google Shape;654;p59"/>
          <p:cNvPicPr preferRelativeResize="0"/>
          <p:nvPr/>
        </p:nvPicPr>
        <p:blipFill rotWithShape="1">
          <a:blip r:embed="rId3">
            <a:alphaModFix/>
          </a:blip>
          <a:srcRect/>
          <a:stretch/>
        </p:blipFill>
        <p:spPr>
          <a:xfrm>
            <a:off x="1487721" y="1632618"/>
            <a:ext cx="6616700" cy="3819525"/>
          </a:xfrm>
          <a:prstGeom prst="rect">
            <a:avLst/>
          </a:prstGeom>
          <a:noFill/>
          <a:ln>
            <a:noFill/>
          </a:ln>
        </p:spPr>
      </p:pic>
      <p:sp>
        <p:nvSpPr>
          <p:cNvPr id="655" name="Google Shape;655;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56" name="Google Shape;656;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0"/>
          <p:cNvSpPr txBox="1">
            <a:spLocks noGrp="1"/>
          </p:cNvSpPr>
          <p:nvPr>
            <p:ph type="title"/>
          </p:nvPr>
        </p:nvSpPr>
        <p:spPr>
          <a:xfrm>
            <a:off x="593725" y="330460"/>
            <a:ext cx="795655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Inverted Page Table</a:t>
            </a:r>
            <a:endParaRPr/>
          </a:p>
        </p:txBody>
      </p:sp>
      <p:sp>
        <p:nvSpPr>
          <p:cNvPr id="663" name="Google Shape;663;p60"/>
          <p:cNvSpPr txBox="1">
            <a:spLocks noGrp="1"/>
          </p:cNvSpPr>
          <p:nvPr>
            <p:ph type="body" idx="1"/>
          </p:nvPr>
        </p:nvSpPr>
        <p:spPr>
          <a:xfrm>
            <a:off x="939800" y="1152526"/>
            <a:ext cx="7073900" cy="47926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a:t>Rather than each process having a page table and keeping track of all possible logical pages, track all physical pages</a:t>
            </a:r>
            <a:endParaRPr/>
          </a:p>
          <a:p>
            <a:pPr marL="342900" lvl="0" indent="-200660" algn="l" rtl="0">
              <a:spcBef>
                <a:spcPts val="448"/>
              </a:spcBef>
              <a:spcAft>
                <a:spcPts val="0"/>
              </a:spcAft>
              <a:buClr>
                <a:schemeClr val="dk1"/>
              </a:buClr>
              <a:buSzPct val="100000"/>
              <a:buNone/>
            </a:pPr>
            <a:endParaRPr/>
          </a:p>
          <a:p>
            <a:pPr marL="342900" lvl="0" indent="-342900" algn="l" rtl="0">
              <a:spcBef>
                <a:spcPts val="448"/>
              </a:spcBef>
              <a:spcAft>
                <a:spcPts val="0"/>
              </a:spcAft>
              <a:buClr>
                <a:schemeClr val="dk1"/>
              </a:buClr>
              <a:buSzPct val="100000"/>
              <a:buChar char="•"/>
            </a:pPr>
            <a:r>
              <a:rPr lang="en-US"/>
              <a:t>Entry consists of the virtual address of the page stored in that real memory location, with information about the process that owns that page</a:t>
            </a:r>
            <a:endParaRPr/>
          </a:p>
          <a:p>
            <a:pPr marL="342900" lvl="0" indent="-200660" algn="l" rtl="0">
              <a:spcBef>
                <a:spcPts val="448"/>
              </a:spcBef>
              <a:spcAft>
                <a:spcPts val="0"/>
              </a:spcAft>
              <a:buClr>
                <a:schemeClr val="dk1"/>
              </a:buClr>
              <a:buSzPct val="100000"/>
              <a:buNone/>
            </a:pPr>
            <a:endParaRPr/>
          </a:p>
          <a:p>
            <a:pPr marL="342900" lvl="0" indent="-342900" algn="l" rtl="0">
              <a:spcBef>
                <a:spcPts val="448"/>
              </a:spcBef>
              <a:spcAft>
                <a:spcPts val="0"/>
              </a:spcAft>
              <a:buClr>
                <a:schemeClr val="dk1"/>
              </a:buClr>
              <a:buSzPct val="100000"/>
              <a:buChar char="•"/>
            </a:pPr>
            <a:r>
              <a:rPr lang="en-US"/>
              <a:t>Decreases memory needed to store each page table, but increases time needed to search the table when a page reference occurs</a:t>
            </a:r>
            <a:endParaRPr/>
          </a:p>
          <a:p>
            <a:pPr marL="342900" lvl="0" indent="-200660" algn="l" rtl="0">
              <a:spcBef>
                <a:spcPts val="448"/>
              </a:spcBef>
              <a:spcAft>
                <a:spcPts val="0"/>
              </a:spcAft>
              <a:buClr>
                <a:schemeClr val="dk1"/>
              </a:buClr>
              <a:buSzPct val="100000"/>
              <a:buNone/>
            </a:pPr>
            <a:endParaRPr/>
          </a:p>
          <a:p>
            <a:pPr marL="342900" lvl="0" indent="-342900" algn="l" rtl="0">
              <a:spcBef>
                <a:spcPts val="448"/>
              </a:spcBef>
              <a:spcAft>
                <a:spcPts val="0"/>
              </a:spcAft>
              <a:buClr>
                <a:schemeClr val="dk1"/>
              </a:buClr>
              <a:buSzPct val="100000"/>
              <a:buChar char="•"/>
            </a:pPr>
            <a:r>
              <a:rPr lang="en-US"/>
              <a:t>Use hash table to limit the search to one — or at most a few — page-table entries</a:t>
            </a:r>
            <a:endParaRPr/>
          </a:p>
          <a:p>
            <a:pPr marL="742950" lvl="1" indent="-285750" algn="l" rtl="0">
              <a:spcBef>
                <a:spcPts val="392"/>
              </a:spcBef>
              <a:spcAft>
                <a:spcPts val="0"/>
              </a:spcAft>
              <a:buClr>
                <a:schemeClr val="dk1"/>
              </a:buClr>
              <a:buSzPct val="100000"/>
              <a:buChar char="–"/>
            </a:pPr>
            <a:r>
              <a:rPr lang="en-US"/>
              <a:t>TLB can accelerate access</a:t>
            </a:r>
            <a:endParaRPr/>
          </a:p>
        </p:txBody>
      </p:sp>
      <p:sp>
        <p:nvSpPr>
          <p:cNvPr id="664" name="Google Shape;664;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65" name="Google Shape;665;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61"/>
          <p:cNvSpPr txBox="1">
            <a:spLocks noGrp="1"/>
          </p:cNvSpPr>
          <p:nvPr>
            <p:ph type="title"/>
          </p:nvPr>
        </p:nvSpPr>
        <p:spPr>
          <a:xfrm>
            <a:off x="958850" y="238549"/>
            <a:ext cx="779145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83333"/>
              <a:buFont typeface="Calibri"/>
              <a:buNone/>
            </a:pPr>
            <a:r>
              <a:rPr lang="en-US">
                <a:solidFill>
                  <a:srgbClr val="0070C0"/>
                </a:solidFill>
              </a:rPr>
              <a:t>Inverted Page Table Architecture</a:t>
            </a:r>
            <a:endParaRPr sz="2400">
              <a:solidFill>
                <a:srgbClr val="0070C0"/>
              </a:solidFill>
            </a:endParaRPr>
          </a:p>
        </p:txBody>
      </p:sp>
      <p:pic>
        <p:nvPicPr>
          <p:cNvPr id="672" name="Google Shape;672;p61"/>
          <p:cNvPicPr preferRelativeResize="0"/>
          <p:nvPr/>
        </p:nvPicPr>
        <p:blipFill rotWithShape="1">
          <a:blip r:embed="rId3">
            <a:alphaModFix/>
          </a:blip>
          <a:srcRect/>
          <a:stretch/>
        </p:blipFill>
        <p:spPr>
          <a:xfrm>
            <a:off x="1717675" y="1274763"/>
            <a:ext cx="6057900" cy="4189412"/>
          </a:xfrm>
          <a:prstGeom prst="rect">
            <a:avLst/>
          </a:prstGeom>
          <a:noFill/>
          <a:ln>
            <a:noFill/>
          </a:ln>
        </p:spPr>
      </p:pic>
      <p:sp>
        <p:nvSpPr>
          <p:cNvPr id="673" name="Google Shape;673;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74" name="Google Shape;674;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62"/>
          <p:cNvSpPr txBox="1">
            <a:spLocks noGrp="1"/>
          </p:cNvSpPr>
          <p:nvPr>
            <p:ph type="ctrTitle"/>
          </p:nvPr>
        </p:nvSpPr>
        <p:spPr>
          <a:xfrm>
            <a:off x="818322" y="2353365"/>
            <a:ext cx="7772400" cy="212725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4300"/>
              <a:buFont typeface="Calibri"/>
              <a:buNone/>
            </a:pPr>
            <a:r>
              <a:rPr lang="en-US">
                <a:solidFill>
                  <a:schemeClr val="accent1"/>
                </a:solidFill>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3407</Words>
  <Application>Microsoft Office PowerPoint</Application>
  <PresentationFormat>On-screen Show (4:3)</PresentationFormat>
  <Paragraphs>527</Paragraphs>
  <Slides>57</Slides>
  <Notes>56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Noto Sans Symbols</vt:lpstr>
      <vt:lpstr>Calibri</vt:lpstr>
      <vt:lpstr>Helvetica Neue</vt:lpstr>
      <vt:lpstr>Verdana</vt:lpstr>
      <vt:lpstr>Arial</vt:lpstr>
      <vt:lpstr>Calibri Light</vt:lpstr>
      <vt:lpstr>Times New Roman</vt:lpstr>
      <vt:lpstr>Office Theme</vt:lpstr>
      <vt:lpstr>MEMORY MANAGEMENT Main Memory CS2006  OS </vt:lpstr>
      <vt:lpstr>BACKGROUND</vt:lpstr>
      <vt:lpstr>Memory Management (Big Picture)</vt:lpstr>
      <vt:lpstr>Base and Limit Registers</vt:lpstr>
      <vt:lpstr>Hardware Address Protection</vt:lpstr>
      <vt:lpstr>Address Binding</vt:lpstr>
      <vt:lpstr>Multistep Processing of a User Program </vt:lpstr>
      <vt:lpstr>Binding of Instructions and Data to Memory</vt:lpstr>
      <vt:lpstr>Logical vs. Physical Address Space</vt:lpstr>
      <vt:lpstr>MEMORY-MANAGEMENT UNIT (MMU)</vt:lpstr>
      <vt:lpstr>PowerPoint Presentation</vt:lpstr>
      <vt:lpstr>STATIC &amp; DYNAMIC LINKING</vt:lpstr>
      <vt:lpstr>CONTIGUOUS ALLOCATION</vt:lpstr>
      <vt:lpstr>Contiguous Allocation (Cont.)</vt:lpstr>
      <vt:lpstr>Hardware Support for Relocation and Limit Registers</vt:lpstr>
      <vt:lpstr>Variable Partition</vt:lpstr>
      <vt:lpstr>Dynamic Storage-Allocation Problem</vt:lpstr>
      <vt:lpstr>Dynamic Storage-Allocation Problem</vt:lpstr>
      <vt:lpstr>Dynamic Storage-Allocation Problem</vt:lpstr>
      <vt:lpstr>Fragmentation</vt:lpstr>
      <vt:lpstr>Fragmentation</vt:lpstr>
      <vt:lpstr>Fragmentation (Cont.)</vt:lpstr>
      <vt:lpstr>PAGING</vt:lpstr>
      <vt:lpstr>PAGING (Cont.)</vt:lpstr>
      <vt:lpstr>Address Translation Scheme</vt:lpstr>
      <vt:lpstr>PAGING HARDWARE</vt:lpstr>
      <vt:lpstr>Paging Model of Logical and  Physical Memory</vt:lpstr>
      <vt:lpstr>FREE FRAMES</vt:lpstr>
      <vt:lpstr>SWAPPING WITH PAGING</vt:lpstr>
      <vt:lpstr>Paging Numerical-1</vt:lpstr>
      <vt:lpstr>Page Numerical-1 (Solution2)</vt:lpstr>
      <vt:lpstr>Paging Numerical-2</vt:lpstr>
      <vt:lpstr>Implementation of Page Table</vt:lpstr>
      <vt:lpstr>Translation Lookaside Buffer </vt:lpstr>
      <vt:lpstr>ASSOCIATIVE MEMORY</vt:lpstr>
      <vt:lpstr>Paging Hardware With TLB</vt:lpstr>
      <vt:lpstr>Hit ratio</vt:lpstr>
      <vt:lpstr>PowerPoint Presentation</vt:lpstr>
      <vt:lpstr>Effective Access Time (Cont.)</vt:lpstr>
      <vt:lpstr>EAT Numerical </vt:lpstr>
      <vt:lpstr>EAT Numerical (Sol)</vt:lpstr>
      <vt:lpstr>Memory Protection</vt:lpstr>
      <vt:lpstr>Valid (v) or Invalid (i) Bit In A Page Table</vt:lpstr>
      <vt:lpstr>SHARED PAGES</vt:lpstr>
      <vt:lpstr>Structure of the Page Table</vt:lpstr>
      <vt:lpstr>Structure of the Page Table</vt:lpstr>
      <vt:lpstr>Hierarchical Page Tables</vt:lpstr>
      <vt:lpstr>Two-Level Page-Table Scheme</vt:lpstr>
      <vt:lpstr>Two-Level Paging Example</vt:lpstr>
      <vt:lpstr>Address-Translation Scheme</vt:lpstr>
      <vt:lpstr>64-bit Logical Address Space</vt:lpstr>
      <vt:lpstr>Three-level Paging Scheme</vt:lpstr>
      <vt:lpstr>Hashed Page Tables</vt:lpstr>
      <vt:lpstr>Hashed Page Table</vt:lpstr>
      <vt:lpstr>Inverted Page Table</vt:lpstr>
      <vt:lpstr>Inverted Page Table Architecture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MANAGEMENT Main Memory CS2006  OS - Spring 2026</dc:title>
  <dc:creator>Anaum Hamid</dc:creator>
  <cp:lastModifiedBy>Tesla Laptops</cp:lastModifiedBy>
  <cp:revision>2</cp:revision>
  <dcterms:created xsi:type="dcterms:W3CDTF">2011-01-13T23:43:38Z</dcterms:created>
  <dcterms:modified xsi:type="dcterms:W3CDTF">2026-04-22T03:53:59Z</dcterms:modified>
</cp:coreProperties>
</file>