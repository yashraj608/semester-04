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70"/>
  </p:notesMasterIdLst>
  <p:handoutMasterIdLst>
    <p:handoutMasterId r:id="rId71"/>
  </p:handoutMasterIdLst>
  <p:sldIdLst>
    <p:sldId id="331" r:id="rId2"/>
    <p:sldId id="332" r:id="rId3"/>
    <p:sldId id="333" r:id="rId4"/>
    <p:sldId id="334" r:id="rId5"/>
    <p:sldId id="335" r:id="rId6"/>
    <p:sldId id="336" r:id="rId7"/>
    <p:sldId id="447" r:id="rId8"/>
    <p:sldId id="337" r:id="rId9"/>
    <p:sldId id="338" r:id="rId10"/>
    <p:sldId id="339" r:id="rId11"/>
    <p:sldId id="340" r:id="rId12"/>
    <p:sldId id="341" r:id="rId13"/>
    <p:sldId id="403" r:id="rId14"/>
    <p:sldId id="404" r:id="rId15"/>
    <p:sldId id="342" r:id="rId16"/>
    <p:sldId id="343" r:id="rId17"/>
    <p:sldId id="348" r:id="rId18"/>
    <p:sldId id="399" r:id="rId19"/>
    <p:sldId id="349" r:id="rId20"/>
    <p:sldId id="350" r:id="rId21"/>
    <p:sldId id="351" r:id="rId22"/>
    <p:sldId id="352" r:id="rId23"/>
    <p:sldId id="353" r:id="rId24"/>
    <p:sldId id="360" r:id="rId25"/>
    <p:sldId id="361" r:id="rId26"/>
    <p:sldId id="362" r:id="rId27"/>
    <p:sldId id="363" r:id="rId28"/>
    <p:sldId id="419" r:id="rId29"/>
    <p:sldId id="365" r:id="rId30"/>
    <p:sldId id="366" r:id="rId31"/>
    <p:sldId id="367" r:id="rId32"/>
    <p:sldId id="400" r:id="rId33"/>
    <p:sldId id="368" r:id="rId34"/>
    <p:sldId id="369" r:id="rId35"/>
    <p:sldId id="370" r:id="rId36"/>
    <p:sldId id="371" r:id="rId37"/>
    <p:sldId id="372" r:id="rId38"/>
    <p:sldId id="373" r:id="rId39"/>
    <p:sldId id="374" r:id="rId40"/>
    <p:sldId id="375" r:id="rId41"/>
    <p:sldId id="376" r:id="rId42"/>
    <p:sldId id="378" r:id="rId43"/>
    <p:sldId id="379" r:id="rId44"/>
    <p:sldId id="380" r:id="rId45"/>
    <p:sldId id="381" r:id="rId46"/>
    <p:sldId id="382" r:id="rId47"/>
    <p:sldId id="383" r:id="rId48"/>
    <p:sldId id="384" r:id="rId49"/>
    <p:sldId id="385" r:id="rId50"/>
    <p:sldId id="386" r:id="rId51"/>
    <p:sldId id="401" r:id="rId52"/>
    <p:sldId id="431" r:id="rId53"/>
    <p:sldId id="432" r:id="rId54"/>
    <p:sldId id="433" r:id="rId55"/>
    <p:sldId id="434" r:id="rId56"/>
    <p:sldId id="435" r:id="rId57"/>
    <p:sldId id="436" r:id="rId58"/>
    <p:sldId id="437" r:id="rId59"/>
    <p:sldId id="438" r:id="rId60"/>
    <p:sldId id="439" r:id="rId61"/>
    <p:sldId id="440" r:id="rId62"/>
    <p:sldId id="441" r:id="rId63"/>
    <p:sldId id="442" r:id="rId64"/>
    <p:sldId id="443" r:id="rId65"/>
    <p:sldId id="444" r:id="rId66"/>
    <p:sldId id="445" r:id="rId67"/>
    <p:sldId id="446" r:id="rId68"/>
    <p:sldId id="395" r:id="rId6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0"/>
  </p:normalViewPr>
  <p:slideViewPr>
    <p:cSldViewPr snapToGrid="0">
      <p:cViewPr>
        <p:scale>
          <a:sx n="64" d="100"/>
          <a:sy n="64" d="100"/>
        </p:scale>
        <p:origin x="1644" y="3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62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65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66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67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68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dirty="0"/>
              <a:t>Need to ensure that a process can access only those addresses in its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2E05-31EA-07D5-A5C9-366DB65DA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F1DFC-275E-D544-FC7D-CBB353B6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1026" name="Picture 2" descr="hdw">
            <a:extLst>
              <a:ext uri="{FF2B5EF4-FFF2-40B4-BE49-F238E27FC236}">
                <a16:creationId xmlns:a16="http://schemas.microsoft.com/office/drawing/2014/main" id="{4ED2F10C-7408-A4CA-96DB-99B3EF4E2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233853"/>
            <a:ext cx="7880350" cy="5914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767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dirty="0"/>
              <a:t>Without support, must be loaded into address 0000</a:t>
            </a:r>
          </a:p>
          <a:p>
            <a:r>
              <a:rPr kumimoji="0" lang="en-US" altLang="en-US" dirty="0"/>
              <a:t>Inconvenient to have first user process physical address always at 0000 </a:t>
            </a:r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/>
            <a:r>
              <a:rPr kumimoji="0" lang="en-US" altLang="en-US" dirty="0"/>
              <a:t>Source code addresses usually symbolic</a:t>
            </a:r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</a:p>
          <a:p>
            <a:pPr lvl="2"/>
            <a:r>
              <a:rPr kumimoji="0" lang="en-US" altLang="en-US" dirty="0"/>
              <a:t>i.e., 74014</a:t>
            </a:r>
          </a:p>
          <a:p>
            <a:pPr lvl="1"/>
            <a:r>
              <a:rPr kumimoji="0" lang="en-US" altLang="en-US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dirty="0"/>
              <a:t>Virtual page numbers 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</a:p>
          <a:p>
            <a:pPr lvl="1"/>
            <a:r>
              <a:rPr lang="en-US" altLang="en-US" dirty="0"/>
              <a:t>Goals are efficiency, low overhead</a:t>
            </a:r>
          </a:p>
          <a:p>
            <a:r>
              <a:rPr lang="en-US" altLang="en-US" dirty="0"/>
              <a:t>Based on hashing, but more complex</a:t>
            </a:r>
          </a:p>
          <a:p>
            <a:r>
              <a:rPr lang="en-US" altLang="en-US" dirty="0"/>
              <a:t>Two hash tables</a:t>
            </a:r>
          </a:p>
          <a:p>
            <a:pPr lvl="1"/>
            <a:r>
              <a:rPr lang="en-US" altLang="en-US" dirty="0"/>
              <a:t>One kernel and one for all user processes</a:t>
            </a:r>
          </a:p>
          <a:p>
            <a:pPr lvl="1"/>
            <a:r>
              <a:rPr lang="en-US" altLang="en-US" dirty="0"/>
              <a:t>Each maps memory addresses from virtual to physical memory</a:t>
            </a:r>
          </a:p>
          <a:p>
            <a:pPr lvl="1"/>
            <a:r>
              <a:rPr lang="en-US" altLang="en-US" dirty="0"/>
              <a:t>Each entry represents a contiguous area of mapped virtual memory,</a:t>
            </a:r>
          </a:p>
          <a:p>
            <a:pPr lvl="2"/>
            <a:r>
              <a:rPr lang="en-US" altLang="en-US" dirty="0"/>
              <a:t>More efficient than having a separate hash-table entry for each page</a:t>
            </a:r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</a:p>
          <a:p>
            <a:pPr lvl="1"/>
            <a:r>
              <a:rPr lang="en-US" altLang="en-US" dirty="0"/>
              <a:t>A cache of TTEs reside in a translation storage buffer (TSB)</a:t>
            </a:r>
          </a:p>
          <a:p>
            <a:pPr lvl="2"/>
            <a:r>
              <a:rPr lang="en-US" altLang="en-US" dirty="0"/>
              <a:t>Includes an entry per recently accessed page</a:t>
            </a:r>
          </a:p>
          <a:p>
            <a:r>
              <a:rPr lang="en-US" altLang="en-US" dirty="0"/>
              <a:t>Virtual address reference causes TLB search </a:t>
            </a:r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</a:p>
          <a:p>
            <a:pPr lvl="2"/>
            <a:r>
              <a:rPr lang="en-US" altLang="en-US" dirty="0"/>
              <a:t>If no match found, kernel interrupted to search the hash table</a:t>
            </a:r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>
            <a:extLst>
              <a:ext uri="{FF2B5EF4-FFF2-40B4-BE49-F238E27FC236}">
                <a16:creationId xmlns:a16="http://schemas.microsoft.com/office/drawing/2014/main" id="{D2FBD04E-0AD5-4B90-A5FE-1CCDF58F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0CE6398-8797-4635-8426-2FD70A2B2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12892</TotalTime>
  <Words>3855</Words>
  <Application>Microsoft Office PowerPoint</Application>
  <PresentationFormat>On-screen Show (4:3)</PresentationFormat>
  <Paragraphs>487</Paragraphs>
  <Slides>68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Arial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PowerPoint Presentation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Tesla Laptops</cp:lastModifiedBy>
  <cp:revision>348</cp:revision>
  <cp:lastPrinted>2013-09-30T19:34:56Z</cp:lastPrinted>
  <dcterms:created xsi:type="dcterms:W3CDTF">2011-01-13T23:43:38Z</dcterms:created>
  <dcterms:modified xsi:type="dcterms:W3CDTF">2026-04-01T07:10:20Z</dcterms:modified>
</cp:coreProperties>
</file>