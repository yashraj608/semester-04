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7086600" cy="9372600"/>
  <p:embeddedFontLst>
    <p:embeddedFont>
      <p:font typeface="Book Antiqua" panose="02040602050305030304" pitchFamily="18" charset="0"/>
      <p:regular r:id="rId43"/>
      <p:bold r:id="rId44"/>
      <p:italic r:id="rId45"/>
      <p:boldItalic r:id="rId46"/>
    </p:embeddedFont>
    <p:embeddedFont>
      <p:font typeface="Helvetica Neue" panose="020B0604020202020204" charset="0"/>
      <p:regular r:id="rId47"/>
      <p:bold r:id="rId48"/>
      <p:italic r:id="rId49"/>
      <p:boldItalic r:id="rId50"/>
    </p:embeddedFont>
    <p:embeddedFont>
      <p:font typeface="Roboto" panose="02000000000000000000" pitchFamily="2" charset="0"/>
      <p:regular r:id="rId51"/>
      <p:bold r:id="rId52"/>
      <p:italic r:id="rId53"/>
      <p:boldItalic r:id="rId54"/>
    </p:embeddedFont>
    <p:embeddedFont>
      <p:font typeface="Verdana" panose="020B060403050404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gFixVtXryCZSD7S/xWoosP+GP1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816"/>
        <p:guide pos="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set of processes is deadlocked when each process in the set is blocked awaiting an event that can only be triggered by another blocked process in the set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i="1"/>
              <a:t>typically processes are waiting the freeing up of some requested resource.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Deadlock is permanent because none of the events is ever triggered.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Unlike other problems in concurrent process management, there is no efficient solution in the general case.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Animated Slide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i="1"/>
              <a:t>Click 1</a:t>
            </a:r>
            <a:r>
              <a:rPr lang="en-US"/>
              <a:t> Cars approach intersection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b="1" i="1"/>
              <a:t>Then </a:t>
            </a:r>
            <a:r>
              <a:rPr lang="en-US"/>
              <a:t>Cars announce their resource needs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All deadlocks involve conflicting needs for resources by two or more processes.   A common example is the traffic deadlock.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typical rule of the road in the United States is that a car at a four-way stop should defer to a car immediately to its right.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rule works if there are only two or three cars at the intersection.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all four cars arrive at about the same time, each will refrain from entering the intersection, this causes a  </a:t>
            </a:r>
            <a:r>
              <a:rPr lang="en-US" b="1"/>
              <a:t>potential deadlock.</a:t>
            </a:r>
            <a:endParaRPr/>
          </a:p>
          <a:p>
            <a:pPr marL="457200" lvl="1" indent="-762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The deadlock is only potential, not actual, because the necessary resources are available for any of the cars to proceed. </a:t>
            </a:r>
            <a:endParaRPr/>
          </a:p>
          <a:p>
            <a:pPr marL="457200" lvl="1" indent="-762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If one car eventually does proceed, it can do so.</a:t>
            </a:r>
            <a:endParaRPr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Animated Slide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i="1"/>
              <a:t>Click 1</a:t>
            </a:r>
            <a:r>
              <a:rPr lang="en-US"/>
              <a:t> Cars move to deadlock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i="1"/>
              <a:t>Then  </a:t>
            </a:r>
            <a:r>
              <a:rPr lang="en-US"/>
              <a:t>Cars announce their resource need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 i="1"/>
              <a:t>But </a:t>
            </a:r>
            <a:r>
              <a:rPr lang="en-US"/>
              <a:t>if all four cars ignore the rules and proceed (cautiously) into the intersection at the same time, then </a:t>
            </a:r>
            <a:r>
              <a:rPr lang="en-US" b="1"/>
              <a:t>each car seizes one resource </a:t>
            </a:r>
            <a:r>
              <a:rPr lang="en-US"/>
              <a:t>(one quadrant) but cannot proceed because the required second resource has already been seized by another car.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is an actual deadlock.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three must be present for deadlock to occur.</a:t>
            </a: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actually a potential consequence of the first three.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Given that the first three conditions exist, a sequence of events may occur that lead to an unresolvable circular wait.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unresolvable circular wait is in fact the definition of deadlock.</a:t>
            </a:r>
            <a:endParaRPr/>
          </a:p>
          <a:p>
            <a:pPr marL="457200" lvl="1" indent="-76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The circular wait listed as condition 4 is unresolvable because the first three conditions hold.</a:t>
            </a:r>
            <a:endParaRPr/>
          </a:p>
          <a:p>
            <a:pPr marL="457200" lvl="1" indent="-76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Thus, the four conditions, taken together, constitute necessary and sufficient conditions for deadlock.</a:t>
            </a:r>
            <a:endParaRPr/>
          </a:p>
        </p:txBody>
      </p:sp>
      <p:sp>
        <p:nvSpPr>
          <p:cNvPr id="122" name="Google Shape;122;p6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graph edge directed from a process to a resource indicates a resource that has been requested by the process but not yet granted.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Within a resource node, a dot is shown for each instance of that resource.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graph edge directed from a reusable resource node dot to a process indicates a request that has been granted</a:t>
            </a:r>
            <a:endParaRPr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general approaches exist for dealing with deadlock.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/>
              <a:t>prevent deadlock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adopt a policy that eliminates one of the conditions (conditions 1 through 4).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/>
              <a:t>avoid deadlock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by making the appropriate dynamic choices based on the current state of resource allocation.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/>
              <a:t>detect the presence of deadlock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(conditions 1 through 4 hold) and take action to recover.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discuss each of these approaches in turn.</a:t>
            </a:r>
            <a:endParaRPr/>
          </a:p>
        </p:txBody>
      </p:sp>
      <p:sp>
        <p:nvSpPr>
          <p:cNvPr id="239" name="Google Shape;239;p13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is strategy simply to design a system in such a way that the possibility of deadlock is excluded.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can view deadlock prevention methods as falling into two classes. </a:t>
            </a:r>
            <a:endParaRPr/>
          </a:p>
          <a:p>
            <a:pPr marL="457200" lvl="1" indent="-76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</a:t>
            </a:r>
            <a:r>
              <a:rPr lang="en-US" b="1" i="1"/>
              <a:t>indirect </a:t>
            </a:r>
            <a:r>
              <a:rPr lang="en-US"/>
              <a:t>method of deadlock prevention is to prevent the occurrence of one of the three necessary conditions listed previously (items 1 through 3). </a:t>
            </a:r>
            <a:endParaRPr/>
          </a:p>
          <a:p>
            <a:pPr marL="457200" lvl="1" indent="-762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 b="1" i="1"/>
              <a:t>direct </a:t>
            </a:r>
            <a:r>
              <a:rPr lang="en-US"/>
              <a:t>method of deadlock prevention is to prevent the occurrence of a circular wait (item 4).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We now examine techniques related to each of the four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conditions.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8" name="Google Shape;258;p16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1"/>
              <a:t>Mutual Exclusion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The first of the four listed conditions cannot be disallowed (in general).</a:t>
            </a:r>
            <a:endParaRPr/>
          </a:p>
          <a:p>
            <a:pPr marL="457200" lvl="1" indent="-6477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Char char="•"/>
            </a:pPr>
            <a:r>
              <a:rPr lang="en-US" sz="1020"/>
              <a:t> If access to a resource requires mutual exclusion, then mutual exclusion must be supported by the OS.</a:t>
            </a:r>
            <a:endParaRPr/>
          </a:p>
          <a:p>
            <a:pPr marL="457200" lvl="1" indent="-6477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Char char="•"/>
            </a:pPr>
            <a:r>
              <a:rPr lang="en-US" sz="1020"/>
              <a:t> Some resources, such as files, may allow multiple accesses for reads but only exclusive access for writes. </a:t>
            </a:r>
            <a:endParaRPr/>
          </a:p>
          <a:p>
            <a:pPr marL="457200" lvl="1" indent="-6477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Char char="•"/>
            </a:pPr>
            <a:r>
              <a:rPr lang="en-US" sz="1020"/>
              <a:t>Even in this case, deadlock can occur if more than one process requires write permission.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endParaRPr sz="1020" b="1"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 b="1"/>
              <a:t>Hold an Wait</a:t>
            </a:r>
            <a:endParaRPr sz="1020"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Can be prevented by requiring that a process request all of its required resources at one time and blocking the process until all requests can be granted simultaneously.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None/>
            </a:pPr>
            <a:endParaRPr sz="1020"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This approach is inefficient in two ways. </a:t>
            </a:r>
            <a:endParaRPr/>
          </a:p>
          <a:p>
            <a:pPr marL="457200" lvl="1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1) a process may be held up for a long time waiting for all of its resource requests to be filled, when in fact it could have proceeded with only some of the resources.</a:t>
            </a:r>
            <a:endParaRPr/>
          </a:p>
          <a:p>
            <a:pPr marL="457200" lvl="1" indent="-6477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Clr>
                <a:schemeClr val="dk1"/>
              </a:buClr>
              <a:buSzPts val="1020"/>
              <a:buFont typeface="Times New Roman"/>
              <a:buAutoNum type="arabicParenR" startAt="2"/>
            </a:pPr>
            <a:r>
              <a:rPr lang="en-US" sz="1020"/>
              <a:t>resources allocated to a process may remain unused for a considerable period, during which time they are denied to other processes.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endParaRPr sz="1020"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Another problem is that a process may not know in advance all of the resources that it will require.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endParaRPr sz="1020"/>
          </a:p>
          <a:p>
            <a:pPr marL="0" lvl="0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There is also the practical problem created by the use of modular programming or a multithreaded structure for an application. </a:t>
            </a:r>
            <a:endParaRPr/>
          </a:p>
          <a:p>
            <a:pPr marL="457200" lvl="1" indent="0" algn="l" rtl="0">
              <a:lnSpc>
                <a:spcPct val="80000"/>
              </a:lnSpc>
              <a:spcBef>
                <a:spcPts val="306"/>
              </a:spcBef>
              <a:spcAft>
                <a:spcPts val="0"/>
              </a:spcAft>
              <a:buNone/>
            </a:pPr>
            <a:r>
              <a:rPr lang="en-US" sz="1020"/>
              <a:t>An application would need to be aware of all resources that will be requested at all levels or in all modules to make the simultaneous request.</a:t>
            </a:r>
            <a:endParaRPr sz="1020"/>
          </a:p>
        </p:txBody>
      </p:sp>
      <p:sp>
        <p:nvSpPr>
          <p:cNvPr id="259" name="Google Shape;259;p16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9" name="Google Shape;289;p21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avoidance allows the three necessary conditions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but makes judicious choices to assure that the deadlock point is never reached.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Avoidance allows more concurrency than prevention.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With deadlock avoidance, a decision is made dynamically whether the current resource allocation request will, if granted, potentially lead to a deadlock.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Deadlock avoidance requires knowledge of future process resource requests.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1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8" name="Google Shape;298;p22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process is only started if the maximum claim of all current processes plus those of the new process can be met.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strategy is hardly optimal, because it assumes the worst: </a:t>
            </a:r>
            <a:endParaRPr/>
          </a:p>
          <a:p>
            <a:pPr marL="457200" lvl="1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/>
              <a:t>that all processes will make their maximum claims together.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2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5" name="Google Shape;305;p23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Movie button goes to http://gaia.ecs.csus.edu/~zhangd/oscal/Banker/Banker.html</a:t>
            </a:r>
            <a:endParaRPr/>
          </a:p>
        </p:txBody>
      </p:sp>
      <p:sp>
        <p:nvSpPr>
          <p:cNvPr id="306" name="Google Shape;306;p23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4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25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26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7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27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28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29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30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31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32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3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34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35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36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37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38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39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0:notes"/>
          <p:cNvSpPr txBox="1">
            <a:spLocks noGrp="1"/>
          </p:cNvSpPr>
          <p:nvPr>
            <p:ph type="sldNum" idx="12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40:notes"/>
          <p:cNvSpPr txBox="1"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025" tIns="47000" rIns="94025" bIns="4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2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23" name="Google Shape;23;p42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" name="Google Shape;24;p42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" name="Google Shape;25;p42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6" name="Google Shape;26;p42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27" name="Google Shape;27;p42"/>
          <p:cNvSpPr txBox="1"/>
          <p:nvPr/>
        </p:nvSpPr>
        <p:spPr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lang="en-US" sz="1000" b="1" i="0" u="none" strike="noStrike" cap="none" baseline="30000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US" sz="1000" b="1" i="0" u="none" strike="noStrike" cap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id="28" name="Google Shape;28;p42" descr="dino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w="76200" cap="flat" cmpd="sng">
            <a:solidFill>
              <a:srgbClr val="336699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9" name="Google Shape;29;p42"/>
          <p:cNvSpPr/>
          <p:nvPr/>
        </p:nvSpPr>
        <p:spPr>
          <a:xfrm>
            <a:off x="3224213" y="4006850"/>
            <a:ext cx="2336800" cy="1887538"/>
          </a:xfrm>
          <a:prstGeom prst="rect">
            <a:avLst/>
          </a:prstGeom>
          <a:noFill/>
          <a:ln w="57150" cap="flat" cmpd="thinThick">
            <a:solidFill>
              <a:srgbClr val="66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42"/>
          <p:cNvSpPr txBox="1">
            <a:spLocks noGrp="1"/>
          </p:cNvSpPr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marL="914400" lvl="1" indent="-32004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marL="1371600" lvl="2" indent="-314325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marL="1828800" lvl="3" indent="-314325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marL="914400" lvl="1" indent="-350519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marL="1371600" lvl="2" indent="-32385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marL="1828800" lvl="3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marL="2286000" lvl="4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44"/>
          <p:cNvSpPr txBox="1">
            <a:spLocks noGrp="1"/>
          </p:cNvSpPr>
          <p:nvPr>
            <p:ph type="body" idx="2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862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marL="914400" lvl="1" indent="-350519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marL="1371600" lvl="2" indent="-32385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marL="1828800" lvl="3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marL="2286000" lvl="4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marL="914400" lvl="1" indent="-2286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marL="1828800" lvl="3" indent="-228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marL="2286000" lvl="4" indent="-228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marL="2743200" lvl="5" indent="-228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marL="3200400" lvl="6" indent="-228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marL="3657600" lvl="7" indent="-228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marL="4114800" lvl="8" indent="-228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840"/>
              </a:spcBef>
              <a:spcAft>
                <a:spcPts val="0"/>
              </a:spcAft>
              <a:buSzPts val="216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3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4pPr>
            <a:lvl5pPr marL="2286000" lvl="4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5pPr>
            <a:lvl6pPr marL="2743200" lvl="5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6pPr>
            <a:lvl7pPr marL="3200400" lvl="6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7pPr>
            <a:lvl8pPr marL="3657600" lvl="7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8pPr>
            <a:lvl9pPr marL="4114800" lvl="8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4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marL="914400" lvl="1" indent="-3302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marL="1371600" lvl="2" indent="-314325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marL="1828800" lvl="3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marL="2286000" lvl="4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marL="2743200" lvl="5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marL="3200400" lvl="6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marL="3657600" lvl="7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marL="4114800" lvl="8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>
            <a:endParaRPr/>
          </a:p>
        </p:txBody>
      </p:sp>
      <p:sp>
        <p:nvSpPr>
          <p:cNvPr id="47" name="Google Shape;47;p4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840"/>
              </a:spcBef>
              <a:spcAft>
                <a:spcPts val="0"/>
              </a:spcAft>
              <a:buSzPts val="2160"/>
              <a:buNone/>
              <a:defRPr sz="2400" b="1"/>
            </a:lvl1pPr>
            <a:lvl2pPr marL="914400" lvl="1" indent="-228600" algn="l">
              <a:spcBef>
                <a:spcPts val="7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63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4pPr>
            <a:lvl5pPr marL="2286000" lvl="4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5pPr>
            <a:lvl6pPr marL="2743200" lvl="5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6pPr>
            <a:lvl7pPr marL="3200400" lvl="6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7pPr>
            <a:lvl8pPr marL="3657600" lvl="7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8pPr>
            <a:lvl9pPr marL="4114800" lvl="8" indent="-228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4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marL="914400" lvl="1" indent="-3302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marL="1371600" lvl="2" indent="-314325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marL="1828800" lvl="3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marL="2286000" lvl="4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marL="2743200" lvl="5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marL="3200400" lvl="6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marL="3657600" lvl="7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marL="4114800" lvl="8" indent="-30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148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marL="914400" lvl="1" indent="-37084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marL="1371600" lvl="2" indent="-3429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marL="1828800" lvl="3" indent="-32385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marL="2286000" lvl="4" indent="-32385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marL="2743200" lvl="5" indent="-32385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marL="3200400" lvl="6" indent="-32385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marL="3657600" lvl="7" indent="-32385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marL="4114800" lvl="8" indent="-32385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marL="2286000" lvl="4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marL="2743200" lvl="5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marL="3200400" lvl="6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marL="3657600" lvl="7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marL="4114800" lvl="8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5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marL="2286000" lvl="4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marL="2743200" lvl="5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marL="3200400" lvl="6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marL="3657600" lvl="7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marL="4114800" lvl="8" indent="-228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body" idx="1"/>
          </p:nvPr>
        </p:nvSpPr>
        <p:spPr>
          <a:xfrm rot="5400000">
            <a:off x="2655887" y="-615950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marL="914400" lvl="1" indent="-32004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marL="1371600" lvl="2" indent="-314325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marL="1828800" lvl="3" indent="-314325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>
            <a:spLocks noGrp="1"/>
          </p:cNvSpPr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body" idx="1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147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marL="914400" lvl="1" indent="-32004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marL="1371600" lvl="2" indent="-314325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marL="1828800" lvl="3" indent="-314325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marL="2743200" lvl="5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marL="3200400" lvl="6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marL="3657600" lvl="7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marL="4114800" lvl="8" indent="-31432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1" descr="dino_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1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1470" algn="l" rtl="0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20040" algn="l" rtl="0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14325" algn="l" rtl="0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14325" algn="l" rtl="0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14325" algn="l" rtl="0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41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w="19050" cap="flat" cmpd="sng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5;p41"/>
          <p:cNvSpPr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41"/>
          <p:cNvSpPr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41"/>
          <p:cNvSpPr txBox="1"/>
          <p:nvPr/>
        </p:nvSpPr>
        <p:spPr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</a:t>
            </a:r>
            <a:fld id="{00000000-1234-1234-1234-123412341234}" type="slidenum">
              <a:rPr lang="en-US" sz="1000" b="1" i="0" u="none" strike="noStrike" cap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000" b="1" i="0" u="none" strike="noStrike" cap="none">
              <a:solidFill>
                <a:srgbClr val="006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41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19" name="Google Shape;19;p41"/>
          <p:cNvSpPr txBox="1"/>
          <p:nvPr/>
        </p:nvSpPr>
        <p:spPr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lang="en-US" sz="1000" b="1" i="0" u="none" strike="noStrike" cap="none" baseline="30000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US" sz="1000" b="1" i="0" u="none" strike="noStrike" cap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id="20" name="Google Shape;20;p41" descr="dino_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643855" y="1970078"/>
            <a:ext cx="7772400" cy="145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</a:t>
            </a:r>
            <a:br>
              <a:rPr lang="en-US"/>
            </a:br>
            <a:r>
              <a:rPr lang="en-US" sz="2000"/>
              <a:t>William Stallings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841375" y="3428235"/>
            <a:ext cx="73773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0025" rIns="0" bIns="0" anchor="b" anchorCtr="0">
            <a:spAutoFit/>
          </a:bodyPr>
          <a:lstStyle/>
          <a:p>
            <a:pPr marL="12700" marR="5080" lvl="0" indent="0" algn="ctr" rtl="0">
              <a:lnSpc>
                <a:spcPct val="11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Operating Systems (CS-2006)  </a:t>
            </a:r>
            <a:br>
              <a:rPr lang="en-US" sz="16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>
                <a:solidFill>
                  <a:srgbClr val="006699"/>
                </a:solidFill>
              </a:rPr>
              <a:t>SPRING</a:t>
            </a:r>
            <a:r>
              <a:rPr lang="en-US" sz="16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lang="en-US" sz="1600" b="1">
                <a:solidFill>
                  <a:srgbClr val="006699"/>
                </a:solidFill>
              </a:rPr>
              <a:t>3</a:t>
            </a:r>
            <a:r>
              <a:rPr lang="en-US" sz="1600" b="1" i="0" u="none" strike="noStrike" cap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, FAST NUCES</a:t>
            </a:r>
            <a:endParaRPr sz="1600" b="1" i="0" u="none" strike="noStrike" cap="none">
              <a:solidFill>
                <a:srgbClr val="006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726842" y="6167997"/>
            <a:ext cx="4054957" cy="19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ctr" rtl="0">
              <a:lnSpc>
                <a:spcPct val="11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COURSE SUPERVISOR:   ANAUM HAMID</a:t>
            </a:r>
            <a:endParaRPr sz="1300" b="0" i="0" u="none" strike="noStrike" cap="none">
              <a:solidFill>
                <a:srgbClr val="0070C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3230321" y="6267757"/>
            <a:ext cx="304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anaum.hamid@nu.edu.pk</a:t>
            </a: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body" idx="1"/>
          </p:nvPr>
        </p:nvSpPr>
        <p:spPr>
          <a:xfrm>
            <a:off x="1259456" y="1258655"/>
            <a:ext cx="7007894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160"/>
              <a:buChar char="●"/>
            </a:pPr>
            <a:r>
              <a:rPr lang="en-US" sz="2400"/>
              <a:t>A set of processes is deadlocked, when each process in the set is blocked awaiting an event that can only be triggered by another blocked process in the set.</a:t>
            </a:r>
            <a:endParaRPr/>
          </a:p>
          <a:p>
            <a:pPr marL="742950" lvl="1" indent="-285750" algn="l" rtl="0">
              <a:spcBef>
                <a:spcPts val="840"/>
              </a:spcBef>
              <a:spcAft>
                <a:spcPts val="0"/>
              </a:spcAft>
              <a:buSzPts val="1920"/>
              <a:buChar char="●"/>
            </a:pPr>
            <a:r>
              <a:rPr lang="en-US" sz="2400"/>
              <a:t>Typically involves processes competing for the same set of resources</a:t>
            </a:r>
            <a:endParaRPr/>
          </a:p>
          <a:p>
            <a:pPr marL="342900" lvl="0" indent="-342900" algn="l" rtl="0">
              <a:spcBef>
                <a:spcPts val="840"/>
              </a:spcBef>
              <a:spcAft>
                <a:spcPts val="0"/>
              </a:spcAft>
              <a:buSzPts val="2160"/>
              <a:buChar char="●"/>
            </a:pPr>
            <a:r>
              <a:rPr lang="en-US" sz="2400"/>
              <a:t>No efficient solution</a:t>
            </a:r>
            <a:endParaRPr/>
          </a:p>
        </p:txBody>
      </p:sp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Potential Deadlock </a:t>
            </a:r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1738" y="1839913"/>
            <a:ext cx="4200525" cy="417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6100" y="793750"/>
            <a:ext cx="3492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8863" y="6090325"/>
            <a:ext cx="379412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14443" y="3550444"/>
            <a:ext cx="760412" cy="3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784" y="4006056"/>
            <a:ext cx="700087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76500" y="1870075"/>
            <a:ext cx="4189413" cy="41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6477000" y="4191000"/>
            <a:ext cx="2667000" cy="1524000"/>
          </a:xfrm>
          <a:prstGeom prst="cloudCallout">
            <a:avLst>
              <a:gd name="adj1" fmla="val -100017"/>
              <a:gd name="adj2" fmla="val -21786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A and B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943600" y="1600200"/>
            <a:ext cx="2667000" cy="1524000"/>
          </a:xfrm>
          <a:prstGeom prst="cloudCallout">
            <a:avLst>
              <a:gd name="adj1" fmla="val -91037"/>
              <a:gd name="adj2" fmla="val 66785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B and C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228600" y="1524000"/>
            <a:ext cx="2667000" cy="1524000"/>
          </a:xfrm>
          <a:prstGeom prst="cloudCallout">
            <a:avLst>
              <a:gd name="adj1" fmla="val 91820"/>
              <a:gd name="adj2" fmla="val 56785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C and B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09600" y="4648200"/>
            <a:ext cx="2667000" cy="1524000"/>
          </a:xfrm>
          <a:prstGeom prst="cloudCallout">
            <a:avLst>
              <a:gd name="adj1" fmla="val 60800"/>
              <a:gd name="adj2" fmla="val -73215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need quad D and A</a:t>
            </a:r>
            <a:endParaRPr/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1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1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1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 Deadlock</a:t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1738" y="1839913"/>
            <a:ext cx="4200525" cy="417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0" y="2743200"/>
            <a:ext cx="3492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4495800"/>
            <a:ext cx="379413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0" y="3582988"/>
            <a:ext cx="760413" cy="3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29000" y="3962400"/>
            <a:ext cx="700088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38400" y="1828800"/>
            <a:ext cx="4240213" cy="41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477000" y="4191000"/>
            <a:ext cx="2667000" cy="1524000"/>
          </a:xfrm>
          <a:prstGeom prst="cloudCallout">
            <a:avLst>
              <a:gd name="adj1" fmla="val -100017"/>
              <a:gd name="adj2" fmla="val -21786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B is free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943600" y="1600200"/>
            <a:ext cx="2667000" cy="1524000"/>
          </a:xfrm>
          <a:prstGeom prst="cloudCallout">
            <a:avLst>
              <a:gd name="adj1" fmla="val -91037"/>
              <a:gd name="adj2" fmla="val 66785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C is free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28600" y="1524000"/>
            <a:ext cx="2667000" cy="1524000"/>
          </a:xfrm>
          <a:prstGeom prst="cloudCallout">
            <a:avLst>
              <a:gd name="adj1" fmla="val 91820"/>
              <a:gd name="adj2" fmla="val 56785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D is free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09600" y="4648200"/>
            <a:ext cx="2667000" cy="1524000"/>
          </a:xfrm>
          <a:prstGeom prst="cloudCallout">
            <a:avLst>
              <a:gd name="adj1" fmla="val 75494"/>
              <a:gd name="adj2" fmla="val -56073"/>
            </a:avLst>
          </a:prstGeom>
          <a:solidFill>
            <a:schemeClr val="accent1"/>
          </a:solidFill>
          <a:ln w="25400" cap="flat" cmpd="sng">
            <a:solidFill>
              <a:srgbClr val="6F9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HALT</a:t>
            </a:r>
            <a:r>
              <a:rPr lang="en-US"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until A  is free</a:t>
            </a:r>
            <a:endParaRPr/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1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1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1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569461" y="1753605"/>
            <a:ext cx="816977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Mutual exclusion (non-sharable resources)</a:t>
            </a:r>
            <a:endParaRPr/>
          </a:p>
          <a:p>
            <a:pPr marL="742950" lvl="1" indent="-285750" algn="l" rtl="0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Only one process may use a resource at a time</a:t>
            </a:r>
            <a:endParaRPr/>
          </a:p>
          <a:p>
            <a:pPr marL="342900" lvl="0" indent="-342900" algn="l" rtl="0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Hold-and-wait</a:t>
            </a:r>
            <a:endParaRPr/>
          </a:p>
          <a:p>
            <a:pPr marL="742950" lvl="1" indent="-285750" algn="l" rtl="0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A process may hold allocated resources while awaiting assignment of others</a:t>
            </a:r>
            <a:endParaRPr/>
          </a:p>
          <a:p>
            <a:pPr marL="342900" lvl="0" indent="-342900" algn="l" rtl="0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No pre-emption</a:t>
            </a:r>
            <a:endParaRPr/>
          </a:p>
          <a:p>
            <a:pPr marL="742950" lvl="1" indent="-285750" algn="l" rtl="0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No resource can be forcibly removed from a process holding it</a:t>
            </a:r>
            <a:endParaRPr/>
          </a:p>
          <a:p>
            <a:pPr marL="742950" lvl="1" indent="-194309" algn="l" rtl="0">
              <a:spcBef>
                <a:spcPts val="63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394292" cy="99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Conditions for </a:t>
            </a:r>
            <a:br>
              <a:rPr lang="en-US"/>
            </a:br>
            <a:r>
              <a:rPr lang="en-US" b="1" i="1"/>
              <a:t>possible </a:t>
            </a:r>
            <a:r>
              <a:rPr lang="en-US"/>
              <a:t>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body" idx="1"/>
          </p:nvPr>
        </p:nvSpPr>
        <p:spPr>
          <a:xfrm>
            <a:off x="1762241" y="2164666"/>
            <a:ext cx="6089854" cy="273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2000"/>
              <a:t>All previous 3 conditions plus:</a:t>
            </a:r>
            <a:endParaRPr/>
          </a:p>
          <a:p>
            <a:pPr marL="342900" lvl="0" indent="-342900" algn="l" rtl="0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Circular wait</a:t>
            </a:r>
            <a:endParaRPr/>
          </a:p>
          <a:p>
            <a:pPr marL="742950" lvl="1" indent="-285750" algn="l" rtl="0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A closed chain of processes exists, such that each process holds at least one resource needed by the next process in the chain.</a:t>
            </a:r>
            <a:endParaRPr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317684" cy="92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 Deadlock </a:t>
            </a:r>
            <a:br>
              <a:rPr lang="en-US"/>
            </a:br>
            <a:r>
              <a:rPr lang="en-US"/>
              <a:t>Requires …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Directed graph that depicts a state of the system of resources and processes</a:t>
            </a:r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322976" y="51752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</a:t>
            </a:r>
            <a:br>
              <a:rPr lang="en-US"/>
            </a:br>
            <a:r>
              <a:rPr lang="en-US"/>
              <a:t> Graphs</a:t>
            </a:r>
            <a:endParaRPr/>
          </a:p>
        </p:txBody>
      </p:sp>
      <p:pic>
        <p:nvPicPr>
          <p:cNvPr id="133" name="Google Shape;133;p7" descr="Fig06_05a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3048000"/>
            <a:ext cx="8751888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8" descr="Fig06_05b.gi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447800"/>
            <a:ext cx="8515350" cy="46243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381000" y="785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 </a:t>
            </a:r>
            <a:br>
              <a:rPr lang="en-US"/>
            </a:br>
            <a:r>
              <a:rPr lang="en-US"/>
              <a:t>Graphs of 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body" idx="1"/>
          </p:nvPr>
        </p:nvSpPr>
        <p:spPr>
          <a:xfrm>
            <a:off x="315686" y="2158468"/>
            <a:ext cx="8599714" cy="318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 dirty="0"/>
              <a:t>Deadlocks can be described more precisely in terms of a directed graph called a </a:t>
            </a:r>
            <a:r>
              <a:rPr lang="en-US" b="1" dirty="0"/>
              <a:t>system resource-allocation graph</a:t>
            </a:r>
            <a:endParaRPr dirty="0"/>
          </a:p>
          <a:p>
            <a:pPr marL="109728" lvl="0" indent="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 dirty="0"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457200" y="805656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 </a:t>
            </a:r>
            <a:br>
              <a:rPr lang="en-US"/>
            </a:br>
            <a:r>
              <a:rPr lang="en-US"/>
              <a:t>Graphs of deadlock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Resource Allocation </a:t>
            </a:r>
            <a:br>
              <a:rPr lang="en-US" sz="1500"/>
            </a:br>
            <a:r>
              <a:rPr lang="en-US" sz="1500"/>
              <a:t>Graphs of deadlock</a:t>
            </a:r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"/>
          </p:nvPr>
        </p:nvSpPr>
        <p:spPr>
          <a:xfrm>
            <a:off x="696286" y="1233488"/>
            <a:ext cx="4148764" cy="489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60"/>
              <a:buChar char="●"/>
            </a:pPr>
            <a:r>
              <a:rPr lang="en-US" sz="1400"/>
              <a:t>Resource instances:</a:t>
            </a:r>
            <a:endParaRPr/>
          </a:p>
          <a:p>
            <a:pPr marL="109728" lvl="0" indent="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One instance of resource type </a:t>
            </a:r>
            <a:r>
              <a:rPr lang="en-US" sz="1400" i="1"/>
              <a:t>R</a:t>
            </a:r>
            <a:r>
              <a:rPr lang="en-US" sz="1400"/>
              <a:t>1</a:t>
            </a:r>
            <a:endParaRPr/>
          </a:p>
          <a:p>
            <a:pPr marL="109728" lvl="0" indent="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Two instances of resource type </a:t>
            </a:r>
            <a:r>
              <a:rPr lang="en-US" sz="1400" i="1"/>
              <a:t>R</a:t>
            </a:r>
            <a:r>
              <a:rPr lang="en-US" sz="1400"/>
              <a:t>2</a:t>
            </a:r>
            <a:endParaRPr/>
          </a:p>
          <a:p>
            <a:pPr marL="109728" lvl="0" indent="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One instance of resource type </a:t>
            </a:r>
            <a:r>
              <a:rPr lang="en-US" sz="1400" i="1"/>
              <a:t>R</a:t>
            </a:r>
            <a:r>
              <a:rPr lang="en-US" sz="1400"/>
              <a:t>3</a:t>
            </a:r>
            <a:endParaRPr/>
          </a:p>
          <a:p>
            <a:pPr marL="109728" lvl="0" indent="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rPr lang="en-US" sz="1400"/>
              <a:t>	◦ Three instances of resource type </a:t>
            </a:r>
            <a:r>
              <a:rPr lang="en-US" sz="1400" i="1"/>
              <a:t>R</a:t>
            </a:r>
            <a:r>
              <a:rPr lang="en-US" sz="1400"/>
              <a:t>4</a:t>
            </a:r>
            <a:endParaRPr/>
          </a:p>
          <a:p>
            <a:pPr marL="109728" lvl="0" indent="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endParaRPr sz="1400"/>
          </a:p>
          <a:p>
            <a:pPr marL="109728" lvl="0" indent="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</a:pPr>
            <a:endParaRPr sz="1400"/>
          </a:p>
          <a:p>
            <a:pPr marL="342900" lvl="0" indent="-34290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Char char="●"/>
            </a:pPr>
            <a:r>
              <a:rPr lang="en-US" sz="1400"/>
              <a:t>Process states:</a:t>
            </a:r>
            <a:endParaRPr/>
          </a:p>
          <a:p>
            <a:pPr marL="452628" lvl="0" indent="-34290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Font typeface="Arial"/>
              <a:buAutoNum type="arabicPeriod"/>
            </a:pPr>
            <a:r>
              <a:rPr lang="en-US" sz="1400"/>
              <a:t>◦ Process </a:t>
            </a:r>
            <a:r>
              <a:rPr lang="en-US" sz="1400" i="1"/>
              <a:t>P</a:t>
            </a:r>
            <a:r>
              <a:rPr lang="en-US" sz="1400"/>
              <a:t>1 is holding an instance of resource type </a:t>
            </a:r>
            <a:r>
              <a:rPr lang="en-US" sz="1400" i="1"/>
              <a:t>R</a:t>
            </a:r>
            <a:r>
              <a:rPr lang="en-US" sz="1400"/>
              <a:t>2 and is waiting for an instance of resource type </a:t>
            </a:r>
            <a:r>
              <a:rPr lang="en-US" sz="1400" i="1"/>
              <a:t>R</a:t>
            </a:r>
            <a:r>
              <a:rPr lang="en-US" sz="1400"/>
              <a:t>1.</a:t>
            </a:r>
            <a:endParaRPr/>
          </a:p>
          <a:p>
            <a:pPr marL="452628" lvl="0" indent="-34290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Font typeface="Arial"/>
              <a:buAutoNum type="arabicPeriod"/>
            </a:pPr>
            <a:r>
              <a:rPr lang="en-US" sz="1400"/>
              <a:t>◦ Process </a:t>
            </a:r>
            <a:r>
              <a:rPr lang="en-US" sz="1400" i="1"/>
              <a:t>P</a:t>
            </a:r>
            <a:r>
              <a:rPr lang="en-US" sz="1400"/>
              <a:t>2 is holding an instance of </a:t>
            </a:r>
            <a:r>
              <a:rPr lang="en-US" sz="1400" i="1"/>
              <a:t>R</a:t>
            </a:r>
            <a:r>
              <a:rPr lang="en-US" sz="1400"/>
              <a:t>1 and an instance of </a:t>
            </a:r>
            <a:r>
              <a:rPr lang="en-US" sz="1400" i="1"/>
              <a:t>R</a:t>
            </a:r>
            <a:r>
              <a:rPr lang="en-US" sz="1400"/>
              <a:t>2 and is waiting for an instance of </a:t>
            </a:r>
            <a:r>
              <a:rPr lang="en-US" sz="1400" i="1"/>
              <a:t>R</a:t>
            </a:r>
            <a:r>
              <a:rPr lang="en-US" sz="1400"/>
              <a:t>3.</a:t>
            </a:r>
            <a:endParaRPr/>
          </a:p>
          <a:p>
            <a:pPr marL="452628" lvl="0" indent="-342900" algn="l" rtl="0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SzPts val="1260"/>
              <a:buFont typeface="Arial"/>
              <a:buAutoNum type="arabicPeriod"/>
            </a:pPr>
            <a:r>
              <a:rPr lang="en-US" sz="1400"/>
              <a:t>◦ Process </a:t>
            </a:r>
            <a:r>
              <a:rPr lang="en-US" sz="1400" i="1"/>
              <a:t>P</a:t>
            </a:r>
            <a:r>
              <a:rPr lang="en-US" sz="1400"/>
              <a:t>3 is holding an instance of </a:t>
            </a:r>
            <a:r>
              <a:rPr lang="en-US" sz="1400" i="1"/>
              <a:t>R</a:t>
            </a:r>
            <a:r>
              <a:rPr lang="en-US" sz="1400"/>
              <a:t>3.</a:t>
            </a:r>
            <a:endParaRPr/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7450" y="1280243"/>
            <a:ext cx="4532444" cy="49798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</p:cSld>
  <p:clrMapOvr>
    <a:masterClrMapping/>
  </p:clrMapOvr>
  <p:transition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>
            <a:off x="761908" y="2055254"/>
            <a:ext cx="4005118" cy="3244672"/>
            <a:chOff x="2895600" y="1981200"/>
            <a:chExt cx="3886200" cy="2667000"/>
          </a:xfrm>
        </p:grpSpPr>
        <p:sp>
          <p:nvSpPr>
            <p:cNvPr id="159" name="Google Shape;159;p11"/>
            <p:cNvSpPr/>
            <p:nvPr/>
          </p:nvSpPr>
          <p:spPr>
            <a:xfrm>
              <a:off x="5715000" y="2057400"/>
              <a:ext cx="1066800" cy="685800"/>
            </a:xfrm>
            <a:prstGeom prst="rect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5715000" y="2971800"/>
              <a:ext cx="1066800" cy="685800"/>
            </a:xfrm>
            <a:prstGeom prst="rect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5715000" y="3962400"/>
              <a:ext cx="1066800" cy="685800"/>
            </a:xfrm>
            <a:prstGeom prst="rect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5867400" y="2209800"/>
              <a:ext cx="152400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5867400" y="3124200"/>
              <a:ext cx="152400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5867400" y="2514600"/>
              <a:ext cx="152400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5867400" y="3429000"/>
              <a:ext cx="152400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5867400" y="4419600"/>
              <a:ext cx="152400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7" name="Google Shape;167;p11"/>
            <p:cNvSpPr txBox="1"/>
            <p:nvPr/>
          </p:nvSpPr>
          <p:spPr>
            <a:xfrm>
              <a:off x="6213902" y="2209800"/>
              <a:ext cx="4797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R1</a:t>
              </a:r>
              <a:endParaRPr/>
            </a:p>
          </p:txBody>
        </p:sp>
        <p:sp>
          <p:nvSpPr>
            <p:cNvPr id="168" name="Google Shape;168;p11"/>
            <p:cNvSpPr txBox="1"/>
            <p:nvPr/>
          </p:nvSpPr>
          <p:spPr>
            <a:xfrm>
              <a:off x="6225982" y="3124200"/>
              <a:ext cx="4797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R2</a:t>
              </a:r>
              <a:endParaRPr/>
            </a:p>
          </p:txBody>
        </p:sp>
        <p:sp>
          <p:nvSpPr>
            <p:cNvPr id="169" name="Google Shape;169;p11"/>
            <p:cNvSpPr txBox="1"/>
            <p:nvPr/>
          </p:nvSpPr>
          <p:spPr>
            <a:xfrm>
              <a:off x="6225982" y="4114800"/>
              <a:ext cx="4797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R3</a:t>
              </a: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2895600" y="1981200"/>
              <a:ext cx="838200" cy="685800"/>
            </a:xfrm>
            <a:prstGeom prst="ellipse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2895600" y="2895600"/>
              <a:ext cx="838200" cy="685800"/>
            </a:xfrm>
            <a:prstGeom prst="ellipse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2971800" y="3962400"/>
              <a:ext cx="838200" cy="685800"/>
            </a:xfrm>
            <a:prstGeom prst="ellipse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3" name="Google Shape;173;p11"/>
            <p:cNvSpPr txBox="1"/>
            <p:nvPr/>
          </p:nvSpPr>
          <p:spPr>
            <a:xfrm>
              <a:off x="3048000" y="2133600"/>
              <a:ext cx="4668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P1</a:t>
              </a:r>
              <a:endParaRPr/>
            </a:p>
          </p:txBody>
        </p:sp>
        <p:sp>
          <p:nvSpPr>
            <p:cNvPr id="174" name="Google Shape;174;p11"/>
            <p:cNvSpPr txBox="1"/>
            <p:nvPr/>
          </p:nvSpPr>
          <p:spPr>
            <a:xfrm>
              <a:off x="3048000" y="3059668"/>
              <a:ext cx="4668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P2</a:t>
              </a:r>
              <a:endParaRPr/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3124200" y="4126468"/>
              <a:ext cx="466800" cy="30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P3</a:t>
              </a:r>
              <a:endParaRPr/>
            </a:p>
          </p:txBody>
        </p:sp>
        <p:cxnSp>
          <p:nvCxnSpPr>
            <p:cNvPr id="176" name="Google Shape;176;p11"/>
            <p:cNvCxnSpPr>
              <a:stCxn id="170" idx="6"/>
            </p:cNvCxnSpPr>
            <p:nvPr/>
          </p:nvCxnSpPr>
          <p:spPr>
            <a:xfrm rot="10800000" flipH="1">
              <a:off x="3733800" y="2133600"/>
              <a:ext cx="1981200" cy="19050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7" name="Google Shape;177;p11"/>
            <p:cNvCxnSpPr>
              <a:stCxn id="164" idx="3"/>
              <a:endCxn id="171" idx="6"/>
            </p:cNvCxnSpPr>
            <p:nvPr/>
          </p:nvCxnSpPr>
          <p:spPr>
            <a:xfrm flipH="1">
              <a:off x="3733918" y="2579641"/>
              <a:ext cx="2155800" cy="65880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8" name="Google Shape;178;p11"/>
            <p:cNvCxnSpPr>
              <a:stCxn id="163" idx="3"/>
              <a:endCxn id="170" idx="5"/>
            </p:cNvCxnSpPr>
            <p:nvPr/>
          </p:nvCxnSpPr>
          <p:spPr>
            <a:xfrm rot="10800000">
              <a:off x="3610918" y="2566441"/>
              <a:ext cx="2278800" cy="62280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9" name="Google Shape;179;p11"/>
            <p:cNvCxnSpPr>
              <a:stCxn id="165" idx="5"/>
              <a:endCxn id="171" idx="5"/>
            </p:cNvCxnSpPr>
            <p:nvPr/>
          </p:nvCxnSpPr>
          <p:spPr>
            <a:xfrm rot="10800000">
              <a:off x="3610982" y="3480841"/>
              <a:ext cx="2386500" cy="1320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0" name="Google Shape;180;p11"/>
            <p:cNvCxnSpPr>
              <a:stCxn id="171" idx="4"/>
            </p:cNvCxnSpPr>
            <p:nvPr/>
          </p:nvCxnSpPr>
          <p:spPr>
            <a:xfrm>
              <a:off x="3314700" y="3581400"/>
              <a:ext cx="2400300" cy="60960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1" name="Google Shape;181;p11"/>
            <p:cNvCxnSpPr>
              <a:endCxn id="172" idx="6"/>
            </p:cNvCxnSpPr>
            <p:nvPr/>
          </p:nvCxnSpPr>
          <p:spPr>
            <a:xfrm rot="10800000">
              <a:off x="3810000" y="4305300"/>
              <a:ext cx="2187600" cy="168900"/>
            </a:xfrm>
            <a:prstGeom prst="straightConnector1">
              <a:avLst/>
            </a:prstGeom>
            <a:noFill/>
            <a:ln w="222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964" y="1583344"/>
            <a:ext cx="4083770" cy="4070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xfrm>
            <a:off x="382494" y="649791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Allocation </a:t>
            </a:r>
            <a:br>
              <a:rPr lang="en-US"/>
            </a:br>
            <a:r>
              <a:rPr lang="en-US"/>
              <a:t>Graphs of deadlock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2"/>
          <p:cNvGrpSpPr/>
          <p:nvPr/>
        </p:nvGrpSpPr>
        <p:grpSpPr>
          <a:xfrm>
            <a:off x="1793480" y="1473075"/>
            <a:ext cx="5902346" cy="5012284"/>
            <a:chOff x="2606996" y="1447800"/>
            <a:chExt cx="5023273" cy="4572000"/>
          </a:xfrm>
        </p:grpSpPr>
        <p:grpSp>
          <p:nvGrpSpPr>
            <p:cNvPr id="189" name="Google Shape;189;p12"/>
            <p:cNvGrpSpPr/>
            <p:nvPr/>
          </p:nvGrpSpPr>
          <p:grpSpPr>
            <a:xfrm>
              <a:off x="2606996" y="1447800"/>
              <a:ext cx="4953000" cy="2723400"/>
              <a:chOff x="2895600" y="1981200"/>
              <a:chExt cx="3886200" cy="2723400"/>
            </a:xfrm>
          </p:grpSpPr>
          <p:sp>
            <p:nvSpPr>
              <p:cNvPr id="190" name="Google Shape;190;p12"/>
              <p:cNvSpPr/>
              <p:nvPr/>
            </p:nvSpPr>
            <p:spPr>
              <a:xfrm>
                <a:off x="5715000" y="2057400"/>
                <a:ext cx="1066800" cy="685800"/>
              </a:xfrm>
              <a:prstGeom prst="rect">
                <a:avLst/>
              </a:prstGeom>
              <a:noFill/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1" name="Google Shape;191;p12"/>
              <p:cNvSpPr/>
              <p:nvPr/>
            </p:nvSpPr>
            <p:spPr>
              <a:xfrm>
                <a:off x="5715000" y="2971800"/>
                <a:ext cx="1066800" cy="685800"/>
              </a:xfrm>
              <a:prstGeom prst="rect">
                <a:avLst/>
              </a:prstGeom>
              <a:noFill/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2" name="Google Shape;192;p12"/>
              <p:cNvSpPr/>
              <p:nvPr/>
            </p:nvSpPr>
            <p:spPr>
              <a:xfrm>
                <a:off x="5715000" y="3962400"/>
                <a:ext cx="1066800" cy="685800"/>
              </a:xfrm>
              <a:prstGeom prst="rect">
                <a:avLst/>
              </a:prstGeom>
              <a:noFill/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>
                <a:off x="5867400" y="2514600"/>
                <a:ext cx="152400" cy="762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>
                <a:off x="5867400" y="3429000"/>
                <a:ext cx="152400" cy="762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>
                <a:off x="5867400" y="4419600"/>
                <a:ext cx="152400" cy="762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6" name="Google Shape;196;p12"/>
              <p:cNvSpPr txBox="1"/>
              <p:nvPr/>
            </p:nvSpPr>
            <p:spPr>
              <a:xfrm>
                <a:off x="6213902" y="2209800"/>
                <a:ext cx="263100" cy="5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F1</a:t>
                </a:r>
                <a:endParaRPr/>
              </a:p>
            </p:txBody>
          </p:sp>
          <p:sp>
            <p:nvSpPr>
              <p:cNvPr id="197" name="Google Shape;197;p12"/>
              <p:cNvSpPr txBox="1"/>
              <p:nvPr/>
            </p:nvSpPr>
            <p:spPr>
              <a:xfrm>
                <a:off x="6225982" y="3124200"/>
                <a:ext cx="263100" cy="5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F2</a:t>
                </a:r>
                <a:endParaRPr/>
              </a:p>
            </p:txBody>
          </p:sp>
          <p:sp>
            <p:nvSpPr>
              <p:cNvPr id="198" name="Google Shape;198;p12"/>
              <p:cNvSpPr txBox="1"/>
              <p:nvPr/>
            </p:nvSpPr>
            <p:spPr>
              <a:xfrm>
                <a:off x="6225982" y="4114800"/>
                <a:ext cx="263100" cy="58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F3</a:t>
                </a:r>
                <a:endParaRPr/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>
                <a:off x="2895600" y="1981200"/>
                <a:ext cx="838200" cy="685800"/>
              </a:xfrm>
              <a:prstGeom prst="ellipse">
                <a:avLst/>
              </a:prstGeom>
              <a:noFill/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0" name="Google Shape;200;p12"/>
              <p:cNvSpPr/>
              <p:nvPr/>
            </p:nvSpPr>
            <p:spPr>
              <a:xfrm>
                <a:off x="2895600" y="2895600"/>
                <a:ext cx="838200" cy="685800"/>
              </a:xfrm>
              <a:prstGeom prst="ellipse">
                <a:avLst/>
              </a:prstGeom>
              <a:noFill/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1" name="Google Shape;201;p12"/>
              <p:cNvSpPr/>
              <p:nvPr/>
            </p:nvSpPr>
            <p:spPr>
              <a:xfrm>
                <a:off x="2971800" y="3962400"/>
                <a:ext cx="838200" cy="685800"/>
              </a:xfrm>
              <a:prstGeom prst="ellipse">
                <a:avLst/>
              </a:prstGeom>
              <a:noFill/>
              <a:ln w="25400" cap="flat" cmpd="sng">
                <a:solidFill>
                  <a:srgbClr val="6F94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2" name="Google Shape;202;p12"/>
              <p:cNvSpPr txBox="1"/>
              <p:nvPr/>
            </p:nvSpPr>
            <p:spPr>
              <a:xfrm>
                <a:off x="3048000" y="2133600"/>
                <a:ext cx="466800" cy="3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P1</a:t>
                </a:r>
                <a:endParaRPr/>
              </a:p>
            </p:txBody>
          </p:sp>
          <p:sp>
            <p:nvSpPr>
              <p:cNvPr id="203" name="Google Shape;203;p12"/>
              <p:cNvSpPr txBox="1"/>
              <p:nvPr/>
            </p:nvSpPr>
            <p:spPr>
              <a:xfrm>
                <a:off x="3048000" y="3059668"/>
                <a:ext cx="466800" cy="3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P2</a:t>
                </a:r>
                <a:endParaRPr/>
              </a:p>
            </p:txBody>
          </p:sp>
          <p:sp>
            <p:nvSpPr>
              <p:cNvPr id="204" name="Google Shape;204;p12"/>
              <p:cNvSpPr txBox="1"/>
              <p:nvPr/>
            </p:nvSpPr>
            <p:spPr>
              <a:xfrm>
                <a:off x="3124200" y="4126468"/>
                <a:ext cx="466800" cy="3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P3</a:t>
                </a:r>
                <a:endParaRPr/>
              </a:p>
            </p:txBody>
          </p:sp>
        </p:grpSp>
        <p:sp>
          <p:nvSpPr>
            <p:cNvPr id="205" name="Google Shape;205;p12"/>
            <p:cNvSpPr/>
            <p:nvPr/>
          </p:nvSpPr>
          <p:spPr>
            <a:xfrm>
              <a:off x="2661669" y="4393556"/>
              <a:ext cx="1068294" cy="685800"/>
            </a:xfrm>
            <a:prstGeom prst="ellipse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2704114" y="5281487"/>
              <a:ext cx="1068294" cy="685800"/>
            </a:xfrm>
            <a:prstGeom prst="ellipse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7" name="Google Shape;207;p12"/>
            <p:cNvSpPr txBox="1"/>
            <p:nvPr/>
          </p:nvSpPr>
          <p:spPr>
            <a:xfrm>
              <a:off x="2929371" y="4531796"/>
              <a:ext cx="466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P4</a:t>
              </a:r>
              <a:endParaRPr/>
            </a:p>
          </p:txBody>
        </p:sp>
        <p:sp>
          <p:nvSpPr>
            <p:cNvPr id="208" name="Google Shape;208;p12"/>
            <p:cNvSpPr txBox="1"/>
            <p:nvPr/>
          </p:nvSpPr>
          <p:spPr>
            <a:xfrm>
              <a:off x="3034257" y="5460356"/>
              <a:ext cx="466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P5</a:t>
              </a:r>
              <a:endParaRPr/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6270622" y="5334000"/>
              <a:ext cx="1359647" cy="685800"/>
            </a:xfrm>
            <a:prstGeom prst="rect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6200349" y="4387403"/>
              <a:ext cx="1359647" cy="685800"/>
            </a:xfrm>
            <a:prstGeom prst="rect">
              <a:avLst/>
            </a:prstGeom>
            <a:noFill/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6312147" y="4863028"/>
              <a:ext cx="194235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6394583" y="5753488"/>
              <a:ext cx="194235" cy="76200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rgbClr val="6F9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3" name="Google Shape;213;p12"/>
            <p:cNvSpPr txBox="1"/>
            <p:nvPr/>
          </p:nvSpPr>
          <p:spPr>
            <a:xfrm>
              <a:off x="6865530" y="4593351"/>
              <a:ext cx="4539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F4</a:t>
              </a:r>
              <a:endParaRPr/>
            </a:p>
          </p:txBody>
        </p:sp>
        <p:sp>
          <p:nvSpPr>
            <p:cNvPr id="214" name="Google Shape;214;p12"/>
            <p:cNvSpPr txBox="1"/>
            <p:nvPr/>
          </p:nvSpPr>
          <p:spPr>
            <a:xfrm>
              <a:off x="6905392" y="5521911"/>
              <a:ext cx="4539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F5</a:t>
              </a:r>
              <a:endParaRPr/>
            </a:p>
          </p:txBody>
        </p:sp>
        <p:cxnSp>
          <p:nvCxnSpPr>
            <p:cNvPr id="215" name="Google Shape;215;p12"/>
            <p:cNvCxnSpPr>
              <a:stCxn id="193" idx="0"/>
              <a:endCxn id="199" idx="6"/>
            </p:cNvCxnSpPr>
            <p:nvPr/>
          </p:nvCxnSpPr>
          <p:spPr>
            <a:xfrm rot="10800000">
              <a:off x="3675302" y="1790700"/>
              <a:ext cx="2816400" cy="1905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6" name="Google Shape;216;p12"/>
            <p:cNvCxnSpPr>
              <a:stCxn id="194" idx="0"/>
              <a:endCxn id="200" idx="6"/>
            </p:cNvCxnSpPr>
            <p:nvPr/>
          </p:nvCxnSpPr>
          <p:spPr>
            <a:xfrm rot="10800000">
              <a:off x="3675302" y="2705100"/>
              <a:ext cx="2816400" cy="1905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7" name="Google Shape;217;p12"/>
            <p:cNvCxnSpPr>
              <a:stCxn id="195" idx="0"/>
              <a:endCxn id="201" idx="6"/>
            </p:cNvCxnSpPr>
            <p:nvPr/>
          </p:nvCxnSpPr>
          <p:spPr>
            <a:xfrm rot="10800000">
              <a:off x="3772502" y="3771900"/>
              <a:ext cx="2719200" cy="1143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8" name="Google Shape;218;p12"/>
            <p:cNvCxnSpPr>
              <a:stCxn id="211" idx="1"/>
              <a:endCxn id="205" idx="6"/>
            </p:cNvCxnSpPr>
            <p:nvPr/>
          </p:nvCxnSpPr>
          <p:spPr>
            <a:xfrm rot="10800000">
              <a:off x="3729992" y="4736487"/>
              <a:ext cx="2610600" cy="1377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9" name="Google Shape;219;p12"/>
            <p:cNvCxnSpPr>
              <a:stCxn id="212" idx="1"/>
            </p:cNvCxnSpPr>
            <p:nvPr/>
          </p:nvCxnSpPr>
          <p:spPr>
            <a:xfrm rot="10800000">
              <a:off x="3771628" y="5753547"/>
              <a:ext cx="2651400" cy="111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0" name="Google Shape;220;p12"/>
            <p:cNvCxnSpPr>
              <a:stCxn id="199" idx="5"/>
            </p:cNvCxnSpPr>
            <p:nvPr/>
          </p:nvCxnSpPr>
          <p:spPr>
            <a:xfrm>
              <a:off x="3518842" y="2033167"/>
              <a:ext cx="2681400" cy="5577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1" name="Google Shape;221;p12"/>
            <p:cNvCxnSpPr>
              <a:stCxn id="200" idx="5"/>
            </p:cNvCxnSpPr>
            <p:nvPr/>
          </p:nvCxnSpPr>
          <p:spPr>
            <a:xfrm>
              <a:off x="3518842" y="2947567"/>
              <a:ext cx="2628300" cy="6456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2" name="Google Shape;222;p12"/>
            <p:cNvCxnSpPr>
              <a:stCxn id="201" idx="5"/>
            </p:cNvCxnSpPr>
            <p:nvPr/>
          </p:nvCxnSpPr>
          <p:spPr>
            <a:xfrm>
              <a:off x="3615960" y="4014367"/>
              <a:ext cx="2584500" cy="5046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3" name="Google Shape;223;p12"/>
            <p:cNvCxnSpPr>
              <a:stCxn id="205" idx="5"/>
            </p:cNvCxnSpPr>
            <p:nvPr/>
          </p:nvCxnSpPr>
          <p:spPr>
            <a:xfrm>
              <a:off x="3573515" y="4978923"/>
              <a:ext cx="2697000" cy="5016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4" name="Google Shape;224;p12"/>
            <p:cNvCxnSpPr>
              <a:stCxn id="206" idx="7"/>
            </p:cNvCxnSpPr>
            <p:nvPr/>
          </p:nvCxnSpPr>
          <p:spPr>
            <a:xfrm rot="10800000" flipH="1">
              <a:off x="3615960" y="2027020"/>
              <a:ext cx="2584500" cy="3354900"/>
            </a:xfrm>
            <a:prstGeom prst="straightConnector1">
              <a:avLst/>
            </a:prstGeom>
            <a:noFill/>
            <a:ln w="9525" cap="flat" cmpd="sng">
              <a:solidFill>
                <a:srgbClr val="97CB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25" name="Google Shape;225;p12"/>
            <p:cNvSpPr txBox="1"/>
            <p:nvPr/>
          </p:nvSpPr>
          <p:spPr>
            <a:xfrm>
              <a:off x="4592804" y="1554067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6" name="Google Shape;226;p12"/>
            <p:cNvSpPr txBox="1"/>
            <p:nvPr/>
          </p:nvSpPr>
          <p:spPr>
            <a:xfrm>
              <a:off x="4317136" y="2427573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7" name="Google Shape;227;p12"/>
            <p:cNvSpPr txBox="1"/>
            <p:nvPr/>
          </p:nvSpPr>
          <p:spPr>
            <a:xfrm>
              <a:off x="4549253" y="3550622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4373912" y="4461997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29" name="Google Shape;229;p12"/>
            <p:cNvSpPr txBox="1"/>
            <p:nvPr/>
          </p:nvSpPr>
          <p:spPr>
            <a:xfrm>
              <a:off x="4649462" y="5480503"/>
              <a:ext cx="620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held</a:t>
              </a:r>
              <a:endParaRPr/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4859594" y="2026914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1" name="Google Shape;231;p12"/>
            <p:cNvSpPr txBox="1"/>
            <p:nvPr/>
          </p:nvSpPr>
          <p:spPr>
            <a:xfrm>
              <a:off x="5083496" y="3029112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5163523" y="4018142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3" name="Google Shape;233;p12"/>
            <p:cNvSpPr txBox="1"/>
            <p:nvPr/>
          </p:nvSpPr>
          <p:spPr>
            <a:xfrm>
              <a:off x="4498534" y="4819702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5461719" y="5027825"/>
              <a:ext cx="6078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Req</a:t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35" name="Google Shape;235;p12"/>
          <p:cNvSpPr txBox="1">
            <a:spLocks noGrp="1"/>
          </p:cNvSpPr>
          <p:nvPr>
            <p:ph type="title"/>
          </p:nvPr>
        </p:nvSpPr>
        <p:spPr>
          <a:xfrm>
            <a:off x="1447800" y="199909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of Dinning Philosopher Problem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body" idx="1"/>
          </p:nvPr>
        </p:nvSpPr>
        <p:spPr>
          <a:xfrm>
            <a:off x="1217511" y="1822661"/>
            <a:ext cx="7137924" cy="3212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Three general approaches exist for dealing with deadlock.</a:t>
            </a:r>
            <a:endParaRPr/>
          </a:p>
          <a:p>
            <a:pPr marL="742950" lvl="1" indent="-184150" algn="l" rtl="0">
              <a:spcBef>
                <a:spcPts val="700"/>
              </a:spcBef>
              <a:spcAft>
                <a:spcPts val="0"/>
              </a:spcAft>
              <a:buSzPts val="1600"/>
              <a:buNone/>
            </a:pPr>
            <a:endParaRPr sz="2000"/>
          </a:p>
          <a:p>
            <a:pPr marL="800100" lvl="1" indent="-342900" algn="l" rtl="0">
              <a:spcBef>
                <a:spcPts val="7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2000"/>
              <a:t>Prevent deadlock</a:t>
            </a:r>
            <a:endParaRPr/>
          </a:p>
          <a:p>
            <a:pPr marL="800100" lvl="1" indent="-241300" algn="l" rtl="0">
              <a:spcBef>
                <a:spcPts val="700"/>
              </a:spcBef>
              <a:spcAft>
                <a:spcPts val="0"/>
              </a:spcAft>
              <a:buSzPts val="1600"/>
              <a:buFont typeface="Arial"/>
              <a:buNone/>
            </a:pPr>
            <a:endParaRPr sz="2000"/>
          </a:p>
          <a:p>
            <a:pPr marL="800100" lvl="1" indent="-342900" algn="l" rtl="0">
              <a:spcBef>
                <a:spcPts val="7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2000"/>
              <a:t>Avoid deadlock</a:t>
            </a:r>
            <a:endParaRPr/>
          </a:p>
          <a:p>
            <a:pPr marL="800100" lvl="1" indent="-241300" algn="l" rtl="0">
              <a:spcBef>
                <a:spcPts val="700"/>
              </a:spcBef>
              <a:spcAft>
                <a:spcPts val="0"/>
              </a:spcAft>
              <a:buSzPts val="1600"/>
              <a:buFont typeface="Arial"/>
              <a:buNone/>
            </a:pPr>
            <a:endParaRPr sz="2000"/>
          </a:p>
          <a:p>
            <a:pPr marL="800100" lvl="1" indent="-342900" algn="l" rtl="0">
              <a:spcBef>
                <a:spcPts val="7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2000"/>
              <a:t>Detect Deadlock</a:t>
            </a:r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Dealing with Deadlock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Dealing with Deadlock</a:t>
            </a:r>
            <a:endParaRPr/>
          </a:p>
        </p:txBody>
      </p:sp>
      <p:pic>
        <p:nvPicPr>
          <p:cNvPr id="248" name="Google Shape;248;p14" descr="Image result for deadlock prevention mutual exclusion examp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768" y="1477510"/>
            <a:ext cx="886046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>
            <a:spLocks noGrp="1"/>
          </p:cNvSpPr>
          <p:nvPr>
            <p:ph type="body" idx="1"/>
          </p:nvPr>
        </p:nvSpPr>
        <p:spPr>
          <a:xfrm>
            <a:off x="579947" y="1703272"/>
            <a:ext cx="8229599" cy="442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Design a system in such a way that the possibility of deadlock is excluded.</a:t>
            </a:r>
            <a:endParaRPr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Two main methods</a:t>
            </a:r>
            <a:endParaRPr/>
          </a:p>
          <a:p>
            <a:pPr marL="742950" lvl="1" indent="-194309" algn="l" rtl="0">
              <a:spcBef>
                <a:spcPts val="63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Indirect – prevent one of the three necessary conditions from occurring</a:t>
            </a:r>
            <a:endParaRPr/>
          </a:p>
          <a:p>
            <a:pPr marL="742950" lvl="1" indent="-194309" algn="l" rtl="0">
              <a:spcBef>
                <a:spcPts val="63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Direct – prevent circular waits</a:t>
            </a:r>
            <a:endParaRPr/>
          </a:p>
        </p:txBody>
      </p:sp>
      <p:sp>
        <p:nvSpPr>
          <p:cNvPr id="255" name="Google Shape;255;p15"/>
          <p:cNvSpPr txBox="1">
            <a:spLocks noGrp="1"/>
          </p:cNvSpPr>
          <p:nvPr>
            <p:ph type="title"/>
          </p:nvPr>
        </p:nvSpPr>
        <p:spPr>
          <a:xfrm>
            <a:off x="457200" y="54626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Strategy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>
            <a:spLocks noGrp="1"/>
          </p:cNvSpPr>
          <p:nvPr>
            <p:ph type="body" idx="1"/>
          </p:nvPr>
        </p:nvSpPr>
        <p:spPr>
          <a:xfrm>
            <a:off x="457200" y="1669715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ctr" rtl="0">
              <a:spcBef>
                <a:spcPts val="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Mutual Exclusion</a:t>
            </a:r>
            <a:endParaRPr/>
          </a:p>
          <a:p>
            <a:pPr marL="914400" lvl="1" indent="-335280" algn="ctr" rtl="0">
              <a:spcBef>
                <a:spcPts val="840"/>
              </a:spcBef>
              <a:spcAft>
                <a:spcPts val="0"/>
              </a:spcAft>
              <a:buSzPts val="1920"/>
              <a:buFont typeface="Arial"/>
              <a:buNone/>
            </a:pPr>
            <a:endParaRPr sz="2400"/>
          </a:p>
          <a:p>
            <a:pPr marL="514350" lvl="0" indent="-514350" algn="ctr" rtl="0">
              <a:spcBef>
                <a:spcPts val="98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Hold and Wait</a:t>
            </a:r>
            <a:endParaRPr/>
          </a:p>
          <a:p>
            <a:pPr marL="514350" lvl="0" indent="-354330" algn="ctr" rtl="0">
              <a:spcBef>
                <a:spcPts val="980"/>
              </a:spcBef>
              <a:spcAft>
                <a:spcPts val="0"/>
              </a:spcAft>
              <a:buSzPts val="2520"/>
              <a:buFont typeface="Arial"/>
              <a:buNone/>
            </a:pPr>
            <a:endParaRPr sz="2800"/>
          </a:p>
          <a:p>
            <a:pPr marL="514350" lvl="0" indent="-514350" algn="ctr" rtl="0">
              <a:spcBef>
                <a:spcPts val="98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No Preemption</a:t>
            </a:r>
            <a:endParaRPr/>
          </a:p>
          <a:p>
            <a:pPr marL="514350" lvl="0" indent="-354330" algn="ctr" rtl="0">
              <a:spcBef>
                <a:spcPts val="980"/>
              </a:spcBef>
              <a:spcAft>
                <a:spcPts val="0"/>
              </a:spcAft>
              <a:buSzPts val="2520"/>
              <a:buFont typeface="Arial"/>
              <a:buNone/>
            </a:pPr>
            <a:endParaRPr sz="2800"/>
          </a:p>
          <a:p>
            <a:pPr marL="514350" lvl="0" indent="-514350" algn="ctr" rtl="0">
              <a:spcBef>
                <a:spcPts val="980"/>
              </a:spcBef>
              <a:spcAft>
                <a:spcPts val="0"/>
              </a:spcAft>
              <a:buSzPts val="2520"/>
              <a:buFont typeface="Arial"/>
              <a:buAutoNum type="arabicPeriod"/>
            </a:pPr>
            <a:r>
              <a:rPr lang="en-US" sz="2800"/>
              <a:t>Circular Wait</a:t>
            </a:r>
            <a:endParaRPr/>
          </a:p>
          <a:p>
            <a:pPr marL="342900" lvl="0" indent="-182880" algn="l" rtl="0">
              <a:spcBef>
                <a:spcPts val="980"/>
              </a:spcBef>
              <a:spcAft>
                <a:spcPts val="0"/>
              </a:spcAft>
              <a:buSzPts val="2520"/>
              <a:buNone/>
            </a:pPr>
            <a:endParaRPr sz="2800"/>
          </a:p>
        </p:txBody>
      </p:sp>
      <p:sp>
        <p:nvSpPr>
          <p:cNvPr id="262" name="Google Shape;262;p16"/>
          <p:cNvSpPr txBox="1">
            <a:spLocks noGrp="1"/>
          </p:cNvSpPr>
          <p:nvPr>
            <p:ph type="title"/>
          </p:nvPr>
        </p:nvSpPr>
        <p:spPr>
          <a:xfrm>
            <a:off x="457200" y="65756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7" descr="https://courses.cs.washington.edu/courses/cse410/99au/lectures/Lecture-11-12/img007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089" y="973123"/>
            <a:ext cx="8163120" cy="522354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7"/>
          <p:cNvSpPr txBox="1">
            <a:spLocks noGrp="1"/>
          </p:cNvSpPr>
          <p:nvPr>
            <p:ph type="title"/>
          </p:nvPr>
        </p:nvSpPr>
        <p:spPr>
          <a:xfrm>
            <a:off x="457200" y="47386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>
            <a:spLocks noGrp="1"/>
          </p:cNvSpPr>
          <p:nvPr>
            <p:ph type="title"/>
          </p:nvPr>
        </p:nvSpPr>
        <p:spPr>
          <a:xfrm>
            <a:off x="457200" y="55006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  <p:pic>
        <p:nvPicPr>
          <p:cNvPr id="274" name="Google Shape;274;p18" descr="https://courses.cs.washington.edu/courses/cse410/99au/lectures/Lecture-11-12/img008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27030"/>
            <a:ext cx="8229600" cy="518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  <p:pic>
        <p:nvPicPr>
          <p:cNvPr id="280" name="Google Shape;280;p19" descr="https://courses.cs.washington.edu/courses/cse410/99au/lectures/Lecture-11-12/img010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060" y="924886"/>
            <a:ext cx="8071740" cy="500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>
            <a:spLocks noGrp="1"/>
          </p:cNvSpPr>
          <p:nvPr>
            <p:ph type="title"/>
          </p:nvPr>
        </p:nvSpPr>
        <p:spPr>
          <a:xfrm>
            <a:off x="457200" y="473869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Prevention </a:t>
            </a:r>
            <a:br>
              <a:rPr lang="en-US"/>
            </a:br>
            <a:r>
              <a:rPr lang="en-US"/>
              <a:t>Conditions</a:t>
            </a:r>
            <a:endParaRPr/>
          </a:p>
        </p:txBody>
      </p:sp>
      <p:pic>
        <p:nvPicPr>
          <p:cNvPr id="286" name="Google Shape;286;p20" descr="https://courses.cs.washington.edu/courses/cse410/99au/lectures/Lecture-11-12/img012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50131"/>
            <a:ext cx="8382000" cy="52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>
            <a:spLocks noGrp="1"/>
          </p:cNvSpPr>
          <p:nvPr>
            <p:ph type="body" idx="1"/>
          </p:nvPr>
        </p:nvSpPr>
        <p:spPr>
          <a:xfrm>
            <a:off x="-1" y="1313373"/>
            <a:ext cx="8958943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 dirty="0"/>
              <a:t>A decision is made dynamically whether the current resource allocation request will, if granted, potentially lead to a deadlock</a:t>
            </a:r>
            <a:endParaRPr dirty="0"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 dirty="0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 dirty="0"/>
              <a:t>Requires knowledge of future process requests</a:t>
            </a:r>
            <a:endParaRPr dirty="0"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 dirty="0"/>
          </a:p>
        </p:txBody>
      </p:sp>
      <p:sp>
        <p:nvSpPr>
          <p:cNvPr id="293" name="Google Shape;293;p21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Avoidance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457200" y="3429000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0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Two Approaches to </a:t>
            </a:r>
            <a:br>
              <a:rPr lang="en-US" sz="3200" b="1" dirty="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dirty="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Deadlock Avoidance</a:t>
            </a:r>
            <a:endParaRPr dirty="0"/>
          </a:p>
        </p:txBody>
      </p:sp>
      <p:sp>
        <p:nvSpPr>
          <p:cNvPr id="295" name="Google Shape;295;p21"/>
          <p:cNvSpPr txBox="1"/>
          <p:nvPr/>
        </p:nvSpPr>
        <p:spPr>
          <a:xfrm>
            <a:off x="881951" y="4464560"/>
            <a:ext cx="7985212" cy="146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Initiation Denial</a:t>
            </a:r>
            <a:endParaRPr/>
          </a:p>
          <a:p>
            <a:pPr marL="800100" marR="0" lvl="1" indent="-251459" algn="ctr" rtl="0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ctr" rtl="0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 Allocation Denial</a:t>
            </a:r>
            <a:endParaRPr/>
          </a:p>
          <a:p>
            <a:pPr marL="342900" marR="0" lvl="0" indent="-240030" algn="l" rtl="0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>
            <a:spLocks noGrp="1"/>
          </p:cNvSpPr>
          <p:nvPr>
            <p:ph type="body" idx="1"/>
          </p:nvPr>
        </p:nvSpPr>
        <p:spPr>
          <a:xfrm>
            <a:off x="822674" y="1627770"/>
            <a:ext cx="7498651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A process is only started, if the maximum claim of all current processes plus those of the new process can be met. </a:t>
            </a:r>
            <a:endParaRPr/>
          </a:p>
          <a:p>
            <a:pPr marL="342900" lvl="0" indent="-342900" algn="l" rtl="0"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en-US" sz="2000"/>
              <a:t>Not optimal, </a:t>
            </a:r>
            <a:endParaRPr/>
          </a:p>
          <a:p>
            <a:pPr marL="742950" lvl="1" indent="-285750" algn="l" rtl="0"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Assumes the worst: that all processes will make their maximum claims together.</a:t>
            </a:r>
            <a:endParaRPr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  <p:sp>
        <p:nvSpPr>
          <p:cNvPr id="302" name="Google Shape;302;p22"/>
          <p:cNvSpPr txBox="1">
            <a:spLocks noGrp="1"/>
          </p:cNvSpPr>
          <p:nvPr>
            <p:ph type="title"/>
          </p:nvPr>
        </p:nvSpPr>
        <p:spPr>
          <a:xfrm>
            <a:off x="457200" y="805656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</a:t>
            </a:r>
            <a:br>
              <a:rPr lang="en-US"/>
            </a:br>
            <a:r>
              <a:rPr lang="en-US"/>
              <a:t>Initiation Denial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>
            <a:spLocks noGrp="1"/>
          </p:cNvSpPr>
          <p:nvPr>
            <p:ph type="body" idx="1"/>
          </p:nvPr>
        </p:nvSpPr>
        <p:spPr>
          <a:xfrm>
            <a:off x="776535" y="1609391"/>
            <a:ext cx="7590930" cy="473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Referred to as the banker’s algorithm</a:t>
            </a: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 strategy of resource allocation denial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Consider a system with fixed number of resources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 b="1" i="1"/>
              <a:t>State</a:t>
            </a:r>
            <a:r>
              <a:rPr lang="en-US"/>
              <a:t> of the system is the current allocation of resources to process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 b="1" i="1"/>
              <a:t>Safe state </a:t>
            </a:r>
            <a:r>
              <a:rPr lang="en-US"/>
              <a:t>is where there is at least one sequence that does not result in deadlock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 b="1" i="1"/>
              <a:t>Unsafe state </a:t>
            </a:r>
            <a:r>
              <a:rPr lang="en-US"/>
              <a:t>is a state that is not safe</a:t>
            </a:r>
            <a:endParaRPr/>
          </a:p>
          <a:p>
            <a:pPr marL="342900" lvl="0" indent="-240030" algn="l" rtl="0">
              <a:spcBef>
                <a:spcPts val="63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  <p:sp>
        <p:nvSpPr>
          <p:cNvPr id="309" name="Google Shape;309;p23"/>
          <p:cNvSpPr txBox="1">
            <a:spLocks noGrp="1"/>
          </p:cNvSpPr>
          <p:nvPr>
            <p:ph type="title"/>
          </p:nvPr>
        </p:nvSpPr>
        <p:spPr>
          <a:xfrm>
            <a:off x="381699" y="51752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	Resource Allocation Denial</a:t>
            </a:r>
            <a:endParaRPr/>
          </a:p>
        </p:txBody>
      </p:sp>
    </p:spTree>
  </p:cSld>
  <p:clrMapOvr>
    <a:masterClrMapping/>
  </p:clrMapOvr>
  <p:transition>
    <p:push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Facts for deadlock avoidance</a:t>
            </a: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body" idx="1"/>
          </p:nvPr>
        </p:nvSpPr>
        <p:spPr>
          <a:xfrm>
            <a:off x="1509793" y="1221581"/>
            <a:ext cx="6124414" cy="441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If a system is in safe state, ⇒ no deadlocks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If a system is in unsafe state ⇒ possibility of deadlock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Avoidance ⇒ ensure that a system will never enter an unsafe state.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>
            <a:spLocks noGrp="1"/>
          </p:cNvSpPr>
          <p:nvPr>
            <p:ph type="title"/>
          </p:nvPr>
        </p:nvSpPr>
        <p:spPr>
          <a:xfrm>
            <a:off x="914400" y="182563"/>
            <a:ext cx="7772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Banker’s Algorithm</a:t>
            </a:r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body" idx="1"/>
          </p:nvPr>
        </p:nvSpPr>
        <p:spPr>
          <a:xfrm>
            <a:off x="858838" y="1128713"/>
            <a:ext cx="6989762" cy="444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Multiple instances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Each process must a priori claim maximum use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When a process requests a resource, it may have to wait  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When a process gets all its resources it must return them in a finite amount of time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>
            <a:spLocks noGrp="1"/>
          </p:cNvSpPr>
          <p:nvPr>
            <p:ph type="title"/>
          </p:nvPr>
        </p:nvSpPr>
        <p:spPr>
          <a:xfrm>
            <a:off x="778669" y="435769"/>
            <a:ext cx="7586662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Data Structures for the Banker’s Algorithm </a:t>
            </a:r>
            <a:endParaRPr sz="2800"/>
          </a:p>
        </p:txBody>
      </p:sp>
      <p:sp>
        <p:nvSpPr>
          <p:cNvPr id="330" name="Google Shape;330;p26"/>
          <p:cNvSpPr txBox="1">
            <a:spLocks noGrp="1"/>
          </p:cNvSpPr>
          <p:nvPr>
            <p:ph type="body" idx="1"/>
          </p:nvPr>
        </p:nvSpPr>
        <p:spPr>
          <a:xfrm>
            <a:off x="950913" y="1599501"/>
            <a:ext cx="7370762" cy="438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 b="1"/>
              <a:t>Available</a:t>
            </a:r>
            <a:r>
              <a:rPr lang="en-US" i="1"/>
              <a:t>:</a:t>
            </a:r>
            <a:r>
              <a:rPr lang="en-US"/>
              <a:t>  Vector of length </a:t>
            </a:r>
            <a:r>
              <a:rPr lang="en-US" i="1"/>
              <a:t>m</a:t>
            </a:r>
            <a:r>
              <a:rPr lang="en-US"/>
              <a:t>. If available [</a:t>
            </a:r>
            <a:r>
              <a:rPr lang="en-US" i="1"/>
              <a:t>j</a:t>
            </a:r>
            <a:r>
              <a:rPr lang="en-US"/>
              <a:t>] = </a:t>
            </a:r>
            <a:r>
              <a:rPr lang="en-US" i="1"/>
              <a:t>k</a:t>
            </a:r>
            <a:r>
              <a:rPr lang="en-US"/>
              <a:t>, there are</a:t>
            </a:r>
            <a:r>
              <a:rPr lang="en-US" i="1"/>
              <a:t> k</a:t>
            </a:r>
            <a:r>
              <a:rPr lang="en-US"/>
              <a:t> instances of resource type </a:t>
            </a:r>
            <a:r>
              <a:rPr lang="en-US" i="1"/>
              <a:t>R</a:t>
            </a:r>
            <a:r>
              <a:rPr lang="en-US" i="1" baseline="-25000"/>
              <a:t>j</a:t>
            </a:r>
            <a:r>
              <a:rPr lang="en-US" baseline="-25000"/>
              <a:t>  </a:t>
            </a:r>
            <a:r>
              <a:rPr lang="en-US"/>
              <a:t>available</a:t>
            </a:r>
            <a:endParaRPr/>
          </a:p>
          <a:p>
            <a:pPr marL="342900" lvl="0" indent="-297180" algn="l" rtl="0">
              <a:spcBef>
                <a:spcPts val="280"/>
              </a:spcBef>
              <a:spcAft>
                <a:spcPts val="0"/>
              </a:spcAft>
              <a:buSzPts val="720"/>
              <a:buNone/>
            </a:pPr>
            <a:endParaRPr sz="800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 b="1">
                <a:solidFill>
                  <a:srgbClr val="000000"/>
                </a:solidFill>
              </a:rPr>
              <a:t>Max</a:t>
            </a:r>
            <a:r>
              <a:rPr lang="en-US" i="1"/>
              <a:t>: n x m</a:t>
            </a:r>
            <a:r>
              <a:rPr lang="en-US"/>
              <a:t> matrix.  If </a:t>
            </a:r>
            <a:r>
              <a:rPr lang="en-US" i="1"/>
              <a:t>Max </a:t>
            </a:r>
            <a:r>
              <a:rPr lang="en-US"/>
              <a:t>[</a:t>
            </a:r>
            <a:r>
              <a:rPr lang="en-US" i="1"/>
              <a:t>i,j</a:t>
            </a:r>
            <a:r>
              <a:rPr lang="en-US"/>
              <a:t>] = </a:t>
            </a:r>
            <a:r>
              <a:rPr lang="en-US" i="1"/>
              <a:t>k</a:t>
            </a:r>
            <a:r>
              <a:rPr lang="en-US"/>
              <a:t>, then process </a:t>
            </a:r>
            <a:r>
              <a:rPr lang="en-US" i="1"/>
              <a:t>P</a:t>
            </a:r>
            <a:r>
              <a:rPr lang="en-US" i="1" baseline="-25000"/>
              <a:t>i</a:t>
            </a:r>
            <a:r>
              <a:rPr lang="en-US" i="1"/>
              <a:t> </a:t>
            </a:r>
            <a:r>
              <a:rPr lang="en-US"/>
              <a:t>may request at most</a:t>
            </a:r>
            <a:r>
              <a:rPr lang="en-US" i="1"/>
              <a:t> k </a:t>
            </a:r>
            <a:r>
              <a:rPr lang="en-US"/>
              <a:t>instances of resource type </a:t>
            </a:r>
            <a:r>
              <a:rPr lang="en-US" i="1"/>
              <a:t>R</a:t>
            </a:r>
            <a:r>
              <a:rPr lang="en-US" i="1" baseline="-25000"/>
              <a:t>j</a:t>
            </a:r>
            <a:endParaRPr i="1" baseline="-25000"/>
          </a:p>
          <a:p>
            <a:pPr marL="342900" lvl="0" indent="-297180" algn="l" rtl="0">
              <a:spcBef>
                <a:spcPts val="280"/>
              </a:spcBef>
              <a:spcAft>
                <a:spcPts val="0"/>
              </a:spcAft>
              <a:buSzPts val="720"/>
              <a:buNone/>
            </a:pPr>
            <a:endParaRPr sz="800" i="1" baseline="-25000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 b="1">
                <a:solidFill>
                  <a:srgbClr val="000000"/>
                </a:solidFill>
              </a:rPr>
              <a:t>Allocation</a:t>
            </a:r>
            <a:r>
              <a:rPr lang="en-US" i="1"/>
              <a:t>:  n </a:t>
            </a:r>
            <a:r>
              <a:rPr lang="en-US"/>
              <a:t>x</a:t>
            </a:r>
            <a:r>
              <a:rPr lang="en-US" i="1"/>
              <a:t> m</a:t>
            </a:r>
            <a:r>
              <a:rPr lang="en-US"/>
              <a:t> matrix.  If Allocation[</a:t>
            </a:r>
            <a:r>
              <a:rPr lang="en-US" i="1"/>
              <a:t>i,j</a:t>
            </a:r>
            <a:r>
              <a:rPr lang="en-US"/>
              <a:t>] = </a:t>
            </a:r>
            <a:r>
              <a:rPr lang="en-US" i="1"/>
              <a:t>k</a:t>
            </a:r>
            <a:r>
              <a:rPr lang="en-US"/>
              <a:t> then</a:t>
            </a:r>
            <a:r>
              <a:rPr lang="en-US" i="1"/>
              <a:t> P</a:t>
            </a:r>
            <a:r>
              <a:rPr lang="en-US" i="1" baseline="-25000"/>
              <a:t>i</a:t>
            </a:r>
            <a:r>
              <a:rPr lang="en-US"/>
              <a:t> is currently allocated </a:t>
            </a:r>
            <a:r>
              <a:rPr lang="en-US" i="1"/>
              <a:t>k</a:t>
            </a:r>
            <a:r>
              <a:rPr lang="en-US"/>
              <a:t> instances of </a:t>
            </a:r>
            <a:r>
              <a:rPr lang="en-US" i="1"/>
              <a:t>R</a:t>
            </a:r>
            <a:r>
              <a:rPr lang="en-US" i="1" baseline="-25000"/>
              <a:t>j</a:t>
            </a:r>
            <a:endParaRPr i="1" baseline="-25000"/>
          </a:p>
          <a:p>
            <a:pPr marL="342900" lvl="0" indent="-297180" algn="l" rtl="0">
              <a:spcBef>
                <a:spcPts val="280"/>
              </a:spcBef>
              <a:spcAft>
                <a:spcPts val="0"/>
              </a:spcAft>
              <a:buSzPts val="720"/>
              <a:buNone/>
            </a:pPr>
            <a:endParaRPr sz="800" i="1" baseline="-25000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 b="1">
                <a:solidFill>
                  <a:srgbClr val="000000"/>
                </a:solidFill>
              </a:rPr>
              <a:t>Need</a:t>
            </a:r>
            <a:r>
              <a:rPr lang="en-US" i="1"/>
              <a:t>:  n </a:t>
            </a:r>
            <a:r>
              <a:rPr lang="en-US"/>
              <a:t>x</a:t>
            </a:r>
            <a:r>
              <a:rPr lang="en-US" i="1"/>
              <a:t> m</a:t>
            </a:r>
            <a:r>
              <a:rPr lang="en-US"/>
              <a:t> matrix. If </a:t>
            </a:r>
            <a:r>
              <a:rPr lang="en-US" i="1"/>
              <a:t>Need</a:t>
            </a:r>
            <a:r>
              <a:rPr lang="en-US"/>
              <a:t>[</a:t>
            </a:r>
            <a:r>
              <a:rPr lang="en-US" i="1"/>
              <a:t>i,j</a:t>
            </a:r>
            <a:r>
              <a:rPr lang="en-US"/>
              <a:t>] =</a:t>
            </a:r>
            <a:r>
              <a:rPr lang="en-US" i="1"/>
              <a:t> k</a:t>
            </a:r>
            <a:r>
              <a:rPr lang="en-US"/>
              <a:t>, then</a:t>
            </a:r>
            <a:r>
              <a:rPr lang="en-US" i="1"/>
              <a:t> P</a:t>
            </a:r>
            <a:r>
              <a:rPr lang="en-US" i="1" baseline="-25000"/>
              <a:t>i</a:t>
            </a:r>
            <a:r>
              <a:rPr lang="en-US"/>
              <a:t> may need </a:t>
            </a:r>
            <a:r>
              <a:rPr lang="en-US" i="1"/>
              <a:t>k</a:t>
            </a:r>
            <a:r>
              <a:rPr lang="en-US"/>
              <a:t> more instances of </a:t>
            </a:r>
            <a:r>
              <a:rPr lang="en-US" i="1"/>
              <a:t>R</a:t>
            </a:r>
            <a:r>
              <a:rPr lang="en-US" i="1" baseline="-25000"/>
              <a:t>j</a:t>
            </a:r>
            <a:r>
              <a:rPr lang="en-US" baseline="-25000"/>
              <a:t> </a:t>
            </a:r>
            <a:r>
              <a:rPr lang="en-US"/>
              <a:t>to complete its task</a:t>
            </a:r>
            <a:endParaRPr/>
          </a:p>
          <a:p>
            <a:pPr marL="1085850" lvl="2" indent="-228600" algn="l" rtl="0">
              <a:spcBef>
                <a:spcPts val="630"/>
              </a:spcBef>
              <a:spcAft>
                <a:spcPts val="0"/>
              </a:spcAft>
              <a:buSzPts val="1350"/>
              <a:buFont typeface="Arimo"/>
              <a:buNone/>
            </a:pPr>
            <a:br>
              <a:rPr lang="en-US"/>
            </a:br>
            <a:r>
              <a:rPr lang="en-US" i="1"/>
              <a:t>Need</a:t>
            </a:r>
            <a:r>
              <a:rPr lang="en-US"/>
              <a:t> [</a:t>
            </a:r>
            <a:r>
              <a:rPr lang="en-US" i="1"/>
              <a:t>i,j]</a:t>
            </a:r>
            <a:r>
              <a:rPr lang="en-US"/>
              <a:t> = </a:t>
            </a:r>
            <a:r>
              <a:rPr lang="en-US" i="1"/>
              <a:t>Max</a:t>
            </a:r>
            <a:r>
              <a:rPr lang="en-US"/>
              <a:t>[</a:t>
            </a:r>
            <a:r>
              <a:rPr lang="en-US" i="1"/>
              <a:t>i,j</a:t>
            </a:r>
            <a:r>
              <a:rPr lang="en-US"/>
              <a:t>] – </a:t>
            </a:r>
            <a:r>
              <a:rPr lang="en-US" i="1"/>
              <a:t>Allocation</a:t>
            </a:r>
            <a:r>
              <a:rPr lang="en-US"/>
              <a:t> [</a:t>
            </a:r>
            <a:r>
              <a:rPr lang="en-US" i="1"/>
              <a:t>i,j</a:t>
            </a:r>
            <a:r>
              <a:rPr lang="en-US"/>
              <a:t>]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950913" y="1108075"/>
            <a:ext cx="69342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</a:t>
            </a:r>
            <a:r>
              <a:rPr lang="en-US" sz="18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number of processes, and </a:t>
            </a:r>
            <a:r>
              <a:rPr lang="en-US" sz="18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number of resources types.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>
            <a:spLocks noGrp="1"/>
          </p:cNvSpPr>
          <p:nvPr>
            <p:ph type="title"/>
          </p:nvPr>
        </p:nvSpPr>
        <p:spPr>
          <a:xfrm>
            <a:off x="457200" y="1666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Safety Algorithm</a:t>
            </a:r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body" idx="1"/>
          </p:nvPr>
        </p:nvSpPr>
        <p:spPr>
          <a:xfrm>
            <a:off x="908050" y="1157288"/>
            <a:ext cx="7372350" cy="494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1.	Let </a:t>
            </a:r>
            <a:r>
              <a:rPr lang="en-US" b="1" i="1">
                <a:solidFill>
                  <a:srgbClr val="000000"/>
                </a:solidFill>
              </a:rPr>
              <a:t>Work</a:t>
            </a:r>
            <a:r>
              <a:rPr lang="en-US" i="1">
                <a:solidFill>
                  <a:srgbClr val="000000"/>
                </a:solidFill>
              </a:rPr>
              <a:t> </a:t>
            </a:r>
            <a:r>
              <a:rPr lang="en-US"/>
              <a:t>and </a:t>
            </a:r>
            <a:r>
              <a:rPr lang="en-US" b="1" i="1">
                <a:solidFill>
                  <a:srgbClr val="000000"/>
                </a:solidFill>
              </a:rPr>
              <a:t>Finish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/>
              <a:t>be vectors of length</a:t>
            </a:r>
            <a:r>
              <a:rPr lang="en-US" i="1"/>
              <a:t> m</a:t>
            </a:r>
            <a:r>
              <a:rPr lang="en-US"/>
              <a:t> and</a:t>
            </a:r>
            <a:r>
              <a:rPr lang="en-US" i="1"/>
              <a:t> n</a:t>
            </a:r>
            <a:r>
              <a:rPr lang="en-US"/>
              <a:t>, respectively.  Initialize:</a:t>
            </a:r>
            <a:endParaRPr/>
          </a:p>
          <a:p>
            <a:pPr marL="1543050" lvl="3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lang="en-US" b="1" i="1"/>
              <a:t>Work </a:t>
            </a:r>
            <a:r>
              <a:rPr lang="en-US" b="1"/>
              <a:t>= </a:t>
            </a:r>
            <a:r>
              <a:rPr lang="en-US" b="1" i="1"/>
              <a:t>Available</a:t>
            </a:r>
            <a:endParaRPr/>
          </a:p>
          <a:p>
            <a:pPr marL="1543050" lvl="3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lang="en-US" b="1" i="1"/>
              <a:t>Finish </a:t>
            </a:r>
            <a:r>
              <a:rPr lang="en-US" b="1"/>
              <a:t>[</a:t>
            </a:r>
            <a:r>
              <a:rPr lang="en-US" b="1" i="1"/>
              <a:t>i</a:t>
            </a:r>
            <a:r>
              <a:rPr lang="en-US" b="1"/>
              <a:t>] =</a:t>
            </a:r>
            <a:r>
              <a:rPr lang="en-US" b="1" i="1"/>
              <a:t> false </a:t>
            </a:r>
            <a:r>
              <a:rPr lang="en-US" b="1"/>
              <a:t>for</a:t>
            </a:r>
            <a:r>
              <a:rPr lang="en-US" b="1" i="1"/>
              <a:t> i</a:t>
            </a:r>
            <a:r>
              <a:rPr lang="en-US" b="1"/>
              <a:t> = 0, 1, …, </a:t>
            </a:r>
            <a:r>
              <a:rPr lang="en-US" b="1" i="1"/>
              <a:t>n- </a:t>
            </a:r>
            <a:r>
              <a:rPr lang="en-US" b="1"/>
              <a:t>1</a:t>
            </a:r>
            <a:endParaRPr/>
          </a:p>
          <a:p>
            <a:pPr marL="1543050" lvl="3" indent="-3429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600"/>
              <a:buFont typeface="Helvetica Neue"/>
              <a:buNone/>
            </a:pPr>
            <a:endParaRPr sz="800"/>
          </a:p>
          <a:p>
            <a:pPr marL="342900" lvl="0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2.	Find an </a:t>
            </a:r>
            <a:r>
              <a:rPr lang="en-US" b="1" i="1"/>
              <a:t>i</a:t>
            </a:r>
            <a:r>
              <a:rPr lang="en-US" i="1"/>
              <a:t> </a:t>
            </a:r>
            <a:r>
              <a:rPr lang="en-US"/>
              <a:t>such that both: 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(a) </a:t>
            </a:r>
            <a:r>
              <a:rPr lang="en-US" b="1" i="1"/>
              <a:t>Finish</a:t>
            </a:r>
            <a:r>
              <a:rPr lang="en-US" b="1"/>
              <a:t> [</a:t>
            </a:r>
            <a:r>
              <a:rPr lang="en-US" b="1" i="1"/>
              <a:t>i</a:t>
            </a:r>
            <a:r>
              <a:rPr lang="en-US" b="1"/>
              <a:t>] = </a:t>
            </a:r>
            <a:r>
              <a:rPr lang="en-US" b="1" i="1"/>
              <a:t>false</a:t>
            </a:r>
            <a:endParaRPr b="1"/>
          </a:p>
          <a:p>
            <a:pPr marL="800100" lvl="1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(b) </a:t>
            </a:r>
            <a:r>
              <a:rPr lang="en-US" b="1" i="1"/>
              <a:t>Need</a:t>
            </a:r>
            <a:r>
              <a:rPr lang="en-US" b="1" i="1" baseline="-25000"/>
              <a:t>i</a:t>
            </a:r>
            <a:r>
              <a:rPr lang="en-US" b="1"/>
              <a:t> ≤ </a:t>
            </a:r>
            <a:r>
              <a:rPr lang="en-US" b="1" i="1"/>
              <a:t>Work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If no such</a:t>
            </a:r>
            <a:r>
              <a:rPr lang="en-US" b="1"/>
              <a:t> </a:t>
            </a:r>
            <a:r>
              <a:rPr lang="en-US" b="1" i="1"/>
              <a:t>i </a:t>
            </a:r>
            <a:r>
              <a:rPr lang="en-US"/>
              <a:t>exists, go to step 4</a:t>
            </a:r>
            <a:endParaRPr/>
          </a:p>
          <a:p>
            <a:pPr marL="800100" lvl="1" indent="-3429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640"/>
              <a:buFont typeface="Arial"/>
              <a:buNone/>
            </a:pPr>
            <a:endParaRPr sz="800"/>
          </a:p>
          <a:p>
            <a:pPr marL="342900" lvl="0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i="1"/>
              <a:t>3.  </a:t>
            </a:r>
            <a:r>
              <a:rPr lang="en-US" b="1" i="1"/>
              <a:t>Work</a:t>
            </a:r>
            <a:r>
              <a:rPr lang="en-US" b="1"/>
              <a:t> = </a:t>
            </a:r>
            <a:r>
              <a:rPr lang="en-US" b="1" i="1"/>
              <a:t>Work </a:t>
            </a:r>
            <a:r>
              <a:rPr lang="en-US" b="1"/>
              <a:t>+ </a:t>
            </a:r>
            <a:r>
              <a:rPr lang="en-US" b="1" i="1"/>
              <a:t>Allocation</a:t>
            </a:r>
            <a:r>
              <a:rPr lang="en-US" b="1" i="1" baseline="-25000"/>
              <a:t>i</a:t>
            </a:r>
            <a:br>
              <a:rPr lang="en-US" b="1"/>
            </a:br>
            <a:r>
              <a:rPr lang="en-US" b="1" i="1"/>
              <a:t>Finish</a:t>
            </a:r>
            <a:r>
              <a:rPr lang="en-US" b="1"/>
              <a:t>[</a:t>
            </a:r>
            <a:r>
              <a:rPr lang="en-US" b="1" i="1"/>
              <a:t>i</a:t>
            </a:r>
            <a:r>
              <a:rPr lang="en-US" b="1"/>
              <a:t>] =</a:t>
            </a:r>
            <a:r>
              <a:rPr lang="en-US" b="1" i="1"/>
              <a:t> true</a:t>
            </a:r>
            <a:br>
              <a:rPr lang="en-US" b="1"/>
            </a:br>
            <a:r>
              <a:rPr lang="en-US"/>
              <a:t>go to step 2</a:t>
            </a:r>
            <a:endParaRPr/>
          </a:p>
          <a:p>
            <a:pPr marL="342900" lvl="0" indent="-29718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20"/>
              <a:buNone/>
            </a:pPr>
            <a:endParaRPr sz="800"/>
          </a:p>
          <a:p>
            <a:pPr marL="342900" lvl="0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4.	If </a:t>
            </a:r>
            <a:r>
              <a:rPr lang="en-US" b="1" i="1"/>
              <a:t>Finish</a:t>
            </a:r>
            <a:r>
              <a:rPr lang="en-US" b="1"/>
              <a:t> [</a:t>
            </a:r>
            <a:r>
              <a:rPr lang="en-US" b="1" i="1"/>
              <a:t>i</a:t>
            </a:r>
            <a:r>
              <a:rPr lang="en-US" b="1"/>
              <a:t>] == </a:t>
            </a:r>
            <a:r>
              <a:rPr lang="en-US" b="1" i="1"/>
              <a:t>true</a:t>
            </a:r>
            <a:r>
              <a:rPr lang="en-US" b="1"/>
              <a:t> </a:t>
            </a:r>
            <a:r>
              <a:rPr lang="en-US"/>
              <a:t>for all </a:t>
            </a:r>
            <a:r>
              <a:rPr lang="en-US" b="1" i="1"/>
              <a:t>i</a:t>
            </a:r>
            <a:r>
              <a:rPr lang="en-US"/>
              <a:t>, then the system is in a safe state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>
            <a:spLocks noGrp="1"/>
          </p:cNvSpPr>
          <p:nvPr>
            <p:ph type="title"/>
          </p:nvPr>
        </p:nvSpPr>
        <p:spPr>
          <a:xfrm>
            <a:off x="1022350" y="152400"/>
            <a:ext cx="766445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Banker’s Algorithm</a:t>
            </a:r>
            <a:endParaRPr/>
          </a:p>
        </p:txBody>
      </p:sp>
      <p:sp>
        <p:nvSpPr>
          <p:cNvPr id="345" name="Google Shape;345;p28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Discussed in Class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>
            <a:spLocks noGrp="1"/>
          </p:cNvSpPr>
          <p:nvPr>
            <p:ph type="title"/>
          </p:nvPr>
        </p:nvSpPr>
        <p:spPr>
          <a:xfrm>
            <a:off x="609600" y="399555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Resource-Request Algorithm for Process </a:t>
            </a:r>
            <a:r>
              <a:rPr lang="en-US" sz="2800" i="1"/>
              <a:t>P</a:t>
            </a:r>
            <a:r>
              <a:rPr lang="en-US" sz="2800" i="1" baseline="-25000"/>
              <a:t>i</a:t>
            </a:r>
            <a:endParaRPr sz="2800"/>
          </a:p>
        </p:txBody>
      </p:sp>
      <p:sp>
        <p:nvSpPr>
          <p:cNvPr id="352" name="Google Shape;352;p29"/>
          <p:cNvSpPr txBox="1">
            <a:spLocks noGrp="1"/>
          </p:cNvSpPr>
          <p:nvPr>
            <p:ph type="body" idx="1"/>
          </p:nvPr>
        </p:nvSpPr>
        <p:spPr>
          <a:xfrm>
            <a:off x="750887" y="1164758"/>
            <a:ext cx="7642225" cy="5210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i="1"/>
              <a:t>     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/>
              <a:t> = request vector for process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/>
              <a:t>.  If 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 b="1" baseline="-25000"/>
              <a:t> </a:t>
            </a:r>
            <a:r>
              <a:rPr lang="en-US" b="1"/>
              <a:t>[</a:t>
            </a:r>
            <a:r>
              <a:rPr lang="en-US" b="1" i="1"/>
              <a:t>j</a:t>
            </a:r>
            <a:r>
              <a:rPr lang="en-US" b="1"/>
              <a:t>] = </a:t>
            </a:r>
            <a:r>
              <a:rPr lang="en-US" b="1" i="1"/>
              <a:t>k</a:t>
            </a:r>
            <a:r>
              <a:rPr lang="en-US" b="1"/>
              <a:t> </a:t>
            </a:r>
            <a:r>
              <a:rPr lang="en-US"/>
              <a:t>then process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/>
              <a:t> wants </a:t>
            </a:r>
            <a:r>
              <a:rPr lang="en-US" b="1" i="1"/>
              <a:t>k</a:t>
            </a:r>
            <a:r>
              <a:rPr lang="en-US"/>
              <a:t> instances of resource type </a:t>
            </a:r>
            <a:r>
              <a:rPr lang="en-US" b="1" i="1"/>
              <a:t>R</a:t>
            </a:r>
            <a:r>
              <a:rPr lang="en-US" b="1" i="1" baseline="-25000"/>
              <a:t>j</a:t>
            </a:r>
            <a:endParaRPr b="1" baseline="-25000"/>
          </a:p>
          <a:p>
            <a:pPr marL="742950" lvl="1" indent="-2857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1.	If 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 b="1" i="1"/>
              <a:t> </a:t>
            </a:r>
            <a:r>
              <a:rPr lang="en-US" b="1"/>
              <a:t>≤ </a:t>
            </a:r>
            <a:r>
              <a:rPr lang="en-US" b="1" i="1"/>
              <a:t>Need</a:t>
            </a:r>
            <a:r>
              <a:rPr lang="en-US" b="1" i="1" baseline="-25000"/>
              <a:t>i</a:t>
            </a:r>
            <a:r>
              <a:rPr lang="en-US" b="1" i="1"/>
              <a:t> </a:t>
            </a:r>
            <a:r>
              <a:rPr lang="en-US"/>
              <a:t>go to step 2.  Otherwise, raise error condition, since process has exceeded its maximum claim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2.	If 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 b="1"/>
              <a:t> ≤ </a:t>
            </a:r>
            <a:r>
              <a:rPr lang="en-US" b="1" i="1"/>
              <a:t>Available</a:t>
            </a:r>
            <a:r>
              <a:rPr lang="en-US"/>
              <a:t>, go to step 3.  Otherwise,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/>
              <a:t>  must wait, since resources are not available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3.	Pretend to allocate requested resources to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/>
              <a:t> by modifying the state as follows:</a:t>
            </a:r>
            <a:endParaRPr/>
          </a:p>
          <a:p>
            <a:pPr marL="1428750" lvl="3" indent="-2286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lang="en-US"/>
              <a:t>		</a:t>
            </a:r>
            <a:r>
              <a:rPr lang="en-US" b="1" i="1"/>
              <a:t>Available</a:t>
            </a:r>
            <a:r>
              <a:rPr lang="en-US" b="1"/>
              <a:t> = </a:t>
            </a:r>
            <a:r>
              <a:rPr lang="en-US" b="1" i="1"/>
              <a:t>Available  </a:t>
            </a:r>
            <a:r>
              <a:rPr lang="en-US" b="1"/>
              <a:t>–</a:t>
            </a:r>
            <a:r>
              <a:rPr lang="en-US" b="1" i="1"/>
              <a:t> Request</a:t>
            </a:r>
            <a:r>
              <a:rPr lang="en-US" b="1" i="1" baseline="-25000"/>
              <a:t>i</a:t>
            </a:r>
            <a:r>
              <a:rPr lang="en-US" b="1" i="1"/>
              <a:t>;</a:t>
            </a:r>
            <a:endParaRPr/>
          </a:p>
          <a:p>
            <a:pPr marL="1428750" lvl="3" indent="-2286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lang="en-US" b="1"/>
              <a:t>		</a:t>
            </a:r>
            <a:r>
              <a:rPr lang="en-US" b="1" i="1"/>
              <a:t>Allocation</a:t>
            </a:r>
            <a:r>
              <a:rPr lang="en-US" b="1" i="1" baseline="-25000"/>
              <a:t>i</a:t>
            </a:r>
            <a:r>
              <a:rPr lang="en-US" b="1" baseline="-25000"/>
              <a:t> </a:t>
            </a:r>
            <a:r>
              <a:rPr lang="en-US" b="1"/>
              <a:t>= </a:t>
            </a:r>
            <a:r>
              <a:rPr lang="en-US" b="1" i="1"/>
              <a:t>Allocation</a:t>
            </a:r>
            <a:r>
              <a:rPr lang="en-US" b="1" i="1" baseline="-25000"/>
              <a:t>i</a:t>
            </a:r>
            <a:r>
              <a:rPr lang="en-US" b="1"/>
              <a:t> + 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 b="1"/>
              <a:t>;</a:t>
            </a:r>
            <a:endParaRPr/>
          </a:p>
          <a:p>
            <a:pPr marL="1428750" lvl="3" indent="-2286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None/>
            </a:pPr>
            <a:r>
              <a:rPr lang="en-US" b="1"/>
              <a:t>		</a:t>
            </a:r>
            <a:r>
              <a:rPr lang="en-US" b="1" i="1"/>
              <a:t>Need</a:t>
            </a:r>
            <a:r>
              <a:rPr lang="en-US" b="1" i="1" baseline="-25000"/>
              <a:t>i</a:t>
            </a:r>
            <a:r>
              <a:rPr lang="en-US" b="1" i="1"/>
              <a:t> </a:t>
            </a:r>
            <a:r>
              <a:rPr lang="en-US" b="1"/>
              <a:t>=</a:t>
            </a:r>
            <a:r>
              <a:rPr lang="en-US" b="1" i="1"/>
              <a:t> Need</a:t>
            </a:r>
            <a:r>
              <a:rPr lang="en-US" b="1" i="1" baseline="-25000"/>
              <a:t>i</a:t>
            </a:r>
            <a:r>
              <a:rPr lang="en-US" b="1"/>
              <a:t> – 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 b="1" i="1"/>
              <a:t>;</a:t>
            </a:r>
            <a:endParaRPr/>
          </a:p>
          <a:p>
            <a:pPr marL="1085850" lvl="2" indent="-2286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/>
              <a:t>If safe ⇒ the resources are allocated to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endParaRPr/>
          </a:p>
          <a:p>
            <a:pPr marL="1085850" lvl="2" indent="-2286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/>
              <a:t>If unsafe ⇒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/>
              <a:t> must wait, and the old resource-allocation state is restored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>
            <a:spLocks noGrp="1"/>
          </p:cNvSpPr>
          <p:nvPr>
            <p:ph type="title"/>
          </p:nvPr>
        </p:nvSpPr>
        <p:spPr>
          <a:xfrm>
            <a:off x="1022350" y="152400"/>
            <a:ext cx="766445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Resource Request Algorithm</a:t>
            </a:r>
            <a:endParaRPr/>
          </a:p>
        </p:txBody>
      </p:sp>
      <p:sp>
        <p:nvSpPr>
          <p:cNvPr id="359" name="Google Shape;359;p30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Discussed in Class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"/>
          <p:cNvSpPr txBox="1">
            <a:spLocks noGrp="1"/>
          </p:cNvSpPr>
          <p:nvPr>
            <p:ph type="title"/>
          </p:nvPr>
        </p:nvSpPr>
        <p:spPr>
          <a:xfrm>
            <a:off x="861219" y="710166"/>
            <a:ext cx="742156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Detection</a:t>
            </a:r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body" idx="1"/>
          </p:nvPr>
        </p:nvSpPr>
        <p:spPr>
          <a:xfrm>
            <a:off x="2220927" y="1860412"/>
            <a:ext cx="4702146" cy="313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Allow system to enter deadlock state 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Detection algorithm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/>
              <a:t>Recovery scheme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 txBox="1">
            <a:spLocks noGrp="1"/>
          </p:cNvSpPr>
          <p:nvPr>
            <p:ph type="title"/>
          </p:nvPr>
        </p:nvSpPr>
        <p:spPr>
          <a:xfrm>
            <a:off x="1143000" y="-141288"/>
            <a:ext cx="7772400" cy="844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Single Instance of Each Resource Type</a:t>
            </a:r>
            <a:endParaRPr/>
          </a:p>
        </p:txBody>
      </p:sp>
      <p:sp>
        <p:nvSpPr>
          <p:cNvPr id="373" name="Google Shape;373;p32"/>
          <p:cNvSpPr txBox="1">
            <a:spLocks noGrp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Maintain </a:t>
            </a:r>
            <a:r>
              <a:rPr lang="en-US" b="1">
                <a:solidFill>
                  <a:srgbClr val="3366FF"/>
                </a:solidFill>
              </a:rPr>
              <a:t>wait-for </a:t>
            </a:r>
            <a:r>
              <a:rPr lang="en-US"/>
              <a:t>graph</a:t>
            </a: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Nodes are processes</a:t>
            </a: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 b="1"/>
              <a:t> → </a:t>
            </a:r>
            <a:r>
              <a:rPr lang="en-US" b="1" i="1"/>
              <a:t>P</a:t>
            </a:r>
            <a:r>
              <a:rPr lang="en-US" b="1" i="1" baseline="-25000"/>
              <a:t>j   </a:t>
            </a:r>
            <a:r>
              <a:rPr lang="en-US"/>
              <a:t>if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 i="1"/>
              <a:t> </a:t>
            </a:r>
            <a:r>
              <a:rPr lang="en-US"/>
              <a:t>is waiting for</a:t>
            </a:r>
            <a:r>
              <a:rPr lang="en-US" i="1"/>
              <a:t> </a:t>
            </a:r>
            <a:r>
              <a:rPr lang="en-US" b="1" i="1"/>
              <a:t>P</a:t>
            </a:r>
            <a:r>
              <a:rPr lang="en-US" b="1" i="1" baseline="-25000"/>
              <a:t>j</a:t>
            </a:r>
            <a:br>
              <a:rPr lang="en-US" b="1" i="1"/>
            </a:br>
            <a:endParaRPr b="1" i="1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Periodically invoke an algorithm that searches for a cycle in the graph. If there is a cycle, there exists a deadlock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An algorithm to detect a cycle in a graph requires an order of</a:t>
            </a:r>
            <a:r>
              <a:rPr lang="en-US" i="1"/>
              <a:t> </a:t>
            </a:r>
            <a:r>
              <a:rPr lang="en-US" b="1" i="1"/>
              <a:t>n</a:t>
            </a:r>
            <a:r>
              <a:rPr lang="en-US" b="1" baseline="30000"/>
              <a:t>2</a:t>
            </a:r>
            <a:r>
              <a:rPr lang="en-US" b="1"/>
              <a:t> </a:t>
            </a:r>
            <a:r>
              <a:rPr lang="en-US"/>
              <a:t>operations, where </a:t>
            </a:r>
            <a:r>
              <a:rPr lang="en-US" b="1" i="1"/>
              <a:t>n</a:t>
            </a:r>
            <a:r>
              <a:rPr lang="en-US"/>
              <a:t> is the number of vertices in the graph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 txBox="1">
            <a:spLocks noGrp="1"/>
          </p:cNvSpPr>
          <p:nvPr>
            <p:ph type="title"/>
          </p:nvPr>
        </p:nvSpPr>
        <p:spPr>
          <a:xfrm>
            <a:off x="813565" y="307213"/>
            <a:ext cx="77517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Resource-Allocation Graph and  Wait-for Graph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1647825" y="6015767"/>
            <a:ext cx="29273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Resource-Allocation Graph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4810125" y="6015767"/>
            <a:ext cx="31432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Corresponding wait-for graph</a:t>
            </a:r>
            <a:endParaRPr/>
          </a:p>
        </p:txBody>
      </p:sp>
      <p:pic>
        <p:nvPicPr>
          <p:cNvPr id="382" name="Google Shape;382;p33" descr="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46" y="1143793"/>
            <a:ext cx="8229600" cy="457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>
            <a:spLocks noGrp="1"/>
          </p:cNvSpPr>
          <p:nvPr>
            <p:ph type="title"/>
          </p:nvPr>
        </p:nvSpPr>
        <p:spPr>
          <a:xfrm>
            <a:off x="787400" y="152400"/>
            <a:ext cx="789940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Detection Algorithm</a:t>
            </a:r>
            <a:endParaRPr/>
          </a:p>
        </p:txBody>
      </p:sp>
      <p:sp>
        <p:nvSpPr>
          <p:cNvPr id="389" name="Google Shape;389;p34"/>
          <p:cNvSpPr txBox="1">
            <a:spLocks noGrp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1.	Let </a:t>
            </a:r>
            <a:r>
              <a:rPr lang="en-US" b="1" i="1"/>
              <a:t>Work</a:t>
            </a:r>
            <a:r>
              <a:rPr lang="en-US"/>
              <a:t> and </a:t>
            </a:r>
            <a:r>
              <a:rPr lang="en-US" b="1" i="1"/>
              <a:t>Finish</a:t>
            </a:r>
            <a:r>
              <a:rPr lang="en-US"/>
              <a:t> be vectors of length </a:t>
            </a:r>
            <a:r>
              <a:rPr lang="en-US" b="1" i="1"/>
              <a:t>m</a:t>
            </a:r>
            <a:r>
              <a:rPr lang="en-US"/>
              <a:t> and </a:t>
            </a:r>
            <a:r>
              <a:rPr lang="en-US" b="1" i="1"/>
              <a:t>n</a:t>
            </a:r>
            <a:r>
              <a:rPr lang="en-US"/>
              <a:t>, respectively Initialize:</a:t>
            </a:r>
            <a:endParaRPr/>
          </a:p>
          <a:p>
            <a:pPr marL="850900" lvl="1" indent="-3937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(a) </a:t>
            </a:r>
            <a:r>
              <a:rPr lang="en-US" b="1" i="1"/>
              <a:t>Work</a:t>
            </a:r>
            <a:r>
              <a:rPr lang="en-US" b="1"/>
              <a:t> = </a:t>
            </a:r>
            <a:r>
              <a:rPr lang="en-US" b="1" i="1"/>
              <a:t>Available</a:t>
            </a:r>
            <a:endParaRPr b="1"/>
          </a:p>
          <a:p>
            <a:pPr marL="850900" lvl="1" indent="-3937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(b)	For </a:t>
            </a:r>
            <a:r>
              <a:rPr lang="en-US" b="1" i="1"/>
              <a:t>i</a:t>
            </a:r>
            <a:r>
              <a:rPr lang="en-US" b="1"/>
              <a:t> = 1,2, …,</a:t>
            </a:r>
            <a:r>
              <a:rPr lang="en-US" b="1" i="1"/>
              <a:t> n</a:t>
            </a:r>
            <a:r>
              <a:rPr lang="en-US"/>
              <a:t>, if </a:t>
            </a:r>
            <a:r>
              <a:rPr lang="en-US" b="1" i="1"/>
              <a:t>Allocation</a:t>
            </a:r>
            <a:r>
              <a:rPr lang="en-US" b="1" i="1" baseline="-25000"/>
              <a:t>i</a:t>
            </a:r>
            <a:r>
              <a:rPr lang="en-US" b="1"/>
              <a:t> ≠ 0</a:t>
            </a:r>
            <a:r>
              <a:rPr lang="en-US"/>
              <a:t>, then </a:t>
            </a:r>
            <a:br>
              <a:rPr lang="en-US"/>
            </a:br>
            <a:r>
              <a:rPr lang="en-US" b="1" i="1"/>
              <a:t>Finish</a:t>
            </a:r>
            <a:r>
              <a:rPr lang="en-US" b="1"/>
              <a:t>[i] </a:t>
            </a:r>
            <a:r>
              <a:rPr lang="en-US" b="1" i="1"/>
              <a:t>= false</a:t>
            </a:r>
            <a:r>
              <a:rPr lang="en-US"/>
              <a:t>; otherwise, </a:t>
            </a:r>
            <a:r>
              <a:rPr lang="en-US" b="1" i="1"/>
              <a:t>Finish</a:t>
            </a:r>
            <a:r>
              <a:rPr lang="en-US" b="1"/>
              <a:t>[i] = </a:t>
            </a:r>
            <a:r>
              <a:rPr lang="en-US" b="1" i="1"/>
              <a:t>true</a:t>
            </a:r>
            <a:endParaRPr/>
          </a:p>
          <a:p>
            <a:pPr marL="850900" lvl="1" indent="-3937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2.	Find an index </a:t>
            </a:r>
            <a:r>
              <a:rPr lang="en-US" b="1" i="1"/>
              <a:t>i</a:t>
            </a:r>
            <a:r>
              <a:rPr lang="en-US" i="1"/>
              <a:t> </a:t>
            </a:r>
            <a:r>
              <a:rPr lang="en-US"/>
              <a:t>such that both:</a:t>
            </a:r>
            <a:endParaRPr/>
          </a:p>
          <a:p>
            <a:pPr marL="850900" lvl="1" indent="-3937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(a)	</a:t>
            </a:r>
            <a:r>
              <a:rPr lang="en-US" b="1" i="1"/>
              <a:t>Finish</a:t>
            </a:r>
            <a:r>
              <a:rPr lang="en-US" b="1"/>
              <a:t>[</a:t>
            </a:r>
            <a:r>
              <a:rPr lang="en-US" b="1" i="1"/>
              <a:t>i</a:t>
            </a:r>
            <a:r>
              <a:rPr lang="en-US" b="1"/>
              <a:t>] == </a:t>
            </a:r>
            <a:r>
              <a:rPr lang="en-US" b="1" i="1"/>
              <a:t>false</a:t>
            </a:r>
            <a:endParaRPr b="1"/>
          </a:p>
          <a:p>
            <a:pPr marL="850900" lvl="1" indent="-3937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(b)	</a:t>
            </a:r>
            <a:r>
              <a:rPr lang="en-US" b="1" i="1"/>
              <a:t>Request</a:t>
            </a:r>
            <a:r>
              <a:rPr lang="en-US" b="1" i="1" baseline="-25000"/>
              <a:t>i</a:t>
            </a:r>
            <a:r>
              <a:rPr lang="en-US" b="1"/>
              <a:t> ≤ </a:t>
            </a:r>
            <a:r>
              <a:rPr lang="en-US" b="1" i="1"/>
              <a:t>Work</a:t>
            </a:r>
            <a:br>
              <a:rPr lang="en-US" b="1" i="1"/>
            </a:br>
            <a:endParaRPr b="1"/>
          </a:p>
          <a:p>
            <a:pPr marL="850900" lvl="1" indent="-3937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If no such </a:t>
            </a:r>
            <a:r>
              <a:rPr lang="en-US" b="1" i="1"/>
              <a:t>i</a:t>
            </a:r>
            <a:r>
              <a:rPr lang="en-US" b="1"/>
              <a:t> </a:t>
            </a:r>
            <a:r>
              <a:rPr lang="en-US"/>
              <a:t>exists, go to step 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>
            <a:spLocks noGrp="1"/>
          </p:cNvSpPr>
          <p:nvPr>
            <p:ph type="title"/>
          </p:nvPr>
        </p:nvSpPr>
        <p:spPr>
          <a:xfrm>
            <a:off x="1128713" y="214313"/>
            <a:ext cx="755808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Detection Algorithm (Cont.)</a:t>
            </a:r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body" idx="1"/>
          </p:nvPr>
        </p:nvSpPr>
        <p:spPr>
          <a:xfrm>
            <a:off x="947738" y="1171575"/>
            <a:ext cx="7218362" cy="229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3.	</a:t>
            </a:r>
            <a:r>
              <a:rPr lang="en-US" b="1" i="1"/>
              <a:t>Work</a:t>
            </a:r>
            <a:r>
              <a:rPr lang="en-US" b="1"/>
              <a:t> = </a:t>
            </a:r>
            <a:r>
              <a:rPr lang="en-US" b="1" i="1"/>
              <a:t>Work</a:t>
            </a:r>
            <a:r>
              <a:rPr lang="en-US" b="1"/>
              <a:t> + </a:t>
            </a:r>
            <a:r>
              <a:rPr lang="en-US" b="1" i="1"/>
              <a:t>Allocation</a:t>
            </a:r>
            <a:r>
              <a:rPr lang="en-US" b="1" i="1" baseline="-25000"/>
              <a:t>i</a:t>
            </a:r>
            <a:br>
              <a:rPr lang="en-US" b="1"/>
            </a:br>
            <a:r>
              <a:rPr lang="en-US" b="1" i="1"/>
              <a:t>Finish</a:t>
            </a:r>
            <a:r>
              <a:rPr lang="en-US" b="1"/>
              <a:t>[</a:t>
            </a:r>
            <a:r>
              <a:rPr lang="en-US" b="1" i="1"/>
              <a:t>i</a:t>
            </a:r>
            <a:r>
              <a:rPr lang="en-US" b="1"/>
              <a:t>] = </a:t>
            </a:r>
            <a:r>
              <a:rPr lang="en-US" b="1" i="1"/>
              <a:t>true</a:t>
            </a:r>
            <a:br>
              <a:rPr lang="en-US" b="1"/>
            </a:br>
            <a:r>
              <a:rPr lang="en-US"/>
              <a:t>go to step 2</a:t>
            </a:r>
            <a:br>
              <a:rPr lang="en-US"/>
            </a:b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4.	If </a:t>
            </a:r>
            <a:r>
              <a:rPr lang="en-US" b="1" i="1"/>
              <a:t>Finish[i] == false</a:t>
            </a:r>
            <a:r>
              <a:rPr lang="en-US"/>
              <a:t>, for some </a:t>
            </a:r>
            <a:r>
              <a:rPr lang="en-US" b="1" i="1"/>
              <a:t>i</a:t>
            </a:r>
            <a:r>
              <a:rPr lang="en-US"/>
              <a:t>, 1 ≤ </a:t>
            </a:r>
            <a:r>
              <a:rPr lang="en-US" b="1" i="1"/>
              <a:t>i</a:t>
            </a:r>
            <a:r>
              <a:rPr lang="en-US"/>
              <a:t> ≤  </a:t>
            </a:r>
            <a:r>
              <a:rPr lang="en-US" b="1" i="1"/>
              <a:t>n</a:t>
            </a:r>
            <a:r>
              <a:rPr lang="en-US"/>
              <a:t>, then the system is in deadlock state. Moreover, if </a:t>
            </a:r>
            <a:r>
              <a:rPr lang="en-US" b="1" i="1"/>
              <a:t>Finish</a:t>
            </a:r>
            <a:r>
              <a:rPr lang="en-US" b="1"/>
              <a:t>[</a:t>
            </a:r>
            <a:r>
              <a:rPr lang="en-US" b="1" i="1"/>
              <a:t>i</a:t>
            </a:r>
            <a:r>
              <a:rPr lang="en-US" b="1"/>
              <a:t>] == </a:t>
            </a:r>
            <a:r>
              <a:rPr lang="en-US" b="1" i="1"/>
              <a:t>false</a:t>
            </a:r>
            <a:r>
              <a:rPr lang="en-US"/>
              <a:t>, then </a:t>
            </a:r>
            <a:r>
              <a:rPr lang="en-US" b="1" i="1"/>
              <a:t>P</a:t>
            </a:r>
            <a:r>
              <a:rPr lang="en-US" b="1" i="1" baseline="-25000"/>
              <a:t>i</a:t>
            </a:r>
            <a:r>
              <a:rPr lang="en-US"/>
              <a:t> is deadlocked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"/>
          <p:cNvSpPr txBox="1">
            <a:spLocks noGrp="1"/>
          </p:cNvSpPr>
          <p:nvPr>
            <p:ph type="title"/>
          </p:nvPr>
        </p:nvSpPr>
        <p:spPr>
          <a:xfrm>
            <a:off x="1022350" y="214313"/>
            <a:ext cx="76644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Detection Algorithm</a:t>
            </a:r>
            <a:endParaRPr/>
          </a:p>
        </p:txBody>
      </p:sp>
      <p:sp>
        <p:nvSpPr>
          <p:cNvPr id="403" name="Google Shape;403;p36"/>
          <p:cNvSpPr txBox="1">
            <a:spLocks noGrp="1"/>
          </p:cNvSpPr>
          <p:nvPr>
            <p:ph type="body" idx="1"/>
          </p:nvPr>
        </p:nvSpPr>
        <p:spPr>
          <a:xfrm>
            <a:off x="901701" y="1108075"/>
            <a:ext cx="7785100" cy="512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Five processes </a:t>
            </a:r>
            <a:r>
              <a:rPr lang="en-US" b="1" i="1"/>
              <a:t>P</a:t>
            </a:r>
            <a:r>
              <a:rPr lang="en-US" b="1" baseline="-25000"/>
              <a:t>0</a:t>
            </a:r>
            <a:r>
              <a:rPr lang="en-US"/>
              <a:t> through </a:t>
            </a:r>
            <a:r>
              <a:rPr lang="en-US" b="1" i="1"/>
              <a:t>P</a:t>
            </a:r>
            <a:r>
              <a:rPr lang="en-US" b="1" baseline="-25000"/>
              <a:t>4</a:t>
            </a:r>
            <a:r>
              <a:rPr lang="en-US"/>
              <a:t>;</a:t>
            </a:r>
            <a:r>
              <a:rPr lang="en-US" baseline="-25000"/>
              <a:t> </a:t>
            </a:r>
            <a:r>
              <a:rPr lang="en-US"/>
              <a:t>three resource types </a:t>
            </a:r>
            <a:br>
              <a:rPr lang="en-US"/>
            </a:br>
            <a:r>
              <a:rPr lang="en-US"/>
              <a:t>A (7 instances), </a:t>
            </a:r>
            <a:r>
              <a:rPr lang="en-US" i="1"/>
              <a:t>B </a:t>
            </a:r>
            <a:r>
              <a:rPr lang="en-US"/>
              <a:t>(2 instances), and </a:t>
            </a:r>
            <a:r>
              <a:rPr lang="en-US" i="1"/>
              <a:t>C</a:t>
            </a:r>
            <a:r>
              <a:rPr lang="en-US"/>
              <a:t> (6 instances)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Snapshot at time </a:t>
            </a:r>
            <a:r>
              <a:rPr lang="en-US" b="1" i="1"/>
              <a:t>T</a:t>
            </a:r>
            <a:r>
              <a:rPr lang="en-US" b="1" baseline="-25000"/>
              <a:t>0</a:t>
            </a:r>
            <a:r>
              <a:rPr lang="en-US"/>
              <a:t>: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	 	</a:t>
            </a:r>
            <a:r>
              <a:rPr lang="en-US" i="1" u="sng"/>
              <a:t>Allocation </a:t>
            </a:r>
            <a:r>
              <a:rPr lang="en-US" i="1"/>
              <a:t>	</a:t>
            </a:r>
            <a:r>
              <a:rPr lang="en-US" i="1" u="sng"/>
              <a:t>Request </a:t>
            </a:r>
            <a:r>
              <a:rPr lang="en-US" i="1"/>
              <a:t>	 </a:t>
            </a:r>
            <a:r>
              <a:rPr lang="en-US" i="1" u="sng"/>
              <a:t>Available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	  	</a:t>
            </a:r>
            <a:r>
              <a:rPr lang="en-US" i="1"/>
              <a:t>A B C 	         A B C 	   A B C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        </a:t>
            </a:r>
            <a:r>
              <a:rPr lang="en-US" i="1"/>
              <a:t>P</a:t>
            </a:r>
            <a:r>
              <a:rPr lang="en-US" baseline="-25000"/>
              <a:t>0</a:t>
            </a:r>
            <a:r>
              <a:rPr lang="en-US"/>
              <a:t>  	 0 1 0               0 0 0        0 0 0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i="1"/>
              <a:t>             P</a:t>
            </a:r>
            <a:r>
              <a:rPr lang="en-US" baseline="-25000"/>
              <a:t>1</a:t>
            </a:r>
            <a:r>
              <a:rPr lang="en-US"/>
              <a:t>	 2 0 0 	 	   2 0 2	    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i="1"/>
              <a:t>            P</a:t>
            </a:r>
            <a:r>
              <a:rPr lang="en-US" baseline="-25000"/>
              <a:t>2</a:t>
            </a:r>
            <a:r>
              <a:rPr lang="en-US"/>
              <a:t>       3 0 3                0 0 0      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i="1"/>
              <a:t>            P</a:t>
            </a:r>
            <a:r>
              <a:rPr lang="en-US" baseline="-25000"/>
              <a:t>3</a:t>
            </a:r>
            <a:r>
              <a:rPr lang="en-US"/>
              <a:t>      	2 1 1 	         1 0 0 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       </a:t>
            </a:r>
            <a:r>
              <a:rPr lang="en-US" i="1"/>
              <a:t>P</a:t>
            </a:r>
            <a:r>
              <a:rPr lang="en-US" baseline="-25000"/>
              <a:t>4	</a:t>
            </a:r>
            <a:r>
              <a:rPr lang="en-US"/>
              <a:t>0 0 2 	          0 0 2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Sequence &lt;</a:t>
            </a:r>
            <a:r>
              <a:rPr lang="en-US" b="1" i="1"/>
              <a:t>P</a:t>
            </a:r>
            <a:r>
              <a:rPr lang="en-US" b="1" i="1" baseline="-25000"/>
              <a:t>0</a:t>
            </a:r>
            <a:r>
              <a:rPr lang="en-US" b="1" i="1"/>
              <a:t>, P</a:t>
            </a:r>
            <a:r>
              <a:rPr lang="en-US" b="1" i="1" baseline="-25000"/>
              <a:t>2</a:t>
            </a:r>
            <a:r>
              <a:rPr lang="en-US" b="1" i="1"/>
              <a:t>, P</a:t>
            </a:r>
            <a:r>
              <a:rPr lang="en-US" b="1" i="1" baseline="-25000"/>
              <a:t>3</a:t>
            </a:r>
            <a:r>
              <a:rPr lang="en-US" b="1" i="1"/>
              <a:t>, P</a:t>
            </a:r>
            <a:r>
              <a:rPr lang="en-US" b="1" i="1" baseline="-25000"/>
              <a:t>1</a:t>
            </a:r>
            <a:r>
              <a:rPr lang="en-US" b="1" i="1"/>
              <a:t>, P</a:t>
            </a:r>
            <a:r>
              <a:rPr lang="en-US" b="1" i="1" baseline="-25000"/>
              <a:t>4</a:t>
            </a:r>
            <a:r>
              <a:rPr lang="en-US"/>
              <a:t>&gt; will result in </a:t>
            </a:r>
            <a:r>
              <a:rPr lang="en-US" b="1" i="1"/>
              <a:t>Finish[i] = true </a:t>
            </a:r>
            <a:r>
              <a:rPr lang="en-US"/>
              <a:t>for all </a:t>
            </a:r>
            <a:r>
              <a:rPr lang="en-US" b="1" i="1"/>
              <a:t>i</a:t>
            </a:r>
            <a:endParaRPr b="1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/>
          <p:cNvSpPr txBox="1">
            <a:spLocks noGrp="1"/>
          </p:cNvSpPr>
          <p:nvPr>
            <p:ph type="title"/>
          </p:nvPr>
        </p:nvSpPr>
        <p:spPr>
          <a:xfrm>
            <a:off x="457200" y="2143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sp>
        <p:nvSpPr>
          <p:cNvPr id="410" name="Google Shape;410;p37"/>
          <p:cNvSpPr txBox="1">
            <a:spLocks noGrp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 b="1" i="1"/>
              <a:t>P</a:t>
            </a:r>
            <a:r>
              <a:rPr lang="en-US" b="1" baseline="-25000"/>
              <a:t>2</a:t>
            </a:r>
            <a:r>
              <a:rPr lang="en-US"/>
              <a:t> requests an additional instance of type</a:t>
            </a:r>
            <a:r>
              <a:rPr lang="en-US" i="1"/>
              <a:t> </a:t>
            </a:r>
            <a:r>
              <a:rPr lang="en-US" b="1" i="1"/>
              <a:t>C</a:t>
            </a:r>
            <a:endParaRPr b="1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	</a:t>
            </a:r>
            <a:r>
              <a:rPr lang="en-US" i="1" u="sng"/>
              <a:t>Request</a:t>
            </a:r>
            <a:endParaRPr i="1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 i="1"/>
              <a:t>			A B C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baseline="-25000"/>
              <a:t>0</a:t>
            </a:r>
            <a:r>
              <a:rPr lang="en-US"/>
              <a:t>	0 0 0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baseline="-25000"/>
              <a:t>1</a:t>
            </a:r>
            <a:r>
              <a:rPr lang="en-US"/>
              <a:t>	2 0 2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baseline="-25000"/>
              <a:t>2</a:t>
            </a:r>
            <a:r>
              <a:rPr lang="en-US"/>
              <a:t>	0 0 1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baseline="-25000"/>
              <a:t>3</a:t>
            </a:r>
            <a:r>
              <a:rPr lang="en-US"/>
              <a:t>	1 0 0 </a:t>
            </a: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 </a:t>
            </a:r>
            <a:r>
              <a:rPr lang="en-US" i="1"/>
              <a:t>P</a:t>
            </a:r>
            <a:r>
              <a:rPr lang="en-US" baseline="-25000"/>
              <a:t>4</a:t>
            </a:r>
            <a:r>
              <a:rPr lang="en-US"/>
              <a:t>	0 0 2</a:t>
            </a:r>
            <a:endParaRPr/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SzPts val="720"/>
              <a:buFont typeface="Arial"/>
              <a:buNone/>
            </a:pPr>
            <a:endParaRPr sz="800"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State of system?</a:t>
            </a: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Can reclaim resources held by process </a:t>
            </a:r>
            <a:r>
              <a:rPr lang="en-US" b="1" i="1"/>
              <a:t>P</a:t>
            </a:r>
            <a:r>
              <a:rPr lang="en-US" b="1" baseline="-25000"/>
              <a:t>0</a:t>
            </a:r>
            <a:r>
              <a:rPr lang="en-US"/>
              <a:t>, but insufficient resources to fulfill other processes; requests</a:t>
            </a:r>
            <a:endParaRPr/>
          </a:p>
          <a:p>
            <a:pPr marL="742950" lvl="1" indent="-285750" algn="l" rtl="0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Deadlock exists, consisting of processes </a:t>
            </a:r>
            <a:r>
              <a:rPr lang="en-US" b="1" i="1"/>
              <a:t>P</a:t>
            </a:r>
            <a:r>
              <a:rPr lang="en-US" b="1" baseline="-25000"/>
              <a:t>1</a:t>
            </a:r>
            <a:r>
              <a:rPr lang="en-US" b="1"/>
              <a:t>, </a:t>
            </a:r>
            <a:r>
              <a:rPr lang="en-US" b="1" baseline="-25000"/>
              <a:t> </a:t>
            </a:r>
            <a:r>
              <a:rPr lang="en-US" b="1" i="1"/>
              <a:t>P</a:t>
            </a:r>
            <a:r>
              <a:rPr lang="en-US" b="1" baseline="-25000"/>
              <a:t>2</a:t>
            </a:r>
            <a:r>
              <a:rPr lang="en-US" b="1"/>
              <a:t>, </a:t>
            </a:r>
            <a:r>
              <a:rPr lang="en-US" b="1" i="1"/>
              <a:t>P</a:t>
            </a:r>
            <a:r>
              <a:rPr lang="en-US" b="1" baseline="-25000"/>
              <a:t>3</a:t>
            </a:r>
            <a:r>
              <a:rPr lang="en-US"/>
              <a:t>, and </a:t>
            </a:r>
            <a:r>
              <a:rPr lang="en-US" b="1" i="1"/>
              <a:t>P</a:t>
            </a:r>
            <a:r>
              <a:rPr lang="en-US" b="1" baseline="-25000"/>
              <a:t>4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370908" y="354435"/>
            <a:ext cx="8588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Recovery from Deadlock:  Process Termination</a:t>
            </a:r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body" idx="1"/>
          </p:nvPr>
        </p:nvSpPr>
        <p:spPr>
          <a:xfrm>
            <a:off x="724694" y="1163637"/>
            <a:ext cx="7694612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Abort all deadlocked processes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Abort one process at a time until the deadlock cycle is eliminated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In which order should we choose to abort?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Priority of the process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How long process has computed, and how much longer to completion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Resources the process has used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Resources process needs to complete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How many processes will need to be terminated</a:t>
            </a:r>
            <a:endParaRPr/>
          </a:p>
          <a:p>
            <a:pPr marL="800100" lvl="1" indent="-342900" algn="l" rtl="0">
              <a:spcBef>
                <a:spcPts val="630"/>
              </a:spcBef>
              <a:spcAft>
                <a:spcPts val="0"/>
              </a:spcAft>
              <a:buSzPts val="1440"/>
              <a:buFont typeface="Arial"/>
              <a:buAutoNum type="arabicPeriod"/>
            </a:pPr>
            <a:r>
              <a:rPr lang="en-US"/>
              <a:t>Is process interactive or batch?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>
            <a:spLocks noGrp="1"/>
          </p:cNvSpPr>
          <p:nvPr>
            <p:ph type="title"/>
          </p:nvPr>
        </p:nvSpPr>
        <p:spPr>
          <a:xfrm>
            <a:off x="561974" y="322700"/>
            <a:ext cx="8020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Recovery from Deadlock:  Resource Preemption</a:t>
            </a:r>
            <a:endParaRPr/>
          </a:p>
        </p:txBody>
      </p:sp>
      <p:sp>
        <p:nvSpPr>
          <p:cNvPr id="424" name="Google Shape;424;p39"/>
          <p:cNvSpPr txBox="1">
            <a:spLocks noGrp="1"/>
          </p:cNvSpPr>
          <p:nvPr>
            <p:ph type="body" idx="1"/>
          </p:nvPr>
        </p:nvSpPr>
        <p:spPr>
          <a:xfrm>
            <a:off x="1170781" y="1187450"/>
            <a:ext cx="6802437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 b="1"/>
              <a:t>Selecting a victim </a:t>
            </a:r>
            <a:r>
              <a:rPr lang="en-US"/>
              <a:t>– minimize cost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 b="1"/>
              <a:t>Rollback</a:t>
            </a:r>
            <a:r>
              <a:rPr lang="en-US"/>
              <a:t> – return to some safe state, restart process for that state</a:t>
            </a:r>
            <a:br>
              <a:rPr lang="en-US"/>
            </a:br>
            <a:endParaRPr/>
          </a:p>
          <a:p>
            <a:pPr marL="342900" lvl="0" indent="-342900" algn="l" rtl="0">
              <a:spcBef>
                <a:spcPts val="630"/>
              </a:spcBef>
              <a:spcAft>
                <a:spcPts val="0"/>
              </a:spcAft>
              <a:buSzPts val="1620"/>
              <a:buFont typeface="Arial"/>
              <a:buAutoNum type="arabicPeriod"/>
            </a:pPr>
            <a:r>
              <a:rPr lang="en-US" b="1"/>
              <a:t>Starvation</a:t>
            </a:r>
            <a:r>
              <a:rPr lang="en-US"/>
              <a:t> –  same process may always be picked as victim, include number of rollback in cost factor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>
            <a:spLocks noGrp="1"/>
          </p:cNvSpPr>
          <p:nvPr>
            <p:ph type="ctrTitle"/>
          </p:nvPr>
        </p:nvSpPr>
        <p:spPr>
          <a:xfrm>
            <a:off x="685800" y="3045932"/>
            <a:ext cx="7772400" cy="76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2760</Words>
  <Application>Microsoft Office PowerPoint</Application>
  <PresentationFormat>On-screen Show (4:3)</PresentationFormat>
  <Paragraphs>355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Roboto</vt:lpstr>
      <vt:lpstr>Helvetica Neue</vt:lpstr>
      <vt:lpstr>Times New Roman</vt:lpstr>
      <vt:lpstr>Calibri</vt:lpstr>
      <vt:lpstr>Book Antiqua</vt:lpstr>
      <vt:lpstr>Arimo</vt:lpstr>
      <vt:lpstr>Arial</vt:lpstr>
      <vt:lpstr>Verdana</vt:lpstr>
      <vt:lpstr>os-8</vt:lpstr>
      <vt:lpstr>Deadlock William Stallings</vt:lpstr>
      <vt:lpstr>Deadlock</vt:lpstr>
      <vt:lpstr>Potential Deadlock </vt:lpstr>
      <vt:lpstr>Actual Deadlock</vt:lpstr>
      <vt:lpstr>Conditions for  possible Deadlock</vt:lpstr>
      <vt:lpstr>Actual Deadlock  Requires …</vt:lpstr>
      <vt:lpstr>Resource Allocation  Graphs</vt:lpstr>
      <vt:lpstr>Resource Allocation  Graphs of deadlock</vt:lpstr>
      <vt:lpstr>Resource Allocation  Graphs of deadlock</vt:lpstr>
      <vt:lpstr>Resource Allocation  Graphs of deadlock</vt:lpstr>
      <vt:lpstr>Resource Allocation  Graphs of deadlock</vt:lpstr>
      <vt:lpstr>RAG of Dinning Philosopher Problem</vt:lpstr>
      <vt:lpstr>Dealing with Deadlock</vt:lpstr>
      <vt:lpstr>Dealing with Deadlock</vt:lpstr>
      <vt:lpstr>Deadlock Prevention  Strategy</vt:lpstr>
      <vt:lpstr>Deadlock Prevention  Conditions</vt:lpstr>
      <vt:lpstr>Deadlock Prevention  Conditions</vt:lpstr>
      <vt:lpstr>Deadlock Prevention  Conditions</vt:lpstr>
      <vt:lpstr>Deadlock Prevention  Conditions</vt:lpstr>
      <vt:lpstr>Deadlock Prevention  Conditions</vt:lpstr>
      <vt:lpstr>Deadlock Avoidance</vt:lpstr>
      <vt:lpstr>Process  Initiation Denial</vt:lpstr>
      <vt:lpstr>  Resource Allocation Denial</vt:lpstr>
      <vt:lpstr>Basic Facts for deadlock avoidance</vt:lpstr>
      <vt:lpstr>Banker’s Algorithm</vt:lpstr>
      <vt:lpstr>Data Structures for the Banker’s Algorithm </vt:lpstr>
      <vt:lpstr>Safety Algorithm</vt:lpstr>
      <vt:lpstr>Example of Banker’s Algorithm</vt:lpstr>
      <vt:lpstr>Resource-Request Algorithm for Process Pi</vt:lpstr>
      <vt:lpstr>Example of Resource Request Algorithm</vt:lpstr>
      <vt:lpstr>Deadlock Detection</vt:lpstr>
      <vt:lpstr>Single Instance of Each Resource Type</vt:lpstr>
      <vt:lpstr>Resource-Allocation Graph and  Wait-for Graph</vt:lpstr>
      <vt:lpstr>Detection Algorithm</vt:lpstr>
      <vt:lpstr>Detection Algorithm (Cont.)</vt:lpstr>
      <vt:lpstr>Example of Detection Algorithm</vt:lpstr>
      <vt:lpstr>Example (Cont.)</vt:lpstr>
      <vt:lpstr>Recovery from Deadlock:  Process Termination</vt:lpstr>
      <vt:lpstr>Recovery from Deadlock:  Resource Preemption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Anaum Hamid</dc:creator>
  <cp:lastModifiedBy>Tesla Laptops</cp:lastModifiedBy>
  <cp:revision>1</cp:revision>
  <dcterms:created xsi:type="dcterms:W3CDTF">2020-12-16T10:18:55Z</dcterms:created>
  <dcterms:modified xsi:type="dcterms:W3CDTF">2026-05-03T14:53:12Z</dcterms:modified>
</cp:coreProperties>
</file>