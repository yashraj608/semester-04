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72" r:id="rId4"/>
    <p:sldId id="259" r:id="rId5"/>
    <p:sldId id="262" r:id="rId6"/>
    <p:sldId id="260" r:id="rId7"/>
    <p:sldId id="261" r:id="rId8"/>
    <p:sldId id="263" r:id="rId9"/>
    <p:sldId id="264" r:id="rId10"/>
    <p:sldId id="273" r:id="rId11"/>
    <p:sldId id="265" r:id="rId12"/>
    <p:sldId id="266" r:id="rId13"/>
    <p:sldId id="268" r:id="rId14"/>
    <p:sldId id="271" r:id="rId15"/>
    <p:sldId id="269" r:id="rId16"/>
    <p:sldId id="267" r:id="rId17"/>
    <p:sldId id="2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5" d="100"/>
          <a:sy n="115" d="100"/>
        </p:scale>
        <p:origin x="43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1640B72-3CA4-4C8C-9EC9-85C2ACB24599}"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C34A42-F82D-4CBF-9599-BA6A0B5FDCD5}" type="slidenum">
              <a:rPr lang="en-US" smtClean="0"/>
              <a:t>‹#›</a:t>
            </a:fld>
            <a:endParaRPr lang="en-US"/>
          </a:p>
        </p:txBody>
      </p:sp>
    </p:spTree>
    <p:extLst>
      <p:ext uri="{BB962C8B-B14F-4D97-AF65-F5344CB8AC3E}">
        <p14:creationId xmlns:p14="http://schemas.microsoft.com/office/powerpoint/2010/main" val="3620361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1640B72-3CA4-4C8C-9EC9-85C2ACB24599}"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C34A42-F82D-4CBF-9599-BA6A0B5FDCD5}" type="slidenum">
              <a:rPr lang="en-US" smtClean="0"/>
              <a:t>‹#›</a:t>
            </a:fld>
            <a:endParaRPr lang="en-US"/>
          </a:p>
        </p:txBody>
      </p:sp>
    </p:spTree>
    <p:extLst>
      <p:ext uri="{BB962C8B-B14F-4D97-AF65-F5344CB8AC3E}">
        <p14:creationId xmlns:p14="http://schemas.microsoft.com/office/powerpoint/2010/main" val="2216557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1640B72-3CA4-4C8C-9EC9-85C2ACB24599}"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C34A42-F82D-4CBF-9599-BA6A0B5FDCD5}" type="slidenum">
              <a:rPr lang="en-US" smtClean="0"/>
              <a:t>‹#›</a:t>
            </a:fld>
            <a:endParaRPr lang="en-US"/>
          </a:p>
        </p:txBody>
      </p:sp>
    </p:spTree>
    <p:extLst>
      <p:ext uri="{BB962C8B-B14F-4D97-AF65-F5344CB8AC3E}">
        <p14:creationId xmlns:p14="http://schemas.microsoft.com/office/powerpoint/2010/main" val="1332302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1640B72-3CA4-4C8C-9EC9-85C2ACB24599}"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C34A42-F82D-4CBF-9599-BA6A0B5FDCD5}" type="slidenum">
              <a:rPr lang="en-US" smtClean="0"/>
              <a:t>‹#›</a:t>
            </a:fld>
            <a:endParaRPr lang="en-US"/>
          </a:p>
        </p:txBody>
      </p:sp>
    </p:spTree>
    <p:extLst>
      <p:ext uri="{BB962C8B-B14F-4D97-AF65-F5344CB8AC3E}">
        <p14:creationId xmlns:p14="http://schemas.microsoft.com/office/powerpoint/2010/main" val="242019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1640B72-3CA4-4C8C-9EC9-85C2ACB24599}" type="datetimeFigureOut">
              <a:rPr lang="en-US" smtClean="0"/>
              <a:t>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C34A42-F82D-4CBF-9599-BA6A0B5FDCD5}" type="slidenum">
              <a:rPr lang="en-US" smtClean="0"/>
              <a:t>‹#›</a:t>
            </a:fld>
            <a:endParaRPr lang="en-US"/>
          </a:p>
        </p:txBody>
      </p:sp>
    </p:spTree>
    <p:extLst>
      <p:ext uri="{BB962C8B-B14F-4D97-AF65-F5344CB8AC3E}">
        <p14:creationId xmlns:p14="http://schemas.microsoft.com/office/powerpoint/2010/main" val="1571914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1640B72-3CA4-4C8C-9EC9-85C2ACB24599}" type="datetimeFigureOut">
              <a:rPr lang="en-US" smtClean="0"/>
              <a:t>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C34A42-F82D-4CBF-9599-BA6A0B5FDCD5}" type="slidenum">
              <a:rPr lang="en-US" smtClean="0"/>
              <a:t>‹#›</a:t>
            </a:fld>
            <a:endParaRPr lang="en-US"/>
          </a:p>
        </p:txBody>
      </p:sp>
    </p:spTree>
    <p:extLst>
      <p:ext uri="{BB962C8B-B14F-4D97-AF65-F5344CB8AC3E}">
        <p14:creationId xmlns:p14="http://schemas.microsoft.com/office/powerpoint/2010/main" val="3349054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640B72-3CA4-4C8C-9EC9-85C2ACB24599}" type="datetimeFigureOut">
              <a:rPr lang="en-US" smtClean="0"/>
              <a:t>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C34A42-F82D-4CBF-9599-BA6A0B5FDCD5}" type="slidenum">
              <a:rPr lang="en-US" smtClean="0"/>
              <a:t>‹#›</a:t>
            </a:fld>
            <a:endParaRPr lang="en-US"/>
          </a:p>
        </p:txBody>
      </p:sp>
    </p:spTree>
    <p:extLst>
      <p:ext uri="{BB962C8B-B14F-4D97-AF65-F5344CB8AC3E}">
        <p14:creationId xmlns:p14="http://schemas.microsoft.com/office/powerpoint/2010/main" val="3008747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1640B72-3CA4-4C8C-9EC9-85C2ACB24599}"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C34A42-F82D-4CBF-9599-BA6A0B5FDCD5}" type="slidenum">
              <a:rPr lang="en-US" smtClean="0"/>
              <a:t>‹#›</a:t>
            </a:fld>
            <a:endParaRPr lang="en-US"/>
          </a:p>
        </p:txBody>
      </p:sp>
    </p:spTree>
    <p:extLst>
      <p:ext uri="{BB962C8B-B14F-4D97-AF65-F5344CB8AC3E}">
        <p14:creationId xmlns:p14="http://schemas.microsoft.com/office/powerpoint/2010/main" val="3854879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1640B72-3CA4-4C8C-9EC9-85C2ACB24599}"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C34A42-F82D-4CBF-9599-BA6A0B5FDCD5}" type="slidenum">
              <a:rPr lang="en-US" smtClean="0"/>
              <a:t>‹#›</a:t>
            </a:fld>
            <a:endParaRPr lang="en-US"/>
          </a:p>
        </p:txBody>
      </p:sp>
    </p:spTree>
    <p:extLst>
      <p:ext uri="{BB962C8B-B14F-4D97-AF65-F5344CB8AC3E}">
        <p14:creationId xmlns:p14="http://schemas.microsoft.com/office/powerpoint/2010/main" val="3740475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1640B72-3CA4-4C8C-9EC9-85C2ACB24599}"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C34A42-F82D-4CBF-9599-BA6A0B5FDCD5}" type="slidenum">
              <a:rPr lang="en-US" smtClean="0"/>
              <a:t>‹#›</a:t>
            </a:fld>
            <a:endParaRPr lang="en-US"/>
          </a:p>
        </p:txBody>
      </p:sp>
    </p:spTree>
    <p:extLst>
      <p:ext uri="{BB962C8B-B14F-4D97-AF65-F5344CB8AC3E}">
        <p14:creationId xmlns:p14="http://schemas.microsoft.com/office/powerpoint/2010/main" val="1796791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1640B72-3CA4-4C8C-9EC9-85C2ACB24599}"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C34A42-F82D-4CBF-9599-BA6A0B5FDCD5}" type="slidenum">
              <a:rPr lang="en-US" smtClean="0"/>
              <a:t>‹#›</a:t>
            </a:fld>
            <a:endParaRPr lang="en-US"/>
          </a:p>
        </p:txBody>
      </p:sp>
    </p:spTree>
    <p:extLst>
      <p:ext uri="{BB962C8B-B14F-4D97-AF65-F5344CB8AC3E}">
        <p14:creationId xmlns:p14="http://schemas.microsoft.com/office/powerpoint/2010/main" val="4073778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640B72-3CA4-4C8C-9EC9-85C2ACB24599}" type="datetimeFigureOut">
              <a:rPr lang="en-US" smtClean="0"/>
              <a:t>2/11/2025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C34A42-F82D-4CBF-9599-BA6A0B5FDCD5}" type="slidenum">
              <a:rPr lang="en-US" smtClean="0"/>
              <a:t>‹#›</a:t>
            </a:fld>
            <a:endParaRPr lang="en-US"/>
          </a:p>
        </p:txBody>
      </p:sp>
    </p:spTree>
    <p:extLst>
      <p:ext uri="{BB962C8B-B14F-4D97-AF65-F5344CB8AC3E}">
        <p14:creationId xmlns:p14="http://schemas.microsoft.com/office/powerpoint/2010/main" val="1758208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1.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ircuit board&#10;&#10;Description automatically generated">
            <a:extLst>
              <a:ext uri="{FF2B5EF4-FFF2-40B4-BE49-F238E27FC236}">
                <a16:creationId xmlns:a16="http://schemas.microsoft.com/office/drawing/2014/main" id="{E70ABBF4-46E7-4969-82EB-C23BECC776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032"/>
            <a:ext cx="12192000" cy="2578768"/>
          </a:xfrm>
          <a:prstGeom prst="rect">
            <a:avLst/>
          </a:prstGeom>
        </p:spPr>
      </p:pic>
      <p:sp>
        <p:nvSpPr>
          <p:cNvPr id="6" name="object 20">
            <a:extLst>
              <a:ext uri="{FF2B5EF4-FFF2-40B4-BE49-F238E27FC236}">
                <a16:creationId xmlns:a16="http://schemas.microsoft.com/office/drawing/2014/main" id="{C284C4F3-473A-4C72-8240-E2DDCF0C689F}"/>
              </a:ext>
            </a:extLst>
          </p:cNvPr>
          <p:cNvSpPr txBox="1">
            <a:spLocks noGrp="1"/>
          </p:cNvSpPr>
          <p:nvPr>
            <p:ph type="title"/>
          </p:nvPr>
        </p:nvSpPr>
        <p:spPr>
          <a:xfrm>
            <a:off x="2133599" y="2871694"/>
            <a:ext cx="7834489" cy="633507"/>
          </a:xfrm>
          <a:prstGeom prst="rect">
            <a:avLst/>
          </a:prstGeom>
        </p:spPr>
        <p:txBody>
          <a:bodyPr vert="horz" wrap="square" lIns="0" tIns="81280" rIns="0" bIns="0" rtlCol="0" anchor="ctr">
            <a:spAutoFit/>
          </a:bodyPr>
          <a:lstStyle/>
          <a:p>
            <a:pPr marL="1468120" marR="5080" indent="-1456055" algn="ctr">
              <a:lnSpc>
                <a:spcPts val="4320"/>
              </a:lnSpc>
              <a:spcBef>
                <a:spcPts val="640"/>
              </a:spcBef>
            </a:pPr>
            <a:r>
              <a:rPr sz="4000" b="1" spc="-5" dirty="0">
                <a:solidFill>
                  <a:srgbClr val="FFC000"/>
                </a:solidFill>
                <a:latin typeface="Gothic Uralic"/>
                <a:cs typeface="Gothic Uralic"/>
              </a:rPr>
              <a:t>Artificial</a:t>
            </a:r>
            <a:r>
              <a:rPr sz="4000" b="1" spc="-55" dirty="0">
                <a:solidFill>
                  <a:srgbClr val="FFC000"/>
                </a:solidFill>
                <a:latin typeface="Gothic Uralic"/>
                <a:cs typeface="Gothic Uralic"/>
              </a:rPr>
              <a:t> </a:t>
            </a:r>
            <a:r>
              <a:rPr sz="4000" b="1" spc="-5" dirty="0">
                <a:solidFill>
                  <a:srgbClr val="FFC000"/>
                </a:solidFill>
                <a:latin typeface="Gothic Uralic"/>
                <a:cs typeface="Gothic Uralic"/>
              </a:rPr>
              <a:t>Intelligence  </a:t>
            </a:r>
            <a:r>
              <a:rPr sz="4000" b="1" spc="-10" dirty="0">
                <a:solidFill>
                  <a:srgbClr val="FFC000"/>
                </a:solidFill>
                <a:latin typeface="Gothic Uralic"/>
                <a:cs typeface="Gothic Uralic"/>
              </a:rPr>
              <a:t>(</a:t>
            </a:r>
            <a:r>
              <a:rPr sz="4000" b="1" spc="-10" dirty="0" smtClean="0">
                <a:solidFill>
                  <a:srgbClr val="FFC000"/>
                </a:solidFill>
                <a:latin typeface="Gothic Uralic"/>
                <a:cs typeface="Gothic Uralic"/>
              </a:rPr>
              <a:t>CS-</a:t>
            </a:r>
            <a:r>
              <a:rPr lang="en-US" sz="4000" b="1" spc="-10" dirty="0" smtClean="0">
                <a:solidFill>
                  <a:srgbClr val="FFC000"/>
                </a:solidFill>
                <a:latin typeface="Gothic Uralic"/>
                <a:cs typeface="Gothic Uralic"/>
              </a:rPr>
              <a:t>2002</a:t>
            </a:r>
            <a:r>
              <a:rPr sz="4000" b="1" spc="-10" dirty="0" smtClean="0">
                <a:solidFill>
                  <a:srgbClr val="FFC000"/>
                </a:solidFill>
                <a:latin typeface="Gothic Uralic"/>
                <a:cs typeface="Gothic Uralic"/>
              </a:rPr>
              <a:t>)</a:t>
            </a:r>
            <a:endParaRPr sz="4000" dirty="0">
              <a:latin typeface="Gothic Uralic"/>
              <a:cs typeface="Gothic Uralic"/>
            </a:endParaRPr>
          </a:p>
        </p:txBody>
      </p:sp>
      <p:sp>
        <p:nvSpPr>
          <p:cNvPr id="7" name="Rectangle 6">
            <a:extLst>
              <a:ext uri="{FF2B5EF4-FFF2-40B4-BE49-F238E27FC236}">
                <a16:creationId xmlns:a16="http://schemas.microsoft.com/office/drawing/2014/main" id="{8296C72A-45F5-482C-9BB9-CB04B0292B88}"/>
              </a:ext>
            </a:extLst>
          </p:cNvPr>
          <p:cNvSpPr/>
          <p:nvPr/>
        </p:nvSpPr>
        <p:spPr>
          <a:xfrm>
            <a:off x="1792705" y="4267202"/>
            <a:ext cx="7696200" cy="541174"/>
          </a:xfrm>
          <a:prstGeom prst="rect">
            <a:avLst/>
          </a:prstGeom>
        </p:spPr>
        <p:txBody>
          <a:bodyPr wrap="square">
            <a:spAutoFit/>
          </a:bodyPr>
          <a:lstStyle/>
          <a:p>
            <a:pPr marL="12700" marR="5080" indent="1356360" algn="ctr">
              <a:lnSpc>
                <a:spcPts val="3460"/>
              </a:lnSpc>
              <a:spcBef>
                <a:spcPts val="535"/>
              </a:spcBef>
            </a:pPr>
            <a:r>
              <a:rPr lang="en-US" sz="3200" b="1" dirty="0" smtClean="0">
                <a:solidFill>
                  <a:schemeClr val="tx2"/>
                </a:solidFill>
                <a:latin typeface="Arial Rounded MT Bold" panose="020F0704030504030204" pitchFamily="34" charset="0"/>
                <a:cs typeface="Gothic Uralic"/>
              </a:rPr>
              <a:t>Informed Search Strategies</a:t>
            </a:r>
            <a:endParaRPr lang="en-US" sz="3200" b="1" dirty="0">
              <a:solidFill>
                <a:schemeClr val="tx2"/>
              </a:solidFill>
              <a:latin typeface="Arial Rounded MT Bold" panose="020F0704030504030204" pitchFamily="34" charset="0"/>
              <a:cs typeface="Gothic Uralic"/>
            </a:endParaRPr>
          </a:p>
        </p:txBody>
      </p:sp>
    </p:spTree>
    <p:extLst>
      <p:ext uri="{BB962C8B-B14F-4D97-AF65-F5344CB8AC3E}">
        <p14:creationId xmlns:p14="http://schemas.microsoft.com/office/powerpoint/2010/main" val="12562462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dirty="0" smtClean="0">
                <a:solidFill>
                  <a:srgbClr val="0070C0"/>
                </a:solidFill>
              </a:rPr>
              <a:t>Objectives</a:t>
            </a:r>
            <a:endParaRPr lang="en-US" b="1" dirty="0">
              <a:solidFill>
                <a:srgbClr val="0070C0"/>
              </a:solidFill>
            </a:endParaRPr>
          </a:p>
        </p:txBody>
      </p:sp>
      <p:sp>
        <p:nvSpPr>
          <p:cNvPr id="3" name="Content Placeholder 2"/>
          <p:cNvSpPr>
            <a:spLocks noGrp="1"/>
          </p:cNvSpPr>
          <p:nvPr>
            <p:ph idx="1"/>
          </p:nvPr>
        </p:nvSpPr>
        <p:spPr/>
        <p:txBody>
          <a:bodyPr/>
          <a:lstStyle/>
          <a:p>
            <a:r>
              <a:rPr lang="en-US" dirty="0" smtClean="0"/>
              <a:t>Heuristics</a:t>
            </a:r>
          </a:p>
          <a:p>
            <a:r>
              <a:rPr lang="en-US" dirty="0" smtClean="0"/>
              <a:t>Greedy Best first Search</a:t>
            </a:r>
          </a:p>
          <a:p>
            <a:r>
              <a:rPr lang="en-US" dirty="0" smtClean="0"/>
              <a:t>A*</a:t>
            </a:r>
            <a:endParaRPr lang="en-US" dirty="0"/>
          </a:p>
        </p:txBody>
      </p:sp>
    </p:spTree>
    <p:extLst>
      <p:ext uri="{BB962C8B-B14F-4D97-AF65-F5344CB8AC3E}">
        <p14:creationId xmlns:p14="http://schemas.microsoft.com/office/powerpoint/2010/main" val="25714317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Heuristic </a:t>
            </a:r>
            <a:r>
              <a:rPr lang="en-US" b="1" dirty="0">
                <a:solidFill>
                  <a:srgbClr val="0070C0"/>
                </a:solidFill>
              </a:rPr>
              <a:t>Search</a:t>
            </a:r>
            <a:endParaRPr lang="en-US" dirty="0"/>
          </a:p>
        </p:txBody>
      </p:sp>
      <p:sp>
        <p:nvSpPr>
          <p:cNvPr id="3" name="Content Placeholder 2"/>
          <p:cNvSpPr>
            <a:spLocks noGrp="1"/>
          </p:cNvSpPr>
          <p:nvPr>
            <p:ph idx="1"/>
          </p:nvPr>
        </p:nvSpPr>
        <p:spPr/>
        <p:txBody>
          <a:bodyPr/>
          <a:lstStyle/>
          <a:p>
            <a:r>
              <a:rPr lang="en-US" dirty="0"/>
              <a:t>Heuristic search is a type of problem-solving algorithm that uses heuristic functions to guide the exploration of possible solutions. </a:t>
            </a:r>
            <a:endParaRPr lang="en-US" dirty="0" smtClean="0"/>
          </a:p>
          <a:p>
            <a:r>
              <a:rPr lang="en-US" dirty="0" smtClean="0"/>
              <a:t>A </a:t>
            </a:r>
            <a:r>
              <a:rPr lang="en-US" dirty="0"/>
              <a:t>heuristic function is an approximation or estimation used as a way to find better, more efficient solutions faster than exhaustive searches through all possible combinations. </a:t>
            </a:r>
            <a:endParaRPr lang="en-US" dirty="0" smtClean="0"/>
          </a:p>
          <a:p>
            <a:r>
              <a:rPr lang="en-US" dirty="0" smtClean="0"/>
              <a:t>The </a:t>
            </a:r>
            <a:r>
              <a:rPr lang="en-US" dirty="0"/>
              <a:t>primary benefit of using heuristics in decision making and problem solving is its ability to significantly reduce computing power needed for complex problems by quickly focusing on promising areas within search spaces.</a:t>
            </a:r>
          </a:p>
        </p:txBody>
      </p:sp>
    </p:spTree>
    <p:extLst>
      <p:ext uri="{BB962C8B-B14F-4D97-AF65-F5344CB8AC3E}">
        <p14:creationId xmlns:p14="http://schemas.microsoft.com/office/powerpoint/2010/main" val="379680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latin typeface="+mn-lt"/>
              </a:rPr>
              <a:t>Search Heuristics</a:t>
            </a:r>
            <a:endParaRPr lang="en-US" b="1" dirty="0">
              <a:solidFill>
                <a:srgbClr val="0070C0"/>
              </a:solidFill>
              <a:latin typeface="+mn-lt"/>
            </a:endParaRPr>
          </a:p>
        </p:txBody>
      </p:sp>
      <p:sp>
        <p:nvSpPr>
          <p:cNvPr id="3" name="Content Placeholder 2"/>
          <p:cNvSpPr>
            <a:spLocks noGrp="1"/>
          </p:cNvSpPr>
          <p:nvPr>
            <p:ph idx="1"/>
          </p:nvPr>
        </p:nvSpPr>
        <p:spPr>
          <a:xfrm>
            <a:off x="735169" y="1651000"/>
            <a:ext cx="10515600" cy="4351338"/>
          </a:xfrm>
        </p:spPr>
        <p:txBody>
          <a:bodyPr/>
          <a:lstStyle/>
          <a:p>
            <a:pPr fontAlgn="base">
              <a:buFont typeface="Wingdings" panose="05000000000000000000" pitchFamily="2" charset="2"/>
              <a:buChar char="§"/>
            </a:pPr>
            <a:r>
              <a:rPr lang="en-US" dirty="0"/>
              <a:t>T</a:t>
            </a:r>
            <a:r>
              <a:rPr lang="en-US" dirty="0" smtClean="0"/>
              <a:t>he </a:t>
            </a:r>
            <a:r>
              <a:rPr lang="en-US" dirty="0"/>
              <a:t>algorithms have </a:t>
            </a:r>
            <a:r>
              <a:rPr lang="en-US" dirty="0" smtClean="0"/>
              <a:t>additional information along with the </a:t>
            </a:r>
            <a:r>
              <a:rPr lang="en-US" dirty="0"/>
              <a:t>goal state, which helps in more efficient searching. This information is obtained by something called a </a:t>
            </a:r>
            <a:r>
              <a:rPr lang="en-US" i="1" dirty="0" smtClean="0"/>
              <a:t>heuristic.</a:t>
            </a:r>
          </a:p>
          <a:p>
            <a:pPr fontAlgn="base">
              <a:buFont typeface="Wingdings" panose="05000000000000000000" pitchFamily="2" charset="2"/>
              <a:buChar char="§"/>
            </a:pPr>
            <a:r>
              <a:rPr lang="en-US" kern="0" dirty="0" smtClean="0">
                <a:solidFill>
                  <a:srgbClr val="0070C0"/>
                </a:solidFill>
                <a:latin typeface="Calibri" pitchFamily="34" charset="0"/>
              </a:rPr>
              <a:t>A </a:t>
            </a:r>
            <a:r>
              <a:rPr lang="en-US" kern="0" dirty="0">
                <a:solidFill>
                  <a:srgbClr val="0070C0"/>
                </a:solidFill>
                <a:latin typeface="Calibri" pitchFamily="34" charset="0"/>
              </a:rPr>
              <a:t>heuristic is</a:t>
            </a:r>
            <a:r>
              <a:rPr lang="en-US" kern="0" dirty="0">
                <a:latin typeface="Calibri" pitchFamily="34" charset="0"/>
              </a:rPr>
              <a:t>:</a:t>
            </a:r>
          </a:p>
          <a:p>
            <a:pPr marL="800021" lvl="1" indent="-342866">
              <a:spcBef>
                <a:spcPct val="20000"/>
              </a:spcBef>
              <a:buClr>
                <a:schemeClr val="accent2"/>
              </a:buClr>
              <a:buFont typeface="Wingdings" pitchFamily="2" charset="2"/>
              <a:buChar char="§"/>
              <a:defRPr/>
            </a:pPr>
            <a:r>
              <a:rPr lang="en-US" sz="2000" kern="0" dirty="0">
                <a:latin typeface="Calibri" pitchFamily="34" charset="0"/>
              </a:rPr>
              <a:t>A function that </a:t>
            </a:r>
            <a:r>
              <a:rPr lang="en-US" sz="2000" i="1" kern="0" dirty="0">
                <a:latin typeface="Calibri" pitchFamily="34" charset="0"/>
              </a:rPr>
              <a:t>estimates</a:t>
            </a:r>
            <a:r>
              <a:rPr lang="en-US" sz="2000" kern="0" dirty="0">
                <a:latin typeface="Calibri" pitchFamily="34" charset="0"/>
              </a:rPr>
              <a:t> how close a state is to a goal</a:t>
            </a:r>
          </a:p>
          <a:p>
            <a:pPr marL="800021" lvl="1" indent="-342866">
              <a:spcBef>
                <a:spcPct val="20000"/>
              </a:spcBef>
              <a:buClr>
                <a:schemeClr val="accent2"/>
              </a:buClr>
              <a:buFont typeface="Wingdings" pitchFamily="2" charset="2"/>
              <a:buChar char="§"/>
              <a:defRPr/>
            </a:pPr>
            <a:r>
              <a:rPr lang="en-US" sz="2000" kern="0" dirty="0">
                <a:latin typeface="Calibri" pitchFamily="34" charset="0"/>
              </a:rPr>
              <a:t>Designed for a particular search problem</a:t>
            </a:r>
          </a:p>
          <a:p>
            <a:pPr marL="800021" lvl="1" indent="-342866">
              <a:spcBef>
                <a:spcPct val="20000"/>
              </a:spcBef>
              <a:buClr>
                <a:schemeClr val="accent2"/>
              </a:buClr>
              <a:buFont typeface="Wingdings" pitchFamily="2" charset="2"/>
              <a:buChar char="§"/>
              <a:defRPr/>
            </a:pPr>
            <a:r>
              <a:rPr lang="en-US" sz="2000" kern="0" dirty="0">
                <a:latin typeface="Calibri" pitchFamily="34" charset="0"/>
              </a:rPr>
              <a:t>Examples: Manhattan distance, Euclidean distance for pathing</a:t>
            </a:r>
          </a:p>
          <a:p>
            <a:endParaRPr lang="en-US" dirty="0"/>
          </a:p>
        </p:txBody>
      </p:sp>
      <p:pic>
        <p:nvPicPr>
          <p:cNvPr id="4" name="Picture 2" descr="Z:\Shared with PC\smallMaze.png"/>
          <p:cNvPicPr>
            <a:picLocks noChangeAspect="1" noChangeArrowheads="1"/>
          </p:cNvPicPr>
          <p:nvPr/>
        </p:nvPicPr>
        <p:blipFill>
          <a:blip r:embed="rId2" cstate="print"/>
          <a:srcRect/>
          <a:stretch>
            <a:fillRect/>
          </a:stretch>
        </p:blipFill>
        <p:spPr bwMode="auto">
          <a:xfrm>
            <a:off x="6168980" y="4546242"/>
            <a:ext cx="5184820" cy="1970468"/>
          </a:xfrm>
          <a:prstGeom prst="rect">
            <a:avLst/>
          </a:prstGeom>
          <a:noFill/>
          <a:ln w="9525">
            <a:noFill/>
            <a:miter lim="800000"/>
            <a:headEnd/>
            <a:tailEnd/>
          </a:ln>
        </p:spPr>
      </p:pic>
      <p:grpSp>
        <p:nvGrpSpPr>
          <p:cNvPr id="5" name="Group 19"/>
          <p:cNvGrpSpPr>
            <a:grpSpLocks/>
          </p:cNvGrpSpPr>
          <p:nvPr/>
        </p:nvGrpSpPr>
        <p:grpSpPr bwMode="auto">
          <a:xfrm>
            <a:off x="6671257" y="5249069"/>
            <a:ext cx="2051497" cy="971427"/>
            <a:chOff x="1653989" y="4572529"/>
            <a:chExt cx="2978334" cy="1505542"/>
          </a:xfrm>
        </p:grpSpPr>
        <p:cxnSp>
          <p:nvCxnSpPr>
            <p:cNvPr id="6" name="Straight Arrow Connector 5"/>
            <p:cNvCxnSpPr/>
            <p:nvPr/>
          </p:nvCxnSpPr>
          <p:spPr>
            <a:xfrm flipH="1">
              <a:off x="1653989" y="4572529"/>
              <a:ext cx="2978334" cy="1505542"/>
            </a:xfrm>
            <a:prstGeom prst="straightConnector1">
              <a:avLst/>
            </a:prstGeom>
            <a:ln w="57150">
              <a:solidFill>
                <a:srgbClr val="C00000"/>
              </a:solidFill>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7" name="TextBox 17"/>
            <p:cNvSpPr txBox="1">
              <a:spLocks noChangeArrowheads="1"/>
            </p:cNvSpPr>
            <p:nvPr/>
          </p:nvSpPr>
          <p:spPr bwMode="auto">
            <a:xfrm>
              <a:off x="3016625" y="5356413"/>
              <a:ext cx="620787" cy="369088"/>
            </a:xfrm>
            <a:prstGeom prst="rect">
              <a:avLst/>
            </a:prstGeom>
            <a:noFill/>
            <a:ln w="9525">
              <a:noFill/>
              <a:miter lim="800000"/>
              <a:headEnd/>
              <a:tailEnd/>
            </a:ln>
          </p:spPr>
          <p:txBody>
            <a:bodyPr wrap="none">
              <a:spAutoFit/>
            </a:bodyPr>
            <a:lstStyle/>
            <a:p>
              <a:r>
                <a:rPr lang="en-US" b="1" dirty="0">
                  <a:solidFill>
                    <a:srgbClr val="C00000"/>
                  </a:solidFill>
                </a:rPr>
                <a:t>11.2</a:t>
              </a:r>
            </a:p>
          </p:txBody>
        </p:sp>
      </p:grpSp>
      <p:grpSp>
        <p:nvGrpSpPr>
          <p:cNvPr id="11" name="Group 18"/>
          <p:cNvGrpSpPr>
            <a:grpSpLocks/>
          </p:cNvGrpSpPr>
          <p:nvPr/>
        </p:nvGrpSpPr>
        <p:grpSpPr bwMode="auto">
          <a:xfrm>
            <a:off x="6581104" y="4881093"/>
            <a:ext cx="2141650" cy="1339404"/>
            <a:chOff x="1573306" y="4155142"/>
            <a:chExt cx="3025588" cy="1922929"/>
          </a:xfrm>
        </p:grpSpPr>
        <p:sp>
          <p:nvSpPr>
            <p:cNvPr id="12" name="Freeform 11"/>
            <p:cNvSpPr/>
            <p:nvPr/>
          </p:nvSpPr>
          <p:spPr>
            <a:xfrm>
              <a:off x="1573306" y="4578757"/>
              <a:ext cx="3025588" cy="1499314"/>
            </a:xfrm>
            <a:custGeom>
              <a:avLst/>
              <a:gdLst>
                <a:gd name="connsiteX0" fmla="*/ 3065929 w 3065929"/>
                <a:gd name="connsiteY0" fmla="*/ 13447 h 1479177"/>
                <a:gd name="connsiteX1" fmla="*/ 0 w 3065929"/>
                <a:gd name="connsiteY1" fmla="*/ 0 h 1479177"/>
                <a:gd name="connsiteX2" fmla="*/ 26894 w 3065929"/>
                <a:gd name="connsiteY2" fmla="*/ 1479177 h 1479177"/>
              </a:gdLst>
              <a:ahLst/>
              <a:cxnLst>
                <a:cxn ang="0">
                  <a:pos x="connsiteX0" y="connsiteY0"/>
                </a:cxn>
                <a:cxn ang="0">
                  <a:pos x="connsiteX1" y="connsiteY1"/>
                </a:cxn>
                <a:cxn ang="0">
                  <a:pos x="connsiteX2" y="connsiteY2"/>
                </a:cxn>
              </a:cxnLst>
              <a:rect l="l" t="t" r="r" b="b"/>
              <a:pathLst>
                <a:path w="3065929" h="1479177">
                  <a:moveTo>
                    <a:pt x="3065929" y="13447"/>
                  </a:moveTo>
                  <a:lnTo>
                    <a:pt x="0" y="0"/>
                  </a:lnTo>
                  <a:lnTo>
                    <a:pt x="26894" y="1479177"/>
                  </a:lnTo>
                </a:path>
              </a:pathLst>
            </a:custGeom>
            <a:ln w="57150">
              <a:solidFill>
                <a:srgbClr val="C00000"/>
              </a:solidFill>
              <a:headEnd type="none" w="med" len="med"/>
              <a:tailEnd type="triangle" w="med" len="med"/>
            </a:ln>
          </p:spPr>
          <p:style>
            <a:lnRef idx="1">
              <a:schemeClr val="dk1"/>
            </a:lnRef>
            <a:fillRef idx="0">
              <a:schemeClr val="dk1"/>
            </a:fillRef>
            <a:effectRef idx="0">
              <a:schemeClr val="dk1"/>
            </a:effectRef>
            <a:fontRef idx="minor">
              <a:schemeClr val="tx1"/>
            </a:fontRef>
          </p:style>
          <p:txBody>
            <a:bodyPr anchor="ctr"/>
            <a:lstStyle/>
            <a:p>
              <a:pPr algn="ctr">
                <a:defRPr/>
              </a:pPr>
              <a:endParaRPr lang="en-US"/>
            </a:p>
          </p:txBody>
        </p:sp>
        <p:sp>
          <p:nvSpPr>
            <p:cNvPr id="13" name="TextBox 15"/>
            <p:cNvSpPr txBox="1">
              <a:spLocks noChangeArrowheads="1"/>
            </p:cNvSpPr>
            <p:nvPr/>
          </p:nvSpPr>
          <p:spPr bwMode="auto">
            <a:xfrm>
              <a:off x="2164976" y="4155142"/>
              <a:ext cx="441119" cy="369117"/>
            </a:xfrm>
            <a:prstGeom prst="rect">
              <a:avLst/>
            </a:prstGeom>
            <a:noFill/>
            <a:ln w="9525">
              <a:noFill/>
              <a:miter lim="800000"/>
              <a:headEnd/>
              <a:tailEnd/>
            </a:ln>
          </p:spPr>
          <p:txBody>
            <a:bodyPr wrap="none">
              <a:spAutoFit/>
            </a:bodyPr>
            <a:lstStyle/>
            <a:p>
              <a:r>
                <a:rPr lang="en-US" b="1" dirty="0">
                  <a:solidFill>
                    <a:srgbClr val="C00000"/>
                  </a:solidFill>
                </a:rPr>
                <a:t>10</a:t>
              </a:r>
            </a:p>
          </p:txBody>
        </p:sp>
        <p:sp>
          <p:nvSpPr>
            <p:cNvPr id="14" name="TextBox 16"/>
            <p:cNvSpPr txBox="1">
              <a:spLocks noChangeArrowheads="1"/>
            </p:cNvSpPr>
            <p:nvPr/>
          </p:nvSpPr>
          <p:spPr bwMode="auto">
            <a:xfrm>
              <a:off x="1591236" y="4953001"/>
              <a:ext cx="312887" cy="369117"/>
            </a:xfrm>
            <a:prstGeom prst="rect">
              <a:avLst/>
            </a:prstGeom>
            <a:noFill/>
            <a:ln w="9525">
              <a:noFill/>
              <a:miter lim="800000"/>
              <a:headEnd/>
              <a:tailEnd/>
            </a:ln>
          </p:spPr>
          <p:txBody>
            <a:bodyPr wrap="none">
              <a:spAutoFit/>
            </a:bodyPr>
            <a:lstStyle/>
            <a:p>
              <a:r>
                <a:rPr lang="en-US" b="1" dirty="0">
                  <a:solidFill>
                    <a:srgbClr val="C00000"/>
                  </a:solidFill>
                </a:rPr>
                <a:t>5</a:t>
              </a:r>
            </a:p>
          </p:txBody>
        </p:sp>
      </p:grpSp>
    </p:spTree>
    <p:extLst>
      <p:ext uri="{BB962C8B-B14F-4D97-AF65-F5344CB8AC3E}">
        <p14:creationId xmlns:p14="http://schemas.microsoft.com/office/powerpoint/2010/main" val="3301928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Greedy </a:t>
            </a:r>
            <a:r>
              <a:rPr lang="en-US" b="1" dirty="0" smtClean="0">
                <a:solidFill>
                  <a:srgbClr val="0070C0"/>
                </a:solidFill>
              </a:rPr>
              <a:t>Best First Search</a:t>
            </a:r>
            <a:r>
              <a:rPr lang="en-US" b="1" dirty="0">
                <a:solidFill>
                  <a:srgbClr val="0070C0"/>
                </a:solidFill>
              </a:rPr>
              <a:t/>
            </a:r>
            <a:br>
              <a:rPr lang="en-US" b="1" dirty="0">
                <a:solidFill>
                  <a:srgbClr val="0070C0"/>
                </a:solidFill>
              </a:rPr>
            </a:br>
            <a:endParaRPr lang="en-US" dirty="0">
              <a:solidFill>
                <a:srgbClr val="0070C0"/>
              </a:solidFill>
            </a:endParaRPr>
          </a:p>
        </p:txBody>
      </p:sp>
      <p:sp>
        <p:nvSpPr>
          <p:cNvPr id="4" name="Rectangle 1"/>
          <p:cNvSpPr>
            <a:spLocks noGrp="1" noChangeArrowheads="1"/>
          </p:cNvSpPr>
          <p:nvPr>
            <p:ph idx="1"/>
          </p:nvPr>
        </p:nvSpPr>
        <p:spPr bwMode="auto">
          <a:xfrm>
            <a:off x="156379" y="1230770"/>
            <a:ext cx="11434607" cy="33239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Roboto"/>
              </a:rPr>
              <a:t>In greedy search, we expand the node closest to the goal node. The “closeness” is estimated by a heuristic </a:t>
            </a:r>
            <a:r>
              <a:rPr kumimoji="0" lang="en-US" altLang="en-US" sz="2400" b="0" i="0" u="none" strike="noStrike" cap="none" normalizeH="0" baseline="0" dirty="0" smtClean="0">
                <a:ln>
                  <a:noFill/>
                </a:ln>
                <a:solidFill>
                  <a:schemeClr val="tx1"/>
                </a:solidFill>
                <a:effectLst/>
                <a:latin typeface="Consolas" panose="020B0609020204030204" pitchFamily="49" charset="0"/>
                <a:cs typeface="Consolas" panose="020B0609020204030204" pitchFamily="49" charset="0"/>
              </a:rPr>
              <a:t>h(x) </a:t>
            </a:r>
            <a:r>
              <a:rPr kumimoji="0" lang="en-US" altLang="en-US" sz="2400" b="0" i="0" u="none" strike="noStrike" cap="none" normalizeH="0" baseline="0" dirty="0" smtClean="0">
                <a:ln>
                  <a:noFill/>
                </a:ln>
                <a:solidFill>
                  <a:schemeClr val="tx1"/>
                </a:solidFill>
                <a:effectLst/>
                <a:latin typeface="Roboto"/>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0070C0"/>
                </a:solidFill>
                <a:effectLst/>
                <a:latin typeface="Roboto"/>
              </a:rPr>
              <a:t>Heuristic</a:t>
            </a:r>
            <a:r>
              <a:rPr kumimoji="0" lang="en-US" altLang="en-US" sz="2400" b="1" i="0" u="none" strike="noStrike" cap="none" normalizeH="0" baseline="0" dirty="0" smtClean="0">
                <a:ln>
                  <a:noFill/>
                </a:ln>
                <a:solidFill>
                  <a:schemeClr val="tx1"/>
                </a:solidFill>
                <a:effectLst/>
                <a:latin typeface="Roboto"/>
              </a:rPr>
              <a:t>: </a:t>
            </a:r>
            <a:r>
              <a:rPr kumimoji="0" lang="en-US" altLang="en-US" sz="2400" b="0" i="0" u="none" strike="noStrike" cap="none" normalizeH="0" baseline="0" dirty="0" smtClean="0">
                <a:ln>
                  <a:noFill/>
                </a:ln>
                <a:solidFill>
                  <a:schemeClr val="tx1"/>
                </a:solidFill>
                <a:effectLst/>
                <a:latin typeface="Roboto"/>
              </a:rPr>
              <a:t>A heuristic </a:t>
            </a:r>
            <a:r>
              <a:rPr kumimoji="0" lang="en-US" altLang="en-US" sz="2400" b="0" i="0" u="none" strike="noStrike" cap="none" normalizeH="0" baseline="0" dirty="0" smtClean="0">
                <a:ln>
                  <a:noFill/>
                </a:ln>
                <a:solidFill>
                  <a:schemeClr val="tx1"/>
                </a:solidFill>
                <a:effectLst/>
                <a:latin typeface="Consolas" panose="020B0609020204030204" pitchFamily="49" charset="0"/>
                <a:cs typeface="Consolas" panose="020B0609020204030204" pitchFamily="49" charset="0"/>
              </a:rPr>
              <a:t>h </a:t>
            </a:r>
            <a:r>
              <a:rPr kumimoji="0" lang="en-US" altLang="en-US" sz="2400" b="0" i="0" u="none" strike="noStrike" cap="none" normalizeH="0" baseline="0" dirty="0" smtClean="0">
                <a:ln>
                  <a:noFill/>
                </a:ln>
                <a:solidFill>
                  <a:schemeClr val="tx1"/>
                </a:solidFill>
                <a:effectLst/>
                <a:latin typeface="Roboto"/>
              </a:rPr>
              <a:t>is defined as-</a:t>
            </a:r>
            <a:br>
              <a:rPr kumimoji="0" lang="en-US" altLang="en-US" sz="2400" b="0" i="0" u="none" strike="noStrike" cap="none" normalizeH="0" baseline="0" dirty="0" smtClean="0">
                <a:ln>
                  <a:noFill/>
                </a:ln>
                <a:solidFill>
                  <a:schemeClr val="tx1"/>
                </a:solidFill>
                <a:effectLst/>
                <a:latin typeface="Roboto"/>
              </a:rPr>
            </a:br>
            <a:r>
              <a:rPr kumimoji="0" lang="en-US" altLang="en-US" sz="2400" b="0" i="0" u="none" strike="noStrike" cap="none" normalizeH="0" baseline="0" dirty="0" smtClean="0">
                <a:ln>
                  <a:noFill/>
                </a:ln>
                <a:solidFill>
                  <a:schemeClr val="tx1"/>
                </a:solidFill>
                <a:effectLst/>
                <a:latin typeface="Consolas" panose="020B0609020204030204" pitchFamily="49" charset="0"/>
                <a:cs typeface="Consolas" panose="020B0609020204030204" pitchFamily="49" charset="0"/>
              </a:rPr>
              <a:t>h(x) = </a:t>
            </a:r>
            <a:r>
              <a:rPr kumimoji="0" lang="en-US" altLang="en-US" sz="2400" b="0" i="0" u="none" strike="noStrike" cap="none" normalizeH="0" baseline="0" dirty="0" smtClean="0">
                <a:ln>
                  <a:noFill/>
                </a:ln>
                <a:solidFill>
                  <a:schemeClr val="tx1"/>
                </a:solidFill>
                <a:effectLst/>
                <a:latin typeface="Roboto"/>
              </a:rPr>
              <a:t>Estimate of distance of node </a:t>
            </a:r>
            <a:r>
              <a:rPr kumimoji="0" lang="en-US" altLang="en-US" sz="2400" b="0" i="0" u="none" strike="noStrike" cap="none" normalizeH="0" baseline="0" dirty="0" smtClean="0">
                <a:ln>
                  <a:noFill/>
                </a:ln>
                <a:solidFill>
                  <a:schemeClr val="tx1"/>
                </a:solidFill>
                <a:effectLst/>
                <a:latin typeface="Consolas" panose="020B0609020204030204" pitchFamily="49" charset="0"/>
                <a:cs typeface="Consolas" panose="020B0609020204030204" pitchFamily="49" charset="0"/>
              </a:rPr>
              <a:t>x </a:t>
            </a:r>
            <a:r>
              <a:rPr kumimoji="0" lang="en-US" altLang="en-US" sz="2400" b="0" i="0" u="none" strike="noStrike" cap="none" normalizeH="0" baseline="0" dirty="0" smtClean="0">
                <a:ln>
                  <a:noFill/>
                </a:ln>
                <a:solidFill>
                  <a:schemeClr val="tx1"/>
                </a:solidFill>
                <a:effectLst/>
                <a:latin typeface="Roboto"/>
              </a:rPr>
              <a:t>from the goal node.</a:t>
            </a:r>
            <a:br>
              <a:rPr kumimoji="0" lang="en-US" altLang="en-US" sz="2400" b="0" i="0" u="none" strike="noStrike" cap="none" normalizeH="0" baseline="0" dirty="0" smtClean="0">
                <a:ln>
                  <a:noFill/>
                </a:ln>
                <a:solidFill>
                  <a:schemeClr val="tx1"/>
                </a:solidFill>
                <a:effectLst/>
                <a:latin typeface="Roboto"/>
              </a:rPr>
            </a:br>
            <a:r>
              <a:rPr kumimoji="0" lang="en-US" altLang="en-US" sz="2400" b="0" i="0" u="none" strike="noStrike" cap="none" normalizeH="0" baseline="0" dirty="0" smtClean="0">
                <a:ln>
                  <a:noFill/>
                </a:ln>
                <a:solidFill>
                  <a:schemeClr val="tx1"/>
                </a:solidFill>
                <a:effectLst/>
                <a:latin typeface="Roboto"/>
              </a:rPr>
              <a:t>Lower the value of </a:t>
            </a:r>
            <a:r>
              <a:rPr kumimoji="0" lang="en-US" altLang="en-US" sz="2400" b="0" i="0" u="none" strike="noStrike" cap="none" normalizeH="0" baseline="0" dirty="0" smtClean="0">
                <a:ln>
                  <a:noFill/>
                </a:ln>
                <a:solidFill>
                  <a:schemeClr val="tx1"/>
                </a:solidFill>
                <a:effectLst/>
                <a:latin typeface="Consolas" panose="020B0609020204030204" pitchFamily="49" charset="0"/>
                <a:cs typeface="Consolas" panose="020B0609020204030204" pitchFamily="49" charset="0"/>
              </a:rPr>
              <a:t>h(x)</a:t>
            </a:r>
            <a:r>
              <a:rPr kumimoji="0" lang="en-US" altLang="en-US" sz="2400" b="0" i="0" u="none" strike="noStrike" cap="none" normalizeH="0" baseline="0" dirty="0" smtClean="0">
                <a:ln>
                  <a:noFill/>
                </a:ln>
                <a:solidFill>
                  <a:schemeClr val="tx1"/>
                </a:solidFill>
                <a:effectLst/>
                <a:latin typeface="Roboto"/>
              </a:rPr>
              <a:t>, closer is the node from the goal.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0070C0"/>
                </a:solidFill>
                <a:effectLst/>
                <a:latin typeface="Roboto"/>
              </a:rPr>
              <a:t>Strategy</a:t>
            </a:r>
            <a:r>
              <a:rPr kumimoji="0" lang="en-US" altLang="en-US" sz="2400" b="1" i="0" u="none" strike="noStrike" cap="none" normalizeH="0" baseline="0" dirty="0" smtClean="0">
                <a:ln>
                  <a:noFill/>
                </a:ln>
                <a:solidFill>
                  <a:schemeClr val="tx1"/>
                </a:solidFill>
                <a:effectLst/>
                <a:latin typeface="Roboto"/>
              </a:rPr>
              <a:t>: </a:t>
            </a:r>
            <a:r>
              <a:rPr kumimoji="0" lang="en-US" altLang="en-US" sz="2400" b="0" i="0" u="none" strike="noStrike" cap="none" normalizeH="0" baseline="0" dirty="0" smtClean="0">
                <a:ln>
                  <a:noFill/>
                </a:ln>
                <a:solidFill>
                  <a:schemeClr val="tx1"/>
                </a:solidFill>
                <a:effectLst/>
                <a:latin typeface="Roboto"/>
              </a:rPr>
              <a:t>Expand the node closest to the goal state, </a:t>
            </a:r>
            <a:r>
              <a:rPr kumimoji="0" lang="en-US" altLang="en-US" sz="2400" b="0" i="1" u="none" strike="noStrike" cap="none" normalizeH="0" baseline="0" dirty="0" smtClean="0">
                <a:ln>
                  <a:noFill/>
                </a:ln>
                <a:solidFill>
                  <a:schemeClr val="tx1"/>
                </a:solidFill>
                <a:effectLst/>
                <a:latin typeface="Roboto"/>
              </a:rPr>
              <a:t>i.e.</a:t>
            </a:r>
            <a:r>
              <a:rPr kumimoji="0" lang="en-US" altLang="en-US" sz="2400" b="0" i="0" u="none" strike="noStrike" cap="none" normalizeH="0" baseline="0" dirty="0" smtClean="0">
                <a:ln>
                  <a:noFill/>
                </a:ln>
                <a:solidFill>
                  <a:schemeClr val="tx1"/>
                </a:solidFill>
                <a:effectLst/>
                <a:latin typeface="Roboto"/>
              </a:rPr>
              <a:t> expand the node with lower </a:t>
            </a:r>
            <a:r>
              <a:rPr kumimoji="0" lang="en-US" altLang="en-US" sz="2400" b="0" i="0" u="none" strike="noStrike" cap="none" normalizeH="0" baseline="0" dirty="0" smtClean="0">
                <a:ln>
                  <a:noFill/>
                </a:ln>
                <a:solidFill>
                  <a:schemeClr val="tx1"/>
                </a:solidFill>
                <a:effectLst/>
                <a:latin typeface="Consolas" panose="020B0609020204030204" pitchFamily="49" charset="0"/>
                <a:cs typeface="Consolas" panose="020B0609020204030204" pitchFamily="49" charset="0"/>
              </a:rPr>
              <a:t>h</a:t>
            </a:r>
            <a:r>
              <a:rPr kumimoji="0" lang="en-US" altLang="en-US" sz="2400" b="0" i="0" u="none" strike="noStrike" cap="none" normalizeH="0" baseline="0" dirty="0" smtClean="0">
                <a:ln>
                  <a:noFill/>
                </a:ln>
                <a:solidFill>
                  <a:schemeClr val="tx1"/>
                </a:solidFill>
                <a:effectLst/>
                <a:latin typeface="Roboto"/>
              </a:rPr>
              <a:t> value.</a:t>
            </a:r>
            <a:endParaRPr kumimoji="0" lang="en-US" altLang="en-US" sz="24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2520787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0731"/>
            <a:ext cx="10515600" cy="1325563"/>
          </a:xfrm>
        </p:spPr>
        <p:txBody>
          <a:bodyPr>
            <a:normAutofit fontScale="90000"/>
          </a:bodyPr>
          <a:lstStyle/>
          <a:p>
            <a:pPr fontAlgn="base"/>
            <a:r>
              <a:rPr lang="en-US" b="1" dirty="0">
                <a:solidFill>
                  <a:srgbClr val="0070C0"/>
                </a:solidFill>
                <a:latin typeface="+mn-lt"/>
              </a:rPr>
              <a:t>Example:</a:t>
            </a:r>
            <a:br>
              <a:rPr lang="en-US" b="1" dirty="0">
                <a:solidFill>
                  <a:srgbClr val="0070C0"/>
                </a:solidFill>
                <a:latin typeface="+mn-lt"/>
              </a:rPr>
            </a:br>
            <a:r>
              <a:rPr lang="en-US" b="1" dirty="0" smtClean="0">
                <a:solidFill>
                  <a:srgbClr val="0070C0"/>
                </a:solidFill>
                <a:latin typeface="+mn-lt"/>
              </a:rPr>
              <a:t/>
            </a:r>
            <a:br>
              <a:rPr lang="en-US" b="1" dirty="0" smtClean="0">
                <a:solidFill>
                  <a:srgbClr val="0070C0"/>
                </a:solidFill>
                <a:latin typeface="+mn-lt"/>
              </a:rPr>
            </a:br>
            <a:endParaRPr lang="en-US" b="1" dirty="0">
              <a:solidFill>
                <a:srgbClr val="0070C0"/>
              </a:solidFill>
              <a:latin typeface="+mn-lt"/>
            </a:endParaRPr>
          </a:p>
        </p:txBody>
      </p:sp>
      <p:sp>
        <p:nvSpPr>
          <p:cNvPr id="4" name="Rectangle 1"/>
          <p:cNvSpPr>
            <a:spLocks noGrp="1" noChangeArrowheads="1"/>
          </p:cNvSpPr>
          <p:nvPr>
            <p:ph idx="1"/>
          </p:nvPr>
        </p:nvSpPr>
        <p:spPr bwMode="auto">
          <a:xfrm>
            <a:off x="838200" y="963512"/>
            <a:ext cx="5823582"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mn-lt"/>
              </a:rPr>
              <a:t>Find the path from </a:t>
            </a:r>
            <a:r>
              <a:rPr kumimoji="0" lang="en-US" altLang="en-US" sz="2400" b="0" i="0" u="none" strike="noStrike" cap="none" normalizeH="0" baseline="0" dirty="0" smtClean="0">
                <a:ln>
                  <a:noFill/>
                </a:ln>
                <a:solidFill>
                  <a:schemeClr val="tx1"/>
                </a:solidFill>
                <a:effectLst/>
                <a:latin typeface="+mn-lt"/>
                <a:cs typeface="Consolas" panose="020B0609020204030204" pitchFamily="49" charset="0"/>
              </a:rPr>
              <a:t>S</a:t>
            </a:r>
            <a:r>
              <a:rPr kumimoji="0" lang="en-US" altLang="en-US" sz="2400" b="0" i="0" u="none" strike="noStrike" cap="none" normalizeH="0" baseline="0" dirty="0" smtClean="0">
                <a:ln>
                  <a:noFill/>
                </a:ln>
                <a:solidFill>
                  <a:schemeClr val="tx1"/>
                </a:solidFill>
                <a:effectLst/>
                <a:latin typeface="+mn-lt"/>
              </a:rPr>
              <a:t> to </a:t>
            </a:r>
            <a:r>
              <a:rPr kumimoji="0" lang="en-US" altLang="en-US" sz="2400" b="0" i="0" u="none" strike="noStrike" cap="none" normalizeH="0" baseline="0" dirty="0" smtClean="0">
                <a:ln>
                  <a:noFill/>
                </a:ln>
                <a:solidFill>
                  <a:schemeClr val="tx1"/>
                </a:solidFill>
                <a:effectLst/>
                <a:latin typeface="+mn-lt"/>
                <a:cs typeface="Consolas" panose="020B0609020204030204" pitchFamily="49" charset="0"/>
              </a:rPr>
              <a:t>G</a:t>
            </a:r>
            <a:r>
              <a:rPr kumimoji="0" lang="en-US" altLang="en-US" sz="2400" b="0" i="0" u="none" strike="noStrike" cap="none" normalizeH="0" baseline="0" dirty="0" smtClean="0">
                <a:ln>
                  <a:noFill/>
                </a:ln>
                <a:solidFill>
                  <a:schemeClr val="tx1"/>
                </a:solidFill>
                <a:effectLst/>
                <a:latin typeface="+mn-lt"/>
              </a:rPr>
              <a:t> using greedy search.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2390" y="197699"/>
            <a:ext cx="4161905" cy="6362707"/>
          </a:xfrm>
          <a:prstGeom prst="rect">
            <a:avLst/>
          </a:prstGeom>
        </p:spPr>
      </p:pic>
      <p:sp>
        <p:nvSpPr>
          <p:cNvPr id="7" name="Rectangle 6"/>
          <p:cNvSpPr/>
          <p:nvPr/>
        </p:nvSpPr>
        <p:spPr>
          <a:xfrm>
            <a:off x="284202" y="5254865"/>
            <a:ext cx="1107996" cy="369332"/>
          </a:xfrm>
          <a:prstGeom prst="rect">
            <a:avLst/>
          </a:prstGeom>
        </p:spPr>
        <p:txBody>
          <a:bodyPr wrap="none">
            <a:spAutoFit/>
          </a:bodyPr>
          <a:lstStyle/>
          <a:p>
            <a:r>
              <a:rPr lang="en-US" b="1" i="0" dirty="0" smtClean="0">
                <a:effectLst/>
                <a:latin typeface="Roboto"/>
              </a:rPr>
              <a:t>Solution</a:t>
            </a:r>
            <a:endParaRPr lang="en-US" dirty="0"/>
          </a:p>
        </p:txBody>
      </p:sp>
      <p:sp>
        <p:nvSpPr>
          <p:cNvPr id="8" name="Rectangle 2"/>
          <p:cNvSpPr>
            <a:spLocks noChangeArrowheads="1"/>
          </p:cNvSpPr>
          <p:nvPr/>
        </p:nvSpPr>
        <p:spPr bwMode="auto">
          <a:xfrm>
            <a:off x="734962" y="5624197"/>
            <a:ext cx="8898436" cy="9233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mn-lt"/>
              </a:rPr>
              <a:t>Starting from </a:t>
            </a:r>
            <a:r>
              <a:rPr kumimoji="0" lang="en-US" altLang="en-US" sz="2000" b="0" i="0" u="none" strike="noStrike" cap="none" normalizeH="0" baseline="0" dirty="0" smtClean="0">
                <a:ln>
                  <a:noFill/>
                </a:ln>
                <a:solidFill>
                  <a:srgbClr val="0070C0"/>
                </a:solidFill>
                <a:effectLst/>
                <a:latin typeface="+mn-lt"/>
                <a:cs typeface="Consolas" panose="020B0609020204030204" pitchFamily="49" charset="0"/>
              </a:rPr>
              <a:t>S</a:t>
            </a:r>
            <a:r>
              <a:rPr kumimoji="0" lang="en-US" altLang="en-US" sz="2000" b="0" i="0" u="none" strike="noStrike" cap="none" normalizeH="0" baseline="0" dirty="0" smtClean="0">
                <a:ln>
                  <a:noFill/>
                </a:ln>
                <a:solidFill>
                  <a:schemeClr val="tx1"/>
                </a:solidFill>
                <a:effectLst/>
                <a:latin typeface="+mn-lt"/>
              </a:rPr>
              <a:t>, we can traverse to </a:t>
            </a:r>
            <a:r>
              <a:rPr kumimoji="0" lang="en-US" altLang="en-US" sz="2000" b="0" i="0" u="none" strike="noStrike" cap="none" normalizeH="0" baseline="0" dirty="0" smtClean="0">
                <a:ln>
                  <a:noFill/>
                </a:ln>
                <a:solidFill>
                  <a:schemeClr val="tx1"/>
                </a:solidFill>
                <a:effectLst/>
                <a:latin typeface="+mn-lt"/>
                <a:cs typeface="Consolas" panose="020B0609020204030204" pitchFamily="49" charset="0"/>
              </a:rPr>
              <a:t>A(h=9)</a:t>
            </a:r>
            <a:r>
              <a:rPr kumimoji="0" lang="en-US" altLang="en-US" sz="2000" b="0" i="0" u="none" strike="noStrike" cap="none" normalizeH="0" baseline="0" dirty="0" smtClean="0">
                <a:ln>
                  <a:noFill/>
                </a:ln>
                <a:solidFill>
                  <a:schemeClr val="tx1"/>
                </a:solidFill>
                <a:effectLst/>
                <a:latin typeface="+mn-lt"/>
              </a:rPr>
              <a:t> or </a:t>
            </a:r>
            <a:r>
              <a:rPr kumimoji="0" lang="en-US" altLang="en-US" sz="2000" b="0" i="0" u="none" strike="noStrike" cap="none" normalizeH="0" baseline="0" dirty="0" smtClean="0">
                <a:ln>
                  <a:noFill/>
                </a:ln>
                <a:solidFill>
                  <a:schemeClr val="tx1"/>
                </a:solidFill>
                <a:effectLst/>
                <a:latin typeface="+mn-lt"/>
                <a:cs typeface="Consolas" panose="020B0609020204030204" pitchFamily="49" charset="0"/>
              </a:rPr>
              <a:t>D(h=5)</a:t>
            </a:r>
            <a:r>
              <a:rPr kumimoji="0" lang="en-US" altLang="en-US" sz="2000" b="0" i="0" u="none" strike="noStrike" cap="none" normalizeH="0" baseline="0" dirty="0" smtClean="0">
                <a:ln>
                  <a:noFill/>
                </a:ln>
                <a:solidFill>
                  <a:schemeClr val="tx1"/>
                </a:solidFill>
                <a:effectLst/>
                <a:latin typeface="+mn-lt"/>
              </a:rPr>
              <a:t>. We choose </a:t>
            </a:r>
            <a:r>
              <a:rPr kumimoji="0" lang="en-US" altLang="en-US" sz="2000" b="0" i="0" u="none" strike="noStrike" cap="none" normalizeH="0" baseline="0" dirty="0" smtClean="0">
                <a:ln>
                  <a:noFill/>
                </a:ln>
                <a:solidFill>
                  <a:schemeClr val="tx1"/>
                </a:solidFill>
                <a:effectLst/>
                <a:latin typeface="+mn-lt"/>
                <a:cs typeface="Consolas" panose="020B0609020204030204" pitchFamily="49" charset="0"/>
              </a:rPr>
              <a:t>D</a:t>
            </a:r>
            <a:r>
              <a:rPr kumimoji="0" lang="en-US" altLang="en-US" sz="2000" b="0" i="0" u="none" strike="noStrike" cap="none" normalizeH="0" baseline="0" dirty="0" smtClean="0">
                <a:ln>
                  <a:noFill/>
                </a:ln>
                <a:solidFill>
                  <a:schemeClr val="tx1"/>
                </a:solidFill>
                <a:effectLst/>
                <a:latin typeface="+mn-lt"/>
              </a:rPr>
              <a:t>, as it has the lower heuristic cost. Now from </a:t>
            </a:r>
            <a:r>
              <a:rPr kumimoji="0" lang="en-US" altLang="en-US" sz="2000" b="0" i="0" u="none" strike="noStrike" cap="none" normalizeH="0" baseline="0" dirty="0" smtClean="0">
                <a:ln>
                  <a:noFill/>
                </a:ln>
                <a:solidFill>
                  <a:schemeClr val="tx1"/>
                </a:solidFill>
                <a:effectLst/>
                <a:latin typeface="+mn-lt"/>
                <a:cs typeface="Consolas" panose="020B0609020204030204" pitchFamily="49" charset="0"/>
              </a:rPr>
              <a:t>D</a:t>
            </a:r>
            <a:r>
              <a:rPr kumimoji="0" lang="en-US" altLang="en-US" sz="2000" b="0" i="0" u="none" strike="noStrike" cap="none" normalizeH="0" baseline="0" dirty="0" smtClean="0">
                <a:ln>
                  <a:noFill/>
                </a:ln>
                <a:solidFill>
                  <a:schemeClr val="tx1"/>
                </a:solidFill>
                <a:effectLst/>
                <a:latin typeface="+mn-lt"/>
              </a:rPr>
              <a:t>, we can move to </a:t>
            </a:r>
            <a:r>
              <a:rPr kumimoji="0" lang="en-US" altLang="en-US" sz="2000" b="0" i="0" u="none" strike="noStrike" cap="none" normalizeH="0" baseline="0" dirty="0" smtClean="0">
                <a:ln>
                  <a:noFill/>
                </a:ln>
                <a:solidFill>
                  <a:schemeClr val="tx1"/>
                </a:solidFill>
                <a:effectLst/>
                <a:latin typeface="+mn-lt"/>
                <a:cs typeface="Consolas" panose="020B0609020204030204" pitchFamily="49" charset="0"/>
              </a:rPr>
              <a:t>B(h=4)</a:t>
            </a:r>
            <a:r>
              <a:rPr kumimoji="0" lang="en-US" altLang="en-US" sz="2000" b="0" i="0" u="none" strike="noStrike" cap="none" normalizeH="0" baseline="0" dirty="0" smtClean="0">
                <a:ln>
                  <a:noFill/>
                </a:ln>
                <a:solidFill>
                  <a:schemeClr val="tx1"/>
                </a:solidFill>
                <a:effectLst/>
                <a:latin typeface="+mn-lt"/>
              </a:rPr>
              <a:t> or </a:t>
            </a:r>
            <a:r>
              <a:rPr kumimoji="0" lang="en-US" altLang="en-US" sz="2000" b="0" i="0" u="none" strike="noStrike" cap="none" normalizeH="0" baseline="0" dirty="0" smtClean="0">
                <a:ln>
                  <a:noFill/>
                </a:ln>
                <a:solidFill>
                  <a:schemeClr val="tx1"/>
                </a:solidFill>
                <a:effectLst/>
                <a:latin typeface="+mn-lt"/>
                <a:cs typeface="Consolas" panose="020B0609020204030204" pitchFamily="49" charset="0"/>
              </a:rPr>
              <a:t>E(h=3)</a:t>
            </a:r>
            <a:r>
              <a:rPr kumimoji="0" lang="en-US" altLang="en-US" sz="2000" b="0" i="0" u="none" strike="noStrike" cap="none" normalizeH="0" baseline="0" dirty="0" smtClean="0">
                <a:ln>
                  <a:noFill/>
                </a:ln>
                <a:solidFill>
                  <a:schemeClr val="tx1"/>
                </a:solidFill>
                <a:effectLst/>
                <a:latin typeface="+mn-lt"/>
              </a:rPr>
              <a:t>. We choose </a:t>
            </a:r>
            <a:r>
              <a:rPr kumimoji="0" lang="en-US" altLang="en-US" sz="2000" b="0" i="0" u="none" strike="noStrike" cap="none" normalizeH="0" baseline="0" dirty="0" smtClean="0">
                <a:ln>
                  <a:noFill/>
                </a:ln>
                <a:solidFill>
                  <a:schemeClr val="tx1"/>
                </a:solidFill>
                <a:effectLst/>
                <a:latin typeface="+mn-lt"/>
                <a:cs typeface="Consolas" panose="020B0609020204030204" pitchFamily="49" charset="0"/>
              </a:rPr>
              <a:t>E</a:t>
            </a:r>
            <a:r>
              <a:rPr kumimoji="0" lang="en-US" altLang="en-US" sz="2000" b="0" i="0" u="none" strike="noStrike" cap="none" normalizeH="0" baseline="0" dirty="0" smtClean="0">
                <a:ln>
                  <a:noFill/>
                </a:ln>
                <a:solidFill>
                  <a:schemeClr val="tx1"/>
                </a:solidFill>
                <a:effectLst/>
                <a:latin typeface="+mn-lt"/>
              </a:rPr>
              <a:t> with lower heuristic cost. Finally, from </a:t>
            </a:r>
            <a:r>
              <a:rPr kumimoji="0" lang="en-US" altLang="en-US" sz="2000" b="0" i="0" u="none" strike="noStrike" cap="none" normalizeH="0" baseline="0" dirty="0" smtClean="0">
                <a:ln>
                  <a:noFill/>
                </a:ln>
                <a:solidFill>
                  <a:schemeClr val="tx1"/>
                </a:solidFill>
                <a:effectLst/>
                <a:latin typeface="+mn-lt"/>
                <a:cs typeface="Consolas" panose="020B0609020204030204" pitchFamily="49" charset="0"/>
              </a:rPr>
              <a:t>E</a:t>
            </a:r>
            <a:r>
              <a:rPr kumimoji="0" lang="en-US" altLang="en-US" sz="2000" b="0" i="0" u="none" strike="noStrike" cap="none" normalizeH="0" baseline="0" dirty="0" smtClean="0">
                <a:ln>
                  <a:noFill/>
                </a:ln>
                <a:solidFill>
                  <a:schemeClr val="tx1"/>
                </a:solidFill>
                <a:effectLst/>
                <a:latin typeface="+mn-lt"/>
              </a:rPr>
              <a:t>, we go to </a:t>
            </a:r>
            <a:r>
              <a:rPr kumimoji="0" lang="en-US" altLang="en-US" sz="2000" b="0" i="0" u="none" strike="noStrike" cap="none" normalizeH="0" baseline="0" dirty="0" smtClean="0">
                <a:ln>
                  <a:noFill/>
                </a:ln>
                <a:solidFill>
                  <a:schemeClr val="tx1"/>
                </a:solidFill>
                <a:effectLst/>
                <a:latin typeface="+mn-lt"/>
                <a:cs typeface="Consolas" panose="020B0609020204030204" pitchFamily="49" charset="0"/>
              </a:rPr>
              <a:t>G(h=0)</a:t>
            </a:r>
            <a:r>
              <a:rPr kumimoji="0" lang="en-US" altLang="en-US" sz="2000" b="0" i="0" u="none" strike="noStrike" cap="none" normalizeH="0" baseline="0" dirty="0" smtClean="0">
                <a:ln>
                  <a:noFill/>
                </a:ln>
                <a:solidFill>
                  <a:schemeClr val="tx1"/>
                </a:solidFill>
                <a:effectLst/>
                <a:latin typeface="+mn-lt"/>
              </a:rPr>
              <a:t>. </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112" y="1479569"/>
            <a:ext cx="5589229" cy="3628571"/>
          </a:xfrm>
          <a:prstGeom prst="rect">
            <a:avLst/>
          </a:prstGeom>
        </p:spPr>
      </p:pic>
      <p:sp>
        <p:nvSpPr>
          <p:cNvPr id="10" name="Right Arrow 9"/>
          <p:cNvSpPr/>
          <p:nvPr/>
        </p:nvSpPr>
        <p:spPr>
          <a:xfrm>
            <a:off x="5962918" y="3335628"/>
            <a:ext cx="553792" cy="437882"/>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1" name="Rectangle 10"/>
          <p:cNvSpPr/>
          <p:nvPr/>
        </p:nvSpPr>
        <p:spPr>
          <a:xfrm>
            <a:off x="9155817" y="6432095"/>
            <a:ext cx="2210862" cy="369332"/>
          </a:xfrm>
          <a:prstGeom prst="rect">
            <a:avLst/>
          </a:prstGeom>
        </p:spPr>
        <p:txBody>
          <a:bodyPr wrap="none">
            <a:spAutoFit/>
          </a:bodyPr>
          <a:lstStyle/>
          <a:p>
            <a:r>
              <a:rPr lang="en-US" dirty="0">
                <a:solidFill>
                  <a:srgbClr val="FF0000"/>
                </a:solidFill>
                <a:latin typeface="Consolas" panose="020B0609020204030204" pitchFamily="49" charset="0"/>
              </a:rPr>
              <a:t>S -&gt; D -&gt; E -&gt; G</a:t>
            </a:r>
            <a:endParaRPr lang="en-US" dirty="0">
              <a:solidFill>
                <a:srgbClr val="FF0000"/>
              </a:solidFill>
            </a:endParaRPr>
          </a:p>
        </p:txBody>
      </p:sp>
      <p:sp>
        <p:nvSpPr>
          <p:cNvPr id="12" name="Rectangle 11"/>
          <p:cNvSpPr/>
          <p:nvPr/>
        </p:nvSpPr>
        <p:spPr>
          <a:xfrm>
            <a:off x="8387630" y="6432095"/>
            <a:ext cx="761747" cy="369332"/>
          </a:xfrm>
          <a:prstGeom prst="rect">
            <a:avLst/>
          </a:prstGeom>
        </p:spPr>
        <p:txBody>
          <a:bodyPr wrap="none">
            <a:spAutoFit/>
          </a:bodyPr>
          <a:lstStyle/>
          <a:p>
            <a:r>
              <a:rPr lang="en-US" b="1" dirty="0">
                <a:latin typeface="Roboto"/>
              </a:rPr>
              <a:t>Path:</a:t>
            </a:r>
            <a:endParaRPr lang="en-US" dirty="0"/>
          </a:p>
        </p:txBody>
      </p:sp>
    </p:spTree>
    <p:extLst>
      <p:ext uri="{BB962C8B-B14F-4D97-AF65-F5344CB8AC3E}">
        <p14:creationId xmlns:p14="http://schemas.microsoft.com/office/powerpoint/2010/main" val="25432123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637"/>
            <a:ext cx="10515600" cy="1325563"/>
          </a:xfrm>
        </p:spPr>
        <p:txBody>
          <a:bodyPr/>
          <a:lstStyle/>
          <a:p>
            <a:r>
              <a:rPr lang="en-US" b="1" dirty="0" smtClean="0">
                <a:solidFill>
                  <a:srgbClr val="0070C0"/>
                </a:solidFill>
                <a:latin typeface="+mn-lt"/>
              </a:rPr>
              <a:t>Travel Sales Man Problem using Greedy Search</a:t>
            </a:r>
            <a:endParaRPr lang="en-US" b="1" dirty="0">
              <a:solidFill>
                <a:srgbClr val="0070C0"/>
              </a:solidFill>
              <a:latin typeface="+mn-lt"/>
            </a:endParaRPr>
          </a:p>
        </p:txBody>
      </p:sp>
      <p:pic>
        <p:nvPicPr>
          <p:cNvPr id="4" name="Picture 4"/>
          <p:cNvPicPr>
            <a:picLocks noChangeAspect="1" noChangeArrowheads="1"/>
          </p:cNvPicPr>
          <p:nvPr/>
        </p:nvPicPr>
        <p:blipFill>
          <a:blip r:embed="rId2" cstate="print"/>
          <a:srcRect/>
          <a:stretch>
            <a:fillRect/>
          </a:stretch>
        </p:blipFill>
        <p:spPr bwMode="auto">
          <a:xfrm>
            <a:off x="1454675" y="1887973"/>
            <a:ext cx="8329612" cy="4090988"/>
          </a:xfrm>
          <a:prstGeom prst="rect">
            <a:avLst/>
          </a:prstGeom>
          <a:noFill/>
          <a:ln w="9525">
            <a:noFill/>
            <a:miter lim="800000"/>
            <a:headEnd/>
            <a:tailEnd/>
          </a:ln>
        </p:spPr>
      </p:pic>
      <p:sp>
        <p:nvSpPr>
          <p:cNvPr id="5" name="Rounded Rectangle 4"/>
          <p:cNvSpPr/>
          <p:nvPr/>
        </p:nvSpPr>
        <p:spPr>
          <a:xfrm>
            <a:off x="8003784" y="1799867"/>
            <a:ext cx="1905000" cy="4267200"/>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682811" y="6090522"/>
            <a:ext cx="546945" cy="369332"/>
          </a:xfrm>
          <a:prstGeom prst="rect">
            <a:avLst/>
          </a:prstGeom>
        </p:spPr>
        <p:txBody>
          <a:bodyPr wrap="none">
            <a:spAutoFit/>
          </a:bodyPr>
          <a:lstStyle/>
          <a:p>
            <a:pPr>
              <a:spcBef>
                <a:spcPct val="50000"/>
              </a:spcBef>
            </a:pPr>
            <a:r>
              <a:rPr lang="en-US" dirty="0">
                <a:solidFill>
                  <a:srgbClr val="C00000"/>
                </a:solidFill>
              </a:rPr>
              <a:t>h(x)</a:t>
            </a:r>
          </a:p>
        </p:txBody>
      </p:sp>
      <p:sp>
        <p:nvSpPr>
          <p:cNvPr id="10" name="Oval 9"/>
          <p:cNvSpPr/>
          <p:nvPr/>
        </p:nvSpPr>
        <p:spPr>
          <a:xfrm>
            <a:off x="1865291" y="2998631"/>
            <a:ext cx="167425" cy="14166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11" name="Oval 10"/>
          <p:cNvSpPr/>
          <p:nvPr/>
        </p:nvSpPr>
        <p:spPr>
          <a:xfrm>
            <a:off x="5586210" y="4958365"/>
            <a:ext cx="157767" cy="16742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cxnSp>
        <p:nvCxnSpPr>
          <p:cNvPr id="13" name="Curved Connector 12"/>
          <p:cNvCxnSpPr/>
          <p:nvPr/>
        </p:nvCxnSpPr>
        <p:spPr>
          <a:xfrm rot="16200000" flipH="1">
            <a:off x="2810373" y="2241721"/>
            <a:ext cx="2022699" cy="3578013"/>
          </a:xfrm>
          <a:prstGeom prst="curvedConnector4">
            <a:avLst>
              <a:gd name="adj1" fmla="val -11302"/>
              <a:gd name="adj2" fmla="val 50343"/>
            </a:avLst>
          </a:prstGeom>
          <a:ln w="38100">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2525023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latin typeface="+mn-lt"/>
              </a:rPr>
              <a:t>Greedy </a:t>
            </a:r>
            <a:r>
              <a:rPr lang="en-US" b="1" dirty="0" smtClean="0">
                <a:solidFill>
                  <a:srgbClr val="0070C0"/>
                </a:solidFill>
                <a:latin typeface="+mn-lt"/>
              </a:rPr>
              <a:t>Search……</a:t>
            </a:r>
            <a:endParaRPr lang="en-US" b="1" dirty="0">
              <a:latin typeface="+mn-lt"/>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21821" y="1550987"/>
            <a:ext cx="7263491" cy="4351338"/>
          </a:xfrm>
        </p:spPr>
      </p:pic>
      <p:pic>
        <p:nvPicPr>
          <p:cNvPr id="4" name="Picture 4"/>
          <p:cNvPicPr>
            <a:picLocks noChangeAspect="1" noChangeArrowheads="1"/>
          </p:cNvPicPr>
          <p:nvPr/>
        </p:nvPicPr>
        <p:blipFill>
          <a:blip r:embed="rId3" cstate="print">
            <a:clrChange>
              <a:clrFrom>
                <a:srgbClr val="FFFFFF"/>
              </a:clrFrom>
              <a:clrTo>
                <a:srgbClr val="FFFFFF">
                  <a:alpha val="0"/>
                </a:srgbClr>
              </a:clrTo>
            </a:clrChange>
          </a:blip>
          <a:srcRect r="21803"/>
          <a:stretch>
            <a:fillRect/>
          </a:stretch>
        </p:blipFill>
        <p:spPr bwMode="auto">
          <a:xfrm>
            <a:off x="5935964" y="180025"/>
            <a:ext cx="5690175" cy="3091667"/>
          </a:xfrm>
          <a:prstGeom prst="rect">
            <a:avLst/>
          </a:prstGeom>
          <a:noFill/>
          <a:ln w="9525">
            <a:noFill/>
            <a:miter lim="800000"/>
            <a:headEnd/>
            <a:tailEnd/>
          </a:ln>
        </p:spPr>
      </p:pic>
      <p:sp>
        <p:nvSpPr>
          <p:cNvPr id="6" name="Oval 5"/>
          <p:cNvSpPr/>
          <p:nvPr/>
        </p:nvSpPr>
        <p:spPr>
          <a:xfrm>
            <a:off x="1517561" y="2586507"/>
            <a:ext cx="167425" cy="14166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7" name="Oval 6"/>
          <p:cNvSpPr/>
          <p:nvPr/>
        </p:nvSpPr>
        <p:spPr>
          <a:xfrm>
            <a:off x="2959995" y="4003183"/>
            <a:ext cx="167425" cy="14166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8" name="Oval 7"/>
          <p:cNvSpPr/>
          <p:nvPr/>
        </p:nvSpPr>
        <p:spPr>
          <a:xfrm>
            <a:off x="5780466" y="4505460"/>
            <a:ext cx="167425" cy="14166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9" name="Oval 8"/>
          <p:cNvSpPr/>
          <p:nvPr/>
        </p:nvSpPr>
        <p:spPr>
          <a:xfrm>
            <a:off x="5188040" y="4994857"/>
            <a:ext cx="167425" cy="14166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10" name="Oval 9"/>
          <p:cNvSpPr/>
          <p:nvPr/>
        </p:nvSpPr>
        <p:spPr>
          <a:xfrm>
            <a:off x="6012287" y="5548648"/>
            <a:ext cx="167425" cy="14166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14" name="Rectangle 13"/>
          <p:cNvSpPr/>
          <p:nvPr/>
        </p:nvSpPr>
        <p:spPr>
          <a:xfrm>
            <a:off x="1012482" y="5907111"/>
            <a:ext cx="2797304" cy="424732"/>
          </a:xfrm>
          <a:prstGeom prst="rect">
            <a:avLst/>
          </a:prstGeom>
        </p:spPr>
        <p:txBody>
          <a:bodyPr wrap="none">
            <a:spAutoFit/>
          </a:bodyPr>
          <a:lstStyle/>
          <a:p>
            <a:pPr>
              <a:lnSpc>
                <a:spcPct val="90000"/>
              </a:lnSpc>
            </a:pPr>
            <a:r>
              <a:rPr lang="en-US" sz="2400" b="1" dirty="0">
                <a:solidFill>
                  <a:srgbClr val="0070C0"/>
                </a:solidFill>
              </a:rPr>
              <a:t>What can go wrong?</a:t>
            </a:r>
          </a:p>
        </p:txBody>
      </p:sp>
      <p:sp>
        <p:nvSpPr>
          <p:cNvPr id="3" name="TextBox 2"/>
          <p:cNvSpPr txBox="1"/>
          <p:nvPr/>
        </p:nvSpPr>
        <p:spPr>
          <a:xfrm>
            <a:off x="2509020" y="6331843"/>
            <a:ext cx="2601532" cy="646331"/>
          </a:xfrm>
          <a:prstGeom prst="rect">
            <a:avLst/>
          </a:prstGeom>
          <a:noFill/>
        </p:spPr>
        <p:txBody>
          <a:bodyPr wrap="square" rtlCol="0">
            <a:spAutoFit/>
          </a:bodyPr>
          <a:lstStyle/>
          <a:p>
            <a:r>
              <a:rPr lang="en-US" b="1" dirty="0" smtClean="0">
                <a:solidFill>
                  <a:srgbClr val="FF0000"/>
                </a:solidFill>
              </a:rPr>
              <a:t>Not optimal</a:t>
            </a:r>
          </a:p>
          <a:p>
            <a:endParaRPr lang="en-US" dirty="0"/>
          </a:p>
        </p:txBody>
      </p:sp>
    </p:spTree>
    <p:extLst>
      <p:ext uri="{BB962C8B-B14F-4D97-AF65-F5344CB8AC3E}">
        <p14:creationId xmlns:p14="http://schemas.microsoft.com/office/powerpoint/2010/main" val="633807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60046" y="5331853"/>
            <a:ext cx="5558307" cy="1201291"/>
          </a:xfrm>
        </p:spPr>
        <p:txBody>
          <a:bodyPr>
            <a:noAutofit/>
          </a:bodyPr>
          <a:lstStyle/>
          <a:p>
            <a:pPr algn="just"/>
            <a:r>
              <a:rPr lang="en-US" sz="1600" dirty="0" smtClean="0">
                <a:latin typeface="+mn-lt"/>
              </a:rPr>
              <a:t>Greedy </a:t>
            </a:r>
            <a:r>
              <a:rPr lang="en-US" sz="1600" dirty="0">
                <a:latin typeface="+mn-lt"/>
              </a:rPr>
              <a:t>search leads to a minimal cost search because no node off the solution path </a:t>
            </a:r>
            <a:r>
              <a:rPr lang="en-US" sz="1600" dirty="0" smtClean="0">
                <a:latin typeface="+mn-lt"/>
              </a:rPr>
              <a:t>is expanded</a:t>
            </a:r>
            <a:r>
              <a:rPr lang="en-US" sz="1600" dirty="0">
                <a:latin typeface="+mn-lt"/>
              </a:rPr>
              <a:t>. However, it does not find the optimal path: the path it found via Sibiu and </a:t>
            </a:r>
            <a:r>
              <a:rPr lang="en-US" sz="1600" dirty="0" err="1">
                <a:latin typeface="+mn-lt"/>
              </a:rPr>
              <a:t>Fagaras</a:t>
            </a:r>
            <a:r>
              <a:rPr lang="en-US" sz="1600" dirty="0">
                <a:latin typeface="+mn-lt"/>
              </a:rPr>
              <a:t> to Bucharest is </a:t>
            </a:r>
            <a:r>
              <a:rPr lang="en-US" sz="1600" dirty="0" smtClean="0">
                <a:latin typeface="+mn-lt"/>
              </a:rPr>
              <a:t>13 </a:t>
            </a:r>
            <a:r>
              <a:rPr lang="en-US" sz="1600" dirty="0">
                <a:latin typeface="+mn-lt"/>
              </a:rPr>
              <a:t>miles longer than the path through </a:t>
            </a:r>
            <a:r>
              <a:rPr lang="en-US" sz="1600" dirty="0" err="1">
                <a:latin typeface="+mn-lt"/>
              </a:rPr>
              <a:t>Pimnicu</a:t>
            </a:r>
            <a:r>
              <a:rPr lang="en-US" sz="1600" dirty="0">
                <a:latin typeface="+mn-lt"/>
              </a:rPr>
              <a:t> </a:t>
            </a:r>
            <a:r>
              <a:rPr lang="en-US" sz="1600" dirty="0" err="1">
                <a:latin typeface="+mn-lt"/>
              </a:rPr>
              <a:t>Vilcea</a:t>
            </a:r>
            <a:r>
              <a:rPr lang="en-US" sz="1600" dirty="0">
                <a:latin typeface="+mn-lt"/>
              </a:rPr>
              <a:t> and Pitesti.</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563495"/>
            <a:ext cx="10443693" cy="4351338"/>
          </a:xfrm>
        </p:spPr>
      </p:pic>
      <p:sp>
        <p:nvSpPr>
          <p:cNvPr id="5" name="TextBox 4"/>
          <p:cNvSpPr txBox="1"/>
          <p:nvPr/>
        </p:nvSpPr>
        <p:spPr>
          <a:xfrm>
            <a:off x="965915" y="5254580"/>
            <a:ext cx="3490175" cy="984885"/>
          </a:xfrm>
          <a:prstGeom prst="rect">
            <a:avLst/>
          </a:prstGeom>
          <a:noFill/>
        </p:spPr>
        <p:txBody>
          <a:bodyPr wrap="square" rtlCol="0">
            <a:spAutoFit/>
          </a:bodyPr>
          <a:lstStyle/>
          <a:p>
            <a:r>
              <a:rPr lang="en-US" sz="2000" b="1" dirty="0" smtClean="0">
                <a:solidFill>
                  <a:srgbClr val="FF0000"/>
                </a:solidFill>
              </a:rPr>
              <a:t>Red Path (GBF)=431</a:t>
            </a:r>
          </a:p>
          <a:p>
            <a:endParaRPr lang="en-US" dirty="0" smtClean="0"/>
          </a:p>
          <a:p>
            <a:r>
              <a:rPr lang="en-US" sz="2000" b="1" dirty="0" smtClean="0">
                <a:solidFill>
                  <a:srgbClr val="00B050"/>
                </a:solidFill>
              </a:rPr>
              <a:t>Green Path (UCS)= 418</a:t>
            </a:r>
            <a:endParaRPr lang="en-US" sz="2000" b="1" dirty="0">
              <a:solidFill>
                <a:srgbClr val="00B050"/>
              </a:solidFill>
            </a:endParaRPr>
          </a:p>
        </p:txBody>
      </p:sp>
      <p:cxnSp>
        <p:nvCxnSpPr>
          <p:cNvPr id="7" name="Curved Connector 6"/>
          <p:cNvCxnSpPr/>
          <p:nvPr/>
        </p:nvCxnSpPr>
        <p:spPr>
          <a:xfrm>
            <a:off x="1378039" y="1790163"/>
            <a:ext cx="4682007" cy="2150772"/>
          </a:xfrm>
          <a:prstGeom prst="curvedConnector3">
            <a:avLst>
              <a:gd name="adj1" fmla="val 79158"/>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Curved Connector 10"/>
          <p:cNvCxnSpPr/>
          <p:nvPr/>
        </p:nvCxnSpPr>
        <p:spPr>
          <a:xfrm>
            <a:off x="1493949" y="1841679"/>
            <a:ext cx="4566097" cy="2167642"/>
          </a:xfrm>
          <a:prstGeom prst="curvedConnector3">
            <a:avLst>
              <a:gd name="adj1" fmla="val 45487"/>
            </a:avLst>
          </a:prstGeom>
          <a:ln w="28575">
            <a:solidFill>
              <a:srgbClr val="00B050"/>
            </a:solidFill>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0143560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pic>
        <p:nvPicPr>
          <p:cNvPr id="4" name="Picture 3"/>
          <p:cNvPicPr>
            <a:picLocks noChangeAspect="1"/>
          </p:cNvPicPr>
          <p:nvPr/>
        </p:nvPicPr>
        <p:blipFill>
          <a:blip r:embed="rId2"/>
          <a:stretch>
            <a:fillRect/>
          </a:stretch>
        </p:blipFill>
        <p:spPr>
          <a:xfrm>
            <a:off x="3352800" y="733425"/>
            <a:ext cx="5486400" cy="5391150"/>
          </a:xfrm>
          <a:prstGeom prst="rect">
            <a:avLst/>
          </a:prstGeom>
        </p:spPr>
      </p:pic>
    </p:spTree>
    <p:extLst>
      <p:ext uri="{BB962C8B-B14F-4D97-AF65-F5344CB8AC3E}">
        <p14:creationId xmlns:p14="http://schemas.microsoft.com/office/powerpoint/2010/main" val="2150009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A* </a:t>
            </a:r>
            <a:r>
              <a:rPr lang="en-US" b="1" dirty="0" smtClean="0">
                <a:solidFill>
                  <a:srgbClr val="0070C0"/>
                </a:solidFill>
              </a:rPr>
              <a:t>Search</a:t>
            </a:r>
            <a:r>
              <a:rPr lang="en-US" b="1" dirty="0">
                <a:solidFill>
                  <a:srgbClr val="0070C0"/>
                </a:solidFill>
              </a:rPr>
              <a:t/>
            </a:r>
            <a:br>
              <a:rPr lang="en-US" b="1" dirty="0">
                <a:solidFill>
                  <a:srgbClr val="0070C0"/>
                </a:solidFill>
              </a:rPr>
            </a:br>
            <a:endParaRPr lang="en-US" dirty="0">
              <a:solidFill>
                <a:srgbClr val="0070C0"/>
              </a:solidFill>
            </a:endParaRPr>
          </a:p>
        </p:txBody>
      </p:sp>
      <p:sp>
        <p:nvSpPr>
          <p:cNvPr id="8" name="Rectangle 5"/>
          <p:cNvSpPr>
            <a:spLocks noChangeArrowheads="1"/>
          </p:cNvSpPr>
          <p:nvPr/>
        </p:nvSpPr>
        <p:spPr bwMode="auto">
          <a:xfrm>
            <a:off x="495080" y="1217478"/>
            <a:ext cx="10730754" cy="428425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smtClean="0">
                <a:ln>
                  <a:noFill/>
                </a:ln>
                <a:solidFill>
                  <a:schemeClr val="tx1"/>
                </a:solidFill>
                <a:effectLst/>
                <a:latin typeface="+mn-lt"/>
              </a:rPr>
              <a:t>A* Search, combines the strengths of </a:t>
            </a:r>
            <a:r>
              <a:rPr kumimoji="0" lang="en-US" altLang="en-US" sz="2400" b="0" i="0" u="none" strike="noStrike" cap="none" normalizeH="0" baseline="0" dirty="0" smtClean="0">
                <a:ln>
                  <a:noFill/>
                </a:ln>
                <a:solidFill>
                  <a:srgbClr val="0070C0"/>
                </a:solidFill>
                <a:effectLst/>
                <a:latin typeface="+mn-lt"/>
              </a:rPr>
              <a:t>uniform-cost search </a:t>
            </a:r>
            <a:r>
              <a:rPr kumimoji="0" lang="en-US" altLang="en-US" sz="2400" b="0" i="0" u="none" strike="noStrike" cap="none" normalizeH="0" baseline="0" dirty="0" smtClean="0">
                <a:ln>
                  <a:noFill/>
                </a:ln>
                <a:solidFill>
                  <a:schemeClr val="tx1"/>
                </a:solidFill>
                <a:effectLst/>
                <a:latin typeface="+mn-lt"/>
              </a:rPr>
              <a:t>and </a:t>
            </a:r>
            <a:r>
              <a:rPr kumimoji="0" lang="en-US" altLang="en-US" sz="2400" b="0" i="0" u="none" strike="noStrike" cap="none" normalizeH="0" baseline="0" dirty="0" smtClean="0">
                <a:ln>
                  <a:noFill/>
                </a:ln>
                <a:solidFill>
                  <a:srgbClr val="0070C0"/>
                </a:solidFill>
                <a:effectLst/>
                <a:latin typeface="+mn-lt"/>
              </a:rPr>
              <a:t>greedy search</a:t>
            </a:r>
            <a:r>
              <a:rPr kumimoji="0" lang="en-US" altLang="en-US" sz="2400" b="0" i="0" u="none" strike="noStrike" cap="none" normalizeH="0" baseline="0" dirty="0" smtClean="0">
                <a:ln>
                  <a:noFill/>
                </a:ln>
                <a:solidFill>
                  <a:schemeClr val="tx1"/>
                </a:solidFill>
                <a:effectLst/>
                <a:latin typeface="+mn-lt"/>
              </a:rPr>
              <a:t>. In this search, the </a:t>
            </a:r>
            <a:r>
              <a:rPr kumimoji="0" lang="en-US" altLang="en-US" sz="2400" i="1" u="none" strike="noStrike" cap="none" normalizeH="0" baseline="0" dirty="0" smtClean="0">
                <a:ln>
                  <a:noFill/>
                </a:ln>
                <a:solidFill>
                  <a:schemeClr val="tx1"/>
                </a:solidFill>
                <a:effectLst/>
                <a:latin typeface="+mn-lt"/>
              </a:rPr>
              <a:t>heuristic is the summation of the cost in UCS</a:t>
            </a:r>
            <a:r>
              <a:rPr kumimoji="0" lang="en-US" altLang="en-US" sz="2400" b="0" i="0" u="none" strike="noStrike" cap="none" normalizeH="0" baseline="0" dirty="0" smtClean="0">
                <a:ln>
                  <a:noFill/>
                </a:ln>
                <a:solidFill>
                  <a:schemeClr val="tx1"/>
                </a:solidFill>
                <a:effectLst/>
                <a:latin typeface="+mn-lt"/>
              </a:rPr>
              <a:t>, denoted by </a:t>
            </a:r>
            <a:r>
              <a:rPr kumimoji="0" lang="en-US" altLang="en-US" sz="2400" i="0" u="none" strike="noStrike" cap="none" normalizeH="0" baseline="0" dirty="0" smtClean="0">
                <a:ln>
                  <a:noFill/>
                </a:ln>
                <a:solidFill>
                  <a:srgbClr val="0070C0"/>
                </a:solidFill>
                <a:effectLst/>
                <a:latin typeface="+mn-lt"/>
                <a:cs typeface="Consolas" panose="020B0609020204030204" pitchFamily="49" charset="0"/>
              </a:rPr>
              <a:t>g(x)</a:t>
            </a:r>
            <a:r>
              <a:rPr kumimoji="0" lang="en-US" altLang="en-US" sz="2400" i="0" u="none" strike="noStrike" cap="none" normalizeH="0" baseline="0" dirty="0" smtClean="0">
                <a:ln>
                  <a:noFill/>
                </a:ln>
                <a:solidFill>
                  <a:srgbClr val="0070C0"/>
                </a:solidFill>
                <a:effectLst/>
                <a:latin typeface="+mn-lt"/>
              </a:rPr>
              <a:t>, </a:t>
            </a:r>
            <a:r>
              <a:rPr kumimoji="0" lang="en-US" altLang="en-US" sz="2400" b="0" i="0" u="none" strike="noStrike" cap="none" normalizeH="0" baseline="0" dirty="0" smtClean="0">
                <a:ln>
                  <a:noFill/>
                </a:ln>
                <a:solidFill>
                  <a:schemeClr val="tx1"/>
                </a:solidFill>
                <a:effectLst/>
                <a:latin typeface="+mn-lt"/>
              </a:rPr>
              <a:t>and the </a:t>
            </a:r>
            <a:r>
              <a:rPr kumimoji="0" lang="en-US" altLang="en-US" sz="2400" b="1" i="0" u="none" strike="noStrike" cap="none" normalizeH="0" baseline="0" dirty="0" smtClean="0">
                <a:ln>
                  <a:noFill/>
                </a:ln>
                <a:solidFill>
                  <a:schemeClr val="tx1"/>
                </a:solidFill>
                <a:effectLst/>
                <a:latin typeface="+mn-lt"/>
              </a:rPr>
              <a:t>cost in greedy search</a:t>
            </a:r>
            <a:r>
              <a:rPr kumimoji="0" lang="en-US" altLang="en-US" sz="2400" b="0" i="0" u="none" strike="noStrike" cap="none" normalizeH="0" baseline="0" dirty="0" smtClean="0">
                <a:ln>
                  <a:noFill/>
                </a:ln>
                <a:solidFill>
                  <a:schemeClr val="tx1"/>
                </a:solidFill>
                <a:effectLst/>
                <a:latin typeface="+mn-lt"/>
              </a:rPr>
              <a:t>, denoted by </a:t>
            </a:r>
            <a:r>
              <a:rPr kumimoji="0" lang="en-US" altLang="en-US" sz="2400" i="0" u="none" strike="noStrike" cap="none" normalizeH="0" baseline="0" dirty="0" smtClean="0">
                <a:ln>
                  <a:noFill/>
                </a:ln>
                <a:solidFill>
                  <a:srgbClr val="0070C0"/>
                </a:solidFill>
                <a:effectLst/>
                <a:latin typeface="+mn-lt"/>
                <a:cs typeface="Consolas" panose="020B0609020204030204" pitchFamily="49" charset="0"/>
              </a:rPr>
              <a:t>h(x)</a:t>
            </a:r>
            <a:r>
              <a:rPr kumimoji="0" lang="en-US" altLang="en-US" sz="2400" i="0" u="none" strike="noStrike" cap="none" normalizeH="0" baseline="0" dirty="0" smtClean="0">
                <a:ln>
                  <a:noFill/>
                </a:ln>
                <a:solidFill>
                  <a:srgbClr val="0070C0"/>
                </a:solidFill>
                <a:effectLst/>
                <a:latin typeface="+mn-lt"/>
              </a:rPr>
              <a:t>. </a:t>
            </a:r>
            <a:r>
              <a:rPr kumimoji="0" lang="en-US" altLang="en-US" sz="2400" b="0" i="0" u="none" strike="noStrike" cap="none" normalizeH="0" baseline="0" dirty="0" smtClean="0">
                <a:ln>
                  <a:noFill/>
                </a:ln>
                <a:solidFill>
                  <a:schemeClr val="tx1"/>
                </a:solidFill>
                <a:effectLst/>
                <a:latin typeface="+mn-lt"/>
              </a:rPr>
              <a:t>The </a:t>
            </a:r>
            <a:r>
              <a:rPr kumimoji="0" lang="en-US" altLang="en-US" sz="2400" b="0" i="1" u="none" strike="noStrike" cap="none" normalizeH="0" baseline="0" dirty="0" smtClean="0">
                <a:ln>
                  <a:noFill/>
                </a:ln>
                <a:solidFill>
                  <a:schemeClr val="tx1"/>
                </a:solidFill>
                <a:effectLst/>
                <a:latin typeface="+mn-lt"/>
              </a:rPr>
              <a:t>summed cost </a:t>
            </a:r>
            <a:r>
              <a:rPr kumimoji="0" lang="en-US" altLang="en-US" sz="2400" b="0" i="0" u="none" strike="noStrike" cap="none" normalizeH="0" baseline="0" dirty="0" smtClean="0">
                <a:ln>
                  <a:noFill/>
                </a:ln>
                <a:solidFill>
                  <a:schemeClr val="tx1"/>
                </a:solidFill>
                <a:effectLst/>
                <a:latin typeface="+mn-lt"/>
              </a:rPr>
              <a:t>is denoted by </a:t>
            </a:r>
            <a:r>
              <a:rPr kumimoji="0" lang="en-US" altLang="en-US" sz="2400" b="0" i="0" u="none" strike="noStrike" cap="none" normalizeH="0" baseline="0" dirty="0" smtClean="0">
                <a:ln>
                  <a:noFill/>
                </a:ln>
                <a:solidFill>
                  <a:srgbClr val="0070C0"/>
                </a:solidFill>
                <a:effectLst/>
                <a:latin typeface="+mn-lt"/>
                <a:cs typeface="Consolas" panose="020B0609020204030204" pitchFamily="49" charset="0"/>
              </a:rPr>
              <a:t>f(x)</a:t>
            </a:r>
            <a:r>
              <a:rPr kumimoji="0" lang="en-US" altLang="en-US" sz="2400" b="0" i="0" u="none" strike="noStrike" cap="none" normalizeH="0" baseline="0" dirty="0" smtClean="0">
                <a:ln>
                  <a:noFill/>
                </a:ln>
                <a:solidFill>
                  <a:srgbClr val="0070C0"/>
                </a:solidFill>
                <a:effectLst/>
                <a:latin typeface="+mn-lt"/>
              </a:rPr>
              <a:t>.</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smtClean="0">
              <a:ln>
                <a:noFill/>
              </a:ln>
              <a:solidFill>
                <a:srgbClr val="0070C0"/>
              </a:solidFill>
              <a:effectLst/>
              <a:latin typeface="+mn-lt"/>
            </a:endParaRPr>
          </a:p>
          <a:p>
            <a:pPr marL="342900" lvl="0" indent="-342900">
              <a:buFont typeface="Wingdings" panose="05000000000000000000" pitchFamily="2" charset="2"/>
              <a:buChar char="§"/>
            </a:pPr>
            <a:r>
              <a:rPr kumimoji="0" lang="en-US" altLang="en-US" sz="2400" b="1" i="0" u="none" strike="noStrike" cap="none" normalizeH="0" baseline="0" dirty="0" smtClean="0">
                <a:ln>
                  <a:noFill/>
                </a:ln>
                <a:solidFill>
                  <a:srgbClr val="0070C0"/>
                </a:solidFill>
                <a:effectLst/>
                <a:latin typeface="+mn-lt"/>
              </a:rPr>
              <a:t>Heuristic</a:t>
            </a:r>
            <a:r>
              <a:rPr kumimoji="0" lang="en-US" altLang="en-US" sz="2400" b="1" i="0" u="none" strike="noStrike" cap="none" normalizeH="0" baseline="0" dirty="0" smtClean="0">
                <a:ln>
                  <a:noFill/>
                </a:ln>
                <a:solidFill>
                  <a:schemeClr val="tx1"/>
                </a:solidFill>
                <a:effectLst/>
                <a:latin typeface="+mn-lt"/>
              </a:rPr>
              <a:t>: </a:t>
            </a:r>
            <a:r>
              <a:rPr kumimoji="0" lang="en-US" altLang="en-US" sz="2400" b="0" i="0" u="none" strike="noStrike" cap="none" normalizeH="0" baseline="0" dirty="0" smtClean="0">
                <a:ln>
                  <a:noFill/>
                </a:ln>
                <a:solidFill>
                  <a:schemeClr val="tx1"/>
                </a:solidFill>
                <a:effectLst/>
                <a:latin typeface="+mn-lt"/>
              </a:rPr>
              <a:t>The following points should be noted w.r.t heuristics in A*</a:t>
            </a:r>
            <a:r>
              <a:rPr lang="en-US" altLang="en-US" sz="2400" dirty="0"/>
              <a:t> search.</a:t>
            </a:r>
            <a:endParaRPr kumimoji="0" lang="en-US" altLang="en-US" sz="2400" b="0" i="0" u="none" strike="noStrike" cap="none" normalizeH="0" baseline="0" dirty="0" smtClean="0">
              <a:ln>
                <a:noFill/>
              </a:ln>
              <a:solidFill>
                <a:schemeClr val="tx1"/>
              </a:solidFill>
              <a:effectLst/>
              <a:latin typeface="+mn-l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en-US" altLang="en-US" sz="2400" dirty="0">
              <a:latin typeface="+mn-lt"/>
            </a:endParaRPr>
          </a:p>
          <a:p>
            <a:pPr marL="342900" indent="-342900">
              <a:buFont typeface="Wingdings" panose="05000000000000000000" pitchFamily="2" charset="2"/>
              <a:buChar char="§"/>
            </a:pPr>
            <a:r>
              <a:rPr lang="en-US" sz="2400" dirty="0">
                <a:solidFill>
                  <a:srgbClr val="0070C0"/>
                </a:solidFill>
                <a:latin typeface="Calibri"/>
                <a:cs typeface="Calibri"/>
              </a:rPr>
              <a:t>A* Search </a:t>
            </a:r>
            <a:r>
              <a:rPr lang="en-US" sz="2400" dirty="0">
                <a:latin typeface="Calibri"/>
                <a:cs typeface="Calibri"/>
              </a:rPr>
              <a:t>orders by the sum: </a:t>
            </a:r>
            <a:r>
              <a:rPr lang="en-US" sz="2400" b="1" dirty="0" smtClean="0">
                <a:solidFill>
                  <a:srgbClr val="FF0000"/>
                </a:solidFill>
                <a:latin typeface="Calibri"/>
                <a:cs typeface="Calibri"/>
              </a:rPr>
              <a:t>F(N) = G(N) + H(N)</a:t>
            </a:r>
            <a:endParaRPr lang="en-US" sz="2400" b="1" i="1" dirty="0" smtClean="0">
              <a:solidFill>
                <a:srgbClr val="FF0000"/>
              </a:solidFill>
              <a:latin typeface="Calibri"/>
              <a:cs typeface="Calibri"/>
            </a:endParaRPr>
          </a:p>
          <a:p>
            <a:pPr marR="0" lvl="0" algn="l" defTabSz="914400" rtl="0" eaLnBrk="0" fontAlgn="base" latinLnBrk="0" hangingPunct="0">
              <a:lnSpc>
                <a:spcPct val="100000"/>
              </a:lnSpc>
              <a:spcBef>
                <a:spcPct val="0"/>
              </a:spcBef>
              <a:spcAft>
                <a:spcPct val="0"/>
              </a:spcAft>
              <a:buClrTx/>
              <a:buSzTx/>
              <a:tabLst/>
            </a:pPr>
            <a:endParaRPr lang="en-US" altLang="en-US" sz="2400" dirty="0" smtClean="0">
              <a:latin typeface="+mn-lt"/>
            </a:endParaRPr>
          </a:p>
          <a:p>
            <a:pPr eaLnBrk="1" hangingPunct="1">
              <a:lnSpc>
                <a:spcPct val="90000"/>
              </a:lnSpc>
            </a:pPr>
            <a:r>
              <a:rPr lang="en-US" sz="2400" dirty="0">
                <a:solidFill>
                  <a:srgbClr val="3333FF"/>
                </a:solidFill>
                <a:latin typeface="Calibri"/>
                <a:cs typeface="Calibri"/>
              </a:rPr>
              <a:t>Uniform-cost</a:t>
            </a:r>
            <a:r>
              <a:rPr lang="en-US" sz="2400" dirty="0">
                <a:latin typeface="Calibri"/>
                <a:cs typeface="Calibri"/>
              </a:rPr>
              <a:t> orders by path cost, </a:t>
            </a:r>
            <a:endParaRPr lang="en-US" sz="2400" dirty="0" smtClean="0">
              <a:latin typeface="Calibri"/>
              <a:cs typeface="Calibri"/>
            </a:endParaRPr>
          </a:p>
          <a:p>
            <a:pPr eaLnBrk="1" hangingPunct="1">
              <a:lnSpc>
                <a:spcPct val="90000"/>
              </a:lnSpc>
            </a:pPr>
            <a:r>
              <a:rPr lang="en-US" sz="2400" dirty="0" smtClean="0">
                <a:latin typeface="Calibri"/>
                <a:cs typeface="Calibri"/>
              </a:rPr>
              <a:t>or </a:t>
            </a:r>
            <a:r>
              <a:rPr lang="en-US" sz="2400" i="1" dirty="0">
                <a:latin typeface="Calibri"/>
                <a:cs typeface="Calibri"/>
              </a:rPr>
              <a:t>backward cost  </a:t>
            </a:r>
            <a:r>
              <a:rPr lang="en-US" sz="2400" dirty="0">
                <a:latin typeface="Calibri"/>
                <a:cs typeface="Calibri"/>
              </a:rPr>
              <a:t>g(n)</a:t>
            </a:r>
          </a:p>
          <a:p>
            <a:pPr eaLnBrk="1" hangingPunct="1">
              <a:lnSpc>
                <a:spcPct val="90000"/>
              </a:lnSpc>
            </a:pPr>
            <a:r>
              <a:rPr lang="en-US" sz="2400" dirty="0">
                <a:solidFill>
                  <a:srgbClr val="CC0000"/>
                </a:solidFill>
                <a:latin typeface="Calibri"/>
                <a:cs typeface="Calibri"/>
              </a:rPr>
              <a:t>Greedy</a:t>
            </a:r>
            <a:r>
              <a:rPr lang="en-US" sz="2400" dirty="0">
                <a:latin typeface="Calibri"/>
                <a:cs typeface="Calibri"/>
              </a:rPr>
              <a:t> orders by goal proximity, </a:t>
            </a:r>
            <a:endParaRPr lang="en-US" sz="2400" dirty="0" smtClean="0">
              <a:latin typeface="Calibri"/>
              <a:cs typeface="Calibri"/>
            </a:endParaRPr>
          </a:p>
          <a:p>
            <a:pPr eaLnBrk="1" hangingPunct="1">
              <a:lnSpc>
                <a:spcPct val="90000"/>
              </a:lnSpc>
            </a:pPr>
            <a:r>
              <a:rPr lang="en-US" sz="2400" dirty="0" smtClean="0">
                <a:latin typeface="Calibri"/>
                <a:cs typeface="Calibri"/>
              </a:rPr>
              <a:t>or </a:t>
            </a:r>
            <a:r>
              <a:rPr lang="en-US" sz="2400" i="1" dirty="0">
                <a:latin typeface="Calibri"/>
                <a:cs typeface="Calibri"/>
              </a:rPr>
              <a:t>forward cost  </a:t>
            </a:r>
            <a:r>
              <a:rPr lang="en-US" sz="2400" dirty="0">
                <a:latin typeface="Calibri"/>
                <a:cs typeface="Calibri"/>
              </a:rPr>
              <a:t>h(n</a:t>
            </a:r>
            <a:r>
              <a:rPr lang="en-US" sz="2400" dirty="0" smtClean="0">
                <a:latin typeface="Calibri"/>
                <a:cs typeface="Calibri"/>
              </a:rPr>
              <a:t>)</a:t>
            </a:r>
            <a:endParaRPr lang="en-US" sz="2400" i="1" dirty="0">
              <a:latin typeface="Calibri"/>
              <a:cs typeface="Calibri"/>
            </a:endParaRPr>
          </a:p>
        </p:txBody>
      </p:sp>
      <p:sp>
        <p:nvSpPr>
          <p:cNvPr id="9" name="AutoShape 6" descr=" f(x) = g(x) + h(x) "/>
          <p:cNvSpPr>
            <a:spLocks noChangeAspect="1" noChangeArrowheads="1"/>
          </p:cNvSpPr>
          <p:nvPr/>
        </p:nvSpPr>
        <p:spPr bwMode="auto">
          <a:xfrm>
            <a:off x="5263683" y="1431925"/>
            <a:ext cx="1802431" cy="257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66129" y="4042953"/>
            <a:ext cx="7325826" cy="2487243"/>
          </a:xfrm>
          <a:prstGeom prst="rect">
            <a:avLst/>
          </a:prstGeom>
          <a:noFill/>
          <a:ln w="9525">
            <a:noFill/>
            <a:miter lim="800000"/>
            <a:headEnd/>
            <a:tailEnd/>
          </a:ln>
          <a:effectLst/>
        </p:spPr>
      </p:pic>
    </p:spTree>
    <p:extLst>
      <p:ext uri="{BB962C8B-B14F-4D97-AF65-F5344CB8AC3E}">
        <p14:creationId xmlns:p14="http://schemas.microsoft.com/office/powerpoint/2010/main" val="32533279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A* Search</a:t>
            </a:r>
            <a:br>
              <a:rPr lang="en-US" b="1" dirty="0">
                <a:solidFill>
                  <a:srgbClr val="0070C0"/>
                </a:solidFill>
              </a:rPr>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258952"/>
            <a:ext cx="10739907" cy="5489575"/>
          </a:xfrm>
        </p:spPr>
      </p:pic>
      <p:pic>
        <p:nvPicPr>
          <p:cNvPr id="5" name="Picture 4"/>
          <p:cNvPicPr>
            <a:picLocks noChangeAspect="1" noChangeArrowheads="1"/>
          </p:cNvPicPr>
          <p:nvPr/>
        </p:nvPicPr>
        <p:blipFill>
          <a:blip r:embed="rId3" cstate="print"/>
          <a:srcRect/>
          <a:stretch>
            <a:fillRect/>
          </a:stretch>
        </p:blipFill>
        <p:spPr bwMode="auto">
          <a:xfrm>
            <a:off x="6812923" y="0"/>
            <a:ext cx="5379078" cy="2704563"/>
          </a:xfrm>
          <a:prstGeom prst="rect">
            <a:avLst/>
          </a:prstGeom>
          <a:noFill/>
          <a:ln w="9525">
            <a:noFill/>
            <a:miter lim="800000"/>
            <a:headEnd/>
            <a:tailEnd/>
          </a:ln>
        </p:spPr>
      </p:pic>
      <p:sp>
        <p:nvSpPr>
          <p:cNvPr id="6" name="Oval 5"/>
          <p:cNvSpPr/>
          <p:nvPr/>
        </p:nvSpPr>
        <p:spPr>
          <a:xfrm>
            <a:off x="1607713" y="2290293"/>
            <a:ext cx="167425" cy="14166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7" name="Oval 6"/>
          <p:cNvSpPr/>
          <p:nvPr/>
        </p:nvSpPr>
        <p:spPr>
          <a:xfrm>
            <a:off x="4969099" y="3284111"/>
            <a:ext cx="167425" cy="14166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8" name="Oval 7"/>
          <p:cNvSpPr/>
          <p:nvPr/>
        </p:nvSpPr>
        <p:spPr>
          <a:xfrm>
            <a:off x="6789312" y="3932907"/>
            <a:ext cx="167425" cy="14166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9" name="Oval 8"/>
          <p:cNvSpPr/>
          <p:nvPr/>
        </p:nvSpPr>
        <p:spPr>
          <a:xfrm>
            <a:off x="7398913" y="4784501"/>
            <a:ext cx="167425" cy="14166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10" name="Oval 9"/>
          <p:cNvSpPr/>
          <p:nvPr/>
        </p:nvSpPr>
        <p:spPr>
          <a:xfrm>
            <a:off x="9193370" y="5432738"/>
            <a:ext cx="167425" cy="14166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11" name="Oval 10"/>
          <p:cNvSpPr/>
          <p:nvPr/>
        </p:nvSpPr>
        <p:spPr>
          <a:xfrm>
            <a:off x="9657009" y="6115318"/>
            <a:ext cx="167425" cy="14166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12" name="Oval 11"/>
          <p:cNvSpPr/>
          <p:nvPr/>
        </p:nvSpPr>
        <p:spPr>
          <a:xfrm>
            <a:off x="8676069" y="4007108"/>
            <a:ext cx="167425" cy="14166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0031556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Admissible Heuristics</a:t>
            </a:r>
          </a:p>
        </p:txBody>
      </p:sp>
      <p:sp>
        <p:nvSpPr>
          <p:cNvPr id="3" name="Content Placeholder 2"/>
          <p:cNvSpPr>
            <a:spLocks noGrp="1"/>
          </p:cNvSpPr>
          <p:nvPr>
            <p:ph idx="1"/>
          </p:nvPr>
        </p:nvSpPr>
        <p:spPr/>
        <p:txBody>
          <a:bodyPr/>
          <a:lstStyle/>
          <a:p>
            <a:r>
              <a:rPr lang="en-US" dirty="0"/>
              <a:t>A heuristic </a:t>
            </a:r>
            <a:r>
              <a:rPr lang="en-US" i="1" dirty="0">
                <a:solidFill>
                  <a:srgbClr val="C00000"/>
                </a:solidFill>
                <a:latin typeface="Times New Roman" pitchFamily="18" charset="0"/>
                <a:cs typeface="Times New Roman" pitchFamily="18" charset="0"/>
              </a:rPr>
              <a:t>h</a:t>
            </a:r>
            <a:r>
              <a:rPr lang="en-US" dirty="0"/>
              <a:t> is </a:t>
            </a:r>
            <a:r>
              <a:rPr lang="en-US" i="1" dirty="0">
                <a:solidFill>
                  <a:srgbClr val="C00000"/>
                </a:solidFill>
              </a:rPr>
              <a:t>admissible</a:t>
            </a:r>
            <a:r>
              <a:rPr lang="en-US" i="1" dirty="0"/>
              <a:t> </a:t>
            </a:r>
            <a:r>
              <a:rPr lang="en-US" dirty="0"/>
              <a:t>(optimistic) if:</a:t>
            </a:r>
          </a:p>
          <a:p>
            <a:pPr lvl="1"/>
            <a:endParaRPr lang="en-US" dirty="0"/>
          </a:p>
          <a:p>
            <a:pPr lvl="1"/>
            <a:endParaRPr lang="en-US" dirty="0"/>
          </a:p>
          <a:p>
            <a:pPr>
              <a:buNone/>
            </a:pPr>
            <a:r>
              <a:rPr lang="en-US" dirty="0"/>
              <a:t>	where               is the true cost to a nearest goal</a:t>
            </a:r>
          </a:p>
          <a:p>
            <a:pPr>
              <a:buNone/>
            </a:pPr>
            <a:endParaRPr lang="en-US" sz="1600" dirty="0"/>
          </a:p>
          <a:p>
            <a:pPr marL="0" indent="0">
              <a:buNone/>
            </a:pPr>
            <a:endParaRPr lang="en-US" dirty="0"/>
          </a:p>
        </p:txBody>
      </p:sp>
      <p:pic>
        <p:nvPicPr>
          <p:cNvPr id="4" name="Picture 3" descr="txp_fig"/>
          <p:cNvPicPr>
            <a:picLocks noChangeAspect="1"/>
          </p:cNvPicPr>
          <p:nvPr>
            <p:custDataLst>
              <p:tags r:id="rId1"/>
            </p:custDataLst>
          </p:nvPr>
        </p:nvPicPr>
        <p:blipFill>
          <a:blip r:embed="rId4" cstate="print"/>
          <a:stretch>
            <a:fillRect/>
          </a:stretch>
        </p:blipFill>
        <p:spPr bwMode="auto">
          <a:xfrm>
            <a:off x="3750972" y="2468450"/>
            <a:ext cx="3130785" cy="403304"/>
          </a:xfrm>
          <a:prstGeom prst="rect">
            <a:avLst/>
          </a:prstGeom>
          <a:noFill/>
          <a:ln/>
          <a:effectLst/>
        </p:spPr>
      </p:pic>
      <p:pic>
        <p:nvPicPr>
          <p:cNvPr id="5" name="Picture 8" descr="txp_fig"/>
          <p:cNvPicPr>
            <a:picLocks noChangeAspect="1" noChangeArrowheads="1"/>
          </p:cNvPicPr>
          <p:nvPr>
            <p:custDataLst>
              <p:tags r:id="rId2"/>
            </p:custDataLst>
          </p:nvPr>
        </p:nvPicPr>
        <p:blipFill>
          <a:blip r:embed="rId5" cstate="print"/>
          <a:srcRect/>
          <a:stretch>
            <a:fillRect/>
          </a:stretch>
        </p:blipFill>
        <p:spPr bwMode="auto">
          <a:xfrm>
            <a:off x="2172237" y="3142758"/>
            <a:ext cx="979488" cy="403225"/>
          </a:xfrm>
          <a:prstGeom prst="rect">
            <a:avLst/>
          </a:prstGeom>
          <a:noFill/>
          <a:ln w="9525">
            <a:noFill/>
            <a:miter lim="800000"/>
            <a:headEnd/>
            <a:tailEnd/>
          </a:ln>
        </p:spPr>
      </p:pic>
    </p:spTree>
    <p:extLst>
      <p:ext uri="{BB962C8B-B14F-4D97-AF65-F5344CB8AC3E}">
        <p14:creationId xmlns:p14="http://schemas.microsoft.com/office/powerpoint/2010/main" val="2004166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A* Search</a:t>
            </a:r>
            <a:br>
              <a:rPr lang="en-US" b="1" dirty="0">
                <a:solidFill>
                  <a:srgbClr val="0070C0"/>
                </a:solidFill>
              </a:rPr>
            </a:b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4791" y="1130076"/>
            <a:ext cx="5509185" cy="3733333"/>
          </a:xfrm>
        </p:spPr>
      </p:pic>
      <p:sp>
        <p:nvSpPr>
          <p:cNvPr id="6" name="Rectangle 1"/>
          <p:cNvSpPr>
            <a:spLocks noChangeArrowheads="1"/>
          </p:cNvSpPr>
          <p:nvPr/>
        </p:nvSpPr>
        <p:spPr bwMode="auto">
          <a:xfrm>
            <a:off x="1308847" y="5926912"/>
            <a:ext cx="4787153" cy="6155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kumimoji="0" lang="en-US" altLang="en-US" sz="2000" b="1" i="0" u="none" strike="noStrike" cap="none" normalizeH="0" baseline="0" dirty="0" smtClean="0">
                <a:ln>
                  <a:noFill/>
                </a:ln>
                <a:solidFill>
                  <a:schemeClr val="tx1"/>
                </a:solidFill>
                <a:effectLst/>
                <a:latin typeface="Roboto"/>
              </a:rPr>
              <a:t>Path:</a:t>
            </a:r>
            <a:r>
              <a:rPr lang="en-US" altLang="en-US" sz="2000" dirty="0">
                <a:latin typeface="Roboto"/>
              </a:rPr>
              <a:t> </a:t>
            </a:r>
            <a:r>
              <a:rPr lang="en-US" altLang="en-US" sz="2000" b="1" dirty="0" smtClean="0">
                <a:solidFill>
                  <a:srgbClr val="FF0000"/>
                </a:solidFill>
                <a:latin typeface="Consolas" panose="020B0609020204030204" pitchFamily="49" charset="0"/>
                <a:cs typeface="Consolas" panose="020B0609020204030204" pitchFamily="49" charset="0"/>
              </a:rPr>
              <a:t>S </a:t>
            </a:r>
            <a:r>
              <a:rPr lang="en-US" altLang="en-US" sz="2000" b="1" dirty="0">
                <a:solidFill>
                  <a:srgbClr val="FF0000"/>
                </a:solidFill>
                <a:latin typeface="Consolas" panose="020B0609020204030204" pitchFamily="49" charset="0"/>
                <a:cs typeface="Consolas" panose="020B0609020204030204" pitchFamily="49" charset="0"/>
              </a:rPr>
              <a:t>-&gt; D -&gt; B -&gt; E -&gt; </a:t>
            </a:r>
            <a:r>
              <a:rPr lang="en-US" altLang="en-US" sz="2000" b="1" dirty="0" smtClean="0">
                <a:solidFill>
                  <a:srgbClr val="FF0000"/>
                </a:solidFill>
                <a:latin typeface="Consolas" panose="020B0609020204030204" pitchFamily="49" charset="0"/>
                <a:cs typeface="Consolas" panose="020B0609020204030204" pitchFamily="49" charset="0"/>
              </a:rPr>
              <a:t>G</a:t>
            </a:r>
          </a:p>
          <a:p>
            <a:pPr lvl="0"/>
            <a:r>
              <a:rPr kumimoji="0" lang="en-US" altLang="en-US" sz="2000" b="1" i="0" u="none" strike="noStrike" cap="none" normalizeH="0" baseline="0" dirty="0" smtClean="0">
                <a:ln>
                  <a:noFill/>
                </a:ln>
                <a:effectLst/>
                <a:latin typeface="Consolas" panose="020B0609020204030204" pitchFamily="49" charset="0"/>
                <a:cs typeface="Consolas" panose="020B0609020204030204" pitchFamily="49" charset="0"/>
              </a:rPr>
              <a:t>Cost:</a:t>
            </a:r>
            <a:r>
              <a:rPr kumimoji="0" lang="en-US" altLang="en-US" sz="2000" b="1" i="0" u="none" strike="noStrike" cap="none" normalizeH="0" baseline="0" dirty="0" smtClean="0">
                <a:ln>
                  <a:noFill/>
                </a:ln>
                <a:solidFill>
                  <a:srgbClr val="FF0000"/>
                </a:solidFill>
                <a:effectLst/>
                <a:latin typeface="Consolas" panose="020B0609020204030204" pitchFamily="49" charset="0"/>
                <a:cs typeface="Consolas" panose="020B0609020204030204" pitchFamily="49" charset="0"/>
              </a:rPr>
              <a:t>7</a:t>
            </a:r>
            <a:endParaRPr kumimoji="0" lang="en-US" altLang="en-US" sz="2000" b="1" i="0" u="none" strike="noStrike" cap="none" normalizeH="0" baseline="0" dirty="0" smtClean="0">
              <a:ln>
                <a:noFill/>
              </a:ln>
              <a:solidFill>
                <a:srgbClr val="FF0000"/>
              </a:solidFill>
              <a:effectLst/>
            </a:endParaRPr>
          </a:p>
        </p:txBody>
      </p:sp>
      <p:graphicFrame>
        <p:nvGraphicFramePr>
          <p:cNvPr id="3" name="Table 2"/>
          <p:cNvGraphicFramePr>
            <a:graphicFrameLocks noGrp="1"/>
          </p:cNvGraphicFramePr>
          <p:nvPr>
            <p:extLst>
              <p:ext uri="{D42A27DB-BD31-4B8C-83A1-F6EECF244321}">
                <p14:modId xmlns:p14="http://schemas.microsoft.com/office/powerpoint/2010/main" val="569979713"/>
              </p:ext>
            </p:extLst>
          </p:nvPr>
        </p:nvGraphicFramePr>
        <p:xfrm>
          <a:off x="5937161" y="512068"/>
          <a:ext cx="5699880" cy="6030397"/>
        </p:xfrm>
        <a:graphic>
          <a:graphicData uri="http://schemas.openxmlformats.org/drawingml/2006/table">
            <a:tbl>
              <a:tblPr/>
              <a:tblGrid>
                <a:gridCol w="1424970">
                  <a:extLst>
                    <a:ext uri="{9D8B030D-6E8A-4147-A177-3AD203B41FA5}">
                      <a16:colId xmlns:a16="http://schemas.microsoft.com/office/drawing/2014/main" val="2679135000"/>
                    </a:ext>
                  </a:extLst>
                </a:gridCol>
                <a:gridCol w="1424970">
                  <a:extLst>
                    <a:ext uri="{9D8B030D-6E8A-4147-A177-3AD203B41FA5}">
                      <a16:colId xmlns:a16="http://schemas.microsoft.com/office/drawing/2014/main" val="240089599"/>
                    </a:ext>
                  </a:extLst>
                </a:gridCol>
                <a:gridCol w="1424970">
                  <a:extLst>
                    <a:ext uri="{9D8B030D-6E8A-4147-A177-3AD203B41FA5}">
                      <a16:colId xmlns:a16="http://schemas.microsoft.com/office/drawing/2014/main" val="3936478480"/>
                    </a:ext>
                  </a:extLst>
                </a:gridCol>
                <a:gridCol w="1424970">
                  <a:extLst>
                    <a:ext uri="{9D8B030D-6E8A-4147-A177-3AD203B41FA5}">
                      <a16:colId xmlns:a16="http://schemas.microsoft.com/office/drawing/2014/main" val="3214995530"/>
                    </a:ext>
                  </a:extLst>
                </a:gridCol>
              </a:tblGrid>
              <a:tr h="377110">
                <a:tc>
                  <a:txBody>
                    <a:bodyPr/>
                    <a:lstStyle/>
                    <a:p>
                      <a:pPr algn="ctr" fontAlgn="base"/>
                      <a:r>
                        <a:rPr lang="en-US" sz="1100" b="1" cap="all">
                          <a:solidFill>
                            <a:srgbClr val="000000"/>
                          </a:solidFill>
                          <a:effectLst/>
                        </a:rPr>
                        <a:t>PATH</a:t>
                      </a:r>
                    </a:p>
                  </a:txBody>
                  <a:tcPr marL="48591" marR="48591" marT="48591" marB="48591" anchor="ctr">
                    <a:lnL>
                      <a:noFill/>
                    </a:lnL>
                    <a:lnR>
                      <a:noFill/>
                    </a:lnR>
                    <a:lnT>
                      <a:noFill/>
                    </a:lnT>
                    <a:lnB w="9525" cap="flat" cmpd="sng" algn="ctr">
                      <a:solidFill>
                        <a:srgbClr val="EDEDED"/>
                      </a:solidFill>
                      <a:prstDash val="solid"/>
                      <a:round/>
                      <a:headEnd type="none" w="med" len="med"/>
                      <a:tailEnd type="none" w="med" len="med"/>
                    </a:lnB>
                    <a:solidFill>
                      <a:srgbClr val="0F9D58"/>
                    </a:solidFill>
                  </a:tcPr>
                </a:tc>
                <a:tc>
                  <a:txBody>
                    <a:bodyPr/>
                    <a:lstStyle/>
                    <a:p>
                      <a:pPr algn="ctr" fontAlgn="base"/>
                      <a:r>
                        <a:rPr lang="en-US" sz="1100" b="1" cap="all">
                          <a:solidFill>
                            <a:srgbClr val="000000"/>
                          </a:solidFill>
                          <a:effectLst/>
                        </a:rPr>
                        <a:t>H(X)</a:t>
                      </a:r>
                    </a:p>
                  </a:txBody>
                  <a:tcPr marL="48591" marR="48591" marT="48591" marB="48591" anchor="ctr">
                    <a:lnL>
                      <a:noFill/>
                    </a:lnL>
                    <a:lnR>
                      <a:noFill/>
                    </a:lnR>
                    <a:lnT>
                      <a:noFill/>
                    </a:lnT>
                    <a:lnB w="9525" cap="flat" cmpd="sng" algn="ctr">
                      <a:solidFill>
                        <a:srgbClr val="EDEDED"/>
                      </a:solidFill>
                      <a:prstDash val="solid"/>
                      <a:round/>
                      <a:headEnd type="none" w="med" len="med"/>
                      <a:tailEnd type="none" w="med" len="med"/>
                    </a:lnB>
                    <a:solidFill>
                      <a:srgbClr val="0F9D58"/>
                    </a:solidFill>
                  </a:tcPr>
                </a:tc>
                <a:tc>
                  <a:txBody>
                    <a:bodyPr/>
                    <a:lstStyle/>
                    <a:p>
                      <a:pPr algn="ctr" fontAlgn="base"/>
                      <a:r>
                        <a:rPr lang="en-US" sz="1100" b="1" cap="all">
                          <a:solidFill>
                            <a:srgbClr val="000000"/>
                          </a:solidFill>
                          <a:effectLst/>
                        </a:rPr>
                        <a:t>G(X)</a:t>
                      </a:r>
                    </a:p>
                  </a:txBody>
                  <a:tcPr marL="48591" marR="48591" marT="48591" marB="48591" anchor="ctr">
                    <a:lnL>
                      <a:noFill/>
                    </a:lnL>
                    <a:lnR>
                      <a:noFill/>
                    </a:lnR>
                    <a:lnT>
                      <a:noFill/>
                    </a:lnT>
                    <a:lnB w="9525" cap="flat" cmpd="sng" algn="ctr">
                      <a:solidFill>
                        <a:srgbClr val="EDEDED"/>
                      </a:solidFill>
                      <a:prstDash val="solid"/>
                      <a:round/>
                      <a:headEnd type="none" w="med" len="med"/>
                      <a:tailEnd type="none" w="med" len="med"/>
                    </a:lnB>
                    <a:solidFill>
                      <a:srgbClr val="0F9D58"/>
                    </a:solidFill>
                  </a:tcPr>
                </a:tc>
                <a:tc>
                  <a:txBody>
                    <a:bodyPr/>
                    <a:lstStyle/>
                    <a:p>
                      <a:pPr algn="ctr" fontAlgn="base"/>
                      <a:r>
                        <a:rPr lang="en-US" sz="1100" b="1" cap="all">
                          <a:solidFill>
                            <a:srgbClr val="000000"/>
                          </a:solidFill>
                          <a:effectLst/>
                        </a:rPr>
                        <a:t>F(X)</a:t>
                      </a:r>
                    </a:p>
                  </a:txBody>
                  <a:tcPr marL="48591" marR="48591" marT="48591" marB="48591" anchor="ctr">
                    <a:lnL>
                      <a:noFill/>
                    </a:lnL>
                    <a:lnR>
                      <a:noFill/>
                    </a:lnR>
                    <a:lnT>
                      <a:noFill/>
                    </a:lnT>
                    <a:lnB w="9525" cap="flat" cmpd="sng" algn="ctr">
                      <a:solidFill>
                        <a:srgbClr val="EDEDED"/>
                      </a:solidFill>
                      <a:prstDash val="solid"/>
                      <a:round/>
                      <a:headEnd type="none" w="med" len="med"/>
                      <a:tailEnd type="none" w="med" len="med"/>
                    </a:lnB>
                    <a:solidFill>
                      <a:srgbClr val="0F9D58"/>
                    </a:solidFill>
                  </a:tcPr>
                </a:tc>
                <a:extLst>
                  <a:ext uri="{0D108BD9-81ED-4DB2-BD59-A6C34878D82A}">
                    <a16:rowId xmlns:a16="http://schemas.microsoft.com/office/drawing/2014/main" val="2841867290"/>
                  </a:ext>
                </a:extLst>
              </a:tr>
              <a:tr h="360275">
                <a:tc>
                  <a:txBody>
                    <a:bodyPr/>
                    <a:lstStyle/>
                    <a:p>
                      <a:pPr algn="l" fontAlgn="base"/>
                      <a:r>
                        <a:rPr lang="en-US" sz="1100" b="0">
                          <a:effectLst/>
                        </a:rPr>
                        <a:t>S</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7</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0</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7</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extLst>
                  <a:ext uri="{0D108BD9-81ED-4DB2-BD59-A6C34878D82A}">
                    <a16:rowId xmlns:a16="http://schemas.microsoft.com/office/drawing/2014/main" val="1758072722"/>
                  </a:ext>
                </a:extLst>
              </a:tr>
              <a:tr h="360275">
                <a:tc>
                  <a:txBody>
                    <a:bodyPr/>
                    <a:lstStyle/>
                    <a:p>
                      <a:pPr algn="l" fontAlgn="base"/>
                      <a:r>
                        <a:rPr lang="en-US" sz="1100" b="0">
                          <a:effectLst/>
                        </a:rPr>
                        <a:t>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extLst>
                  <a:ext uri="{0D108BD9-81ED-4DB2-BD59-A6C34878D82A}">
                    <a16:rowId xmlns:a16="http://schemas.microsoft.com/office/drawing/2014/main" val="1884019420"/>
                  </a:ext>
                </a:extLst>
              </a:tr>
              <a:tr h="360275">
                <a:tc>
                  <a:txBody>
                    <a:bodyPr/>
                    <a:lstStyle/>
                    <a:p>
                      <a:pPr algn="l" fontAlgn="base"/>
                      <a:r>
                        <a:rPr lang="en-US" sz="1100" b="0">
                          <a:effectLst/>
                        </a:rPr>
                        <a:t>S -&gt; A</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9</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3</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12</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extLst>
                  <a:ext uri="{0D108BD9-81ED-4DB2-BD59-A6C34878D82A}">
                    <a16:rowId xmlns:a16="http://schemas.microsoft.com/office/drawing/2014/main" val="3326433745"/>
                  </a:ext>
                </a:extLst>
              </a:tr>
              <a:tr h="360275">
                <a:tc>
                  <a:txBody>
                    <a:bodyPr/>
                    <a:lstStyle/>
                    <a:p>
                      <a:pPr algn="l" fontAlgn="base"/>
                      <a:r>
                        <a:rPr lang="en-US" sz="1100" b="0">
                          <a:effectLst/>
                        </a:rPr>
                        <a:t>S -&gt; D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5</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2</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7</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extLst>
                  <a:ext uri="{0D108BD9-81ED-4DB2-BD59-A6C34878D82A}">
                    <a16:rowId xmlns:a16="http://schemas.microsoft.com/office/drawing/2014/main" val="3074003092"/>
                  </a:ext>
                </a:extLst>
              </a:tr>
              <a:tr h="360275">
                <a:tc>
                  <a:txBody>
                    <a:bodyPr/>
                    <a:lstStyle/>
                    <a:p>
                      <a:pPr algn="l" fontAlgn="base"/>
                      <a:r>
                        <a:rPr lang="en-US" sz="1100" b="0">
                          <a:effectLst/>
                        </a:rPr>
                        <a:t>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extLst>
                  <a:ext uri="{0D108BD9-81ED-4DB2-BD59-A6C34878D82A}">
                    <a16:rowId xmlns:a16="http://schemas.microsoft.com/office/drawing/2014/main" val="3110329819"/>
                  </a:ext>
                </a:extLst>
              </a:tr>
              <a:tr h="360275">
                <a:tc>
                  <a:txBody>
                    <a:bodyPr/>
                    <a:lstStyle/>
                    <a:p>
                      <a:pPr algn="l" fontAlgn="base"/>
                      <a:r>
                        <a:rPr lang="en-US" sz="1100" b="0">
                          <a:effectLst/>
                        </a:rPr>
                        <a:t>S -&gt; D -&gt; B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dirty="0">
                          <a:effectLst/>
                        </a:rPr>
                        <a:t>4</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2 + 1 = 3</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7</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extLst>
                  <a:ext uri="{0D108BD9-81ED-4DB2-BD59-A6C34878D82A}">
                    <a16:rowId xmlns:a16="http://schemas.microsoft.com/office/drawing/2014/main" val="157440606"/>
                  </a:ext>
                </a:extLst>
              </a:tr>
              <a:tr h="360275">
                <a:tc>
                  <a:txBody>
                    <a:bodyPr/>
                    <a:lstStyle/>
                    <a:p>
                      <a:pPr algn="l" fontAlgn="base"/>
                      <a:r>
                        <a:rPr lang="en-US" sz="1100" b="0">
                          <a:effectLst/>
                        </a:rPr>
                        <a:t>S -&gt; D -&gt; E</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3</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2 + 4 = 6</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9</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extLst>
                  <a:ext uri="{0D108BD9-81ED-4DB2-BD59-A6C34878D82A}">
                    <a16:rowId xmlns:a16="http://schemas.microsoft.com/office/drawing/2014/main" val="5479018"/>
                  </a:ext>
                </a:extLst>
              </a:tr>
              <a:tr h="360275">
                <a:tc>
                  <a:txBody>
                    <a:bodyPr/>
                    <a:lstStyle/>
                    <a:p>
                      <a:pPr algn="l" fontAlgn="base"/>
                      <a:r>
                        <a:rPr lang="en-US" sz="1100" b="0">
                          <a:effectLst/>
                        </a:rPr>
                        <a:t>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extLst>
                  <a:ext uri="{0D108BD9-81ED-4DB2-BD59-A6C34878D82A}">
                    <a16:rowId xmlns:a16="http://schemas.microsoft.com/office/drawing/2014/main" val="2739751019"/>
                  </a:ext>
                </a:extLst>
              </a:tr>
              <a:tr h="602703">
                <a:tc>
                  <a:txBody>
                    <a:bodyPr/>
                    <a:lstStyle/>
                    <a:p>
                      <a:pPr algn="l" fontAlgn="base"/>
                      <a:r>
                        <a:rPr lang="en-US" sz="1100" b="0">
                          <a:effectLst/>
                        </a:rPr>
                        <a:t>S -&gt; D -&gt; B -&gt; C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2</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3 + 2 = 5</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7</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extLst>
                  <a:ext uri="{0D108BD9-81ED-4DB2-BD59-A6C34878D82A}">
                    <a16:rowId xmlns:a16="http://schemas.microsoft.com/office/drawing/2014/main" val="3069776042"/>
                  </a:ext>
                </a:extLst>
              </a:tr>
              <a:tr h="602703">
                <a:tc>
                  <a:txBody>
                    <a:bodyPr/>
                    <a:lstStyle/>
                    <a:p>
                      <a:pPr algn="l" fontAlgn="base"/>
                      <a:r>
                        <a:rPr lang="en-US" sz="1100" b="0" dirty="0">
                          <a:effectLst/>
                        </a:rPr>
                        <a:t>S -&gt; D -&gt; B -&gt; E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3</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3 + 1 = 4</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7</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extLst>
                  <a:ext uri="{0D108BD9-81ED-4DB2-BD59-A6C34878D82A}">
                    <a16:rowId xmlns:a16="http://schemas.microsoft.com/office/drawing/2014/main" val="234649179"/>
                  </a:ext>
                </a:extLst>
              </a:tr>
              <a:tr h="360275">
                <a:tc>
                  <a:txBody>
                    <a:bodyPr/>
                    <a:lstStyle/>
                    <a:p>
                      <a:pPr algn="l" fontAlgn="base"/>
                      <a:r>
                        <a:rPr lang="en-US" sz="1100" b="0">
                          <a:effectLst/>
                        </a:rPr>
                        <a:t>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 </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extLst>
                  <a:ext uri="{0D108BD9-81ED-4DB2-BD59-A6C34878D82A}">
                    <a16:rowId xmlns:a16="http://schemas.microsoft.com/office/drawing/2014/main" val="4073031086"/>
                  </a:ext>
                </a:extLst>
              </a:tr>
              <a:tr h="602703">
                <a:tc>
                  <a:txBody>
                    <a:bodyPr/>
                    <a:lstStyle/>
                    <a:p>
                      <a:pPr algn="l" fontAlgn="base"/>
                      <a:r>
                        <a:rPr lang="en-US" sz="1100" b="0">
                          <a:effectLst/>
                        </a:rPr>
                        <a:t>S -&gt; D -&gt; B -&gt; C -&gt; G</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0</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5 + 4 = 9</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100" b="0">
                          <a:effectLst/>
                        </a:rPr>
                        <a:t>9</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extLst>
                  <a:ext uri="{0D108BD9-81ED-4DB2-BD59-A6C34878D82A}">
                    <a16:rowId xmlns:a16="http://schemas.microsoft.com/office/drawing/2014/main" val="4245604435"/>
                  </a:ext>
                </a:extLst>
              </a:tr>
              <a:tr h="602703">
                <a:tc>
                  <a:txBody>
                    <a:bodyPr/>
                    <a:lstStyle/>
                    <a:p>
                      <a:pPr algn="l" fontAlgn="base"/>
                      <a:r>
                        <a:rPr lang="pt-BR" sz="1100" b="1">
                          <a:effectLst/>
                        </a:rPr>
                        <a:t>S -&gt; D -&gt; B -&gt; E -&gt; G   </a:t>
                      </a:r>
                      <a:endParaRPr lang="pt-BR" sz="1100" b="0">
                        <a:effectLst/>
                      </a:endParaRPr>
                    </a:p>
                  </a:txBody>
                  <a:tcPr marL="85035" marR="85035" marT="42517" marB="42517" anchor="ctr">
                    <a:lnL>
                      <a:noFill/>
                    </a:lnL>
                    <a:lnR>
                      <a:noFill/>
                    </a:lnR>
                    <a:lnT w="9525" cap="flat" cmpd="sng" algn="ctr">
                      <a:solidFill>
                        <a:srgbClr val="EDEDED"/>
                      </a:solidFill>
                      <a:prstDash val="solid"/>
                      <a:round/>
                      <a:headEnd type="none" w="med" len="med"/>
                      <a:tailEnd type="none" w="med" len="med"/>
                    </a:lnT>
                    <a:lnB>
                      <a:noFill/>
                    </a:lnB>
                    <a:solidFill>
                      <a:srgbClr val="FFFFFF"/>
                    </a:solidFill>
                  </a:tcPr>
                </a:tc>
                <a:tc>
                  <a:txBody>
                    <a:bodyPr/>
                    <a:lstStyle/>
                    <a:p>
                      <a:pPr algn="l" fontAlgn="base"/>
                      <a:r>
                        <a:rPr lang="en-US" sz="1100" b="0">
                          <a:effectLst/>
                        </a:rPr>
                        <a:t>0</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a:noFill/>
                    </a:lnB>
                    <a:solidFill>
                      <a:srgbClr val="FFFFFF"/>
                    </a:solidFill>
                  </a:tcPr>
                </a:tc>
                <a:tc>
                  <a:txBody>
                    <a:bodyPr/>
                    <a:lstStyle/>
                    <a:p>
                      <a:pPr algn="l" fontAlgn="base"/>
                      <a:r>
                        <a:rPr lang="en-US" sz="1100" b="0">
                          <a:effectLst/>
                        </a:rPr>
                        <a:t>4 + 3 = 7</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a:noFill/>
                    </a:lnB>
                    <a:solidFill>
                      <a:srgbClr val="FFFFFF"/>
                    </a:solidFill>
                  </a:tcPr>
                </a:tc>
                <a:tc>
                  <a:txBody>
                    <a:bodyPr/>
                    <a:lstStyle/>
                    <a:p>
                      <a:pPr algn="l" fontAlgn="base"/>
                      <a:r>
                        <a:rPr lang="en-US" sz="1100" b="0" dirty="0">
                          <a:effectLst/>
                        </a:rPr>
                        <a:t>7</a:t>
                      </a:r>
                    </a:p>
                  </a:txBody>
                  <a:tcPr marL="85035" marR="85035" marT="42517" marB="42517" anchor="ctr">
                    <a:lnL>
                      <a:noFill/>
                    </a:lnL>
                    <a:lnR>
                      <a:noFill/>
                    </a:lnR>
                    <a:lnT w="9525" cap="flat" cmpd="sng" algn="ctr">
                      <a:solidFill>
                        <a:srgbClr val="EDEDED"/>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13933184"/>
                  </a:ext>
                </a:extLst>
              </a:tr>
            </a:tbl>
          </a:graphicData>
        </a:graphic>
      </p:graphicFrame>
      <p:sp>
        <p:nvSpPr>
          <p:cNvPr id="7" name="AutoShape 1" descr="✔"/>
          <p:cNvSpPr>
            <a:spLocks noChangeAspect="1" noChangeArrowheads="1"/>
          </p:cNvSpPr>
          <p:nvPr/>
        </p:nvSpPr>
        <p:spPr bwMode="auto">
          <a:xfrm>
            <a:off x="6687017" y="51206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2" descr="✔"/>
          <p:cNvSpPr>
            <a:spLocks noChangeAspect="1" noChangeArrowheads="1"/>
          </p:cNvSpPr>
          <p:nvPr/>
        </p:nvSpPr>
        <p:spPr bwMode="auto">
          <a:xfrm>
            <a:off x="6687017" y="51206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3" descr="✔"/>
          <p:cNvSpPr>
            <a:spLocks noChangeAspect="1" noChangeArrowheads="1"/>
          </p:cNvSpPr>
          <p:nvPr/>
        </p:nvSpPr>
        <p:spPr bwMode="auto">
          <a:xfrm>
            <a:off x="6687017" y="51206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4" descr="✔"/>
          <p:cNvSpPr>
            <a:spLocks noChangeAspect="1" noChangeArrowheads="1"/>
          </p:cNvSpPr>
          <p:nvPr/>
        </p:nvSpPr>
        <p:spPr bwMode="auto">
          <a:xfrm>
            <a:off x="6687017" y="51206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5" descr="✔"/>
          <p:cNvSpPr>
            <a:spLocks noChangeAspect="1" noChangeArrowheads="1"/>
          </p:cNvSpPr>
          <p:nvPr/>
        </p:nvSpPr>
        <p:spPr bwMode="auto">
          <a:xfrm>
            <a:off x="6687017" y="51206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Rectangle 6"/>
          <p:cNvSpPr>
            <a:spLocks noChangeArrowheads="1"/>
          </p:cNvSpPr>
          <p:nvPr/>
        </p:nvSpPr>
        <p:spPr bwMode="auto">
          <a:xfrm>
            <a:off x="7982384" y="5718461"/>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51290" y="1983205"/>
            <a:ext cx="381744" cy="353891"/>
          </a:xfrm>
          <a:prstGeom prst="rect">
            <a:avLst/>
          </a:prstGeom>
        </p:spPr>
      </p:pic>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01906" y="2707639"/>
            <a:ext cx="381744" cy="353891"/>
          </a:xfrm>
          <a:prstGeom prst="rect">
            <a:avLst/>
          </a:prstGeom>
        </p:spPr>
      </p:pic>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01906" y="3948905"/>
            <a:ext cx="381744" cy="353891"/>
          </a:xfrm>
          <a:prstGeom prst="rect">
            <a:avLst/>
          </a:prstGeom>
        </p:spPr>
      </p:pic>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01906" y="4562760"/>
            <a:ext cx="381744" cy="353891"/>
          </a:xfrm>
          <a:prstGeom prst="rect">
            <a:avLst/>
          </a:prstGeom>
        </p:spPr>
      </p:pic>
      <p:pic>
        <p:nvPicPr>
          <p:cNvPr id="18" name="Picture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54306" y="6011629"/>
            <a:ext cx="381744" cy="353891"/>
          </a:xfrm>
          <a:prstGeom prst="rect">
            <a:avLst/>
          </a:prstGeom>
        </p:spPr>
      </p:pic>
      <p:pic>
        <p:nvPicPr>
          <p:cNvPr id="19" name="Picture 18" descr="txp_fig"/>
          <p:cNvPicPr>
            <a:picLocks noChangeAspect="1"/>
          </p:cNvPicPr>
          <p:nvPr>
            <p:custDataLst>
              <p:tags r:id="rId1"/>
            </p:custDataLst>
          </p:nvPr>
        </p:nvPicPr>
        <p:blipFill>
          <a:blip r:embed="rId5" cstate="print"/>
          <a:stretch>
            <a:fillRect/>
          </a:stretch>
        </p:blipFill>
        <p:spPr bwMode="auto">
          <a:xfrm>
            <a:off x="1308847" y="5193508"/>
            <a:ext cx="3130785" cy="403304"/>
          </a:xfrm>
          <a:prstGeom prst="rect">
            <a:avLst/>
          </a:prstGeom>
          <a:noFill/>
          <a:ln/>
          <a:effectLst/>
        </p:spPr>
      </p:pic>
    </p:spTree>
    <p:extLst>
      <p:ext uri="{BB962C8B-B14F-4D97-AF65-F5344CB8AC3E}">
        <p14:creationId xmlns:p14="http://schemas.microsoft.com/office/powerpoint/2010/main" val="4200642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a:cs typeface="Calibri"/>
              </a:rPr>
              <a:t>Consistency of Heuristics</a:t>
            </a:r>
            <a:endParaRPr lang="en-US" dirty="0"/>
          </a:p>
        </p:txBody>
      </p:sp>
      <p:sp>
        <p:nvSpPr>
          <p:cNvPr id="3" name="Content Placeholder 2"/>
          <p:cNvSpPr>
            <a:spLocks noGrp="1"/>
          </p:cNvSpPr>
          <p:nvPr>
            <p:ph idx="1"/>
          </p:nvPr>
        </p:nvSpPr>
        <p:spPr/>
        <p:txBody>
          <a:bodyPr/>
          <a:lstStyle/>
          <a:p>
            <a:pPr>
              <a:lnSpc>
                <a:spcPct val="150000"/>
              </a:lnSpc>
            </a:pPr>
            <a:r>
              <a:rPr lang="en-US" sz="2400" dirty="0">
                <a:cs typeface="Calibri"/>
              </a:rPr>
              <a:t>Main idea: estimated heuristic costs ≤ actual costs</a:t>
            </a:r>
          </a:p>
          <a:p>
            <a:pPr lvl="1">
              <a:lnSpc>
                <a:spcPct val="150000"/>
              </a:lnSpc>
            </a:pPr>
            <a:r>
              <a:rPr lang="en-US" sz="2000" dirty="0">
                <a:cs typeface="Calibri"/>
              </a:rPr>
              <a:t>Admissibility: heuristic cost ≤ actual cost to goal</a:t>
            </a:r>
          </a:p>
          <a:p>
            <a:pPr lvl="1">
              <a:lnSpc>
                <a:spcPct val="150000"/>
              </a:lnSpc>
              <a:buNone/>
            </a:pPr>
            <a:r>
              <a:rPr lang="en-US" sz="2000" dirty="0">
                <a:cs typeface="Calibri"/>
              </a:rPr>
              <a:t>		</a:t>
            </a:r>
            <a:r>
              <a:rPr lang="en-US" sz="2000" dirty="0">
                <a:solidFill>
                  <a:srgbClr val="C00000"/>
                </a:solidFill>
                <a:cs typeface="Calibri"/>
              </a:rPr>
              <a:t>h(A) </a:t>
            </a:r>
            <a:r>
              <a:rPr lang="en-US" sz="2000" dirty="0">
                <a:cs typeface="Calibri"/>
              </a:rPr>
              <a:t>≤</a:t>
            </a:r>
            <a:r>
              <a:rPr lang="en-US" sz="2000" dirty="0">
                <a:solidFill>
                  <a:srgbClr val="C00000"/>
                </a:solidFill>
                <a:cs typeface="Calibri"/>
              </a:rPr>
              <a:t> </a:t>
            </a:r>
            <a:r>
              <a:rPr lang="en-US" sz="2000" dirty="0">
                <a:solidFill>
                  <a:srgbClr val="008000"/>
                </a:solidFill>
                <a:cs typeface="Calibri"/>
              </a:rPr>
              <a:t>actual cost from A to G</a:t>
            </a:r>
          </a:p>
          <a:p>
            <a:pPr lvl="1">
              <a:lnSpc>
                <a:spcPct val="150000"/>
              </a:lnSpc>
            </a:pPr>
            <a:r>
              <a:rPr lang="en-US" sz="2000" dirty="0">
                <a:cs typeface="Calibri"/>
              </a:rPr>
              <a:t>Consistency: heuristic “arc” cost ≤ actual cost for each arc</a:t>
            </a:r>
          </a:p>
          <a:p>
            <a:pPr lvl="1">
              <a:lnSpc>
                <a:spcPct val="150000"/>
              </a:lnSpc>
              <a:buNone/>
            </a:pPr>
            <a:r>
              <a:rPr lang="en-US" sz="2000" dirty="0">
                <a:solidFill>
                  <a:srgbClr val="C00000"/>
                </a:solidFill>
                <a:cs typeface="Calibri"/>
              </a:rPr>
              <a:t>		h(A) – h(C)</a:t>
            </a:r>
            <a:r>
              <a:rPr lang="en-US" sz="2000" dirty="0">
                <a:solidFill>
                  <a:srgbClr val="008000"/>
                </a:solidFill>
                <a:cs typeface="Calibri"/>
              </a:rPr>
              <a:t> </a:t>
            </a:r>
            <a:r>
              <a:rPr lang="en-US" sz="2000" dirty="0">
                <a:cs typeface="Calibri"/>
              </a:rPr>
              <a:t>≤ </a:t>
            </a:r>
            <a:r>
              <a:rPr lang="en-US" sz="2000" dirty="0">
                <a:solidFill>
                  <a:srgbClr val="008000"/>
                </a:solidFill>
                <a:cs typeface="Calibri"/>
              </a:rPr>
              <a:t>cost(A to C)</a:t>
            </a:r>
            <a:endParaRPr lang="en-US" sz="1050" dirty="0">
              <a:solidFill>
                <a:srgbClr val="C00000"/>
              </a:solidFill>
              <a:cs typeface="Calibri"/>
            </a:endParaRPr>
          </a:p>
          <a:p>
            <a:endParaRPr lang="en-US" dirty="0"/>
          </a:p>
        </p:txBody>
      </p:sp>
    </p:spTree>
    <p:extLst>
      <p:ext uri="{BB962C8B-B14F-4D97-AF65-F5344CB8AC3E}">
        <p14:creationId xmlns:p14="http://schemas.microsoft.com/office/powerpoint/2010/main" val="1846595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A* Search</a:t>
            </a:r>
            <a:br>
              <a:rPr lang="en-US" b="1" dirty="0">
                <a:solidFill>
                  <a:srgbClr val="0070C0"/>
                </a:solidFill>
              </a:rPr>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4792" y="1130076"/>
            <a:ext cx="4333268" cy="3733333"/>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9581" y="1027906"/>
            <a:ext cx="9110337" cy="5742857"/>
          </a:xfrm>
          <a:prstGeom prst="rect">
            <a:avLst/>
          </a:prstGeom>
        </p:spPr>
      </p:pic>
      <p:sp>
        <p:nvSpPr>
          <p:cNvPr id="6" name="Rectangle 1"/>
          <p:cNvSpPr>
            <a:spLocks noChangeArrowheads="1"/>
          </p:cNvSpPr>
          <p:nvPr/>
        </p:nvSpPr>
        <p:spPr bwMode="auto">
          <a:xfrm>
            <a:off x="1398494" y="6182871"/>
            <a:ext cx="4787153" cy="6155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Roboto"/>
              </a:rPr>
              <a:t>Path:</a:t>
            </a:r>
            <a:r>
              <a:rPr kumimoji="0" lang="en-US" altLang="en-US" sz="2000" b="0" i="0" u="none" strike="noStrike" cap="none" normalizeH="0" baseline="0" dirty="0" smtClean="0">
                <a:ln>
                  <a:noFill/>
                </a:ln>
                <a:solidFill>
                  <a:schemeClr val="tx1"/>
                </a:solidFill>
                <a:effectLst/>
                <a:latin typeface="Roboto"/>
              </a:rPr>
              <a:t>   </a:t>
            </a:r>
            <a:r>
              <a:rPr kumimoji="0" lang="en-US" altLang="en-US" sz="2000" b="0" i="0" u="none" strike="noStrike" cap="none" normalizeH="0" baseline="0" dirty="0" smtClean="0">
                <a:ln>
                  <a:noFill/>
                </a:ln>
                <a:solidFill>
                  <a:srgbClr val="FF0000"/>
                </a:solidFill>
                <a:effectLst/>
                <a:latin typeface="Consolas" panose="020B0609020204030204" pitchFamily="49" charset="0"/>
                <a:cs typeface="Consolas" panose="020B0609020204030204" pitchFamily="49" charset="0"/>
              </a:rPr>
              <a:t>S -&gt; D -&gt; B -&gt; C -&gt; E -&gt; G</a:t>
            </a:r>
            <a:r>
              <a:rPr kumimoji="0" lang="en-US" altLang="en-US" sz="2000" b="0" i="0" u="none" strike="noStrike" cap="none" normalizeH="0" baseline="0" dirty="0" smtClean="0">
                <a:ln>
                  <a:noFill/>
                </a:ln>
                <a:solidFill>
                  <a:srgbClr val="FF0000"/>
                </a:solidFill>
                <a:effectLst/>
              </a:rPr>
              <a:t/>
            </a:r>
            <a:br>
              <a:rPr kumimoji="0" lang="en-US" altLang="en-US" sz="2000" b="0" i="0" u="none" strike="noStrike" cap="none" normalizeH="0" baseline="0" dirty="0" smtClean="0">
                <a:ln>
                  <a:noFill/>
                </a:ln>
                <a:solidFill>
                  <a:srgbClr val="FF0000"/>
                </a:solidFill>
                <a:effectLst/>
              </a:rPr>
            </a:br>
            <a:r>
              <a:rPr kumimoji="0" lang="en-US" altLang="en-US" sz="2000" b="1" i="0" u="none" strike="noStrike" cap="none" normalizeH="0" baseline="0" dirty="0" smtClean="0">
                <a:ln>
                  <a:noFill/>
                </a:ln>
                <a:solidFill>
                  <a:schemeClr val="tx1"/>
                </a:solidFill>
                <a:effectLst/>
                <a:latin typeface="Roboto"/>
              </a:rPr>
              <a:t>Cost:</a:t>
            </a:r>
            <a:r>
              <a:rPr kumimoji="0" lang="en-US" altLang="en-US" sz="2000" b="0" i="0" u="none" strike="noStrike" cap="none" normalizeH="0" baseline="0" dirty="0" smtClean="0">
                <a:ln>
                  <a:noFill/>
                </a:ln>
                <a:solidFill>
                  <a:schemeClr val="tx1"/>
                </a:solidFill>
                <a:effectLst/>
                <a:latin typeface="Roboto"/>
              </a:rPr>
              <a:t>   </a:t>
            </a:r>
            <a:r>
              <a:rPr kumimoji="0" lang="en-US" altLang="en-US" sz="2000" b="0" i="0" u="none" strike="noStrike" cap="none" normalizeH="0" baseline="0" dirty="0" smtClean="0">
                <a:ln>
                  <a:noFill/>
                </a:ln>
                <a:solidFill>
                  <a:srgbClr val="FF0000"/>
                </a:solidFill>
                <a:effectLst/>
                <a:latin typeface="Consolas" panose="020B0609020204030204" pitchFamily="49" charset="0"/>
                <a:cs typeface="Consolas" panose="020B0609020204030204" pitchFamily="49" charset="0"/>
              </a:rPr>
              <a:t>7</a:t>
            </a:r>
            <a:r>
              <a:rPr kumimoji="0" lang="en-US" altLang="en-US" sz="2000" b="0" i="0" u="none" strike="noStrike" cap="none" normalizeH="0" baseline="0" dirty="0" smtClean="0">
                <a:ln>
                  <a:noFill/>
                </a:ln>
                <a:solidFill>
                  <a:srgbClr val="FF0000"/>
                </a:solidFill>
                <a:effectLst/>
              </a:rPr>
              <a:t> </a:t>
            </a:r>
          </a:p>
        </p:txBody>
      </p:sp>
    </p:spTree>
    <p:extLst>
      <p:ext uri="{BB962C8B-B14F-4D97-AF65-F5344CB8AC3E}">
        <p14:creationId xmlns:p14="http://schemas.microsoft.com/office/powerpoint/2010/main" val="2193705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Home Task</a:t>
            </a:r>
            <a:endParaRPr lang="en-US" dirty="0"/>
          </a:p>
        </p:txBody>
      </p:sp>
      <p:pic>
        <p:nvPicPr>
          <p:cNvPr id="3" name="Picture 2"/>
          <p:cNvPicPr>
            <a:picLocks noChangeAspect="1"/>
          </p:cNvPicPr>
          <p:nvPr/>
        </p:nvPicPr>
        <p:blipFill>
          <a:blip r:embed="rId2"/>
          <a:stretch>
            <a:fillRect/>
          </a:stretch>
        </p:blipFill>
        <p:spPr>
          <a:xfrm>
            <a:off x="4247284" y="365125"/>
            <a:ext cx="5276850" cy="6334125"/>
          </a:xfrm>
          <a:prstGeom prst="rect">
            <a:avLst/>
          </a:prstGeom>
        </p:spPr>
      </p:pic>
    </p:spTree>
    <p:extLst>
      <p:ext uri="{BB962C8B-B14F-4D97-AF65-F5344CB8AC3E}">
        <p14:creationId xmlns:p14="http://schemas.microsoft.com/office/powerpoint/2010/main" val="8908462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POINT" val="latex"/>
  <p:tag name="SOURCE" val="\documentclass{slides}\pagestyle{empty}&#10;\usepackage[usenames]{color}&#10;\begin{document}&#10;\[&#10;\textcolor{BrickRed}{0 \le h(n) \le h^*(n)}&#10;\]&#10;\end{document}&#10;"/>
  <p:tag name="FILENAME" val="txp_fig"/>
  <p:tag name="FORMAT" val="png16m"/>
  <p:tag name="RES" val="1200"/>
  <p:tag name="BLEND" val="0"/>
  <p:tag name="TRANSPARENT" val="0"/>
  <p:tag name="TBUG" val="0"/>
  <p:tag name="ALLOWFS" val="0"/>
  <p:tag name="ORIGWIDTH" val="163"/>
  <p:tag name="PICTUREFILESIZE" val="13184"/>
</p:tagLst>
</file>

<file path=ppt/tags/tag2.xml><?xml version="1.0" encoding="utf-8"?>
<p:tagLst xmlns:a="http://schemas.openxmlformats.org/drawingml/2006/main" xmlns:r="http://schemas.openxmlformats.org/officeDocument/2006/relationships" xmlns:p="http://schemas.openxmlformats.org/presentationml/2006/main">
  <p:tag name="SOURCE" val="\documentclass{slides}\pagestyle{empty}&#10;\usepackage[usenames]{color}&#10;\begin{document}&#10;\[&#10;\textcolor{BrickRed}{h^*(n)}&#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16m"/>
  <p:tag name="ORIGWIDTH" val="51"/>
  <p:tag name="PICTUREFILESIZE" val="5988"/>
</p:tagLst>
</file>

<file path=ppt/tags/tag3.xml><?xml version="1.0" encoding="utf-8"?>
<p:tagLst xmlns:a="http://schemas.openxmlformats.org/drawingml/2006/main" xmlns:r="http://schemas.openxmlformats.org/officeDocument/2006/relationships" xmlns:p="http://schemas.openxmlformats.org/presentationml/2006/main">
  <p:tag name="TEXPOINT" val="latex"/>
  <p:tag name="SOURCE" val="\documentclass{slides}\pagestyle{empty}&#10;\usepackage[usenames]{color}&#10;\begin{document}&#10;\[&#10;\textcolor{BrickRed}{0 \le h(n) \le h^*(n)}&#10;\]&#10;\end{document}&#10;"/>
  <p:tag name="FILENAME" val="txp_fig"/>
  <p:tag name="FORMAT" val="png16m"/>
  <p:tag name="RES" val="1200"/>
  <p:tag name="BLEND" val="0"/>
  <p:tag name="TRANSPARENT" val="0"/>
  <p:tag name="TBUG" val="0"/>
  <p:tag name="ALLOWFS" val="0"/>
  <p:tag name="ORIGWIDTH" val="163"/>
  <p:tag name="PICTUREFILESIZE" val="1318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354</TotalTime>
  <Words>459</Words>
  <Application>Microsoft Office PowerPoint</Application>
  <PresentationFormat>Widescreen</PresentationFormat>
  <Paragraphs>126</Paragraphs>
  <Slides>17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Arial</vt:lpstr>
      <vt:lpstr>Arial Rounded MT Bold</vt:lpstr>
      <vt:lpstr>Calibri</vt:lpstr>
      <vt:lpstr>Calibri Light</vt:lpstr>
      <vt:lpstr>Consolas</vt:lpstr>
      <vt:lpstr>Gothic Uralic</vt:lpstr>
      <vt:lpstr>Roboto</vt:lpstr>
      <vt:lpstr>Times New Roman</vt:lpstr>
      <vt:lpstr>Wingdings</vt:lpstr>
      <vt:lpstr>Office Theme</vt:lpstr>
      <vt:lpstr>Artificial Intelligence  (CS-2002)</vt:lpstr>
      <vt:lpstr>Objectives</vt:lpstr>
      <vt:lpstr>Heuristic Search</vt:lpstr>
      <vt:lpstr>Search Heuristics</vt:lpstr>
      <vt:lpstr>Greedy Best First Search </vt:lpstr>
      <vt:lpstr>Example:  </vt:lpstr>
      <vt:lpstr>Travel Sales Man Problem using Greedy Search</vt:lpstr>
      <vt:lpstr>Greedy Search……</vt:lpstr>
      <vt:lpstr>Greedy search leads to a minimal cost search because no node off the solution path is expanded. However, it does not find the optimal path: the path it found via Sibiu and Fagaras to Bucharest is 13 miles longer than the path through Pimnicu Vilcea and Pitesti.</vt:lpstr>
      <vt:lpstr>Example</vt:lpstr>
      <vt:lpstr>A* Search </vt:lpstr>
      <vt:lpstr>A* Search </vt:lpstr>
      <vt:lpstr>Admissible Heuristics</vt:lpstr>
      <vt:lpstr>A* Search </vt:lpstr>
      <vt:lpstr>Consistency of Heuristics</vt:lpstr>
      <vt:lpstr>A* Search </vt:lpstr>
      <vt:lpstr>Home Task</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(AI-2001)</dc:title>
  <dc:creator>Anaum Hamid</dc:creator>
  <cp:lastModifiedBy>Anum Hamid</cp:lastModifiedBy>
  <cp:revision>36</cp:revision>
  <dcterms:created xsi:type="dcterms:W3CDTF">2020-02-10T06:02:55Z</dcterms:created>
  <dcterms:modified xsi:type="dcterms:W3CDTF">2025-02-11T08:41:46Z</dcterms:modified>
</cp:coreProperties>
</file>