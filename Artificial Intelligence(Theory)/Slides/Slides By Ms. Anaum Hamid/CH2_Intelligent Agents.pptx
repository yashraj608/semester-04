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94" r:id="rId4"/>
    <p:sldId id="258" r:id="rId5"/>
    <p:sldId id="295" r:id="rId6"/>
    <p:sldId id="298" r:id="rId7"/>
    <p:sldId id="260" r:id="rId8"/>
    <p:sldId id="261" r:id="rId9"/>
    <p:sldId id="296" r:id="rId10"/>
    <p:sldId id="297" r:id="rId11"/>
    <p:sldId id="259" r:id="rId12"/>
    <p:sldId id="262" r:id="rId13"/>
    <p:sldId id="263" r:id="rId14"/>
    <p:sldId id="264" r:id="rId15"/>
    <p:sldId id="265" r:id="rId16"/>
    <p:sldId id="266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0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810" autoAdjust="0"/>
  </p:normalViewPr>
  <p:slideViewPr>
    <p:cSldViewPr>
      <p:cViewPr varScale="1">
        <p:scale>
          <a:sx n="83" d="100"/>
          <a:sy n="83" d="100"/>
        </p:scale>
        <p:origin x="242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424A3-D299-4117-9C21-63B0D70817B6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A3D07-48DF-47A0-9D64-510E7EFAD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81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an episodic environment, the agent's experience is divided into episodes which consist of a percept sequence and an action. Since episodes are independent of one another and the agent doesn't need to know the effect of its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A3D07-48DF-47A0-9D64-510E7EFAD89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77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environment is dynamic if it changes while an agent is in the process of responding to a percept sequence. It is static if it does not change while the agent is deciding on an action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i.e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agent does not to keep in touch with time. An environment is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semidynamic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it does not change with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timebut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 agent's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performace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score does.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analysis system</a:t>
            </a:r>
          </a:p>
          <a:p>
            <a:pPr marL="228600" indent="-228600">
              <a:buAutoNum type="arabicPeriod"/>
            </a:pP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Chess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</a:t>
            </a:r>
            <a:r>
              <a:rPr lang="en-US" sz="1200" b="0" i="0" kern="1200" baseline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clock</a:t>
            </a:r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FA3D07-48DF-47A0-9D64-510E7EFAD89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33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640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008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640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008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640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640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20A0-DF46-404D-BC73-04632FCA3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5840453"/>
            <a:ext cx="9143999" cy="207749"/>
          </a:xfrm>
        </p:spPr>
        <p:txBody>
          <a:bodyPr/>
          <a:lstStyle>
            <a:lvl1pPr algn="ctr">
              <a:defRPr sz="1350">
                <a:solidFill>
                  <a:sysClr val="windowText" lastClr="000000"/>
                </a:solidFill>
                <a:effectLst/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65F1C-AEDC-41F8-8B8C-ACF0BE82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77940"/>
            <a:ext cx="2103120" cy="276999"/>
          </a:xfrm>
        </p:spPr>
        <p:txBody>
          <a:bodyPr/>
          <a:lstStyle/>
          <a:p>
            <a:fld id="{F51C9943-5598-4206-B9AD-2BBC36D26DF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B607F-AE7D-4746-8756-76CD46A29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8960" y="6377940"/>
            <a:ext cx="292608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62DC0-B9CF-4184-8BD6-400C3A7C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BB5C3-3D05-470F-9D62-FF533880D02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59D4516-24B4-44EE-86FA-0ED8AD72257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"/>
            <a:ext cx="9144000" cy="49244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565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568" y="-9016"/>
            <a:ext cx="8690863" cy="87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64006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0953" y="1244853"/>
            <a:ext cx="8202295" cy="425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008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0383" y="6478334"/>
            <a:ext cx="371475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heavy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CH2.%20Intelligent%20Agents%20(1).pptx" TargetMode="External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0380"/>
            <a:chOff x="0" y="0"/>
            <a:chExt cx="9144000" cy="6850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1600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600198"/>
              <a:ext cx="4572000" cy="525018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800980" y="3785692"/>
            <a:ext cx="3657220" cy="92964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marR="5080" indent="725170">
              <a:lnSpc>
                <a:spcPts val="3400"/>
              </a:lnSpc>
              <a:spcBef>
                <a:spcPts val="475"/>
              </a:spcBef>
            </a:pPr>
            <a:r>
              <a:rPr sz="3100" b="1" spc="-245" dirty="0">
                <a:latin typeface="Verdana"/>
                <a:cs typeface="Verdana"/>
              </a:rPr>
              <a:t>Chapter</a:t>
            </a:r>
            <a:r>
              <a:rPr sz="3100" b="1" spc="-155" dirty="0">
                <a:latin typeface="Verdana"/>
                <a:cs typeface="Verdana"/>
              </a:rPr>
              <a:t> </a:t>
            </a:r>
            <a:r>
              <a:rPr sz="3100" b="1" spc="-495" dirty="0">
                <a:latin typeface="Verdana"/>
                <a:cs typeface="Verdana"/>
              </a:rPr>
              <a:t>2: </a:t>
            </a:r>
            <a:r>
              <a:rPr sz="3100" b="1" spc="-370" dirty="0">
                <a:latin typeface="Verdana"/>
                <a:cs typeface="Verdana"/>
              </a:rPr>
              <a:t>Intelligent</a:t>
            </a:r>
            <a:r>
              <a:rPr sz="3100" b="1" spc="-250" dirty="0">
                <a:latin typeface="Verdana"/>
                <a:cs typeface="Verdana"/>
              </a:rPr>
              <a:t> </a:t>
            </a:r>
            <a:r>
              <a:rPr sz="3100" b="1" spc="-320" dirty="0">
                <a:latin typeface="Verdana"/>
                <a:cs typeface="Verdana"/>
              </a:rPr>
              <a:t>Agents</a:t>
            </a:r>
            <a:endParaRPr sz="31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60142" y="1665173"/>
            <a:ext cx="30626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FFC000"/>
                </a:solidFill>
                <a:latin typeface="Calibri"/>
                <a:cs typeface="Calibri"/>
              </a:rPr>
              <a:t>Artificial</a:t>
            </a:r>
            <a:r>
              <a:rPr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FFC000"/>
                </a:solidFill>
                <a:latin typeface="Calibri"/>
                <a:cs typeface="Calibri"/>
              </a:rPr>
              <a:t>Intelligence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07511" y="6419799"/>
            <a:ext cx="2502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Instructor: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lang="en-US" b="1" dirty="0" err="1" smtClean="0">
                <a:latin typeface="Calibri"/>
                <a:cs typeface="Calibri"/>
              </a:rPr>
              <a:t>Anaum</a:t>
            </a:r>
            <a:r>
              <a:rPr lang="en-US" b="1" dirty="0" smtClean="0">
                <a:latin typeface="Calibri"/>
                <a:cs typeface="Calibri"/>
              </a:rPr>
              <a:t> Hamid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3774" y="1902185"/>
            <a:ext cx="363220" cy="452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20"/>
              </a:lnSpc>
            </a:pPr>
            <a:r>
              <a:rPr sz="3200" spc="-50" dirty="0">
                <a:solidFill>
                  <a:srgbClr val="1A1AFF"/>
                </a:solidFill>
                <a:latin typeface="Wingdings"/>
                <a:cs typeface="Wingdings"/>
              </a:rPr>
              <a:t></a:t>
            </a:r>
            <a:endParaRPr sz="3200">
              <a:latin typeface="Wingdings"/>
              <a:cs typeface="Wingding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1074" y="1848357"/>
            <a:ext cx="6750050" cy="4535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11200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A1AFF"/>
                </a:solidFill>
                <a:latin typeface="Arial MT"/>
                <a:cs typeface="Arial MT"/>
              </a:rPr>
              <a:t>Agents</a:t>
            </a:r>
            <a:r>
              <a:rPr sz="3200" spc="-120" dirty="0">
                <a:solidFill>
                  <a:srgbClr val="1A1A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A1AFF"/>
                </a:solidFill>
                <a:latin typeface="Arial MT"/>
                <a:cs typeface="Arial MT"/>
              </a:rPr>
              <a:t>and</a:t>
            </a:r>
            <a:r>
              <a:rPr sz="3200" spc="-100" dirty="0">
                <a:solidFill>
                  <a:srgbClr val="1A1A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A1AFF"/>
                </a:solidFill>
                <a:latin typeface="Arial MT"/>
                <a:cs typeface="Arial MT"/>
              </a:rPr>
              <a:t>environments</a:t>
            </a:r>
            <a:endParaRPr sz="3200" dirty="0">
              <a:latin typeface="Arial MT"/>
              <a:cs typeface="Arial MT"/>
            </a:endParaRPr>
          </a:p>
          <a:p>
            <a:pPr marL="727710" indent="-715010">
              <a:lnSpc>
                <a:spcPct val="100000"/>
              </a:lnSpc>
              <a:spcBef>
                <a:spcPts val="3250"/>
              </a:spcBef>
              <a:buClr>
                <a:srgbClr val="1A1AFF"/>
              </a:buClr>
              <a:buFont typeface="Wingdings"/>
              <a:buChar char=""/>
              <a:tabLst>
                <a:tab pos="727710" algn="l"/>
              </a:tabLst>
            </a:pP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Rationality</a:t>
            </a:r>
            <a:endParaRPr sz="3200" dirty="0">
              <a:latin typeface="Arial MT"/>
              <a:cs typeface="Arial MT"/>
            </a:endParaRPr>
          </a:p>
          <a:p>
            <a:pPr marL="727710" marR="5080" indent="-715645">
              <a:lnSpc>
                <a:spcPts val="3790"/>
              </a:lnSpc>
              <a:spcBef>
                <a:spcPts val="3304"/>
              </a:spcBef>
              <a:buClr>
                <a:srgbClr val="1A1AFF"/>
              </a:buClr>
              <a:buFont typeface="Wingdings"/>
              <a:buChar char=""/>
              <a:tabLst>
                <a:tab pos="72771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PEAS</a:t>
            </a:r>
            <a:r>
              <a:rPr sz="32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(Performance</a:t>
            </a:r>
            <a:r>
              <a:rPr sz="3200" spc="-1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measure, Environment,</a:t>
            </a:r>
            <a:r>
              <a:rPr sz="32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Actuators,</a:t>
            </a:r>
            <a:r>
              <a:rPr sz="3200" spc="-2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Sensors)</a:t>
            </a:r>
            <a:endParaRPr sz="3200" dirty="0">
              <a:latin typeface="Arial MT"/>
              <a:cs typeface="Arial MT"/>
            </a:endParaRPr>
          </a:p>
          <a:p>
            <a:pPr marL="727710" indent="-715010">
              <a:lnSpc>
                <a:spcPct val="100000"/>
              </a:lnSpc>
              <a:spcBef>
                <a:spcPts val="2885"/>
              </a:spcBef>
              <a:buClr>
                <a:srgbClr val="1A1AFF"/>
              </a:buClr>
              <a:buFont typeface="Wingdings"/>
              <a:buChar char=""/>
              <a:tabLst>
                <a:tab pos="72771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Environment</a:t>
            </a:r>
            <a:r>
              <a:rPr sz="3200" spc="-20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00008F"/>
                </a:solidFill>
                <a:latin typeface="Arial MT"/>
                <a:cs typeface="Arial MT"/>
              </a:rPr>
              <a:t>types</a:t>
            </a:r>
            <a:endParaRPr sz="3200" dirty="0">
              <a:latin typeface="Arial MT"/>
              <a:cs typeface="Arial MT"/>
            </a:endParaRPr>
          </a:p>
          <a:p>
            <a:pPr marL="727710" indent="-715010">
              <a:lnSpc>
                <a:spcPct val="100000"/>
              </a:lnSpc>
              <a:spcBef>
                <a:spcPts val="3120"/>
              </a:spcBef>
              <a:buClr>
                <a:srgbClr val="1A1AFF"/>
              </a:buClr>
              <a:buFont typeface="Wingdings"/>
              <a:buChar char=""/>
              <a:tabLst>
                <a:tab pos="72771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32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types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44181"/>
            <a:ext cx="2040820" cy="920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2841" y="560577"/>
            <a:ext cx="5010404" cy="6112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53F1-49B7-4EB2-9AD2-D498254DA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4" y="6096000"/>
            <a:ext cx="9143999" cy="307777"/>
          </a:xfrm>
        </p:spPr>
        <p:txBody>
          <a:bodyPr/>
          <a:lstStyle/>
          <a:p>
            <a:r>
              <a:rPr lang="en-US" sz="2000" dirty="0">
                <a:solidFill>
                  <a:srgbClr val="3A08F2"/>
                </a:solidFill>
              </a:rPr>
              <a:t>Certainly not these…</a:t>
            </a:r>
          </a:p>
        </p:txBody>
      </p:sp>
      <p:pic>
        <p:nvPicPr>
          <p:cNvPr id="1026" name="Picture 2" descr="Pin on For the Home">
            <a:extLst>
              <a:ext uri="{FF2B5EF4-FFF2-40B4-BE49-F238E27FC236}">
                <a16:creationId xmlns:a16="http://schemas.microsoft.com/office/drawing/2014/main" id="{AA75470F-5E5A-45C4-92EA-855F293DFD77}"/>
              </a:ext>
            </a:extLst>
          </p:cNvPr>
          <p:cNvPicPr>
            <a:picLocks noGrp="1" noChangeAspect="1" noChangeArrowheads="1" noCrop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69" r="11269"/>
          <a:stretch>
            <a:fillRect/>
          </a:stretch>
        </p:blipFill>
        <p:spPr bwMode="auto">
          <a:xfrm>
            <a:off x="2" y="1181830"/>
            <a:ext cx="9144000" cy="480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384"/>
            <a:ext cx="1615580" cy="7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4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656" y="1143000"/>
            <a:ext cx="228974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656" y="2209800"/>
            <a:ext cx="8077199" cy="280910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765" marR="299720">
              <a:spcBef>
                <a:spcPts val="600"/>
              </a:spcBef>
              <a:spcAft>
                <a:spcPts val="600"/>
              </a:spcAf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An</a:t>
            </a:r>
            <a:r>
              <a:rPr sz="32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agent</a:t>
            </a:r>
            <a:r>
              <a:rPr sz="32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is</a:t>
            </a:r>
            <a:r>
              <a:rPr sz="32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anything</a:t>
            </a:r>
            <a:r>
              <a:rPr sz="32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that</a:t>
            </a:r>
            <a:r>
              <a:rPr sz="32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can</a:t>
            </a:r>
            <a:r>
              <a:rPr sz="32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 smtClean="0">
                <a:solidFill>
                  <a:srgbClr val="00008F"/>
                </a:solidFill>
                <a:latin typeface="Arial MT"/>
                <a:cs typeface="Arial MT"/>
              </a:rPr>
              <a:t>be</a:t>
            </a:r>
            <a:r>
              <a:rPr lang="en-US" sz="32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 smtClean="0">
                <a:solidFill>
                  <a:srgbClr val="00008F"/>
                </a:solidFill>
                <a:latin typeface="Arial MT"/>
                <a:cs typeface="Arial MT"/>
              </a:rPr>
              <a:t>viewed</a:t>
            </a:r>
            <a:r>
              <a:rPr sz="3200" spc="-20" dirty="0" smtClean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as</a:t>
            </a:r>
            <a:r>
              <a:rPr sz="32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perceiving</a:t>
            </a:r>
            <a:r>
              <a:rPr sz="32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00008F"/>
                </a:solidFill>
                <a:latin typeface="Arial MT"/>
                <a:cs typeface="Arial MT"/>
              </a:rPr>
              <a:t>its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environment</a:t>
            </a:r>
            <a:r>
              <a:rPr sz="32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 smtClean="0">
                <a:solidFill>
                  <a:srgbClr val="00008F"/>
                </a:solidFill>
                <a:latin typeface="Arial MT"/>
                <a:cs typeface="Arial MT"/>
              </a:rPr>
              <a:t>through</a:t>
            </a:r>
            <a:r>
              <a:rPr sz="3200" spc="-125" dirty="0" smtClean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sensors</a:t>
            </a:r>
            <a:r>
              <a:rPr sz="32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32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acting</a:t>
            </a:r>
            <a:r>
              <a:rPr sz="32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upon</a:t>
            </a:r>
            <a:r>
              <a:rPr sz="32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00008F"/>
                </a:solidFill>
                <a:latin typeface="Arial MT"/>
                <a:cs typeface="Arial MT"/>
              </a:rPr>
              <a:t>that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environment</a:t>
            </a:r>
            <a:r>
              <a:rPr sz="32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through</a:t>
            </a:r>
            <a:r>
              <a:rPr sz="3200" spc="-1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actuators.</a:t>
            </a:r>
            <a:endParaRPr sz="3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360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BE2250-CD0C-42D5-B371-2B54E0DF00DA}"/>
              </a:ext>
            </a:extLst>
          </p:cNvPr>
          <p:cNvSpPr/>
          <p:nvPr/>
        </p:nvSpPr>
        <p:spPr>
          <a:xfrm>
            <a:off x="884208" y="1433063"/>
            <a:ext cx="2885536" cy="3726611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491E2-B542-490E-BA58-A627AF1AF93B}"/>
              </a:ext>
            </a:extLst>
          </p:cNvPr>
          <p:cNvSpPr/>
          <p:nvPr/>
        </p:nvSpPr>
        <p:spPr>
          <a:xfrm>
            <a:off x="5576978" y="1433064"/>
            <a:ext cx="2885536" cy="3726611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sz="2400" b="1" dirty="0"/>
              <a:t>Environment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D02C29-EC23-4136-877D-32F296CB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568" y="-9016"/>
            <a:ext cx="8690863" cy="430887"/>
          </a:xfrm>
        </p:spPr>
        <p:txBody>
          <a:bodyPr/>
          <a:lstStyle/>
          <a:p>
            <a:r>
              <a:rPr lang="en-US" dirty="0" smtClean="0"/>
              <a:t>AGENTS</a:t>
            </a:r>
            <a:endParaRPr lang="en-US" dirty="0"/>
          </a:p>
        </p:txBody>
      </p:sp>
      <p:pic>
        <p:nvPicPr>
          <p:cNvPr id="8" name="Graphic 7" descr="Deciduous tree">
            <a:extLst>
              <a:ext uri="{FF2B5EF4-FFF2-40B4-BE49-F238E27FC236}">
                <a16:creationId xmlns:a16="http://schemas.microsoft.com/office/drawing/2014/main" id="{18346884-447A-4F18-980A-69017A834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2575" y="1889186"/>
            <a:ext cx="3034341" cy="3034341"/>
          </a:xfrm>
          <a:prstGeom prst="rect">
            <a:avLst/>
          </a:prstGeom>
        </p:spPr>
      </p:pic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C9EDEEF5-57D6-46EC-A43E-7C5BAF123A40}"/>
              </a:ext>
            </a:extLst>
          </p:cNvPr>
          <p:cNvSpPr/>
          <p:nvPr/>
        </p:nvSpPr>
        <p:spPr>
          <a:xfrm flipH="1">
            <a:off x="3839291" y="1604482"/>
            <a:ext cx="1700483" cy="1314665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Percepts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C8B97A17-BBFB-4732-9FE3-922774ACA990}"/>
              </a:ext>
            </a:extLst>
          </p:cNvPr>
          <p:cNvSpPr/>
          <p:nvPr/>
        </p:nvSpPr>
        <p:spPr>
          <a:xfrm>
            <a:off x="3839292" y="3755890"/>
            <a:ext cx="1700483" cy="1314665"/>
          </a:xfrm>
          <a:prstGeom prst="striped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Acts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3BADDD-C8FC-48B4-91AE-67D680B574A9}"/>
              </a:ext>
            </a:extLst>
          </p:cNvPr>
          <p:cNvGrpSpPr/>
          <p:nvPr/>
        </p:nvGrpSpPr>
        <p:grpSpPr>
          <a:xfrm>
            <a:off x="916557" y="1885950"/>
            <a:ext cx="2820837" cy="2820837"/>
            <a:chOff x="1222076" y="1371600"/>
            <a:chExt cx="3761116" cy="3761116"/>
          </a:xfrm>
        </p:grpSpPr>
        <p:pic>
          <p:nvPicPr>
            <p:cNvPr id="5" name="Graphic 4" descr="Robot">
              <a:extLst>
                <a:ext uri="{FF2B5EF4-FFF2-40B4-BE49-F238E27FC236}">
                  <a16:creationId xmlns:a16="http://schemas.microsoft.com/office/drawing/2014/main" id="{C845A842-9CC4-49EF-A7D9-181E9F8AC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2076" y="1371600"/>
              <a:ext cx="3761116" cy="376111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084263A-BF6D-4C69-B534-C513C5F95B19}"/>
                </a:ext>
              </a:extLst>
            </p:cNvPr>
            <p:cNvSpPr txBox="1"/>
            <p:nvPr/>
          </p:nvSpPr>
          <p:spPr>
            <a:xfrm>
              <a:off x="2527443" y="3020603"/>
              <a:ext cx="1160979" cy="1015663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4950" b="1" dirty="0">
                  <a:ln w="28575">
                    <a:solidFill>
                      <a:sysClr val="windowText" lastClr="000000"/>
                    </a:solidFill>
                  </a:ln>
                  <a:solidFill>
                    <a:srgbClr val="A89C8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  <a:endParaRPr lang="en-US" sz="1200" b="1" dirty="0">
                <a:ln w="28575">
                  <a:solidFill>
                    <a:sysClr val="windowText" lastClr="000000"/>
                  </a:solidFill>
                </a:ln>
                <a:solidFill>
                  <a:srgbClr val="A89C8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Block Arc 14">
            <a:extLst>
              <a:ext uri="{FF2B5EF4-FFF2-40B4-BE49-F238E27FC236}">
                <a16:creationId xmlns:a16="http://schemas.microsoft.com/office/drawing/2014/main" id="{DA52A00C-D175-4EB4-8E15-4456D92AA940}"/>
              </a:ext>
            </a:extLst>
          </p:cNvPr>
          <p:cNvSpPr/>
          <p:nvPr/>
        </p:nvSpPr>
        <p:spPr>
          <a:xfrm rot="3509655">
            <a:off x="2206336" y="1941562"/>
            <a:ext cx="423809" cy="414413"/>
          </a:xfrm>
          <a:prstGeom prst="blockArc">
            <a:avLst>
              <a:gd name="adj1" fmla="val 10800000"/>
              <a:gd name="adj2" fmla="val 20630815"/>
              <a:gd name="adj3" fmla="val 12532"/>
            </a:avLst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Block Arc 15">
            <a:extLst>
              <a:ext uri="{FF2B5EF4-FFF2-40B4-BE49-F238E27FC236}">
                <a16:creationId xmlns:a16="http://schemas.microsoft.com/office/drawing/2014/main" id="{91FF2B94-9C30-4086-BE83-1785F2BA8090}"/>
              </a:ext>
            </a:extLst>
          </p:cNvPr>
          <p:cNvSpPr/>
          <p:nvPr/>
        </p:nvSpPr>
        <p:spPr>
          <a:xfrm rot="3509655">
            <a:off x="2241235" y="1848631"/>
            <a:ext cx="613223" cy="465452"/>
          </a:xfrm>
          <a:prstGeom prst="blockArc">
            <a:avLst>
              <a:gd name="adj1" fmla="val 10800000"/>
              <a:gd name="adj2" fmla="val 20630815"/>
              <a:gd name="adj3" fmla="val 12532"/>
            </a:avLst>
          </a:prstGeom>
          <a:solidFill>
            <a:srgbClr val="92D05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1A5E7CD-F087-4ADE-AB94-43FF77352552}"/>
              </a:ext>
            </a:extLst>
          </p:cNvPr>
          <p:cNvSpPr/>
          <p:nvPr/>
        </p:nvSpPr>
        <p:spPr>
          <a:xfrm rot="16626759">
            <a:off x="3775316" y="1322528"/>
            <a:ext cx="701211" cy="3184571"/>
          </a:xfrm>
          <a:prstGeom prst="triangle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EFDA2-AB48-41AA-8667-4B5528A95744}"/>
              </a:ext>
            </a:extLst>
          </p:cNvPr>
          <p:cNvSpPr txBox="1"/>
          <p:nvPr/>
        </p:nvSpPr>
        <p:spPr>
          <a:xfrm>
            <a:off x="900670" y="2081358"/>
            <a:ext cx="113049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cap="small" dirty="0">
                <a:ln w="6350">
                  <a:noFill/>
                </a:ln>
              </a:rPr>
              <a:t>Sensors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AA72AF-ED8F-4853-A65E-557AA4B2E4A9}"/>
              </a:ext>
            </a:extLst>
          </p:cNvPr>
          <p:cNvSpPr txBox="1"/>
          <p:nvPr/>
        </p:nvSpPr>
        <p:spPr>
          <a:xfrm>
            <a:off x="916558" y="4468571"/>
            <a:ext cx="135061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cap="small" dirty="0">
                <a:ln w="6350">
                  <a:noFill/>
                </a:ln>
              </a:rPr>
              <a:t>Actuators</a:t>
            </a:r>
            <a:endParaRPr lang="en-US" cap="small" dirty="0">
              <a:ln w="6350"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0768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10" presetClass="entr" presetSubtype="0" repeatCount="indefinite" fill="hold" grpId="0" nodeType="withEffect">
                                  <p:stCondLst>
                                    <p:cond delay="7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22" presetClass="entr" presetSubtype="8" repeatCount="indefinite" fill="remove" grpId="0" nodeType="withEffect">
                                  <p:stCondLst>
                                    <p:cond delay="75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1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2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2.91667E-6 -4.07407E-6 L 0.07838 0.0027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838200"/>
            <a:ext cx="1218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2587" y="1524000"/>
            <a:ext cx="7972425" cy="383816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20"/>
              </a:spcBef>
            </a:pPr>
            <a:endParaRPr sz="2400" dirty="0">
              <a:latin typeface="Arial MT"/>
              <a:cs typeface="Arial MT"/>
            </a:endParaRPr>
          </a:p>
          <a:p>
            <a:pPr marL="24765" marR="369570">
              <a:lnSpc>
                <a:spcPts val="2700"/>
              </a:lnSpc>
            </a:pPr>
            <a:r>
              <a:rPr sz="2400" u="heavy" dirty="0">
                <a:solidFill>
                  <a:srgbClr val="00008F"/>
                </a:solidFill>
                <a:uFill>
                  <a:solidFill>
                    <a:srgbClr val="00008F"/>
                  </a:solidFill>
                </a:uFill>
                <a:latin typeface="Arial MT"/>
                <a:cs typeface="Arial MT"/>
              </a:rPr>
              <a:t>Human</a:t>
            </a:r>
            <a:r>
              <a:rPr sz="2400" u="heavy" spc="-60" dirty="0">
                <a:solidFill>
                  <a:srgbClr val="00008F"/>
                </a:solidFill>
                <a:uFill>
                  <a:solidFill>
                    <a:srgbClr val="00008F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dirty="0">
                <a:solidFill>
                  <a:srgbClr val="00008F"/>
                </a:solidFill>
                <a:uFill>
                  <a:solidFill>
                    <a:srgbClr val="00008F"/>
                  </a:solidFill>
                </a:uFill>
                <a:latin typeface="Arial MT"/>
                <a:cs typeface="Arial MT"/>
              </a:rPr>
              <a:t>agent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Eyes,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ears,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other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organs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for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sensors;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hands,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legs,</a:t>
            </a:r>
            <a:r>
              <a:rPr sz="2400" spc="-4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mouth,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other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body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parts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for</a:t>
            </a:r>
            <a:r>
              <a:rPr sz="2400" spc="-13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actuators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2400" dirty="0">
              <a:latin typeface="Arial MT"/>
              <a:cs typeface="Arial MT"/>
            </a:endParaRPr>
          </a:p>
          <a:p>
            <a:pPr marL="24765" marR="661670">
              <a:lnSpc>
                <a:spcPts val="2700"/>
              </a:lnSpc>
            </a:pPr>
            <a:r>
              <a:rPr sz="2400" u="heavy" dirty="0">
                <a:solidFill>
                  <a:srgbClr val="00008F"/>
                </a:solidFill>
                <a:uFill>
                  <a:solidFill>
                    <a:srgbClr val="00008F"/>
                  </a:solidFill>
                </a:uFill>
                <a:latin typeface="Arial MT"/>
                <a:cs typeface="Arial MT"/>
              </a:rPr>
              <a:t>Robotic</a:t>
            </a:r>
            <a:r>
              <a:rPr sz="2400" u="heavy" spc="-105" dirty="0">
                <a:solidFill>
                  <a:srgbClr val="00008F"/>
                </a:solidFill>
                <a:uFill>
                  <a:solidFill>
                    <a:srgbClr val="00008F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dirty="0">
                <a:solidFill>
                  <a:srgbClr val="00008F"/>
                </a:solidFill>
                <a:uFill>
                  <a:solidFill>
                    <a:srgbClr val="00008F"/>
                  </a:solidFill>
                </a:uFill>
                <a:latin typeface="Arial MT"/>
                <a:cs typeface="Arial MT"/>
              </a:rPr>
              <a:t>agent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400" spc="-11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Cameras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infrared</a:t>
            </a:r>
            <a:r>
              <a:rPr sz="2400" spc="-1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range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finders</a:t>
            </a:r>
            <a:r>
              <a:rPr sz="24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for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sensors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;</a:t>
            </a:r>
            <a:r>
              <a:rPr sz="24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various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motors</a:t>
            </a:r>
            <a:r>
              <a:rPr sz="2400" spc="-1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for</a:t>
            </a:r>
            <a:r>
              <a:rPr sz="24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actuators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12700" marR="5080">
              <a:lnSpc>
                <a:spcPct val="107100"/>
              </a:lnSpc>
              <a:spcBef>
                <a:spcPts val="2725"/>
              </a:spcBef>
            </a:pPr>
            <a:r>
              <a:rPr sz="2400" u="heavy" spc="-10" dirty="0">
                <a:solidFill>
                  <a:srgbClr val="00008F"/>
                </a:solidFill>
                <a:uFill>
                  <a:solidFill>
                    <a:srgbClr val="00008F"/>
                  </a:solidFill>
                </a:uFill>
                <a:latin typeface="Arial MT"/>
                <a:cs typeface="Arial MT"/>
              </a:rPr>
              <a:t>Software</a:t>
            </a:r>
            <a:r>
              <a:rPr sz="2400" u="heavy" spc="-130" dirty="0">
                <a:solidFill>
                  <a:srgbClr val="00008F"/>
                </a:solidFill>
                <a:uFill>
                  <a:solidFill>
                    <a:srgbClr val="00008F"/>
                  </a:solidFill>
                </a:uFill>
                <a:latin typeface="Arial MT"/>
                <a:cs typeface="Arial MT"/>
              </a:rPr>
              <a:t> </a:t>
            </a:r>
            <a:r>
              <a:rPr sz="2400" u="heavy" dirty="0">
                <a:solidFill>
                  <a:srgbClr val="00008F"/>
                </a:solidFill>
                <a:uFill>
                  <a:solidFill>
                    <a:srgbClr val="00008F"/>
                  </a:solidFill>
                </a:uFill>
                <a:latin typeface="Arial MT"/>
                <a:cs typeface="Arial MT"/>
              </a:rPr>
              <a:t>agent:</a:t>
            </a:r>
            <a:r>
              <a:rPr sz="24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Software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is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</a:t>
            </a:r>
            <a:r>
              <a:rPr sz="24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computer</a:t>
            </a:r>
            <a:r>
              <a:rPr sz="2400" spc="-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program</a:t>
            </a:r>
            <a:r>
              <a:rPr sz="24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that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acts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24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user</a:t>
            </a:r>
            <a:r>
              <a:rPr sz="24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or</a:t>
            </a:r>
            <a:r>
              <a:rPr sz="24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other</a:t>
            </a:r>
            <a:r>
              <a:rPr sz="24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program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agreement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to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act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on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one's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behalf.</a:t>
            </a:r>
            <a:endParaRPr sz="2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2819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01417" y="1447800"/>
            <a:ext cx="4741163" cy="3962400"/>
            <a:chOff x="440436" y="1066800"/>
            <a:chExt cx="8246745" cy="5486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895600"/>
              <a:ext cx="8229600" cy="3657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436" y="1066800"/>
              <a:ext cx="8229600" cy="25146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6295" rIns="0" bIns="0" rtlCol="0">
            <a:spAutoFit/>
          </a:bodyPr>
          <a:lstStyle/>
          <a:p>
            <a:pPr marL="32194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6F2F9F"/>
                </a:solidFill>
                <a:latin typeface="Calibri"/>
                <a:cs typeface="Calibri"/>
              </a:rPr>
              <a:t>Robotic</a:t>
            </a:r>
            <a:r>
              <a:rPr spc="-1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pc="-20" dirty="0">
                <a:solidFill>
                  <a:srgbClr val="6F2F9F"/>
                </a:solidFill>
                <a:latin typeface="Calibri"/>
                <a:cs typeface="Calibri"/>
              </a:rPr>
              <a:t>Agent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4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110" dirty="0"/>
              <a:t> </a:t>
            </a:r>
            <a:r>
              <a:rPr spc="-10" dirty="0"/>
              <a:t>Agent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244" y="914400"/>
            <a:ext cx="2991611" cy="5181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9555" y="762000"/>
            <a:ext cx="3505200" cy="533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BE2250-CD0C-42D5-B371-2B54E0DF00DA}"/>
              </a:ext>
            </a:extLst>
          </p:cNvPr>
          <p:cNvSpPr/>
          <p:nvPr/>
        </p:nvSpPr>
        <p:spPr>
          <a:xfrm>
            <a:off x="222613" y="1489541"/>
            <a:ext cx="2235411" cy="4160242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just"/>
            <a:r>
              <a:rPr lang="en-US" sz="2400" b="1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491E2-B542-490E-BA58-A627AF1AF93B}"/>
              </a:ext>
            </a:extLst>
          </p:cNvPr>
          <p:cNvSpPr/>
          <p:nvPr/>
        </p:nvSpPr>
        <p:spPr>
          <a:xfrm>
            <a:off x="3489597" y="1489541"/>
            <a:ext cx="531438" cy="4160242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" rtlCol="0" anchor="t" anchorCtr="0"/>
          <a:lstStyle/>
          <a:p>
            <a:pPr algn="ctr"/>
            <a:r>
              <a:rPr lang="en-US" sz="2700" dirty="0"/>
              <a:t>Environment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D02C29-EC23-4136-877D-32F296CB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568" y="-9016"/>
            <a:ext cx="8690863" cy="430887"/>
          </a:xfrm>
        </p:spPr>
        <p:txBody>
          <a:bodyPr/>
          <a:lstStyle/>
          <a:p>
            <a:r>
              <a:rPr lang="en-US" dirty="0"/>
              <a:t>Percept Sequence</a:t>
            </a:r>
          </a:p>
        </p:txBody>
      </p:sp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C9EDEEF5-57D6-46EC-A43E-7C5BAF123A40}"/>
              </a:ext>
            </a:extLst>
          </p:cNvPr>
          <p:cNvSpPr/>
          <p:nvPr/>
        </p:nvSpPr>
        <p:spPr>
          <a:xfrm flipH="1">
            <a:off x="2501822" y="1777556"/>
            <a:ext cx="950295" cy="1314665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Percepts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C8B97A17-BBFB-4732-9FE3-922774ACA990}"/>
              </a:ext>
            </a:extLst>
          </p:cNvPr>
          <p:cNvSpPr/>
          <p:nvPr/>
        </p:nvSpPr>
        <p:spPr>
          <a:xfrm>
            <a:off x="2501823" y="3928965"/>
            <a:ext cx="950294" cy="1314665"/>
          </a:xfrm>
          <a:prstGeom prst="striped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100" dirty="0">
                <a:solidFill>
                  <a:schemeClr val="tx1"/>
                </a:solidFill>
              </a:rPr>
              <a:t>Acts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EFDA2-AB48-41AA-8667-4B5528A95744}"/>
              </a:ext>
            </a:extLst>
          </p:cNvPr>
          <p:cNvSpPr txBox="1"/>
          <p:nvPr/>
        </p:nvSpPr>
        <p:spPr>
          <a:xfrm>
            <a:off x="1050145" y="1904903"/>
            <a:ext cx="10534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cap="small" dirty="0">
                <a:ln w="6350">
                  <a:noFill/>
                </a:ln>
              </a:rPr>
              <a:t>Sensors</a:t>
            </a:r>
            <a:endParaRPr lang="en-US" sz="2700" cap="small" dirty="0">
              <a:ln w="6350">
                <a:noFill/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AA72AF-ED8F-4853-A65E-557AA4B2E4A9}"/>
              </a:ext>
            </a:extLst>
          </p:cNvPr>
          <p:cNvSpPr txBox="1"/>
          <p:nvPr/>
        </p:nvSpPr>
        <p:spPr>
          <a:xfrm>
            <a:off x="947788" y="5042835"/>
            <a:ext cx="11558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cap="small" dirty="0">
                <a:ln w="6350">
                  <a:noFill/>
                </a:ln>
              </a:rPr>
              <a:t>Actuators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F970A-B3F4-4346-9606-D69F68661313}"/>
              </a:ext>
            </a:extLst>
          </p:cNvPr>
          <p:cNvSpPr txBox="1"/>
          <p:nvPr/>
        </p:nvSpPr>
        <p:spPr>
          <a:xfrm>
            <a:off x="840692" y="2920429"/>
            <a:ext cx="1370005" cy="1592744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350" b="1" dirty="0">
                <a:ln w="28575">
                  <a:solidFill>
                    <a:sysClr val="windowText" lastClr="000000"/>
                  </a:solidFill>
                </a:ln>
                <a:solidFill>
                  <a:srgbClr val="A89C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700" b="1" dirty="0">
              <a:ln w="28575">
                <a:solidFill>
                  <a:sysClr val="windowText" lastClr="000000"/>
                </a:solidFill>
              </a:ln>
              <a:solidFill>
                <a:srgbClr val="A89C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86DC27-F2E4-4A70-92A2-07C3F3FA0862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1525694" y="2204985"/>
            <a:ext cx="0" cy="715444"/>
          </a:xfrm>
          <a:prstGeom prst="straightConnector1">
            <a:avLst/>
          </a:prstGeom>
          <a:ln w="7620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DFE82D-27C8-4E8E-B8CF-2FFB09E522DF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flipH="1">
            <a:off x="1525694" y="4513172"/>
            <a:ext cx="1" cy="529662"/>
          </a:xfrm>
          <a:prstGeom prst="straightConnector1">
            <a:avLst/>
          </a:prstGeom>
          <a:ln w="7620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F6295DA-4AB0-4BC0-9803-1E2C30F660DE}"/>
              </a:ext>
            </a:extLst>
          </p:cNvPr>
          <p:cNvSpPr txBox="1"/>
          <p:nvPr/>
        </p:nvSpPr>
        <p:spPr>
          <a:xfrm>
            <a:off x="4191856" y="1389754"/>
            <a:ext cx="4808306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700" b="1" dirty="0">
                <a:ln>
                  <a:solidFill>
                    <a:schemeClr val="tx1"/>
                  </a:solidFill>
                </a:ln>
                <a:solidFill>
                  <a:srgbClr val="66FF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percept</a:t>
            </a:r>
            <a:r>
              <a:rPr lang="en-US" sz="27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2700" dirty="0">
                <a:latin typeface="Calibri Light" panose="020F0302020204030204" pitchFamily="34" charset="0"/>
                <a:cs typeface="Calibri Light" panose="020F0302020204030204" pitchFamily="34" charset="0"/>
              </a:rPr>
              <a:t>refers to the agent’s perceptual inputs at any given instant. 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2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endParaRPr lang="en-US" sz="27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2700" dirty="0">
                <a:latin typeface="Calibri Light" panose="020F0302020204030204" pitchFamily="34" charset="0"/>
                <a:cs typeface="Calibri Light" panose="020F0302020204030204" pitchFamily="34" charset="0"/>
              </a:rPr>
              <a:t>An agent’s </a:t>
            </a:r>
            <a:r>
              <a:rPr lang="en-US" sz="2700" b="1" dirty="0">
                <a:ln>
                  <a:solidFill>
                    <a:schemeClr val="tx1"/>
                  </a:solidFill>
                </a:ln>
                <a:solidFill>
                  <a:srgbClr val="00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percept</a:t>
            </a:r>
            <a:r>
              <a:rPr lang="en-US" sz="2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700" b="1" dirty="0">
                <a:ln>
                  <a:solidFill>
                    <a:schemeClr val="tx1"/>
                  </a:solidFill>
                </a:ln>
                <a:solidFill>
                  <a:srgbClr val="00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en-US" sz="2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700" dirty="0">
                <a:latin typeface="Calibri Light" panose="020F0302020204030204" pitchFamily="34" charset="0"/>
                <a:cs typeface="Calibri Light" panose="020F0302020204030204" pitchFamily="34" charset="0"/>
              </a:rPr>
              <a:t>is the complete history of everything the agent has ever perceived.</a:t>
            </a:r>
          </a:p>
        </p:txBody>
      </p:sp>
    </p:spTree>
    <p:extLst>
      <p:ext uri="{BB962C8B-B14F-4D97-AF65-F5344CB8AC3E}">
        <p14:creationId xmlns:p14="http://schemas.microsoft.com/office/powerpoint/2010/main" val="215896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3BE2250-CD0C-42D5-B371-2B54E0DF00DA}"/>
              </a:ext>
            </a:extLst>
          </p:cNvPr>
          <p:cNvSpPr/>
          <p:nvPr/>
        </p:nvSpPr>
        <p:spPr>
          <a:xfrm>
            <a:off x="222613" y="1489541"/>
            <a:ext cx="2235411" cy="4160242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just"/>
            <a:r>
              <a:rPr lang="en-US" sz="2400" b="1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8491E2-B542-490E-BA58-A627AF1AF93B}"/>
              </a:ext>
            </a:extLst>
          </p:cNvPr>
          <p:cNvSpPr/>
          <p:nvPr/>
        </p:nvSpPr>
        <p:spPr>
          <a:xfrm>
            <a:off x="3489597" y="1489541"/>
            <a:ext cx="531438" cy="4160242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vert" rtlCol="0" anchor="t" anchorCtr="0"/>
          <a:lstStyle/>
          <a:p>
            <a:pPr algn="ctr"/>
            <a:r>
              <a:rPr lang="en-US" sz="2700" dirty="0"/>
              <a:t>Environment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5D02C29-EC23-4136-877D-32F296CB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568" y="-9016"/>
            <a:ext cx="8690863" cy="430887"/>
          </a:xfrm>
        </p:spPr>
        <p:txBody>
          <a:bodyPr/>
          <a:lstStyle/>
          <a:p>
            <a:r>
              <a:rPr lang="en-US" dirty="0"/>
              <a:t>Agent Function</a:t>
            </a:r>
          </a:p>
        </p:txBody>
      </p:sp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C9EDEEF5-57D6-46EC-A43E-7C5BAF123A40}"/>
              </a:ext>
            </a:extLst>
          </p:cNvPr>
          <p:cNvSpPr/>
          <p:nvPr/>
        </p:nvSpPr>
        <p:spPr>
          <a:xfrm flipH="1">
            <a:off x="2501822" y="1777556"/>
            <a:ext cx="950295" cy="1314665"/>
          </a:xfrm>
          <a:prstGeom prst="stripedRight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Percepts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C8B97A17-BBFB-4732-9FE3-922774ACA990}"/>
              </a:ext>
            </a:extLst>
          </p:cNvPr>
          <p:cNvSpPr/>
          <p:nvPr/>
        </p:nvSpPr>
        <p:spPr>
          <a:xfrm>
            <a:off x="2501823" y="3928965"/>
            <a:ext cx="950294" cy="1314665"/>
          </a:xfrm>
          <a:prstGeom prst="stripedRight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100" dirty="0">
                <a:solidFill>
                  <a:schemeClr val="tx1"/>
                </a:solidFill>
              </a:rPr>
              <a:t>Acts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EFDA2-AB48-41AA-8667-4B5528A95744}"/>
              </a:ext>
            </a:extLst>
          </p:cNvPr>
          <p:cNvSpPr txBox="1"/>
          <p:nvPr/>
        </p:nvSpPr>
        <p:spPr>
          <a:xfrm>
            <a:off x="1050145" y="1904903"/>
            <a:ext cx="10534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cap="small" dirty="0">
                <a:ln w="6350">
                  <a:noFill/>
                </a:ln>
              </a:rPr>
              <a:t>Sensors</a:t>
            </a:r>
            <a:endParaRPr lang="en-US" sz="2700" cap="small" dirty="0">
              <a:ln w="6350">
                <a:noFill/>
              </a:ln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AA72AF-ED8F-4853-A65E-557AA4B2E4A9}"/>
              </a:ext>
            </a:extLst>
          </p:cNvPr>
          <p:cNvSpPr txBox="1"/>
          <p:nvPr/>
        </p:nvSpPr>
        <p:spPr>
          <a:xfrm>
            <a:off x="947788" y="5042835"/>
            <a:ext cx="115581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cap="small" dirty="0">
                <a:ln w="6350">
                  <a:noFill/>
                </a:ln>
              </a:rPr>
              <a:t>Actuators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F970A-B3F4-4346-9606-D69F68661313}"/>
              </a:ext>
            </a:extLst>
          </p:cNvPr>
          <p:cNvSpPr txBox="1"/>
          <p:nvPr/>
        </p:nvSpPr>
        <p:spPr>
          <a:xfrm>
            <a:off x="840692" y="2920429"/>
            <a:ext cx="1370005" cy="1592744"/>
          </a:xfrm>
          <a:prstGeom prst="rect">
            <a:avLst/>
          </a:prstGeom>
          <a:solidFill>
            <a:srgbClr val="92D050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350" b="1" dirty="0">
                <a:ln w="28575">
                  <a:solidFill>
                    <a:sysClr val="windowText" lastClr="000000"/>
                  </a:solidFill>
                </a:ln>
                <a:solidFill>
                  <a:srgbClr val="A89C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700" b="1" dirty="0">
              <a:ln w="28575">
                <a:solidFill>
                  <a:sysClr val="windowText" lastClr="000000"/>
                </a:solidFill>
              </a:ln>
              <a:solidFill>
                <a:srgbClr val="A89C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B86DC27-F2E4-4A70-92A2-07C3F3FA0862}"/>
              </a:ext>
            </a:extLst>
          </p:cNvPr>
          <p:cNvCxnSpPr>
            <a:cxnSpLocks/>
            <a:stCxn id="18" idx="2"/>
            <a:endCxn id="21" idx="0"/>
          </p:cNvCxnSpPr>
          <p:nvPr/>
        </p:nvCxnSpPr>
        <p:spPr>
          <a:xfrm>
            <a:off x="1525694" y="2204985"/>
            <a:ext cx="0" cy="715444"/>
          </a:xfrm>
          <a:prstGeom prst="straightConnector1">
            <a:avLst/>
          </a:prstGeom>
          <a:ln w="7620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DFE82D-27C8-4E8E-B8CF-2FFB09E522DF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flipH="1">
            <a:off x="1525694" y="4513172"/>
            <a:ext cx="1" cy="529662"/>
          </a:xfrm>
          <a:prstGeom prst="straightConnector1">
            <a:avLst/>
          </a:prstGeom>
          <a:ln w="7620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F6295DA-4AB0-4BC0-9803-1E2C30F660DE}"/>
              </a:ext>
            </a:extLst>
          </p:cNvPr>
          <p:cNvSpPr txBox="1"/>
          <p:nvPr/>
        </p:nvSpPr>
        <p:spPr>
          <a:xfrm>
            <a:off x="4399908" y="1389754"/>
            <a:ext cx="460025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000" b="1" dirty="0"/>
          </a:p>
          <a:p>
            <a:endParaRPr lang="en-US" sz="3000" b="1" dirty="0"/>
          </a:p>
          <a:p>
            <a:r>
              <a:rPr lang="en-US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An agent’s behavior is</a:t>
            </a:r>
          </a:p>
          <a:p>
            <a:r>
              <a:rPr lang="en-US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described by the agent function </a:t>
            </a:r>
            <a:r>
              <a:rPr lang="en-US" sz="3000" b="1" dirty="0">
                <a:ln>
                  <a:solidFill>
                    <a:schemeClr val="tx1"/>
                  </a:solidFill>
                </a:ln>
                <a:solidFill>
                  <a:srgbClr val="00FFFF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Agent Function</a:t>
            </a:r>
            <a:r>
              <a:rPr lang="en-US" sz="3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3000" dirty="0">
                <a:latin typeface="Calibri Light" panose="020F0302020204030204" pitchFamily="34" charset="0"/>
                <a:cs typeface="Calibri Light" panose="020F0302020204030204" pitchFamily="34" charset="0"/>
              </a:rPr>
              <a:t>that maps any given percept sequence to an action.</a:t>
            </a:r>
          </a:p>
        </p:txBody>
      </p:sp>
    </p:spTree>
    <p:extLst>
      <p:ext uri="{BB962C8B-B14F-4D97-AF65-F5344CB8AC3E}">
        <p14:creationId xmlns:p14="http://schemas.microsoft.com/office/powerpoint/2010/main" val="82169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2376" rIns="0" bIns="0" rtlCol="0">
            <a:spAutoFit/>
          </a:bodyPr>
          <a:lstStyle/>
          <a:p>
            <a:pPr marL="506730">
              <a:lnSpc>
                <a:spcPct val="100000"/>
              </a:lnSpc>
              <a:spcBef>
                <a:spcPts val="95"/>
              </a:spcBef>
            </a:pPr>
            <a:r>
              <a:rPr dirty="0"/>
              <a:t>Agents</a:t>
            </a:r>
            <a:r>
              <a:rPr spc="-130" dirty="0"/>
              <a:t> </a:t>
            </a:r>
            <a:r>
              <a:rPr dirty="0"/>
              <a:t>and</a:t>
            </a:r>
            <a:r>
              <a:rPr spc="-170" dirty="0"/>
              <a:t> </a:t>
            </a:r>
            <a:r>
              <a:rPr spc="-20" dirty="0"/>
              <a:t>Environments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0953" y="3673025"/>
            <a:ext cx="7837170" cy="255778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agent</a:t>
            </a:r>
            <a:r>
              <a:rPr sz="2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sz="24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maps</a:t>
            </a:r>
            <a:r>
              <a:rPr sz="2400" spc="-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from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percept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histories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to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actions:</a:t>
            </a:r>
            <a:endParaRPr sz="2400">
              <a:latin typeface="Arial MT"/>
              <a:cs typeface="Arial MT"/>
            </a:endParaRPr>
          </a:p>
          <a:p>
            <a:pPr marL="504190" algn="ctr">
              <a:lnSpc>
                <a:spcPct val="100000"/>
              </a:lnSpc>
              <a:spcBef>
                <a:spcPts val="190"/>
              </a:spcBef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[</a:t>
            </a:r>
            <a:r>
              <a:rPr sz="2800" i="1" dirty="0">
                <a:solidFill>
                  <a:srgbClr val="00008F"/>
                </a:solidFill>
                <a:latin typeface="Arial"/>
                <a:cs typeface="Arial"/>
              </a:rPr>
              <a:t>f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8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Trebuchet MS"/>
                <a:cs typeface="Trebuchet MS"/>
              </a:rPr>
              <a:t>P*</a:t>
            </a:r>
            <a:r>
              <a:rPr sz="2800" spc="50" dirty="0">
                <a:solidFill>
                  <a:srgbClr val="00008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00008F"/>
                </a:solidFill>
                <a:latin typeface="Wingdings"/>
                <a:cs typeface="Wingdings"/>
              </a:rPr>
              <a:t></a:t>
            </a:r>
            <a:r>
              <a:rPr sz="2800" spc="-1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00008F"/>
                </a:solidFill>
                <a:latin typeface="Trebuchet MS"/>
                <a:cs typeface="Trebuchet MS"/>
              </a:rPr>
              <a:t>A</a:t>
            </a:r>
            <a:r>
              <a:rPr sz="2800" spc="-25" dirty="0">
                <a:solidFill>
                  <a:srgbClr val="00008F"/>
                </a:solidFill>
                <a:latin typeface="Arial MT"/>
                <a:cs typeface="Arial MT"/>
              </a:rPr>
              <a:t>]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ts val="2845"/>
              </a:lnSpc>
            </a:pP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agent</a:t>
            </a:r>
            <a:r>
              <a:rPr sz="24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program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runs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on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physical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architecture</a:t>
            </a:r>
            <a:r>
              <a:rPr sz="2400" spc="-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to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45"/>
              </a:lnSpc>
            </a:pP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produce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i="1" spc="-50" dirty="0">
                <a:solidFill>
                  <a:srgbClr val="00008F"/>
                </a:solidFill>
                <a:latin typeface="Arial"/>
                <a:cs typeface="Arial"/>
              </a:rPr>
              <a:t>f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=</a:t>
            </a:r>
            <a:r>
              <a:rPr sz="2400" spc="-1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Architecture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+</a:t>
            </a:r>
            <a:r>
              <a:rPr sz="2400" spc="-1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Program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19200" y="914400"/>
            <a:ext cx="6172200" cy="2555875"/>
            <a:chOff x="1219200" y="914400"/>
            <a:chExt cx="6172200" cy="2555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800" y="914400"/>
              <a:ext cx="5943600" cy="25557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200" y="1094231"/>
              <a:ext cx="2209800" cy="218236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679194" y="898651"/>
            <a:ext cx="13887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environment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11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868" y="272034"/>
            <a:ext cx="37572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5" dirty="0">
                <a:solidFill>
                  <a:srgbClr val="640064"/>
                </a:solidFill>
                <a:latin typeface="Arial"/>
                <a:cs typeface="Arial"/>
              </a:rPr>
              <a:t>Vacuum-</a:t>
            </a:r>
            <a:r>
              <a:rPr sz="2800" b="1" spc="-20" dirty="0">
                <a:solidFill>
                  <a:srgbClr val="640064"/>
                </a:solidFill>
                <a:latin typeface="Arial"/>
                <a:cs typeface="Arial"/>
              </a:rPr>
              <a:t>cleaner</a:t>
            </a:r>
            <a:r>
              <a:rPr sz="2800" b="1" spc="-95" dirty="0">
                <a:solidFill>
                  <a:srgbClr val="640064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640064"/>
                </a:solidFill>
                <a:latin typeface="Arial"/>
                <a:cs typeface="Arial"/>
              </a:rPr>
              <a:t>world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0953" y="3792728"/>
            <a:ext cx="7073265" cy="1520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Percepts:</a:t>
            </a:r>
            <a:r>
              <a:rPr sz="2800" spc="-1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location</a:t>
            </a:r>
            <a:r>
              <a:rPr sz="28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8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contents,</a:t>
            </a:r>
            <a:r>
              <a:rPr sz="2800" spc="-13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e.g.,</a:t>
            </a:r>
            <a:r>
              <a:rPr sz="28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[A,</a:t>
            </a:r>
            <a:r>
              <a:rPr sz="2800" spc="-1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Dirt]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35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Actions:</a:t>
            </a:r>
            <a:r>
              <a:rPr sz="2800" spc="-1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008F"/>
                </a:solidFill>
                <a:latin typeface="Arial"/>
                <a:cs typeface="Arial"/>
              </a:rPr>
              <a:t>Left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,</a:t>
            </a:r>
            <a:r>
              <a:rPr sz="2800" spc="-1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008F"/>
                </a:solidFill>
                <a:latin typeface="Arial"/>
                <a:cs typeface="Arial"/>
              </a:rPr>
              <a:t>Right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,</a:t>
            </a:r>
            <a:r>
              <a:rPr sz="28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i="1" spc="-10" dirty="0">
                <a:solidFill>
                  <a:srgbClr val="00008F"/>
                </a:solidFill>
                <a:latin typeface="Arial"/>
                <a:cs typeface="Arial"/>
              </a:rPr>
              <a:t>Suck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,</a:t>
            </a:r>
            <a:r>
              <a:rPr sz="2800" spc="-1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i="1" dirty="0">
                <a:solidFill>
                  <a:srgbClr val="00008F"/>
                </a:solidFill>
                <a:latin typeface="Arial"/>
                <a:cs typeface="Arial"/>
              </a:rPr>
              <a:t>Do</a:t>
            </a:r>
            <a:r>
              <a:rPr sz="2800" i="1" spc="-14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00008F"/>
                </a:solidFill>
                <a:latin typeface="Arial"/>
                <a:cs typeface="Arial"/>
              </a:rPr>
              <a:t>Nothing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48383" y="952500"/>
            <a:ext cx="5181600" cy="2705100"/>
            <a:chOff x="1548383" y="952500"/>
            <a:chExt cx="5181600" cy="27051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0199" y="952500"/>
              <a:ext cx="5105400" cy="2590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8383" y="981455"/>
              <a:ext cx="5181599" cy="267614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50" dirty="0"/>
              <a:t>12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60" dirty="0"/>
              <a:t> </a:t>
            </a:r>
            <a:r>
              <a:rPr spc="-45" dirty="0"/>
              <a:t>vacuum-</a:t>
            </a:r>
            <a:r>
              <a:rPr spc="-40" dirty="0"/>
              <a:t>cleaner</a:t>
            </a:r>
            <a:r>
              <a:rPr spc="-275" dirty="0"/>
              <a:t> </a:t>
            </a:r>
            <a:r>
              <a:rPr spc="-10" dirty="0"/>
              <a:t>Agent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2814573"/>
            <a:ext cx="7228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40" dirty="0">
                <a:solidFill>
                  <a:srgbClr val="00008F"/>
                </a:solidFill>
                <a:latin typeface="Arial MT"/>
                <a:cs typeface="Arial MT"/>
              </a:rPr>
              <a:t>T</a:t>
            </a:r>
            <a:r>
              <a:rPr sz="2400" spc="-5" dirty="0">
                <a:solidFill>
                  <a:srgbClr val="00008F"/>
                </a:solidFill>
                <a:latin typeface="Arial MT"/>
                <a:cs typeface="Arial MT"/>
              </a:rPr>
              <a:t>a</a:t>
            </a:r>
            <a:r>
              <a:rPr sz="2400" spc="-15" dirty="0">
                <a:solidFill>
                  <a:srgbClr val="00008F"/>
                </a:solidFill>
                <a:latin typeface="Arial MT"/>
                <a:cs typeface="Arial MT"/>
              </a:rPr>
              <a:t>b</a:t>
            </a:r>
            <a:r>
              <a:rPr sz="2400" spc="-5" dirty="0">
                <a:solidFill>
                  <a:srgbClr val="00008F"/>
                </a:solidFill>
                <a:latin typeface="Arial MT"/>
                <a:cs typeface="Arial MT"/>
              </a:rPr>
              <a:t>u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l</a:t>
            </a:r>
            <a:r>
              <a:rPr sz="2400" spc="-5" dirty="0">
                <a:solidFill>
                  <a:srgbClr val="00008F"/>
                </a:solidFill>
                <a:latin typeface="Arial MT"/>
                <a:cs typeface="Arial MT"/>
              </a:rPr>
              <a:t>ati</a:t>
            </a:r>
            <a:r>
              <a:rPr sz="2400" spc="-15" dirty="0">
                <a:solidFill>
                  <a:srgbClr val="00008F"/>
                </a:solidFill>
                <a:latin typeface="Arial MT"/>
                <a:cs typeface="Arial MT"/>
              </a:rPr>
              <a:t>o</a:t>
            </a:r>
            <a:r>
              <a:rPr sz="2400" spc="5" dirty="0">
                <a:solidFill>
                  <a:srgbClr val="00008F"/>
                </a:solidFill>
                <a:latin typeface="Arial MT"/>
                <a:cs typeface="Arial MT"/>
              </a:rPr>
              <a:t>n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function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vacuum-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cleaner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7866" y="3278610"/>
            <a:ext cx="6098588" cy="20256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6188" y="5507216"/>
            <a:ext cx="6091133" cy="12313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7400" y="777240"/>
            <a:ext cx="4447032" cy="188976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60383" y="6478334"/>
            <a:ext cx="20764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spc="-7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5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3774" y="2802595"/>
            <a:ext cx="363220" cy="452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20"/>
              </a:lnSpc>
            </a:pPr>
            <a:r>
              <a:rPr sz="3200" spc="-50" dirty="0">
                <a:solidFill>
                  <a:srgbClr val="00008F"/>
                </a:solidFill>
                <a:latin typeface="Wingdings"/>
                <a:cs typeface="Wingdings"/>
              </a:rPr>
              <a:t></a:t>
            </a:r>
            <a:endParaRPr sz="3200">
              <a:latin typeface="Wingdings"/>
              <a:cs typeface="Wingding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1074" y="1848357"/>
            <a:ext cx="6750050" cy="4535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7710" indent="-71501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72771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r>
              <a:rPr sz="32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32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environments</a:t>
            </a:r>
            <a:endParaRPr sz="3200">
              <a:latin typeface="Arial MT"/>
              <a:cs typeface="Arial MT"/>
            </a:endParaRPr>
          </a:p>
          <a:p>
            <a:pPr marL="727710">
              <a:lnSpc>
                <a:spcPct val="100000"/>
              </a:lnSpc>
              <a:spcBef>
                <a:spcPts val="3250"/>
              </a:spcBef>
            </a:pPr>
            <a:r>
              <a:rPr sz="3200" spc="-10" dirty="0">
                <a:solidFill>
                  <a:srgbClr val="1A1AFF"/>
                </a:solidFill>
                <a:latin typeface="Arial MT"/>
                <a:cs typeface="Arial MT"/>
              </a:rPr>
              <a:t>Rationality</a:t>
            </a:r>
            <a:endParaRPr sz="3200">
              <a:latin typeface="Arial MT"/>
              <a:cs typeface="Arial MT"/>
            </a:endParaRPr>
          </a:p>
          <a:p>
            <a:pPr marL="727710" marR="5080" indent="-715645">
              <a:lnSpc>
                <a:spcPts val="3790"/>
              </a:lnSpc>
              <a:spcBef>
                <a:spcPts val="3304"/>
              </a:spcBef>
              <a:buFont typeface="Wingdings"/>
              <a:buChar char=""/>
              <a:tabLst>
                <a:tab pos="72771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PEAS</a:t>
            </a:r>
            <a:r>
              <a:rPr sz="32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(Performance</a:t>
            </a:r>
            <a:r>
              <a:rPr sz="3200" spc="-1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measure, Environment,</a:t>
            </a:r>
            <a:r>
              <a:rPr sz="32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Actuators,</a:t>
            </a:r>
            <a:r>
              <a:rPr sz="3200" spc="-2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Sensors)</a:t>
            </a:r>
            <a:endParaRPr sz="3200">
              <a:latin typeface="Arial MT"/>
              <a:cs typeface="Arial MT"/>
            </a:endParaRPr>
          </a:p>
          <a:p>
            <a:pPr marL="727710" indent="-715010">
              <a:lnSpc>
                <a:spcPct val="100000"/>
              </a:lnSpc>
              <a:spcBef>
                <a:spcPts val="2885"/>
              </a:spcBef>
              <a:buFont typeface="Wingdings"/>
              <a:buChar char=""/>
              <a:tabLst>
                <a:tab pos="72771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Environment</a:t>
            </a:r>
            <a:r>
              <a:rPr sz="3200" spc="-20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00008F"/>
                </a:solidFill>
                <a:latin typeface="Arial MT"/>
                <a:cs typeface="Arial MT"/>
              </a:rPr>
              <a:t>types</a:t>
            </a:r>
            <a:endParaRPr sz="3200">
              <a:latin typeface="Arial MT"/>
              <a:cs typeface="Arial MT"/>
            </a:endParaRPr>
          </a:p>
          <a:p>
            <a:pPr marL="727710" indent="-715010">
              <a:lnSpc>
                <a:spcPct val="100000"/>
              </a:lnSpc>
              <a:spcBef>
                <a:spcPts val="3120"/>
              </a:spcBef>
              <a:buFont typeface="Wingdings"/>
              <a:buChar char=""/>
              <a:tabLst>
                <a:tab pos="72771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32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types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55533"/>
            <a:ext cx="2040820" cy="920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8069" y="385071"/>
            <a:ext cx="3801389" cy="4650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435225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Intelligent</a:t>
            </a:r>
            <a:r>
              <a:rPr sz="3600" spc="-165" dirty="0"/>
              <a:t> </a:t>
            </a:r>
            <a:r>
              <a:rPr sz="3600" spc="-10" dirty="0"/>
              <a:t>Agents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8660383" y="6478334"/>
            <a:ext cx="20764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spc="-7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5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8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660383" y="6478334"/>
            <a:ext cx="20764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spc="-7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5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9863" y="272034"/>
            <a:ext cx="2678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Rational</a:t>
            </a:r>
            <a:r>
              <a:rPr spc="-150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9448" y="1083309"/>
            <a:ext cx="8333740" cy="412622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29209">
              <a:lnSpc>
                <a:spcPct val="90100"/>
              </a:lnSpc>
              <a:spcBef>
                <a:spcPts val="385"/>
              </a:spcBef>
            </a:pP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should</a:t>
            </a:r>
            <a:r>
              <a:rPr sz="2400" spc="-1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strive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to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"do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right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thing",</a:t>
            </a:r>
            <a:r>
              <a:rPr sz="24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based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on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what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it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can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perceive</a:t>
            </a:r>
            <a:r>
              <a:rPr sz="2400" spc="-4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400" spc="-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actions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it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can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perform.</a:t>
            </a:r>
            <a:r>
              <a:rPr sz="2400" spc="-1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right</a:t>
            </a:r>
            <a:r>
              <a:rPr sz="24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action</a:t>
            </a:r>
            <a:r>
              <a:rPr sz="2400" spc="60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is</a:t>
            </a:r>
            <a:r>
              <a:rPr sz="2400" spc="-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one</a:t>
            </a:r>
            <a:r>
              <a:rPr sz="24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that</a:t>
            </a:r>
            <a:r>
              <a:rPr sz="2400" spc="-9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will</a:t>
            </a: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cause</a:t>
            </a:r>
            <a:r>
              <a:rPr sz="24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the</a:t>
            </a:r>
            <a:r>
              <a:rPr sz="2400" spc="-8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agent</a:t>
            </a:r>
            <a:r>
              <a:rPr sz="2400" spc="-3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to</a:t>
            </a:r>
            <a:r>
              <a:rPr sz="2400" spc="-10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be</a:t>
            </a:r>
            <a:r>
              <a:rPr sz="2400" spc="-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most</a:t>
            </a:r>
            <a:r>
              <a:rPr sz="2400" spc="-1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successful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35"/>
              </a:spcBef>
            </a:pPr>
            <a:r>
              <a:rPr sz="2400" b="1" dirty="0">
                <a:solidFill>
                  <a:srgbClr val="00008F"/>
                </a:solidFill>
                <a:latin typeface="Arial"/>
                <a:cs typeface="Arial"/>
              </a:rPr>
              <a:t>Agent</a:t>
            </a:r>
            <a:r>
              <a:rPr sz="2400" b="1" spc="-4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008F"/>
                </a:solidFill>
                <a:latin typeface="Arial"/>
                <a:cs typeface="Arial"/>
              </a:rPr>
              <a:t>Goals: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94200"/>
              </a:lnSpc>
              <a:spcBef>
                <a:spcPts val="2665"/>
              </a:spcBef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High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Performance</a:t>
            </a:r>
            <a:r>
              <a:rPr sz="24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measure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(an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objective</a:t>
            </a:r>
            <a:r>
              <a:rPr sz="2400" spc="-1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criterion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for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success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agent's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00008F"/>
                </a:solidFill>
                <a:latin typeface="Arial MT"/>
                <a:cs typeface="Arial MT"/>
              </a:rPr>
              <a:t>behavior)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e.g.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self</a:t>
            </a:r>
            <a:r>
              <a:rPr sz="24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driving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car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could</a:t>
            </a:r>
            <a:r>
              <a:rPr sz="2400" spc="-11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be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Safety</a:t>
            </a:r>
            <a:endParaRPr sz="2400">
              <a:latin typeface="Arial MT"/>
              <a:cs typeface="Arial MT"/>
            </a:endParaRPr>
          </a:p>
          <a:p>
            <a:pPr marL="12700" marR="1923414">
              <a:lnSpc>
                <a:spcPts val="2700"/>
              </a:lnSpc>
              <a:spcBef>
                <a:spcPts val="40"/>
              </a:spcBef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Optimized</a:t>
            </a:r>
            <a:r>
              <a:rPr sz="24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Result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(Decision)e.g.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amount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Arial MT"/>
                <a:cs typeface="Arial MT"/>
              </a:rPr>
              <a:t>time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taken(shortest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route,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less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traffic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665"/>
              </a:lnSpc>
            </a:pP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Rational</a:t>
            </a:r>
            <a:r>
              <a:rPr sz="2400" spc="-1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Action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Right</a:t>
            </a:r>
            <a:r>
              <a:rPr sz="2400" spc="-1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Action)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e.g.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Speed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660383" y="6478334"/>
            <a:ext cx="29972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spc="-7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11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11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608" y="272034"/>
            <a:ext cx="2678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Rational</a:t>
            </a:r>
            <a:r>
              <a:rPr spc="-150" dirty="0"/>
              <a:t> </a:t>
            </a:r>
            <a:r>
              <a:rPr spc="-10" dirty="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884" y="1696338"/>
            <a:ext cx="8410575" cy="259334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267970">
              <a:lnSpc>
                <a:spcPct val="92300"/>
              </a:lnSpc>
              <a:spcBef>
                <a:spcPts val="355"/>
              </a:spcBef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r>
              <a:rPr sz="28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can</a:t>
            </a:r>
            <a:r>
              <a:rPr sz="2800" spc="-13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perform</a:t>
            </a:r>
            <a:r>
              <a:rPr sz="28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actions</a:t>
            </a:r>
            <a:r>
              <a:rPr sz="2800" spc="-1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in</a:t>
            </a:r>
            <a:r>
              <a:rPr sz="28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order</a:t>
            </a:r>
            <a:r>
              <a:rPr sz="28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to</a:t>
            </a:r>
            <a:r>
              <a:rPr sz="2800" spc="-1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modify</a:t>
            </a:r>
            <a:r>
              <a:rPr sz="28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future percepts</a:t>
            </a:r>
            <a:r>
              <a:rPr sz="28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so</a:t>
            </a:r>
            <a:r>
              <a:rPr sz="28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as</a:t>
            </a:r>
            <a:r>
              <a:rPr sz="28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to</a:t>
            </a:r>
            <a:r>
              <a:rPr sz="28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obtain</a:t>
            </a:r>
            <a:r>
              <a:rPr sz="28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useful</a:t>
            </a:r>
            <a:r>
              <a:rPr sz="28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information (information</a:t>
            </a:r>
            <a:r>
              <a:rPr sz="2800" spc="-1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gathering,</a:t>
            </a:r>
            <a:r>
              <a:rPr sz="2800" spc="-1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exploration,</a:t>
            </a:r>
            <a:r>
              <a:rPr sz="2800" spc="-1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Arial MT"/>
                <a:cs typeface="Arial MT"/>
              </a:rPr>
              <a:t>learn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).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ts val="3200"/>
              </a:lnSpc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An</a:t>
            </a:r>
            <a:r>
              <a:rPr sz="28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28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is</a:t>
            </a:r>
            <a:r>
              <a:rPr sz="28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autonomous</a:t>
            </a:r>
            <a:r>
              <a:rPr sz="2800" spc="-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if</a:t>
            </a:r>
            <a:r>
              <a:rPr sz="28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its</a:t>
            </a:r>
            <a:r>
              <a:rPr sz="28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behavior</a:t>
            </a:r>
            <a:r>
              <a:rPr sz="28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is</a:t>
            </a:r>
            <a:r>
              <a:rPr sz="28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determined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by</a:t>
            </a:r>
            <a:r>
              <a:rPr sz="28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its</a:t>
            </a:r>
            <a:r>
              <a:rPr sz="2800" spc="-1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own</a:t>
            </a:r>
            <a:r>
              <a:rPr sz="28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experience</a:t>
            </a:r>
            <a:r>
              <a:rPr sz="28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(</a:t>
            </a:r>
            <a:r>
              <a:rPr sz="2800" dirty="0">
                <a:solidFill>
                  <a:srgbClr val="0000E4"/>
                </a:solidFill>
                <a:latin typeface="Arial MT"/>
                <a:cs typeface="Arial MT"/>
              </a:rPr>
              <a:t>with</a:t>
            </a:r>
            <a:r>
              <a:rPr sz="2800" spc="-100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E4"/>
                </a:solidFill>
                <a:latin typeface="Arial MT"/>
                <a:cs typeface="Arial MT"/>
              </a:rPr>
              <a:t>ability</a:t>
            </a:r>
            <a:r>
              <a:rPr sz="2800" spc="-105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E4"/>
                </a:solidFill>
                <a:latin typeface="Arial MT"/>
                <a:cs typeface="Arial MT"/>
              </a:rPr>
              <a:t>to</a:t>
            </a:r>
            <a:r>
              <a:rPr sz="2800" spc="-130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E4"/>
                </a:solidFill>
                <a:latin typeface="Arial MT"/>
                <a:cs typeface="Arial MT"/>
              </a:rPr>
              <a:t>learn</a:t>
            </a:r>
            <a:r>
              <a:rPr sz="2800" spc="-95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E4"/>
                </a:solidFill>
                <a:latin typeface="Arial MT"/>
                <a:cs typeface="Arial MT"/>
              </a:rPr>
              <a:t>and</a:t>
            </a:r>
            <a:r>
              <a:rPr sz="2800" spc="-100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E4"/>
                </a:solidFill>
                <a:latin typeface="Arial MT"/>
                <a:cs typeface="Arial MT"/>
              </a:rPr>
              <a:t>adapt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).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3774" y="3688695"/>
            <a:ext cx="363220" cy="452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20"/>
              </a:lnSpc>
            </a:pPr>
            <a:r>
              <a:rPr sz="3200" spc="-50" dirty="0">
                <a:solidFill>
                  <a:srgbClr val="00008F"/>
                </a:solidFill>
                <a:latin typeface="Wingdings"/>
                <a:cs typeface="Wingdings"/>
              </a:rPr>
              <a:t></a:t>
            </a:r>
            <a:endParaRPr sz="3200">
              <a:latin typeface="Wingdings"/>
              <a:cs typeface="Wingding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1074" y="1848357"/>
            <a:ext cx="6750050" cy="4535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7710" indent="-71501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72771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r>
              <a:rPr sz="32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32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environments</a:t>
            </a:r>
            <a:endParaRPr sz="3200">
              <a:latin typeface="Arial MT"/>
              <a:cs typeface="Arial MT"/>
            </a:endParaRPr>
          </a:p>
          <a:p>
            <a:pPr marL="727710" indent="-715010">
              <a:lnSpc>
                <a:spcPct val="100000"/>
              </a:lnSpc>
              <a:spcBef>
                <a:spcPts val="3250"/>
              </a:spcBef>
              <a:buFont typeface="Wingdings"/>
              <a:buChar char=""/>
              <a:tabLst>
                <a:tab pos="727710" algn="l"/>
              </a:tabLst>
            </a:pP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Rationality</a:t>
            </a:r>
            <a:endParaRPr sz="3200">
              <a:latin typeface="Arial MT"/>
              <a:cs typeface="Arial MT"/>
            </a:endParaRPr>
          </a:p>
          <a:p>
            <a:pPr marL="727710" marR="5080">
              <a:lnSpc>
                <a:spcPts val="3790"/>
              </a:lnSpc>
              <a:spcBef>
                <a:spcPts val="3304"/>
              </a:spcBef>
            </a:pPr>
            <a:r>
              <a:rPr sz="3200" dirty="0">
                <a:solidFill>
                  <a:srgbClr val="1A1AFF"/>
                </a:solidFill>
                <a:latin typeface="Arial MT"/>
                <a:cs typeface="Arial MT"/>
              </a:rPr>
              <a:t>PEAS</a:t>
            </a:r>
            <a:r>
              <a:rPr sz="3200" spc="-125" dirty="0">
                <a:solidFill>
                  <a:srgbClr val="1A1A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A1AFF"/>
                </a:solidFill>
                <a:latin typeface="Arial MT"/>
                <a:cs typeface="Arial MT"/>
              </a:rPr>
              <a:t>(Performance</a:t>
            </a:r>
            <a:r>
              <a:rPr sz="3200" spc="-190" dirty="0">
                <a:solidFill>
                  <a:srgbClr val="1A1A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A1AFF"/>
                </a:solidFill>
                <a:latin typeface="Arial MT"/>
                <a:cs typeface="Arial MT"/>
              </a:rPr>
              <a:t>measure, Environment,</a:t>
            </a:r>
            <a:r>
              <a:rPr sz="3200" spc="-120" dirty="0">
                <a:solidFill>
                  <a:srgbClr val="1A1A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A1AFF"/>
                </a:solidFill>
                <a:latin typeface="Arial MT"/>
                <a:cs typeface="Arial MT"/>
              </a:rPr>
              <a:t>Actuators,</a:t>
            </a:r>
            <a:r>
              <a:rPr sz="3200" spc="-295" dirty="0">
                <a:solidFill>
                  <a:srgbClr val="1A1A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A1AFF"/>
                </a:solidFill>
                <a:latin typeface="Arial MT"/>
                <a:cs typeface="Arial MT"/>
              </a:rPr>
              <a:t>Sensors)</a:t>
            </a:r>
            <a:endParaRPr sz="3200">
              <a:latin typeface="Arial MT"/>
              <a:cs typeface="Arial MT"/>
            </a:endParaRPr>
          </a:p>
          <a:p>
            <a:pPr marL="727710" indent="-715010">
              <a:lnSpc>
                <a:spcPct val="100000"/>
              </a:lnSpc>
              <a:spcBef>
                <a:spcPts val="2885"/>
              </a:spcBef>
              <a:buFont typeface="Wingdings"/>
              <a:buChar char=""/>
              <a:tabLst>
                <a:tab pos="72771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Environment</a:t>
            </a:r>
            <a:r>
              <a:rPr sz="3200" spc="-20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00008F"/>
                </a:solidFill>
                <a:latin typeface="Arial MT"/>
                <a:cs typeface="Arial MT"/>
              </a:rPr>
              <a:t>types</a:t>
            </a:r>
            <a:endParaRPr sz="3200">
              <a:latin typeface="Arial MT"/>
              <a:cs typeface="Arial MT"/>
            </a:endParaRPr>
          </a:p>
          <a:p>
            <a:pPr marL="727710" indent="-715010">
              <a:lnSpc>
                <a:spcPct val="100000"/>
              </a:lnSpc>
              <a:spcBef>
                <a:spcPts val="3120"/>
              </a:spcBef>
              <a:buFont typeface="Wingdings"/>
              <a:buChar char=""/>
              <a:tabLst>
                <a:tab pos="72771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32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types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354109"/>
            <a:ext cx="2040820" cy="920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8069" y="385071"/>
            <a:ext cx="3801389" cy="4650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435225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Intelligent</a:t>
            </a:r>
            <a:r>
              <a:rPr sz="3600" spc="-165" dirty="0"/>
              <a:t> </a:t>
            </a:r>
            <a:r>
              <a:rPr sz="3600" spc="-10" dirty="0"/>
              <a:t>Agents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868" y="273558"/>
            <a:ext cx="981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PEAS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05"/>
              </a:lnSpc>
              <a:spcBef>
                <a:spcPts val="100"/>
              </a:spcBef>
            </a:pPr>
            <a:r>
              <a:rPr sz="2400" b="0" dirty="0">
                <a:latin typeface="Arial MT"/>
                <a:cs typeface="Arial MT"/>
              </a:rPr>
              <a:t>When</a:t>
            </a:r>
            <a:r>
              <a:rPr sz="2400" b="0" spc="-9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designing</a:t>
            </a:r>
            <a:r>
              <a:rPr sz="2400" b="0" spc="-1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a</a:t>
            </a:r>
            <a:r>
              <a:rPr sz="2400" b="0" spc="-9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rational/intelligent</a:t>
            </a:r>
            <a:r>
              <a:rPr sz="2400" b="0" spc="-6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agent,</a:t>
            </a:r>
            <a:r>
              <a:rPr sz="2400" b="0" spc="-9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we</a:t>
            </a:r>
            <a:r>
              <a:rPr sz="2400" b="0" spc="-9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keep</a:t>
            </a:r>
            <a:r>
              <a:rPr sz="2400" b="0" spc="-6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in</a:t>
            </a:r>
            <a:r>
              <a:rPr sz="2400" b="0" spc="-75" dirty="0">
                <a:latin typeface="Arial MT"/>
                <a:cs typeface="Arial MT"/>
              </a:rPr>
              <a:t> </a:t>
            </a:r>
            <a:r>
              <a:rPr sz="2400" b="0" spc="-20" dirty="0">
                <a:latin typeface="Arial MT"/>
                <a:cs typeface="Arial MT"/>
              </a:rPr>
              <a:t>mind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05"/>
              </a:lnSpc>
            </a:pPr>
            <a:r>
              <a:rPr sz="2400" b="0" spc="-10" dirty="0">
                <a:latin typeface="Arial MT"/>
                <a:cs typeface="Arial MT"/>
              </a:rPr>
              <a:t>PEAS.</a:t>
            </a:r>
            <a:endParaRPr sz="2400">
              <a:latin typeface="Arial MT"/>
              <a:cs typeface="Arial MT"/>
            </a:endParaRPr>
          </a:p>
          <a:p>
            <a:pPr marL="12700" marR="809625">
              <a:lnSpc>
                <a:spcPts val="2720"/>
              </a:lnSpc>
              <a:spcBef>
                <a:spcPts val="1520"/>
              </a:spcBef>
            </a:pPr>
            <a:r>
              <a:rPr sz="2400" b="0" dirty="0">
                <a:latin typeface="Arial MT"/>
                <a:cs typeface="Arial MT"/>
              </a:rPr>
              <a:t>PEAS:</a:t>
            </a:r>
            <a:r>
              <a:rPr sz="2400" b="0" spc="-80" dirty="0">
                <a:latin typeface="Arial MT"/>
                <a:cs typeface="Arial MT"/>
              </a:rPr>
              <a:t> </a:t>
            </a:r>
            <a:r>
              <a:rPr sz="2400" spc="-10" dirty="0"/>
              <a:t>P</a:t>
            </a:r>
            <a:r>
              <a:rPr sz="2400" b="0" spc="-10" dirty="0">
                <a:latin typeface="Arial MT"/>
                <a:cs typeface="Arial MT"/>
              </a:rPr>
              <a:t>erformance</a:t>
            </a:r>
            <a:r>
              <a:rPr sz="2400" b="0" spc="-12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measure,</a:t>
            </a:r>
            <a:r>
              <a:rPr sz="2400" b="0" spc="-55" dirty="0">
                <a:latin typeface="Arial MT"/>
                <a:cs typeface="Arial MT"/>
              </a:rPr>
              <a:t> </a:t>
            </a:r>
            <a:r>
              <a:rPr sz="2400" spc="-20" dirty="0"/>
              <a:t>E</a:t>
            </a:r>
            <a:r>
              <a:rPr sz="2400" b="0" spc="-20" dirty="0">
                <a:latin typeface="Arial MT"/>
                <a:cs typeface="Arial MT"/>
              </a:rPr>
              <a:t>nvironment,</a:t>
            </a:r>
            <a:r>
              <a:rPr sz="2400" b="0" spc="-145" dirty="0">
                <a:latin typeface="Arial MT"/>
                <a:cs typeface="Arial MT"/>
              </a:rPr>
              <a:t> </a:t>
            </a:r>
            <a:r>
              <a:rPr sz="2400" spc="-10" dirty="0"/>
              <a:t>A</a:t>
            </a:r>
            <a:r>
              <a:rPr sz="2400" b="0" spc="-10" dirty="0">
                <a:latin typeface="Arial MT"/>
                <a:cs typeface="Arial MT"/>
              </a:rPr>
              <a:t>ctuators, </a:t>
            </a:r>
            <a:r>
              <a:rPr sz="2400" spc="-10" dirty="0"/>
              <a:t>S</a:t>
            </a:r>
            <a:r>
              <a:rPr sz="2400" b="0" spc="-10" dirty="0">
                <a:latin typeface="Arial MT"/>
                <a:cs typeface="Arial MT"/>
              </a:rPr>
              <a:t>ensors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b="0" spc="-45" dirty="0">
                <a:latin typeface="Arial MT"/>
                <a:cs typeface="Arial MT"/>
              </a:rPr>
              <a:t>Consider,</a:t>
            </a:r>
            <a:r>
              <a:rPr sz="2400" b="0" spc="-9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e.g.,</a:t>
            </a:r>
            <a:r>
              <a:rPr sz="2400" b="0" spc="-14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the</a:t>
            </a:r>
            <a:r>
              <a:rPr sz="2400" b="0" spc="-9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task</a:t>
            </a:r>
            <a:r>
              <a:rPr sz="2400" b="0" spc="-12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of</a:t>
            </a:r>
            <a:r>
              <a:rPr sz="2400" b="0" spc="-9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designing</a:t>
            </a:r>
            <a:r>
              <a:rPr sz="2400" b="0" spc="-2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an</a:t>
            </a:r>
            <a:r>
              <a:rPr sz="2400" b="0" spc="-7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automated</a:t>
            </a:r>
            <a:r>
              <a:rPr sz="2400" b="0" spc="-14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taxi</a:t>
            </a:r>
            <a:r>
              <a:rPr sz="2400" b="0" spc="-85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driver:</a:t>
            </a:r>
            <a:endParaRPr sz="2400">
              <a:latin typeface="Arial MT"/>
              <a:cs typeface="Arial MT"/>
            </a:endParaRPr>
          </a:p>
          <a:p>
            <a:pPr marL="755015" indent="-285115">
              <a:lnSpc>
                <a:spcPct val="100000"/>
              </a:lnSpc>
              <a:spcBef>
                <a:spcPts val="2100"/>
              </a:spcBef>
              <a:buChar char="–"/>
              <a:tabLst>
                <a:tab pos="755015" algn="l"/>
              </a:tabLst>
            </a:pPr>
            <a:r>
              <a:rPr sz="2400" b="0" spc="-10" dirty="0">
                <a:latin typeface="Arial MT"/>
                <a:cs typeface="Arial MT"/>
              </a:rPr>
              <a:t>Performance</a:t>
            </a:r>
            <a:r>
              <a:rPr sz="2400" b="0" spc="-12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measure</a:t>
            </a:r>
            <a:endParaRPr sz="2400">
              <a:latin typeface="Arial MT"/>
              <a:cs typeface="Arial MT"/>
            </a:endParaRPr>
          </a:p>
          <a:p>
            <a:pPr marL="755015" indent="-285115">
              <a:lnSpc>
                <a:spcPct val="100000"/>
              </a:lnSpc>
              <a:spcBef>
                <a:spcPts val="325"/>
              </a:spcBef>
              <a:buChar char="–"/>
              <a:tabLst>
                <a:tab pos="755015" algn="l"/>
              </a:tabLst>
            </a:pPr>
            <a:r>
              <a:rPr sz="2400" b="0" spc="-10" dirty="0">
                <a:latin typeface="Arial MT"/>
                <a:cs typeface="Arial MT"/>
              </a:rPr>
              <a:t>Environment</a:t>
            </a:r>
            <a:endParaRPr sz="2400">
              <a:latin typeface="Arial MT"/>
              <a:cs typeface="Arial MT"/>
            </a:endParaRPr>
          </a:p>
          <a:p>
            <a:pPr marL="755015" indent="-285115">
              <a:lnSpc>
                <a:spcPct val="100000"/>
              </a:lnSpc>
              <a:spcBef>
                <a:spcPts val="195"/>
              </a:spcBef>
              <a:buChar char="–"/>
              <a:tabLst>
                <a:tab pos="755015" algn="l"/>
              </a:tabLst>
            </a:pPr>
            <a:r>
              <a:rPr sz="2400" b="0" spc="-10" dirty="0">
                <a:latin typeface="Arial MT"/>
                <a:cs typeface="Arial MT"/>
              </a:rPr>
              <a:t>Actuators</a:t>
            </a:r>
            <a:endParaRPr sz="2400">
              <a:latin typeface="Arial MT"/>
              <a:cs typeface="Arial MT"/>
            </a:endParaRPr>
          </a:p>
          <a:p>
            <a:pPr marL="755015" indent="-285115">
              <a:lnSpc>
                <a:spcPct val="100000"/>
              </a:lnSpc>
              <a:spcBef>
                <a:spcPts val="300"/>
              </a:spcBef>
              <a:buChar char="–"/>
              <a:tabLst>
                <a:tab pos="755015" algn="l"/>
              </a:tabLst>
            </a:pPr>
            <a:r>
              <a:rPr sz="2400" b="0" spc="-10" dirty="0">
                <a:latin typeface="Arial MT"/>
                <a:cs typeface="Arial MT"/>
              </a:rPr>
              <a:t>Sensors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355" y="273558"/>
            <a:ext cx="981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PEAS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5051" y="1226565"/>
            <a:ext cx="8512810" cy="3625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8F"/>
                </a:solidFill>
                <a:latin typeface="Arial"/>
                <a:cs typeface="Arial"/>
              </a:rPr>
              <a:t>Agent:</a:t>
            </a:r>
            <a:r>
              <a:rPr sz="3200" b="1" spc="-12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0008F"/>
                </a:solidFill>
                <a:latin typeface="Arial"/>
                <a:cs typeface="Arial"/>
              </a:rPr>
              <a:t>automated</a:t>
            </a:r>
            <a:r>
              <a:rPr sz="3200" b="1" spc="-14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008F"/>
                </a:solidFill>
                <a:latin typeface="Arial"/>
                <a:cs typeface="Arial"/>
              </a:rPr>
              <a:t>taxi</a:t>
            </a:r>
            <a:r>
              <a:rPr sz="3200" b="1" spc="-9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0008F"/>
                </a:solidFill>
                <a:latin typeface="Arial"/>
                <a:cs typeface="Arial"/>
              </a:rPr>
              <a:t>driver</a:t>
            </a:r>
            <a:endParaRPr sz="3200">
              <a:latin typeface="Arial"/>
              <a:cs typeface="Arial"/>
            </a:endParaRPr>
          </a:p>
          <a:p>
            <a:pPr marL="756285" indent="-286385">
              <a:lnSpc>
                <a:spcPts val="2595"/>
              </a:lnSpc>
              <a:spcBef>
                <a:spcPts val="2440"/>
              </a:spcBef>
              <a:buClr>
                <a:srgbClr val="0000FF"/>
              </a:buClr>
              <a:buChar char="•"/>
              <a:tabLst>
                <a:tab pos="756285" algn="l"/>
              </a:tabLst>
            </a:pP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Performance</a:t>
            </a:r>
            <a:r>
              <a:rPr sz="2400" spc="-13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measure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:</a:t>
            </a:r>
            <a:r>
              <a:rPr sz="2400" spc="-6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Safe,</a:t>
            </a:r>
            <a:r>
              <a:rPr sz="2400" i="1" spc="-13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fast,</a:t>
            </a:r>
            <a:r>
              <a:rPr sz="2400" i="1" spc="-14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legal,</a:t>
            </a:r>
            <a:r>
              <a:rPr sz="2400" i="1" spc="-6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008F"/>
                </a:solidFill>
                <a:latin typeface="Arial"/>
                <a:cs typeface="Arial"/>
              </a:rPr>
              <a:t>comfortable</a:t>
            </a:r>
            <a:r>
              <a:rPr sz="2400" i="1" spc="-10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008F"/>
                </a:solidFill>
                <a:latin typeface="Arial"/>
                <a:cs typeface="Arial"/>
              </a:rPr>
              <a:t>trip,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ts val="2595"/>
              </a:lnSpc>
            </a:pP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maximize</a:t>
            </a:r>
            <a:r>
              <a:rPr sz="2400" i="1" spc="-13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008F"/>
                </a:solidFill>
                <a:latin typeface="Arial"/>
                <a:cs typeface="Arial"/>
              </a:rPr>
              <a:t>profits</a:t>
            </a:r>
            <a:endParaRPr sz="2400">
              <a:latin typeface="Arial"/>
              <a:cs typeface="Arial"/>
            </a:endParaRPr>
          </a:p>
          <a:p>
            <a:pPr marL="756285" marR="605790" indent="-287020">
              <a:lnSpc>
                <a:spcPts val="2600"/>
              </a:lnSpc>
              <a:spcBef>
                <a:spcPts val="1235"/>
              </a:spcBef>
              <a:buClr>
                <a:srgbClr val="0000FF"/>
              </a:buClr>
              <a:buChar char="•"/>
              <a:tabLst>
                <a:tab pos="756285" algn="l"/>
              </a:tabLst>
            </a:pPr>
            <a:r>
              <a:rPr sz="2400" spc="-10" dirty="0">
                <a:solidFill>
                  <a:srgbClr val="C00000"/>
                </a:solidFill>
                <a:latin typeface="Arial MT"/>
                <a:cs typeface="Arial MT"/>
              </a:rPr>
              <a:t>Environment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Roads,</a:t>
            </a:r>
            <a:r>
              <a:rPr sz="2400" i="1" spc="-4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other</a:t>
            </a:r>
            <a:r>
              <a:rPr sz="2400" i="1" spc="-10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008F"/>
                </a:solidFill>
                <a:latin typeface="Arial"/>
                <a:cs typeface="Arial"/>
              </a:rPr>
              <a:t>traffic,</a:t>
            </a:r>
            <a:r>
              <a:rPr sz="2400" i="1" spc="-13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people</a:t>
            </a:r>
            <a:r>
              <a:rPr sz="2400" i="1" spc="-3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and</a:t>
            </a:r>
            <a:r>
              <a:rPr sz="2400" i="1" spc="-5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008F"/>
                </a:solidFill>
                <a:latin typeface="Arial"/>
                <a:cs typeface="Arial"/>
              </a:rPr>
              <a:t>objects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in/around</a:t>
            </a:r>
            <a:r>
              <a:rPr sz="2400" i="1" spc="-10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the</a:t>
            </a:r>
            <a:r>
              <a:rPr sz="2400" i="1" spc="-10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008F"/>
                </a:solidFill>
                <a:latin typeface="Arial"/>
                <a:cs typeface="Arial"/>
              </a:rPr>
              <a:t>street</a:t>
            </a:r>
            <a:endParaRPr sz="2400">
              <a:latin typeface="Arial"/>
              <a:cs typeface="Arial"/>
            </a:endParaRPr>
          </a:p>
          <a:p>
            <a:pPr marL="756285" indent="-286385">
              <a:lnSpc>
                <a:spcPct val="100000"/>
              </a:lnSpc>
              <a:spcBef>
                <a:spcPts val="1165"/>
              </a:spcBef>
              <a:buClr>
                <a:srgbClr val="0000FF"/>
              </a:buClr>
              <a:buChar char="•"/>
              <a:tabLst>
                <a:tab pos="756285" algn="l"/>
              </a:tabLst>
            </a:pP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Actuators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400" spc="-1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Steering</a:t>
            </a:r>
            <a:r>
              <a:rPr sz="2400" i="1" spc="-10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wheel,</a:t>
            </a:r>
            <a:r>
              <a:rPr sz="2400" i="1" spc="-6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45" dirty="0">
                <a:solidFill>
                  <a:srgbClr val="00008F"/>
                </a:solidFill>
                <a:latin typeface="Arial"/>
                <a:cs typeface="Arial"/>
              </a:rPr>
              <a:t>accelerator,</a:t>
            </a:r>
            <a:r>
              <a:rPr sz="2400" i="1" spc="-12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brake,</a:t>
            </a:r>
            <a:r>
              <a:rPr sz="2400" i="1" spc="-9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signal,</a:t>
            </a:r>
            <a:r>
              <a:rPr sz="2400" i="1" spc="-6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20" dirty="0">
                <a:solidFill>
                  <a:srgbClr val="00008F"/>
                </a:solidFill>
                <a:latin typeface="Arial"/>
                <a:cs typeface="Arial"/>
              </a:rPr>
              <a:t>horn</a:t>
            </a:r>
            <a:endParaRPr sz="2400">
              <a:latin typeface="Arial"/>
              <a:cs typeface="Arial"/>
            </a:endParaRPr>
          </a:p>
          <a:p>
            <a:pPr marL="756285" marR="203835" indent="-287020">
              <a:lnSpc>
                <a:spcPct val="79600"/>
              </a:lnSpc>
              <a:spcBef>
                <a:spcPts val="1810"/>
              </a:spcBef>
              <a:buClr>
                <a:srgbClr val="0000FF"/>
              </a:buClr>
              <a:buChar char="•"/>
              <a:tabLst>
                <a:tab pos="756285" algn="l"/>
              </a:tabLst>
            </a:pP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Sensors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400" spc="-1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Cameras,</a:t>
            </a:r>
            <a:r>
              <a:rPr sz="2400" i="1" spc="-3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75" dirty="0">
                <a:solidFill>
                  <a:srgbClr val="00008F"/>
                </a:solidFill>
                <a:latin typeface="Arial"/>
                <a:cs typeface="Arial"/>
              </a:rPr>
              <a:t>sonar,</a:t>
            </a:r>
            <a:r>
              <a:rPr sz="2400" i="1" spc="-9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45" dirty="0">
                <a:solidFill>
                  <a:srgbClr val="00008F"/>
                </a:solidFill>
                <a:latin typeface="Arial"/>
                <a:cs typeface="Arial"/>
              </a:rPr>
              <a:t>speedometer,</a:t>
            </a:r>
            <a:r>
              <a:rPr sz="2400" i="1" spc="-9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GPS,</a:t>
            </a:r>
            <a:r>
              <a:rPr sz="2400" i="1" spc="-15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30" dirty="0">
                <a:solidFill>
                  <a:srgbClr val="00008F"/>
                </a:solidFill>
                <a:latin typeface="Arial"/>
                <a:cs typeface="Arial"/>
              </a:rPr>
              <a:t>odometer,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engine</a:t>
            </a:r>
            <a:r>
              <a:rPr sz="2400" i="1" spc="-5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00008F"/>
                </a:solidFill>
                <a:latin typeface="Arial"/>
                <a:cs typeface="Arial"/>
              </a:rPr>
              <a:t>sensors,</a:t>
            </a:r>
            <a:r>
              <a:rPr sz="2400" i="1" spc="-10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2400" i="1" spc="-10" dirty="0">
                <a:solidFill>
                  <a:srgbClr val="00008F"/>
                </a:solidFill>
                <a:latin typeface="Arial"/>
                <a:cs typeface="Arial"/>
              </a:rPr>
              <a:t>keyboard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868" y="273558"/>
            <a:ext cx="978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PEAS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Agent:</a:t>
            </a:r>
            <a:r>
              <a:rPr spc="-170" dirty="0"/>
              <a:t> </a:t>
            </a:r>
            <a:r>
              <a:rPr dirty="0"/>
              <a:t>Medical</a:t>
            </a:r>
            <a:r>
              <a:rPr spc="-140" dirty="0"/>
              <a:t> </a:t>
            </a:r>
            <a:r>
              <a:rPr dirty="0"/>
              <a:t>diagnosis</a:t>
            </a:r>
            <a:r>
              <a:rPr spc="-175" dirty="0"/>
              <a:t> </a:t>
            </a:r>
            <a:r>
              <a:rPr spc="-10" dirty="0"/>
              <a:t>system</a:t>
            </a: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pc="-10" dirty="0"/>
          </a:p>
          <a:p>
            <a:pPr marL="756285" marR="5080" indent="-287020">
              <a:lnSpc>
                <a:spcPct val="100800"/>
              </a:lnSpc>
              <a:buClr>
                <a:srgbClr val="0000FF"/>
              </a:buClr>
              <a:buChar char="•"/>
              <a:tabLst>
                <a:tab pos="756285" algn="l"/>
              </a:tabLst>
            </a:pPr>
            <a:r>
              <a:rPr sz="2400" b="0" spc="-10" dirty="0">
                <a:solidFill>
                  <a:srgbClr val="C00000"/>
                </a:solidFill>
                <a:latin typeface="Arial MT"/>
                <a:cs typeface="Arial MT"/>
              </a:rPr>
              <a:t>Performance</a:t>
            </a:r>
            <a:r>
              <a:rPr sz="2400" b="0" spc="-13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b="0" dirty="0">
                <a:solidFill>
                  <a:srgbClr val="C00000"/>
                </a:solidFill>
                <a:latin typeface="Arial MT"/>
                <a:cs typeface="Arial MT"/>
              </a:rPr>
              <a:t>measure</a:t>
            </a:r>
            <a:r>
              <a:rPr sz="2400" b="0" dirty="0">
                <a:latin typeface="Arial MT"/>
                <a:cs typeface="Arial MT"/>
              </a:rPr>
              <a:t>:</a:t>
            </a:r>
            <a:r>
              <a:rPr sz="2400" b="0" spc="-9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Healthy</a:t>
            </a:r>
            <a:r>
              <a:rPr sz="2400" b="0" spc="-105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patient,</a:t>
            </a:r>
            <a:r>
              <a:rPr sz="2400" b="0" spc="-150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minimize</a:t>
            </a:r>
            <a:r>
              <a:rPr sz="2400" b="0" spc="-5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costs, lawsuits</a:t>
            </a:r>
            <a:endParaRPr sz="2400">
              <a:latin typeface="Arial MT"/>
              <a:cs typeface="Arial MT"/>
            </a:endParaRPr>
          </a:p>
          <a:p>
            <a:pPr marL="756285" indent="-286385">
              <a:lnSpc>
                <a:spcPct val="100000"/>
              </a:lnSpc>
              <a:spcBef>
                <a:spcPts val="2175"/>
              </a:spcBef>
              <a:buClr>
                <a:srgbClr val="0000FF"/>
              </a:buClr>
              <a:buChar char="•"/>
              <a:tabLst>
                <a:tab pos="756285" algn="l"/>
              </a:tabLst>
            </a:pPr>
            <a:r>
              <a:rPr sz="2400" b="0" dirty="0">
                <a:solidFill>
                  <a:srgbClr val="C00000"/>
                </a:solidFill>
                <a:latin typeface="Arial MT"/>
                <a:cs typeface="Arial MT"/>
              </a:rPr>
              <a:t>Environment</a:t>
            </a:r>
            <a:r>
              <a:rPr sz="2400" b="0" dirty="0">
                <a:latin typeface="Arial MT"/>
                <a:cs typeface="Arial MT"/>
              </a:rPr>
              <a:t>:</a:t>
            </a:r>
            <a:r>
              <a:rPr sz="2400" b="0" spc="-13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Patient,</a:t>
            </a:r>
            <a:r>
              <a:rPr sz="2400" b="0" spc="-12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hospital,</a:t>
            </a:r>
            <a:r>
              <a:rPr sz="2400" b="0" spc="-145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staff</a:t>
            </a:r>
            <a:endParaRPr sz="2400">
              <a:latin typeface="Arial MT"/>
              <a:cs typeface="Arial MT"/>
            </a:endParaRPr>
          </a:p>
          <a:p>
            <a:pPr marL="756285" marR="69850" indent="-287020">
              <a:lnSpc>
                <a:spcPct val="100800"/>
              </a:lnSpc>
              <a:spcBef>
                <a:spcPts val="1440"/>
              </a:spcBef>
              <a:buClr>
                <a:srgbClr val="0000FF"/>
              </a:buClr>
              <a:buChar char="•"/>
              <a:tabLst>
                <a:tab pos="756285" algn="l"/>
              </a:tabLst>
            </a:pPr>
            <a:r>
              <a:rPr sz="2400" b="0" dirty="0">
                <a:solidFill>
                  <a:srgbClr val="C00000"/>
                </a:solidFill>
                <a:latin typeface="Arial MT"/>
                <a:cs typeface="Arial MT"/>
              </a:rPr>
              <a:t>Actuators</a:t>
            </a:r>
            <a:r>
              <a:rPr sz="2400" b="0" dirty="0">
                <a:latin typeface="Arial MT"/>
                <a:cs typeface="Arial MT"/>
              </a:rPr>
              <a:t>:</a:t>
            </a:r>
            <a:r>
              <a:rPr sz="2400" b="0" spc="-15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Screen</a:t>
            </a:r>
            <a:r>
              <a:rPr sz="2400" b="0" spc="-12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display</a:t>
            </a:r>
            <a:r>
              <a:rPr sz="2400" b="0" spc="-5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(questions,</a:t>
            </a:r>
            <a:r>
              <a:rPr sz="2400" b="0" spc="-12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tests,</a:t>
            </a:r>
            <a:r>
              <a:rPr sz="2400" b="0" spc="-15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diagnoses, treatments,</a:t>
            </a:r>
            <a:r>
              <a:rPr sz="2400" b="0" spc="-130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referrals)</a:t>
            </a:r>
            <a:endParaRPr sz="2400">
              <a:latin typeface="Arial MT"/>
              <a:cs typeface="Arial MT"/>
            </a:endParaRPr>
          </a:p>
          <a:p>
            <a:pPr marL="756285" marR="909319" indent="-287020">
              <a:lnSpc>
                <a:spcPct val="101299"/>
              </a:lnSpc>
              <a:spcBef>
                <a:spcPts val="1695"/>
              </a:spcBef>
              <a:buClr>
                <a:srgbClr val="0000FF"/>
              </a:buClr>
              <a:buChar char="•"/>
              <a:tabLst>
                <a:tab pos="756285" algn="l"/>
              </a:tabLst>
            </a:pPr>
            <a:r>
              <a:rPr sz="2400" b="0" dirty="0">
                <a:solidFill>
                  <a:srgbClr val="C00000"/>
                </a:solidFill>
                <a:latin typeface="Arial MT"/>
                <a:cs typeface="Arial MT"/>
              </a:rPr>
              <a:t>Sensors</a:t>
            </a:r>
            <a:r>
              <a:rPr sz="2400" b="0" dirty="0">
                <a:latin typeface="Arial MT"/>
                <a:cs typeface="Arial MT"/>
              </a:rPr>
              <a:t>:</a:t>
            </a:r>
            <a:r>
              <a:rPr sz="2400" b="0" spc="-12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Keyboard</a:t>
            </a:r>
            <a:r>
              <a:rPr sz="2400" b="0" spc="-5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(entry</a:t>
            </a:r>
            <a:r>
              <a:rPr sz="2400" b="0" spc="-95" dirty="0">
                <a:latin typeface="Arial MT"/>
                <a:cs typeface="Arial MT"/>
              </a:rPr>
              <a:t> </a:t>
            </a:r>
            <a:r>
              <a:rPr sz="2400" b="0" dirty="0">
                <a:latin typeface="Arial MT"/>
                <a:cs typeface="Arial MT"/>
              </a:rPr>
              <a:t>of</a:t>
            </a:r>
            <a:r>
              <a:rPr sz="2400" b="0" spc="-85" dirty="0">
                <a:latin typeface="Arial MT"/>
                <a:cs typeface="Arial MT"/>
              </a:rPr>
              <a:t> </a:t>
            </a:r>
            <a:r>
              <a:rPr sz="2400" b="0" spc="-20" dirty="0">
                <a:latin typeface="Arial MT"/>
                <a:cs typeface="Arial MT"/>
              </a:rPr>
              <a:t>symptoms,</a:t>
            </a:r>
            <a:r>
              <a:rPr sz="2400" b="0" spc="-145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findings, patient's</a:t>
            </a:r>
            <a:r>
              <a:rPr sz="2400" b="0" spc="-125" dirty="0">
                <a:latin typeface="Arial MT"/>
                <a:cs typeface="Arial MT"/>
              </a:rPr>
              <a:t> </a:t>
            </a:r>
            <a:r>
              <a:rPr sz="2400" b="0" spc="-10" dirty="0">
                <a:latin typeface="Arial MT"/>
                <a:cs typeface="Arial MT"/>
              </a:rPr>
              <a:t>answers)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868" y="273558"/>
            <a:ext cx="9817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PEAS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0953" y="1244853"/>
            <a:ext cx="8312784" cy="320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00008F"/>
                </a:solidFill>
                <a:latin typeface="Arial"/>
                <a:cs typeface="Arial"/>
              </a:rPr>
              <a:t>Agent:</a:t>
            </a:r>
            <a:r>
              <a:rPr sz="3200" b="1" spc="-13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0008F"/>
                </a:solidFill>
                <a:latin typeface="Arial"/>
                <a:cs typeface="Arial"/>
              </a:rPr>
              <a:t>Part-</a:t>
            </a:r>
            <a:r>
              <a:rPr sz="3200" b="1" dirty="0">
                <a:solidFill>
                  <a:srgbClr val="00008F"/>
                </a:solidFill>
                <a:latin typeface="Arial"/>
                <a:cs typeface="Arial"/>
              </a:rPr>
              <a:t>picking</a:t>
            </a:r>
            <a:r>
              <a:rPr sz="3200" b="1" spc="-160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0008F"/>
                </a:solidFill>
                <a:latin typeface="Arial"/>
                <a:cs typeface="Arial"/>
              </a:rPr>
              <a:t>robot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3200">
              <a:latin typeface="Arial"/>
              <a:cs typeface="Arial"/>
            </a:endParaRPr>
          </a:p>
          <a:p>
            <a:pPr marL="513715" indent="-309245">
              <a:lnSpc>
                <a:spcPct val="100000"/>
              </a:lnSpc>
              <a:buClr>
                <a:srgbClr val="0000FF"/>
              </a:buClr>
              <a:buChar char="•"/>
              <a:tabLst>
                <a:tab pos="513715" algn="l"/>
              </a:tabLst>
            </a:pPr>
            <a:r>
              <a:rPr sz="2400" spc="-10" dirty="0">
                <a:solidFill>
                  <a:srgbClr val="C0504D"/>
                </a:solidFill>
                <a:latin typeface="Arial MT"/>
                <a:cs typeface="Arial MT"/>
              </a:rPr>
              <a:t>Performance</a:t>
            </a:r>
            <a:r>
              <a:rPr sz="2400" spc="-110" dirty="0">
                <a:solidFill>
                  <a:srgbClr val="C0504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504D"/>
                </a:solidFill>
                <a:latin typeface="Arial MT"/>
                <a:cs typeface="Arial MT"/>
              </a:rPr>
              <a:t>measure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Percentage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parts</a:t>
            </a:r>
            <a:r>
              <a:rPr sz="2400" spc="-11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in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correct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bins</a:t>
            </a:r>
            <a:endParaRPr sz="2400">
              <a:latin typeface="Arial MT"/>
              <a:cs typeface="Arial MT"/>
            </a:endParaRPr>
          </a:p>
          <a:p>
            <a:pPr marL="513715" indent="-309245">
              <a:lnSpc>
                <a:spcPct val="100000"/>
              </a:lnSpc>
              <a:spcBef>
                <a:spcPts val="1800"/>
              </a:spcBef>
              <a:buClr>
                <a:srgbClr val="0000FF"/>
              </a:buClr>
              <a:buChar char="•"/>
              <a:tabLst>
                <a:tab pos="513715" algn="l"/>
              </a:tabLst>
            </a:pPr>
            <a:r>
              <a:rPr sz="2400" spc="-10" dirty="0">
                <a:solidFill>
                  <a:srgbClr val="C0504D"/>
                </a:solidFill>
                <a:latin typeface="Arial MT"/>
                <a:cs typeface="Arial MT"/>
              </a:rPr>
              <a:t>Environment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Conveyor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belt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with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parts,</a:t>
            </a:r>
            <a:r>
              <a:rPr sz="24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bins</a:t>
            </a:r>
            <a:endParaRPr sz="2400">
              <a:latin typeface="Arial MT"/>
              <a:cs typeface="Arial MT"/>
            </a:endParaRPr>
          </a:p>
          <a:p>
            <a:pPr marL="513715" indent="-309245">
              <a:lnSpc>
                <a:spcPct val="100000"/>
              </a:lnSpc>
              <a:spcBef>
                <a:spcPts val="1805"/>
              </a:spcBef>
              <a:buClr>
                <a:srgbClr val="0000FF"/>
              </a:buClr>
              <a:buChar char="•"/>
              <a:tabLst>
                <a:tab pos="513715" algn="l"/>
              </a:tabLst>
            </a:pPr>
            <a:r>
              <a:rPr sz="2400" dirty="0">
                <a:solidFill>
                  <a:srgbClr val="C0504D"/>
                </a:solidFill>
                <a:latin typeface="Arial MT"/>
                <a:cs typeface="Arial MT"/>
              </a:rPr>
              <a:t>Actuators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400" spc="-13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Jointed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arm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hand</a:t>
            </a:r>
            <a:endParaRPr sz="2400">
              <a:latin typeface="Arial MT"/>
              <a:cs typeface="Arial MT"/>
            </a:endParaRPr>
          </a:p>
          <a:p>
            <a:pPr marL="513715" indent="-309245">
              <a:lnSpc>
                <a:spcPct val="100000"/>
              </a:lnSpc>
              <a:spcBef>
                <a:spcPts val="1800"/>
              </a:spcBef>
              <a:buClr>
                <a:srgbClr val="0000FF"/>
              </a:buClr>
              <a:buChar char="•"/>
              <a:tabLst>
                <a:tab pos="513715" algn="l"/>
              </a:tabLst>
            </a:pPr>
            <a:r>
              <a:rPr sz="2400" dirty="0">
                <a:solidFill>
                  <a:srgbClr val="C0504D"/>
                </a:solidFill>
                <a:latin typeface="Arial MT"/>
                <a:cs typeface="Arial MT"/>
              </a:rPr>
              <a:t>Sensors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r>
              <a:rPr sz="2400" spc="-1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Camera,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joint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angle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sensors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4408" y="4517730"/>
            <a:ext cx="363220" cy="452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20"/>
              </a:lnSpc>
            </a:pPr>
            <a:r>
              <a:rPr sz="3200" spc="-50" dirty="0">
                <a:solidFill>
                  <a:srgbClr val="00008F"/>
                </a:solidFill>
                <a:latin typeface="Wingdings"/>
                <a:cs typeface="Wingdings"/>
              </a:rPr>
              <a:t></a:t>
            </a:r>
            <a:endParaRPr sz="3200">
              <a:latin typeface="Wingdings"/>
              <a:cs typeface="Wingding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1708" y="1327150"/>
            <a:ext cx="6731634" cy="4535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8980" indent="-71628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72898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r>
              <a:rPr sz="32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32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environments</a:t>
            </a:r>
            <a:endParaRPr sz="3200">
              <a:latin typeface="Arial MT"/>
              <a:cs typeface="Arial MT"/>
            </a:endParaRPr>
          </a:p>
          <a:p>
            <a:pPr marL="728980" indent="-716280">
              <a:lnSpc>
                <a:spcPct val="100000"/>
              </a:lnSpc>
              <a:spcBef>
                <a:spcPts val="3250"/>
              </a:spcBef>
              <a:buFont typeface="Wingdings"/>
              <a:buChar char=""/>
              <a:tabLst>
                <a:tab pos="728980" algn="l"/>
              </a:tabLst>
            </a:pP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Rationality</a:t>
            </a:r>
            <a:endParaRPr sz="3200">
              <a:latin typeface="Arial MT"/>
              <a:cs typeface="Arial MT"/>
            </a:endParaRPr>
          </a:p>
          <a:p>
            <a:pPr marL="727710" marR="5080" indent="-715645">
              <a:lnSpc>
                <a:spcPts val="3790"/>
              </a:lnSpc>
              <a:spcBef>
                <a:spcPts val="3300"/>
              </a:spcBef>
              <a:buFont typeface="Wingdings"/>
              <a:buChar char=""/>
              <a:tabLst>
                <a:tab pos="727710" algn="l"/>
                <a:tab pos="728980" algn="l"/>
              </a:tabLst>
            </a:pPr>
            <a:r>
              <a:rPr sz="3200" dirty="0">
                <a:solidFill>
                  <a:srgbClr val="00008F"/>
                </a:solidFill>
                <a:latin typeface="Times New Roman"/>
                <a:cs typeface="Times New Roman"/>
              </a:rPr>
              <a:t>	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PEAS</a:t>
            </a:r>
            <a:r>
              <a:rPr sz="32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(Performance</a:t>
            </a:r>
            <a:r>
              <a:rPr sz="32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measure, </a:t>
            </a:r>
            <a:r>
              <a:rPr sz="3200" spc="-20" dirty="0">
                <a:solidFill>
                  <a:srgbClr val="00008F"/>
                </a:solidFill>
                <a:latin typeface="Arial MT"/>
                <a:cs typeface="Arial MT"/>
              </a:rPr>
              <a:t>Environment,</a:t>
            </a:r>
            <a:r>
              <a:rPr sz="3200" spc="-1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Actuators,</a:t>
            </a:r>
            <a:r>
              <a:rPr sz="3200" spc="-25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Sensors)</a:t>
            </a:r>
            <a:endParaRPr sz="3200">
              <a:latin typeface="Arial MT"/>
              <a:cs typeface="Arial MT"/>
            </a:endParaRPr>
          </a:p>
          <a:p>
            <a:pPr marL="728980">
              <a:lnSpc>
                <a:spcPct val="100000"/>
              </a:lnSpc>
              <a:spcBef>
                <a:spcPts val="2890"/>
              </a:spcBef>
            </a:pPr>
            <a:r>
              <a:rPr sz="3200" spc="-10" dirty="0">
                <a:solidFill>
                  <a:srgbClr val="1A1AFF"/>
                </a:solidFill>
                <a:latin typeface="Arial MT"/>
                <a:cs typeface="Arial MT"/>
              </a:rPr>
              <a:t>Environment</a:t>
            </a:r>
            <a:r>
              <a:rPr sz="3200" spc="-120" dirty="0">
                <a:solidFill>
                  <a:srgbClr val="1A1AF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1A1AFF"/>
                </a:solidFill>
                <a:latin typeface="Arial MT"/>
                <a:cs typeface="Arial MT"/>
              </a:rPr>
              <a:t>types</a:t>
            </a:r>
            <a:endParaRPr sz="3200">
              <a:latin typeface="Arial MT"/>
              <a:cs typeface="Arial MT"/>
            </a:endParaRPr>
          </a:p>
          <a:p>
            <a:pPr marL="728980" indent="-716280">
              <a:lnSpc>
                <a:spcPct val="100000"/>
              </a:lnSpc>
              <a:spcBef>
                <a:spcPts val="3120"/>
              </a:spcBef>
              <a:buFont typeface="Wingdings"/>
              <a:buChar char=""/>
              <a:tabLst>
                <a:tab pos="72898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32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types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201453"/>
            <a:ext cx="2040820" cy="920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8069" y="385071"/>
            <a:ext cx="3801389" cy="4650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435225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Intelligent</a:t>
            </a:r>
            <a:r>
              <a:rPr sz="3600" spc="-165" dirty="0"/>
              <a:t> </a:t>
            </a:r>
            <a:r>
              <a:rPr sz="3600" spc="-10" dirty="0"/>
              <a:t>Agents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987" y="35179"/>
            <a:ext cx="32512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Environment</a:t>
            </a:r>
            <a:r>
              <a:rPr spc="-110" dirty="0"/>
              <a:t> </a:t>
            </a:r>
            <a:r>
              <a:rPr spc="-4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582" y="463317"/>
            <a:ext cx="7480934" cy="645477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60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1)</a:t>
            </a:r>
            <a:r>
              <a:rPr sz="28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Fully</a:t>
            </a:r>
            <a:r>
              <a:rPr sz="28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observable</a:t>
            </a:r>
            <a:r>
              <a:rPr sz="28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vs.</a:t>
            </a:r>
            <a:r>
              <a:rPr sz="28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2)</a:t>
            </a:r>
            <a:r>
              <a:rPr sz="28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Partially</a:t>
            </a:r>
            <a:r>
              <a:rPr sz="28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observable</a:t>
            </a:r>
            <a:endParaRPr sz="2800" dirty="0">
              <a:latin typeface="Arial MT"/>
              <a:cs typeface="Arial MT"/>
            </a:endParaRPr>
          </a:p>
          <a:p>
            <a:pPr marL="612775" lvl="1" indent="-28638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612775" algn="l"/>
              </a:tabLst>
            </a:pP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Sensors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capture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16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relevant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information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environment</a:t>
            </a:r>
            <a:endParaRPr sz="1600" dirty="0">
              <a:latin typeface="Calibri"/>
              <a:cs typeface="Calibri"/>
            </a:endParaRPr>
          </a:p>
          <a:p>
            <a:pPr marL="355600" marR="1057275" indent="-342900">
              <a:lnSpc>
                <a:spcPct val="100699"/>
              </a:lnSpc>
              <a:spcBef>
                <a:spcPts val="1839"/>
              </a:spcBef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3)</a:t>
            </a:r>
            <a:r>
              <a:rPr sz="28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Deterministic</a:t>
            </a:r>
            <a:r>
              <a:rPr sz="28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vs.</a:t>
            </a:r>
            <a:r>
              <a:rPr sz="28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4)</a:t>
            </a:r>
            <a:r>
              <a:rPr sz="28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Stochastic</a:t>
            </a:r>
            <a:r>
              <a:rPr sz="28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(non- deterministic)</a:t>
            </a:r>
            <a:endParaRPr sz="2800" dirty="0">
              <a:latin typeface="Arial MT"/>
              <a:cs typeface="Arial MT"/>
            </a:endParaRPr>
          </a:p>
          <a:p>
            <a:pPr marL="612775" lvl="1" indent="-28638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612775" algn="l"/>
              </a:tabLst>
            </a:pP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Changes</a:t>
            </a:r>
            <a:r>
              <a:rPr sz="16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environment</a:t>
            </a:r>
            <a:r>
              <a:rPr sz="16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predictable</a:t>
            </a:r>
            <a:endParaRPr sz="16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60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5)</a:t>
            </a:r>
            <a:r>
              <a:rPr sz="28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Episodic</a:t>
            </a:r>
            <a:r>
              <a:rPr sz="28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vs.</a:t>
            </a:r>
            <a:r>
              <a:rPr sz="2800" spc="-11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6)</a:t>
            </a:r>
            <a:r>
              <a:rPr sz="28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Sequential</a:t>
            </a:r>
            <a:r>
              <a:rPr sz="28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8F"/>
                </a:solidFill>
                <a:latin typeface="Arial MT"/>
                <a:cs typeface="Arial MT"/>
              </a:rPr>
              <a:t>(non-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episodic)</a:t>
            </a:r>
            <a:endParaRPr sz="2800" dirty="0">
              <a:latin typeface="Arial MT"/>
              <a:cs typeface="Arial MT"/>
            </a:endParaRPr>
          </a:p>
          <a:p>
            <a:pPr marL="612775" lvl="1" indent="-28638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612775" algn="l"/>
              </a:tabLst>
            </a:pP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Independent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perceiving-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acting</a:t>
            </a:r>
            <a:r>
              <a:rPr sz="16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episodes</a:t>
            </a:r>
            <a:endParaRPr sz="16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64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7)</a:t>
            </a:r>
            <a:r>
              <a:rPr sz="28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Static</a:t>
            </a:r>
            <a:r>
              <a:rPr sz="28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vs.</a:t>
            </a:r>
            <a:r>
              <a:rPr sz="28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8)</a:t>
            </a:r>
            <a:r>
              <a:rPr sz="28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Dynamic</a:t>
            </a:r>
            <a:endParaRPr sz="2800" dirty="0">
              <a:latin typeface="Arial MT"/>
              <a:cs typeface="Arial MT"/>
            </a:endParaRPr>
          </a:p>
          <a:p>
            <a:pPr marL="612775" lvl="1" indent="-28638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612775" algn="l"/>
              </a:tabLst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changes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while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agent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1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“thinking”</a:t>
            </a:r>
            <a:endParaRPr sz="16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65"/>
              </a:spcBef>
              <a:buChar char="•"/>
              <a:tabLst>
                <a:tab pos="354965" algn="l"/>
              </a:tabLst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9)</a:t>
            </a:r>
            <a:r>
              <a:rPr sz="28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Discrete</a:t>
            </a:r>
            <a:r>
              <a:rPr sz="28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vs.</a:t>
            </a:r>
            <a:r>
              <a:rPr sz="28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10)</a:t>
            </a:r>
            <a:r>
              <a:rPr sz="28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Continuous</a:t>
            </a:r>
            <a:endParaRPr sz="2800" dirty="0">
              <a:latin typeface="Arial MT"/>
              <a:cs typeface="Arial MT"/>
            </a:endParaRPr>
          </a:p>
          <a:p>
            <a:pPr marL="612775" lvl="1" indent="-28638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612775" algn="l"/>
              </a:tabLst>
            </a:pP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Limited</a:t>
            </a:r>
            <a:r>
              <a:rPr sz="16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number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distinct</a:t>
            </a:r>
            <a:r>
              <a:rPr sz="16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percepts/actions</a:t>
            </a:r>
            <a:endParaRPr sz="16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60"/>
              </a:spcBef>
              <a:buChar char="•"/>
              <a:tabLst>
                <a:tab pos="354965" algn="l"/>
              </a:tabLst>
            </a:pPr>
            <a:r>
              <a:rPr sz="2800" spc="-50" dirty="0">
                <a:solidFill>
                  <a:srgbClr val="00008F"/>
                </a:solidFill>
                <a:latin typeface="Arial MT"/>
                <a:cs typeface="Arial MT"/>
              </a:rPr>
              <a:t>11)</a:t>
            </a:r>
            <a:r>
              <a:rPr sz="28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Single</a:t>
            </a:r>
            <a:r>
              <a:rPr sz="2800" spc="-11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vs.</a:t>
            </a:r>
            <a:r>
              <a:rPr sz="2800" spc="-1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12)</a:t>
            </a:r>
            <a:r>
              <a:rPr sz="28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Multiple</a:t>
            </a:r>
            <a:r>
              <a:rPr sz="2800" spc="-11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endParaRPr sz="2800" dirty="0">
              <a:latin typeface="Arial MT"/>
              <a:cs typeface="Arial MT"/>
            </a:endParaRPr>
          </a:p>
          <a:p>
            <a:pPr marL="612775" lvl="1" indent="-286385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612775" algn="l"/>
              </a:tabLst>
            </a:pP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Interaction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collaboration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among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agents</a:t>
            </a:r>
            <a:endParaRPr sz="1600" dirty="0">
              <a:latin typeface="Calibri"/>
              <a:cs typeface="Calibri"/>
            </a:endParaRPr>
          </a:p>
          <a:p>
            <a:pPr marL="612775" lvl="1" indent="-28638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612775" algn="l"/>
              </a:tabLst>
            </a:pP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Competitive,</a:t>
            </a:r>
            <a:r>
              <a:rPr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cooperative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87740" y="6544056"/>
            <a:ext cx="252729" cy="208915"/>
            <a:chOff x="8587740" y="6544056"/>
            <a:chExt cx="252729" cy="208915"/>
          </a:xfrm>
        </p:grpSpPr>
        <p:sp>
          <p:nvSpPr>
            <p:cNvPr id="5" name="object 5"/>
            <p:cNvSpPr/>
            <p:nvPr/>
          </p:nvSpPr>
          <p:spPr>
            <a:xfrm>
              <a:off x="8613648" y="6544056"/>
              <a:ext cx="61594" cy="164465"/>
            </a:xfrm>
            <a:custGeom>
              <a:avLst/>
              <a:gdLst/>
              <a:ahLst/>
              <a:cxnLst/>
              <a:rect l="l" t="t" r="r" b="b"/>
              <a:pathLst>
                <a:path w="61595" h="164465">
                  <a:moveTo>
                    <a:pt x="61341" y="0"/>
                  </a:moveTo>
                  <a:lnTo>
                    <a:pt x="43815" y="6921"/>
                  </a:lnTo>
                  <a:lnTo>
                    <a:pt x="35814" y="15735"/>
                  </a:lnTo>
                  <a:lnTo>
                    <a:pt x="22606" y="27368"/>
                  </a:lnTo>
                  <a:lnTo>
                    <a:pt x="12065" y="34264"/>
                  </a:lnTo>
                  <a:lnTo>
                    <a:pt x="254" y="40271"/>
                  </a:lnTo>
                  <a:lnTo>
                    <a:pt x="0" y="59690"/>
                  </a:lnTo>
                  <a:lnTo>
                    <a:pt x="35687" y="40551"/>
                  </a:lnTo>
                  <a:lnTo>
                    <a:pt x="40640" y="36004"/>
                  </a:lnTo>
                  <a:lnTo>
                    <a:pt x="38862" y="164020"/>
                  </a:lnTo>
                  <a:lnTo>
                    <a:pt x="59182" y="164287"/>
                  </a:lnTo>
                  <a:lnTo>
                    <a:pt x="60833" y="36004"/>
                  </a:lnTo>
                  <a:lnTo>
                    <a:pt x="61341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5281" y="6545720"/>
              <a:ext cx="107315" cy="16593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587740" y="6742175"/>
              <a:ext cx="252729" cy="0"/>
            </a:xfrm>
            <a:custGeom>
              <a:avLst/>
              <a:gdLst/>
              <a:ahLst/>
              <a:cxnLst/>
              <a:rect l="l" t="t" r="r" b="b"/>
              <a:pathLst>
                <a:path w="252729">
                  <a:moveTo>
                    <a:pt x="0" y="0"/>
                  </a:moveTo>
                  <a:lnTo>
                    <a:pt x="252729" y="0"/>
                  </a:lnTo>
                </a:path>
              </a:pathLst>
            </a:custGeom>
            <a:ln w="2133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9527" y="264413"/>
            <a:ext cx="3250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Environment</a:t>
            </a:r>
            <a:r>
              <a:rPr spc="-100" dirty="0"/>
              <a:t> </a:t>
            </a:r>
            <a:r>
              <a:rPr spc="-3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3715" y="920622"/>
            <a:ext cx="8568055" cy="11303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-2540">
              <a:lnSpc>
                <a:spcPct val="101000"/>
              </a:lnSpc>
              <a:spcBef>
                <a:spcPts val="70"/>
              </a:spcBef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	Fully</a:t>
            </a:r>
            <a:r>
              <a:rPr sz="24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observable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(vs.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partially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observable):</a:t>
            </a:r>
            <a:r>
              <a:rPr sz="2400" spc="-1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agent's</a:t>
            </a:r>
            <a:r>
              <a:rPr sz="2400" spc="6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sensors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can</a:t>
            </a:r>
            <a:r>
              <a:rPr sz="24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measure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all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relevant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aspects</a:t>
            </a:r>
            <a:r>
              <a:rPr sz="2400" spc="-1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environment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at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each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point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in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time.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569" y="2547073"/>
            <a:ext cx="3130061" cy="271682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7635" y="2767583"/>
            <a:ext cx="3867912" cy="2362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8968" y="5692546"/>
            <a:ext cx="821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solidFill>
                  <a:srgbClr val="FF0000"/>
                </a:solidFill>
                <a:latin typeface="Arial MT"/>
                <a:cs typeface="Arial MT"/>
              </a:rPr>
              <a:t>Tic</a:t>
            </a:r>
            <a:r>
              <a:rPr sz="24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80" dirty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c</a:t>
            </a:r>
            <a:r>
              <a:rPr sz="24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85" dirty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o</a:t>
            </a:r>
            <a:r>
              <a:rPr sz="2400" spc="-15" dirty="0">
                <a:solidFill>
                  <a:srgbClr val="FF0000"/>
                </a:solidFill>
                <a:latin typeface="Arial MT"/>
                <a:cs typeface="Arial MT"/>
              </a:rPr>
              <a:t>e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1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Fully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Arial MT"/>
                <a:cs typeface="Arial MT"/>
              </a:rPr>
              <a:t>Observable.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Cards</a:t>
            </a:r>
            <a:r>
              <a:rPr sz="24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are</a:t>
            </a:r>
            <a:r>
              <a:rPr sz="24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Partially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Observable.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9527" y="264413"/>
            <a:ext cx="3250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Environment</a:t>
            </a:r>
            <a:r>
              <a:rPr spc="-100" dirty="0"/>
              <a:t> </a:t>
            </a:r>
            <a:r>
              <a:rPr spc="-3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3715" y="949578"/>
            <a:ext cx="8177530" cy="1479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5600" marR="5080" indent="-342900">
              <a:lnSpc>
                <a:spcPct val="99200"/>
              </a:lnSpc>
              <a:spcBef>
                <a:spcPts val="120"/>
              </a:spcBef>
              <a:buFont typeface="Wingdings"/>
              <a:buChar char=""/>
              <a:tabLst>
                <a:tab pos="355600" algn="l"/>
              </a:tabLst>
            </a:pP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Deterministic</a:t>
            </a:r>
            <a:r>
              <a:rPr sz="24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(vs.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stochastic):</a:t>
            </a:r>
            <a:r>
              <a:rPr sz="2400" spc="-1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next</a:t>
            </a:r>
            <a:r>
              <a:rPr sz="2400" spc="-4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state</a:t>
            </a:r>
            <a:r>
              <a:rPr sz="24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environment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is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completely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determined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by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current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state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action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executed</a:t>
            </a:r>
            <a:r>
              <a:rPr sz="24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by</a:t>
            </a:r>
            <a:r>
              <a:rPr sz="2400" spc="-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agent.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(Stochastic: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next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state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cannot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be</a:t>
            </a:r>
            <a:r>
              <a:rPr sz="24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predicted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with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certainity)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2971800"/>
            <a:ext cx="3140963" cy="17586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24686" y="5396890"/>
            <a:ext cx="6050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4" dirty="0">
                <a:solidFill>
                  <a:srgbClr val="FF0000"/>
                </a:solidFill>
                <a:latin typeface="Arial MT"/>
                <a:cs typeface="Arial MT"/>
              </a:rPr>
              <a:t>Chess</a:t>
            </a:r>
            <a:r>
              <a:rPr sz="2400" spc="-2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Arial MT"/>
                <a:cs typeface="Arial MT"/>
              </a:rPr>
              <a:t>deterministic.</a:t>
            </a:r>
            <a:r>
              <a:rPr sz="24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75" dirty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r>
              <a:rPr sz="2400" spc="-4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x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</a:t>
            </a:r>
            <a:r>
              <a:rPr sz="24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driver</a:t>
            </a:r>
            <a:r>
              <a:rPr sz="24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stochastic.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6111" y="2604516"/>
            <a:ext cx="3739873" cy="24947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9527" y="264413"/>
            <a:ext cx="3250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Environment</a:t>
            </a:r>
            <a:r>
              <a:rPr spc="-100" dirty="0"/>
              <a:t> </a:t>
            </a:r>
            <a:r>
              <a:rPr spc="-3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3715" y="920622"/>
            <a:ext cx="8497570" cy="14992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-2540">
              <a:lnSpc>
                <a:spcPct val="101000"/>
              </a:lnSpc>
              <a:spcBef>
                <a:spcPts val="70"/>
              </a:spcBef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	Episodic</a:t>
            </a:r>
            <a:r>
              <a:rPr sz="24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(vs.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sequential):</a:t>
            </a:r>
            <a:r>
              <a:rPr sz="2400" spc="-15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agent's</a:t>
            </a:r>
            <a:r>
              <a:rPr sz="24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experience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is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divided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into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atomic</a:t>
            </a:r>
            <a:r>
              <a:rPr sz="24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"episodes"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(each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episode</a:t>
            </a:r>
            <a:r>
              <a:rPr sz="2400" spc="-3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consists</a:t>
            </a:r>
            <a:r>
              <a:rPr sz="24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agent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perceiving</a:t>
            </a:r>
            <a:r>
              <a:rPr sz="2400" spc="-3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then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performing</a:t>
            </a:r>
            <a:r>
              <a:rPr sz="2400" spc="-11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single</a:t>
            </a:r>
            <a:r>
              <a:rPr sz="2400" spc="-3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action),</a:t>
            </a:r>
            <a:r>
              <a:rPr sz="24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choice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action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in</a:t>
            </a:r>
            <a:r>
              <a:rPr sz="24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each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episode</a:t>
            </a:r>
            <a:r>
              <a:rPr sz="2400" spc="-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depends</a:t>
            </a:r>
            <a:r>
              <a:rPr sz="2400" spc="-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only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on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episode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itself.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8200" y="3240023"/>
            <a:ext cx="3140963" cy="17586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52676" y="5549290"/>
            <a:ext cx="5607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Robot</a:t>
            </a:r>
            <a:r>
              <a:rPr sz="2400" spc="-1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35" dirty="0">
                <a:solidFill>
                  <a:srgbClr val="FF0000"/>
                </a:solidFill>
                <a:latin typeface="Arial MT"/>
                <a:cs typeface="Arial MT"/>
              </a:rPr>
              <a:t>Episodic.</a:t>
            </a:r>
            <a:r>
              <a:rPr sz="24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80" dirty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x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i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driver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sequential.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8200" y="2996789"/>
            <a:ext cx="3048000" cy="207404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461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Environment</a:t>
            </a:r>
            <a:r>
              <a:rPr spc="-140" dirty="0"/>
              <a:t> </a:t>
            </a:r>
            <a:r>
              <a:rPr spc="-8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455" y="901953"/>
            <a:ext cx="8206740" cy="149987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-2540">
              <a:lnSpc>
                <a:spcPct val="101000"/>
              </a:lnSpc>
              <a:spcBef>
                <a:spcPts val="70"/>
              </a:spcBef>
              <a:buSzPct val="95833"/>
              <a:buFont typeface="Wingdings"/>
              <a:buChar char=""/>
              <a:tabLst>
                <a:tab pos="283210" algn="l"/>
                <a:tab pos="776922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	Static</a:t>
            </a:r>
            <a:r>
              <a:rPr sz="2400" spc="-1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(vs.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dynamic):</a:t>
            </a:r>
            <a:r>
              <a:rPr sz="2400" spc="-13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11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environment</a:t>
            </a:r>
            <a:r>
              <a:rPr sz="2400" spc="-6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is</a:t>
            </a:r>
            <a:r>
              <a:rPr sz="24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unchanged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while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is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thinking.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(The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environment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is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semidynamic</a:t>
            </a:r>
            <a:r>
              <a:rPr sz="24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if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	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the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environment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itself</a:t>
            </a:r>
            <a:r>
              <a:rPr sz="24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does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not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change</a:t>
            </a:r>
            <a:r>
              <a:rPr sz="2400" spc="-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with</a:t>
            </a:r>
            <a:r>
              <a:rPr sz="24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passage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time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but</a:t>
            </a:r>
            <a:r>
              <a:rPr sz="24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agent's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performance</a:t>
            </a:r>
            <a:r>
              <a:rPr sz="24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score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does).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48200" y="2651760"/>
            <a:ext cx="3739873" cy="24947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31339" y="5701690"/>
            <a:ext cx="4994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75" dirty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FF0000"/>
                </a:solidFill>
                <a:latin typeface="Arial MT"/>
                <a:cs typeface="Arial MT"/>
              </a:rPr>
              <a:t>x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i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driver</a:t>
            </a:r>
            <a:r>
              <a:rPr sz="2400" spc="-15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dynamic.</a:t>
            </a:r>
            <a:r>
              <a:rPr sz="24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Chess</a:t>
            </a:r>
            <a:r>
              <a:rPr sz="24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static.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" y="2971800"/>
            <a:ext cx="3140964" cy="175869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461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Environment</a:t>
            </a:r>
            <a:r>
              <a:rPr spc="-140" dirty="0"/>
              <a:t> </a:t>
            </a:r>
            <a:r>
              <a:rPr spc="-8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0187" y="994359"/>
            <a:ext cx="85744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3050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"/>
              <a:tabLst>
                <a:tab pos="283845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Discrete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(vs.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continuous):</a:t>
            </a:r>
            <a:r>
              <a:rPr sz="2400" spc="1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</a:t>
            </a:r>
            <a:r>
              <a:rPr sz="24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limited</a:t>
            </a:r>
            <a:r>
              <a:rPr sz="2400" spc="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number</a:t>
            </a:r>
            <a:r>
              <a:rPr sz="2400" spc="1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400" spc="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distinct,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clearly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defined</a:t>
            </a:r>
            <a:r>
              <a:rPr sz="2400" spc="-14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percepts</a:t>
            </a:r>
            <a:r>
              <a:rPr sz="2400" spc="-14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actions</a:t>
            </a:r>
            <a:r>
              <a:rPr sz="2400" spc="-1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(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Defined</a:t>
            </a:r>
            <a:r>
              <a:rPr sz="2400" spc="-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Rules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400" spc="-1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Actions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2667000"/>
            <a:ext cx="3739873" cy="24963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2819400"/>
            <a:ext cx="3537204" cy="1981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58800" y="5680964"/>
            <a:ext cx="8128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Chess</a:t>
            </a:r>
            <a:r>
              <a:rPr sz="2400" spc="-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has</a:t>
            </a:r>
            <a:r>
              <a:rPr sz="24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finite</a:t>
            </a:r>
            <a:r>
              <a:rPr sz="24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number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400" spc="-1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distinct</a:t>
            </a:r>
            <a:r>
              <a:rPr sz="24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FF0000"/>
                </a:solidFill>
                <a:latin typeface="Arial MT"/>
                <a:cs typeface="Arial MT"/>
              </a:rPr>
              <a:t>states.</a:t>
            </a:r>
            <a:r>
              <a:rPr sz="2400" spc="-1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thus</a:t>
            </a:r>
            <a:r>
              <a:rPr sz="24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it</a:t>
            </a:r>
            <a:r>
              <a:rPr sz="2400" spc="-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discrete; 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however</a:t>
            </a:r>
            <a:r>
              <a:rPr sz="24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400" spc="-1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80" dirty="0">
                <a:solidFill>
                  <a:srgbClr val="FF0000"/>
                </a:solidFill>
                <a:latin typeface="Arial MT"/>
                <a:cs typeface="Arial MT"/>
              </a:rPr>
              <a:t>T</a:t>
            </a:r>
            <a:r>
              <a:rPr sz="2400" spc="-60" dirty="0">
                <a:solidFill>
                  <a:srgbClr val="FF0000"/>
                </a:solidFill>
                <a:latin typeface="Arial MT"/>
                <a:cs typeface="Arial MT"/>
              </a:rPr>
              <a:t>ax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i</a:t>
            </a:r>
            <a:r>
              <a:rPr sz="2400" spc="-3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driving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not.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461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Environment</a:t>
            </a:r>
            <a:r>
              <a:rPr spc="-140" dirty="0"/>
              <a:t> </a:t>
            </a:r>
            <a:r>
              <a:rPr spc="-8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3455" y="1240028"/>
            <a:ext cx="82702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	Single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agent</a:t>
            </a:r>
            <a:r>
              <a:rPr sz="24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(vs.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multiagent):</a:t>
            </a:r>
            <a:r>
              <a:rPr sz="2400" spc="-1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r>
              <a:rPr sz="2400" spc="-1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operating</a:t>
            </a:r>
            <a:r>
              <a:rPr sz="2400" spc="-6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by</a:t>
            </a:r>
            <a:r>
              <a:rPr sz="2400" spc="-3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itself</a:t>
            </a:r>
            <a:r>
              <a:rPr sz="2400" spc="-1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in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an</a:t>
            </a:r>
            <a:r>
              <a:rPr sz="2400" spc="-3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environment.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2429255"/>
            <a:ext cx="2671561" cy="27111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2648711"/>
            <a:ext cx="3739873" cy="249631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93139" y="5865672"/>
            <a:ext cx="735203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5"/>
              </a:spcBef>
            </a:pP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Crossword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1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Arial MT"/>
                <a:cs typeface="Arial MT"/>
              </a:rPr>
              <a:t>Single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agent,</a:t>
            </a:r>
            <a:r>
              <a:rPr sz="2400" spc="-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while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Chess</a:t>
            </a:r>
            <a:r>
              <a:rPr sz="24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1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z="2400" spc="-1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Arial MT"/>
                <a:cs typeface="Arial MT"/>
              </a:rPr>
              <a:t>multi-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agent environment.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60383" y="6456679"/>
            <a:ext cx="333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7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-25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27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1868" y="272034"/>
            <a:ext cx="3249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Environment</a:t>
            </a:r>
            <a:r>
              <a:rPr spc="-100" dirty="0"/>
              <a:t> </a:t>
            </a:r>
            <a:r>
              <a:rPr spc="-3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8688" y="4219702"/>
            <a:ext cx="8206740" cy="1434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environment</a:t>
            </a:r>
            <a:r>
              <a:rPr sz="24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type</a:t>
            </a:r>
            <a:r>
              <a:rPr sz="2400" spc="-1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largely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determines</a:t>
            </a:r>
            <a:r>
              <a:rPr sz="24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agent</a:t>
            </a:r>
            <a:r>
              <a:rPr sz="24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design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25"/>
              </a:spcBef>
              <a:buClr>
                <a:srgbClr val="00008F"/>
              </a:buClr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355600" marR="243840" indent="-342900">
              <a:lnSpc>
                <a:spcPts val="2300"/>
              </a:lnSpc>
              <a:buChar char="•"/>
              <a:tabLst>
                <a:tab pos="355600" algn="l"/>
                <a:tab pos="1957070" algn="l"/>
              </a:tabLst>
            </a:pP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4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real</a:t>
            </a:r>
            <a:r>
              <a:rPr sz="24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world</a:t>
            </a:r>
            <a:r>
              <a:rPr sz="24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is</a:t>
            </a:r>
            <a:r>
              <a:rPr sz="24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(of</a:t>
            </a:r>
            <a:r>
              <a:rPr sz="2400" spc="-7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course)</a:t>
            </a:r>
            <a:r>
              <a:rPr sz="2400" spc="-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partially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observable, stochastic,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	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sequential,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dynamic,</a:t>
            </a:r>
            <a:r>
              <a:rPr sz="24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continuous,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multi-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agent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306" y="1267966"/>
            <a:ext cx="8620446" cy="24194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6" name="Rectangle 5"/>
          <p:cNvSpPr/>
          <p:nvPr/>
        </p:nvSpPr>
        <p:spPr>
          <a:xfrm>
            <a:off x="691967" y="6109002"/>
            <a:ext cx="6807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3" action="ppaction://hlinkpres?slideindex=1&amp;slidetitle="/>
              </a:rPr>
              <a:t>https://www.geeksforgeeks.org/types-of-environments-in-ai/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4408" y="5402255"/>
            <a:ext cx="363220" cy="452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20"/>
              </a:lnSpc>
            </a:pPr>
            <a:r>
              <a:rPr sz="3200" spc="-50" dirty="0">
                <a:solidFill>
                  <a:srgbClr val="00008F"/>
                </a:solidFill>
                <a:latin typeface="Wingdings"/>
                <a:cs typeface="Wingdings"/>
              </a:rPr>
              <a:t></a:t>
            </a:r>
            <a:endParaRPr sz="3200">
              <a:latin typeface="Wingdings"/>
              <a:cs typeface="Wingding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81708" y="1327150"/>
            <a:ext cx="6731634" cy="4535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8980" indent="-71628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728980" algn="l"/>
              </a:tabLst>
            </a:pP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r>
              <a:rPr sz="32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32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environments</a:t>
            </a:r>
            <a:endParaRPr sz="3200">
              <a:latin typeface="Arial MT"/>
              <a:cs typeface="Arial MT"/>
            </a:endParaRPr>
          </a:p>
          <a:p>
            <a:pPr marL="728980" indent="-716280">
              <a:lnSpc>
                <a:spcPct val="100000"/>
              </a:lnSpc>
              <a:spcBef>
                <a:spcPts val="3250"/>
              </a:spcBef>
              <a:buFont typeface="Wingdings"/>
              <a:buChar char=""/>
              <a:tabLst>
                <a:tab pos="728980" algn="l"/>
              </a:tabLst>
            </a:pP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Rationality</a:t>
            </a:r>
            <a:endParaRPr sz="3200">
              <a:latin typeface="Arial MT"/>
              <a:cs typeface="Arial MT"/>
            </a:endParaRPr>
          </a:p>
          <a:p>
            <a:pPr marL="727710" marR="5080" indent="-715645">
              <a:lnSpc>
                <a:spcPts val="3790"/>
              </a:lnSpc>
              <a:spcBef>
                <a:spcPts val="3300"/>
              </a:spcBef>
              <a:buFont typeface="Wingdings"/>
              <a:buChar char=""/>
              <a:tabLst>
                <a:tab pos="727710" algn="l"/>
                <a:tab pos="728980" algn="l"/>
              </a:tabLst>
            </a:pPr>
            <a:r>
              <a:rPr sz="3200" dirty="0">
                <a:solidFill>
                  <a:srgbClr val="00008F"/>
                </a:solidFill>
                <a:latin typeface="Times New Roman"/>
                <a:cs typeface="Times New Roman"/>
              </a:rPr>
              <a:t>	</a:t>
            </a:r>
            <a:r>
              <a:rPr sz="3200" dirty="0">
                <a:solidFill>
                  <a:srgbClr val="00008F"/>
                </a:solidFill>
                <a:latin typeface="Arial MT"/>
                <a:cs typeface="Arial MT"/>
              </a:rPr>
              <a:t>PEAS</a:t>
            </a:r>
            <a:r>
              <a:rPr sz="3200" spc="-5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(Performance</a:t>
            </a:r>
            <a:r>
              <a:rPr sz="32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measure, </a:t>
            </a:r>
            <a:r>
              <a:rPr sz="3200" spc="-20" dirty="0">
                <a:solidFill>
                  <a:srgbClr val="00008F"/>
                </a:solidFill>
                <a:latin typeface="Arial MT"/>
                <a:cs typeface="Arial MT"/>
              </a:rPr>
              <a:t>Environment,</a:t>
            </a:r>
            <a:r>
              <a:rPr sz="3200" spc="-1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Actuators,</a:t>
            </a:r>
            <a:r>
              <a:rPr sz="3200" spc="-25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Sensors)</a:t>
            </a:r>
            <a:endParaRPr sz="3200">
              <a:latin typeface="Arial MT"/>
              <a:cs typeface="Arial MT"/>
            </a:endParaRPr>
          </a:p>
          <a:p>
            <a:pPr marL="728980" marR="2647950" indent="-716915">
              <a:lnSpc>
                <a:spcPts val="6959"/>
              </a:lnSpc>
              <a:spcBef>
                <a:spcPts val="320"/>
              </a:spcBef>
              <a:buFont typeface="Wingdings"/>
              <a:buChar char=""/>
              <a:tabLst>
                <a:tab pos="728980" algn="l"/>
              </a:tabLst>
            </a:pPr>
            <a:r>
              <a:rPr sz="3200" spc="-10" dirty="0">
                <a:solidFill>
                  <a:srgbClr val="00008F"/>
                </a:solidFill>
                <a:latin typeface="Arial MT"/>
                <a:cs typeface="Arial MT"/>
              </a:rPr>
              <a:t>Environment</a:t>
            </a:r>
            <a:r>
              <a:rPr sz="32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00008F"/>
                </a:solidFill>
                <a:latin typeface="Arial MT"/>
                <a:cs typeface="Arial MT"/>
              </a:rPr>
              <a:t>types </a:t>
            </a:r>
            <a:r>
              <a:rPr sz="3200" dirty="0">
                <a:solidFill>
                  <a:srgbClr val="1A1AFF"/>
                </a:solidFill>
                <a:latin typeface="Arial MT"/>
                <a:cs typeface="Arial MT"/>
              </a:rPr>
              <a:t>Agent</a:t>
            </a:r>
            <a:r>
              <a:rPr sz="3200" spc="-120" dirty="0">
                <a:solidFill>
                  <a:srgbClr val="1A1A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A1AFF"/>
                </a:solidFill>
                <a:latin typeface="Arial MT"/>
                <a:cs typeface="Arial MT"/>
              </a:rPr>
              <a:t>types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149381"/>
            <a:ext cx="2040820" cy="920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88069" y="385071"/>
            <a:ext cx="3801389" cy="4650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435225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Intelligent</a:t>
            </a:r>
            <a:r>
              <a:rPr sz="3600" spc="-165" dirty="0"/>
              <a:t> </a:t>
            </a:r>
            <a:r>
              <a:rPr sz="3600" spc="-10" dirty="0"/>
              <a:t>Agents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9195" y="264413"/>
            <a:ext cx="21024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Agent</a:t>
            </a:r>
            <a:r>
              <a:rPr spc="-135" dirty="0"/>
              <a:t> </a:t>
            </a:r>
            <a:r>
              <a:rPr spc="-45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3987" y="886460"/>
            <a:ext cx="7616190" cy="5292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r>
              <a:rPr sz="28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can</a:t>
            </a:r>
            <a:r>
              <a:rPr sz="28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be</a:t>
            </a:r>
            <a:r>
              <a:rPr sz="28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divided</a:t>
            </a:r>
            <a:r>
              <a:rPr sz="2800" spc="-9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in</a:t>
            </a:r>
            <a:r>
              <a:rPr sz="2800" spc="-10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to</a:t>
            </a:r>
            <a:r>
              <a:rPr sz="28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five</a:t>
            </a:r>
            <a:r>
              <a:rPr sz="28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(05)</a:t>
            </a:r>
            <a:r>
              <a:rPr sz="28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basic</a:t>
            </a:r>
            <a:r>
              <a:rPr sz="28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types according</a:t>
            </a:r>
            <a:r>
              <a:rPr sz="2800" spc="-11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to</a:t>
            </a:r>
            <a:r>
              <a:rPr sz="28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the</a:t>
            </a:r>
            <a:r>
              <a:rPr sz="2800" spc="-12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degree</a:t>
            </a:r>
            <a:r>
              <a:rPr sz="2800" spc="-9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of</a:t>
            </a:r>
            <a:r>
              <a:rPr sz="2800" spc="-8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perceived</a:t>
            </a:r>
            <a:r>
              <a:rPr sz="28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intelligence </a:t>
            </a:r>
            <a:r>
              <a:rPr sz="2800" dirty="0">
                <a:solidFill>
                  <a:srgbClr val="00008F"/>
                </a:solidFill>
                <a:latin typeface="Arial MT"/>
                <a:cs typeface="Arial MT"/>
              </a:rPr>
              <a:t>and</a:t>
            </a:r>
            <a:r>
              <a:rPr sz="2800" spc="-8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capacity</a:t>
            </a:r>
            <a:r>
              <a:rPr sz="2800" spc="-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28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change</a:t>
            </a:r>
            <a:r>
              <a:rPr sz="28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800" spc="-1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environment</a:t>
            </a:r>
            <a:r>
              <a:rPr sz="2800" spc="-10" dirty="0">
                <a:solidFill>
                  <a:srgbClr val="00008F"/>
                </a:solidFill>
                <a:latin typeface="Arial MT"/>
                <a:cs typeface="Arial MT"/>
              </a:rPr>
              <a:t>:</a:t>
            </a:r>
            <a:endParaRPr sz="2800">
              <a:latin typeface="Arial MT"/>
              <a:cs typeface="Arial MT"/>
            </a:endParaRPr>
          </a:p>
          <a:p>
            <a:pPr marL="945515" indent="-285115">
              <a:lnSpc>
                <a:spcPct val="100000"/>
              </a:lnSpc>
              <a:spcBef>
                <a:spcPts val="2825"/>
              </a:spcBef>
              <a:buChar char="–"/>
              <a:tabLst>
                <a:tab pos="945515" algn="l"/>
              </a:tabLst>
            </a:pP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Simple</a:t>
            </a:r>
            <a:r>
              <a:rPr sz="2400" spc="-7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reflex</a:t>
            </a:r>
            <a:r>
              <a:rPr sz="2400" spc="-11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5"/>
              </a:spcBef>
              <a:buClr>
                <a:srgbClr val="00008F"/>
              </a:buClr>
              <a:buFont typeface="Arial MT"/>
              <a:buChar char="–"/>
            </a:pPr>
            <a:endParaRPr sz="2400">
              <a:latin typeface="Arial MT"/>
              <a:cs typeface="Arial MT"/>
            </a:endParaRPr>
          </a:p>
          <a:p>
            <a:pPr marL="945515" indent="-285115">
              <a:lnSpc>
                <a:spcPct val="100000"/>
              </a:lnSpc>
              <a:buChar char="–"/>
              <a:tabLst>
                <a:tab pos="945515" algn="l"/>
              </a:tabLst>
            </a:pP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Model-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based</a:t>
            </a:r>
            <a:r>
              <a:rPr sz="2400" spc="-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reflex</a:t>
            </a:r>
            <a:r>
              <a:rPr sz="2400" spc="-100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0"/>
              </a:spcBef>
              <a:buClr>
                <a:srgbClr val="00008F"/>
              </a:buClr>
              <a:buFont typeface="Arial MT"/>
              <a:buChar char="–"/>
            </a:pPr>
            <a:endParaRPr sz="2400">
              <a:latin typeface="Arial MT"/>
              <a:cs typeface="Arial MT"/>
            </a:endParaRPr>
          </a:p>
          <a:p>
            <a:pPr marL="945515" indent="-285115">
              <a:lnSpc>
                <a:spcPct val="100000"/>
              </a:lnSpc>
              <a:buChar char="–"/>
              <a:tabLst>
                <a:tab pos="945515" algn="l"/>
              </a:tabLst>
            </a:pP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Goal-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based</a:t>
            </a:r>
            <a:r>
              <a:rPr sz="2400" spc="-2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Clr>
                <a:srgbClr val="00008F"/>
              </a:buClr>
              <a:buFont typeface="Arial MT"/>
              <a:buChar char="–"/>
            </a:pPr>
            <a:endParaRPr sz="2400">
              <a:latin typeface="Arial MT"/>
              <a:cs typeface="Arial MT"/>
            </a:endParaRPr>
          </a:p>
          <a:p>
            <a:pPr marL="945515" indent="-285115">
              <a:lnSpc>
                <a:spcPct val="100000"/>
              </a:lnSpc>
              <a:buChar char="–"/>
              <a:tabLst>
                <a:tab pos="945515" algn="l"/>
              </a:tabLst>
            </a:pP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Utility-</a:t>
            </a:r>
            <a:r>
              <a:rPr sz="2400" dirty="0">
                <a:solidFill>
                  <a:srgbClr val="00008F"/>
                </a:solidFill>
                <a:latin typeface="Arial MT"/>
                <a:cs typeface="Arial MT"/>
              </a:rPr>
              <a:t>based</a:t>
            </a:r>
            <a:r>
              <a:rPr sz="2400" spc="-145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Clr>
                <a:srgbClr val="00008F"/>
              </a:buClr>
              <a:buFont typeface="Arial MT"/>
              <a:buChar char="–"/>
            </a:pPr>
            <a:endParaRPr sz="2400">
              <a:latin typeface="Arial MT"/>
              <a:cs typeface="Arial MT"/>
            </a:endParaRPr>
          </a:p>
          <a:p>
            <a:pPr marL="945515" indent="-285115">
              <a:lnSpc>
                <a:spcPct val="100000"/>
              </a:lnSpc>
              <a:buChar char="–"/>
              <a:tabLst>
                <a:tab pos="945515" algn="l"/>
              </a:tabLst>
            </a:pPr>
            <a:r>
              <a:rPr sz="2400" spc="-20" dirty="0">
                <a:solidFill>
                  <a:srgbClr val="00008F"/>
                </a:solidFill>
                <a:latin typeface="Arial MT"/>
                <a:cs typeface="Arial MT"/>
              </a:rPr>
              <a:t>Learning</a:t>
            </a:r>
            <a:r>
              <a:rPr sz="2400" spc="-114" dirty="0">
                <a:solidFill>
                  <a:srgbClr val="00008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8F"/>
                </a:solidFill>
                <a:latin typeface="Arial MT"/>
                <a:cs typeface="Arial MT"/>
              </a:rPr>
              <a:t>Agents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8833" y="2533118"/>
            <a:ext cx="3853246" cy="376862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59410"/>
          </a:xfrm>
          <a:custGeom>
            <a:avLst/>
            <a:gdLst/>
            <a:ahLst/>
            <a:cxnLst/>
            <a:rect l="l" t="t" r="r" b="b"/>
            <a:pathLst>
              <a:path w="360045" h="359409">
                <a:moveTo>
                  <a:pt x="0" y="0"/>
                </a:moveTo>
                <a:lnTo>
                  <a:pt x="359283" y="0"/>
                </a:lnTo>
              </a:path>
              <a:path w="360045" h="359409">
                <a:moveTo>
                  <a:pt x="359664" y="0"/>
                </a:moveTo>
                <a:lnTo>
                  <a:pt x="359664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09">
                <a:moveTo>
                  <a:pt x="359232" y="0"/>
                </a:moveTo>
                <a:lnTo>
                  <a:pt x="0" y="0"/>
                </a:lnTo>
              </a:path>
              <a:path w="359409" h="359409">
                <a:moveTo>
                  <a:pt x="0" y="0"/>
                </a:moveTo>
                <a:lnTo>
                  <a:pt x="0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107" y="6356603"/>
            <a:ext cx="359410" cy="360045"/>
          </a:xfrm>
          <a:custGeom>
            <a:avLst/>
            <a:gdLst/>
            <a:ahLst/>
            <a:cxnLst/>
            <a:rect l="l" t="t" r="r" b="b"/>
            <a:pathLst>
              <a:path w="359409" h="360045">
                <a:moveTo>
                  <a:pt x="359232" y="359664"/>
                </a:moveTo>
                <a:lnTo>
                  <a:pt x="0" y="359664"/>
                </a:lnTo>
              </a:path>
              <a:path w="359409" h="360045">
                <a:moveTo>
                  <a:pt x="0" y="359232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16" rIns="0" bIns="0" rtlCol="0">
            <a:spAutoFit/>
          </a:bodyPr>
          <a:lstStyle/>
          <a:p>
            <a:pPr marL="45275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Simple</a:t>
            </a:r>
            <a:r>
              <a:rPr spc="-155" dirty="0"/>
              <a:t> </a:t>
            </a:r>
            <a:r>
              <a:rPr spc="-25" dirty="0"/>
              <a:t>Reflex</a:t>
            </a:r>
            <a:r>
              <a:rPr spc="-165" dirty="0"/>
              <a:t> </a:t>
            </a:r>
            <a:r>
              <a:rPr spc="-10" dirty="0"/>
              <a:t>Agents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48513" y="1058672"/>
            <a:ext cx="8568690" cy="23863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828040" marR="5080" indent="-342900">
              <a:lnSpc>
                <a:spcPct val="101099"/>
              </a:lnSpc>
              <a:spcBef>
                <a:spcPts val="60"/>
              </a:spcBef>
            </a:pP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8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agent</a:t>
            </a:r>
            <a:r>
              <a:rPr sz="2800" spc="-8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selects</a:t>
            </a:r>
            <a:r>
              <a:rPr sz="2800" spc="-14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an</a:t>
            </a:r>
            <a:r>
              <a:rPr sz="2800" spc="-9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action(s)</a:t>
            </a:r>
            <a:r>
              <a:rPr sz="2800" spc="-10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based</a:t>
            </a:r>
            <a:r>
              <a:rPr sz="2800" spc="-10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on</a:t>
            </a:r>
            <a:r>
              <a:rPr sz="2800" spc="-6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800" spc="-8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current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precept</a:t>
            </a:r>
            <a:r>
              <a:rPr sz="28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8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conditions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,</a:t>
            </a:r>
            <a:r>
              <a:rPr sz="2800" spc="-12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ignoring</a:t>
            </a:r>
            <a:r>
              <a:rPr sz="2800" spc="-9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800" spc="-12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rest</a:t>
            </a:r>
            <a:r>
              <a:rPr sz="2800" spc="-12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of</a:t>
            </a:r>
            <a:r>
              <a:rPr sz="2800" spc="-10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7E"/>
                </a:solidFill>
                <a:latin typeface="Arial MT"/>
                <a:cs typeface="Arial MT"/>
              </a:rPr>
              <a:t>the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precept</a:t>
            </a:r>
            <a:r>
              <a:rPr sz="2800" spc="-18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history</a:t>
            </a:r>
            <a:r>
              <a:rPr sz="2800" spc="-16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(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previous</a:t>
            </a:r>
            <a:r>
              <a:rPr sz="2800" spc="-1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).</a:t>
            </a:r>
            <a:endParaRPr sz="2800">
              <a:latin typeface="Arial MT"/>
              <a:cs typeface="Arial MT"/>
            </a:endParaRPr>
          </a:p>
          <a:p>
            <a:pPr marL="529590" algn="ctr">
              <a:lnSpc>
                <a:spcPct val="100000"/>
              </a:lnSpc>
              <a:spcBef>
                <a:spcPts val="229"/>
              </a:spcBef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2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happens,</a:t>
            </a:r>
            <a:r>
              <a:rPr sz="28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sz="2800" spc="-50" dirty="0">
                <a:solidFill>
                  <a:srgbClr val="FF0000"/>
                </a:solidFill>
                <a:latin typeface="Calibri"/>
                <a:cs typeface="Calibri"/>
              </a:rPr>
              <a:t> y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70"/>
              </a:spcBef>
            </a:pPr>
            <a:r>
              <a:rPr sz="2400" spc="-20" dirty="0">
                <a:solidFill>
                  <a:srgbClr val="0000E4"/>
                </a:solidFill>
                <a:latin typeface="Arial MT"/>
                <a:cs typeface="Arial MT"/>
              </a:rPr>
              <a:t>e.g.</a:t>
            </a:r>
            <a:r>
              <a:rPr sz="2400" spc="-175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E4"/>
                </a:solidFill>
                <a:latin typeface="Arial MT"/>
                <a:cs typeface="Arial MT"/>
              </a:rPr>
              <a:t>Poker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5411" y="2926460"/>
            <a:ext cx="5629274" cy="35814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59410"/>
          </a:xfrm>
          <a:custGeom>
            <a:avLst/>
            <a:gdLst/>
            <a:ahLst/>
            <a:cxnLst/>
            <a:rect l="l" t="t" r="r" b="b"/>
            <a:pathLst>
              <a:path w="360045" h="359409">
                <a:moveTo>
                  <a:pt x="0" y="0"/>
                </a:moveTo>
                <a:lnTo>
                  <a:pt x="359283" y="0"/>
                </a:lnTo>
              </a:path>
              <a:path w="360045" h="359409">
                <a:moveTo>
                  <a:pt x="359664" y="0"/>
                </a:moveTo>
                <a:lnTo>
                  <a:pt x="359664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09">
                <a:moveTo>
                  <a:pt x="359232" y="0"/>
                </a:moveTo>
                <a:lnTo>
                  <a:pt x="0" y="0"/>
                </a:lnTo>
              </a:path>
              <a:path w="359409" h="359409">
                <a:moveTo>
                  <a:pt x="0" y="0"/>
                </a:moveTo>
                <a:lnTo>
                  <a:pt x="0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107" y="6356603"/>
            <a:ext cx="359410" cy="360045"/>
          </a:xfrm>
          <a:custGeom>
            <a:avLst/>
            <a:gdLst/>
            <a:ahLst/>
            <a:cxnLst/>
            <a:rect l="l" t="t" r="r" b="b"/>
            <a:pathLst>
              <a:path w="359409" h="360045">
                <a:moveTo>
                  <a:pt x="359232" y="359664"/>
                </a:moveTo>
                <a:lnTo>
                  <a:pt x="0" y="359664"/>
                </a:lnTo>
              </a:path>
              <a:path w="359409" h="360045">
                <a:moveTo>
                  <a:pt x="0" y="359232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3116" rIns="0" bIns="0" rtlCol="0">
            <a:spAutoFit/>
          </a:bodyPr>
          <a:lstStyle/>
          <a:p>
            <a:pPr marL="24701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Simple</a:t>
            </a:r>
            <a:r>
              <a:rPr spc="-150" dirty="0"/>
              <a:t> </a:t>
            </a:r>
            <a:r>
              <a:rPr spc="-25" dirty="0"/>
              <a:t>Reflex</a:t>
            </a:r>
            <a:r>
              <a:rPr spc="-165" dirty="0"/>
              <a:t> </a:t>
            </a:r>
            <a:r>
              <a:rPr spc="-10" dirty="0"/>
              <a:t>Agents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656573" y="6565507"/>
            <a:ext cx="34734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spc="-85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 </a:t>
            </a:r>
            <a:r>
              <a:rPr sz="1800" u="heavy" spc="3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 MT"/>
                <a:cs typeface="Arial MT"/>
              </a:rPr>
              <a:t>30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508" y="1156916"/>
            <a:ext cx="7971790" cy="3127375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235"/>
              </a:spcBef>
              <a:buChar char="•"/>
              <a:tabLst>
                <a:tab pos="469265" algn="l"/>
              </a:tabLst>
            </a:pPr>
            <a:r>
              <a:rPr sz="2800" spc="-75" dirty="0">
                <a:solidFill>
                  <a:srgbClr val="00007E"/>
                </a:solidFill>
                <a:latin typeface="Arial MT"/>
                <a:cs typeface="Arial MT"/>
              </a:rPr>
              <a:t>Very</a:t>
            </a:r>
            <a:r>
              <a:rPr sz="2800" spc="-12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limited</a:t>
            </a:r>
            <a:r>
              <a:rPr sz="2800" spc="-1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Intelligence</a:t>
            </a:r>
            <a:endParaRPr sz="2800">
              <a:latin typeface="Arial MT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1140"/>
              </a:spcBef>
              <a:buChar char="•"/>
              <a:tabLst>
                <a:tab pos="469265" algn="l"/>
              </a:tabLst>
            </a:pP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No</a:t>
            </a:r>
            <a:r>
              <a:rPr sz="2800" spc="-8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7E"/>
                </a:solidFill>
                <a:latin typeface="Arial MT"/>
                <a:cs typeface="Arial MT"/>
              </a:rPr>
              <a:t>Knowledge/Perception</a:t>
            </a:r>
            <a:r>
              <a:rPr sz="2800" spc="-6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about</a:t>
            </a:r>
            <a:r>
              <a:rPr sz="2800" spc="-10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8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previous</a:t>
            </a:r>
            <a:r>
              <a:rPr sz="28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Arial MT"/>
                <a:cs typeface="Arial MT"/>
              </a:rPr>
              <a:t>or</a:t>
            </a:r>
            <a:endParaRPr sz="2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1650"/>
              </a:spcBef>
            </a:pP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next</a:t>
            </a:r>
            <a:r>
              <a:rPr sz="2800" spc="-1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endParaRPr sz="2800">
              <a:latin typeface="Arial MT"/>
              <a:cs typeface="Arial MT"/>
            </a:endParaRPr>
          </a:p>
          <a:p>
            <a:pPr marL="469265" marR="162560" indent="-457200">
              <a:lnSpc>
                <a:spcPct val="153600"/>
              </a:lnSpc>
              <a:spcBef>
                <a:spcPts val="95"/>
              </a:spcBef>
              <a:buChar char="•"/>
              <a:tabLst>
                <a:tab pos="687705" algn="l"/>
              </a:tabLst>
            </a:pP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Operates</a:t>
            </a:r>
            <a:r>
              <a:rPr sz="2800" spc="-12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in</a:t>
            </a:r>
            <a:r>
              <a:rPr sz="2800" spc="-10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Partially</a:t>
            </a:r>
            <a:r>
              <a:rPr sz="28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Observable</a:t>
            </a:r>
            <a:r>
              <a:rPr sz="2800" spc="-11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Environments 	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Infinite</a:t>
            </a:r>
            <a:r>
              <a:rPr sz="2800" spc="-1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loops</a:t>
            </a:r>
            <a:r>
              <a:rPr sz="28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are</a:t>
            </a:r>
            <a:r>
              <a:rPr sz="2800" spc="-114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unavoidable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59410"/>
          </a:xfrm>
          <a:custGeom>
            <a:avLst/>
            <a:gdLst/>
            <a:ahLst/>
            <a:cxnLst/>
            <a:rect l="l" t="t" r="r" b="b"/>
            <a:pathLst>
              <a:path w="360045" h="359409">
                <a:moveTo>
                  <a:pt x="0" y="0"/>
                </a:moveTo>
                <a:lnTo>
                  <a:pt x="359283" y="0"/>
                </a:lnTo>
              </a:path>
              <a:path w="360045" h="359409">
                <a:moveTo>
                  <a:pt x="359664" y="0"/>
                </a:moveTo>
                <a:lnTo>
                  <a:pt x="359664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09">
                <a:moveTo>
                  <a:pt x="359232" y="0"/>
                </a:moveTo>
                <a:lnTo>
                  <a:pt x="0" y="0"/>
                </a:lnTo>
              </a:path>
              <a:path w="359409" h="359409">
                <a:moveTo>
                  <a:pt x="0" y="0"/>
                </a:moveTo>
                <a:lnTo>
                  <a:pt x="0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107" y="6356603"/>
            <a:ext cx="359410" cy="360045"/>
          </a:xfrm>
          <a:custGeom>
            <a:avLst/>
            <a:gdLst/>
            <a:ahLst/>
            <a:cxnLst/>
            <a:rect l="l" t="t" r="r" b="b"/>
            <a:pathLst>
              <a:path w="359409" h="360045">
                <a:moveTo>
                  <a:pt x="359232" y="359664"/>
                </a:moveTo>
                <a:lnTo>
                  <a:pt x="0" y="359664"/>
                </a:lnTo>
              </a:path>
              <a:path w="359409" h="360045">
                <a:moveTo>
                  <a:pt x="0" y="359232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561" rIns="0" bIns="0" rtlCol="0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Model-</a:t>
            </a:r>
            <a:r>
              <a:rPr dirty="0"/>
              <a:t>based</a:t>
            </a:r>
            <a:r>
              <a:rPr spc="-20" dirty="0"/>
              <a:t> </a:t>
            </a:r>
            <a:r>
              <a:rPr spc="-30" dirty="0"/>
              <a:t>Reflex</a:t>
            </a:r>
            <a:r>
              <a:rPr spc="-204" dirty="0"/>
              <a:t> </a:t>
            </a:r>
            <a:r>
              <a:rPr spc="-10" dirty="0"/>
              <a:t>Agents</a:t>
            </a:r>
          </a:p>
        </p:txBody>
      </p:sp>
      <p:sp>
        <p:nvSpPr>
          <p:cNvPr id="6" name="object 6"/>
          <p:cNvSpPr/>
          <p:nvPr/>
        </p:nvSpPr>
        <p:spPr>
          <a:xfrm>
            <a:off x="8673845" y="6703314"/>
            <a:ext cx="320040" cy="0"/>
          </a:xfrm>
          <a:custGeom>
            <a:avLst/>
            <a:gdLst/>
            <a:ahLst/>
            <a:cxnLst/>
            <a:rect l="l" t="t" r="r" b="b"/>
            <a:pathLst>
              <a:path w="320040">
                <a:moveTo>
                  <a:pt x="0" y="0"/>
                </a:moveTo>
                <a:lnTo>
                  <a:pt x="320039" y="0"/>
                </a:lnTo>
              </a:path>
            </a:pathLst>
          </a:custGeom>
          <a:ln w="16764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15247" y="6456679"/>
            <a:ext cx="29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solidFill>
                  <a:srgbClr val="7E7E7E"/>
                </a:solidFill>
                <a:latin typeface="Arial MT"/>
                <a:cs typeface="Arial MT"/>
              </a:rPr>
              <a:t>31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4019" y="876046"/>
            <a:ext cx="8437245" cy="26244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0" marR="7620" indent="-342900">
              <a:lnSpc>
                <a:spcPct val="101200"/>
              </a:lnSpc>
              <a:spcBef>
                <a:spcPts val="55"/>
              </a:spcBef>
            </a:pP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800" spc="-8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agent</a:t>
            </a:r>
            <a:r>
              <a:rPr sz="2800" spc="-11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decides</a:t>
            </a:r>
            <a:r>
              <a:rPr sz="28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its</a:t>
            </a:r>
            <a:r>
              <a:rPr sz="2800" spc="-13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action(s)</a:t>
            </a:r>
            <a:r>
              <a:rPr sz="2800" spc="-114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based</a:t>
            </a:r>
            <a:r>
              <a:rPr sz="2800" spc="-11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on</a:t>
            </a:r>
            <a:r>
              <a:rPr sz="2800" spc="-11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</a:t>
            </a:r>
            <a:r>
              <a:rPr sz="2800" spc="-10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predefined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set</a:t>
            </a:r>
            <a:r>
              <a:rPr sz="28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of</a:t>
            </a:r>
            <a:r>
              <a:rPr sz="28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7E"/>
                </a:solidFill>
                <a:latin typeface="Arial MT"/>
                <a:cs typeface="Arial MT"/>
              </a:rPr>
              <a:t>condition-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action</a:t>
            </a:r>
            <a:r>
              <a:rPr sz="2800" spc="-8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rules.</a:t>
            </a:r>
            <a:endParaRPr sz="2800">
              <a:latin typeface="Arial MT"/>
              <a:cs typeface="Arial MT"/>
            </a:endParaRPr>
          </a:p>
          <a:p>
            <a:pPr marL="355600" marR="182245" indent="-342900">
              <a:lnSpc>
                <a:spcPct val="100000"/>
              </a:lnSpc>
              <a:spcBef>
                <a:spcPts val="300"/>
              </a:spcBef>
            </a:pP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Depending</a:t>
            </a:r>
            <a:r>
              <a:rPr sz="2800" spc="-5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on</a:t>
            </a:r>
            <a:r>
              <a:rPr sz="2800" spc="-9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800" spc="-114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state</a:t>
            </a:r>
            <a:r>
              <a:rPr sz="2800" spc="-13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of</a:t>
            </a:r>
            <a:r>
              <a:rPr sz="2800" spc="-10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800" spc="-9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world,</a:t>
            </a:r>
            <a:r>
              <a:rPr sz="2800" spc="-7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7E"/>
                </a:solidFill>
                <a:latin typeface="Arial MT"/>
                <a:cs typeface="Arial MT"/>
              </a:rPr>
              <a:t>different</a:t>
            </a:r>
            <a:r>
              <a:rPr sz="2800" spc="-11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actions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are</a:t>
            </a:r>
            <a:r>
              <a:rPr sz="28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appropriate.</a:t>
            </a:r>
            <a:endParaRPr sz="2800">
              <a:latin typeface="Arial MT"/>
              <a:cs typeface="Arial MT"/>
            </a:endParaRPr>
          </a:p>
          <a:p>
            <a:pPr marL="355600" marR="5080" indent="-342900">
              <a:lnSpc>
                <a:spcPts val="3400"/>
              </a:lnSpc>
            </a:pP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State</a:t>
            </a:r>
            <a:r>
              <a:rPr sz="2800" spc="-11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is</a:t>
            </a:r>
            <a:r>
              <a:rPr sz="2800" spc="-10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evaluated</a:t>
            </a:r>
            <a:r>
              <a:rPr sz="2800" spc="-10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in</a:t>
            </a:r>
            <a:r>
              <a:rPr sz="2800" spc="-8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terms</a:t>
            </a:r>
            <a:r>
              <a:rPr sz="28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of</a:t>
            </a:r>
            <a:r>
              <a:rPr sz="2800" spc="-10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how</a:t>
            </a:r>
            <a:r>
              <a:rPr sz="2800" spc="-9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it</a:t>
            </a:r>
            <a:r>
              <a:rPr sz="2800" spc="-9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changed</a:t>
            </a:r>
            <a:r>
              <a:rPr sz="2800" spc="-8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from</a:t>
            </a:r>
            <a:r>
              <a:rPr sz="2800" spc="-9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007E"/>
                </a:solidFill>
                <a:latin typeface="Arial MT"/>
                <a:cs typeface="Arial MT"/>
              </a:rPr>
              <a:t>the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previous</a:t>
            </a:r>
            <a:r>
              <a:rPr sz="2800" spc="-1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state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482" y="4788534"/>
            <a:ext cx="2626995" cy="18903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30"/>
              </a:spcBef>
            </a:pPr>
            <a:r>
              <a:rPr sz="2400" spc="-10" dirty="0">
                <a:solidFill>
                  <a:srgbClr val="0000E4"/>
                </a:solidFill>
                <a:latin typeface="Arial MT"/>
                <a:cs typeface="Arial MT"/>
              </a:rPr>
              <a:t>e.g:A</a:t>
            </a:r>
            <a:r>
              <a:rPr sz="2400" spc="-160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E4"/>
                </a:solidFill>
                <a:latin typeface="Arial MT"/>
                <a:cs typeface="Arial MT"/>
              </a:rPr>
              <a:t>Roomba </a:t>
            </a:r>
            <a:r>
              <a:rPr sz="2400" dirty="0">
                <a:solidFill>
                  <a:srgbClr val="0000E4"/>
                </a:solidFill>
                <a:latin typeface="Arial MT"/>
                <a:cs typeface="Arial MT"/>
              </a:rPr>
              <a:t>Cleaner</a:t>
            </a:r>
            <a:r>
              <a:rPr sz="2400" spc="-110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E4"/>
                </a:solidFill>
                <a:latin typeface="Arial MT"/>
                <a:cs typeface="Arial MT"/>
              </a:rPr>
              <a:t>Robot,</a:t>
            </a:r>
            <a:r>
              <a:rPr sz="2400" spc="-150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000E4"/>
                </a:solidFill>
                <a:latin typeface="Arial MT"/>
                <a:cs typeface="Arial MT"/>
              </a:rPr>
              <a:t>a </a:t>
            </a:r>
            <a:r>
              <a:rPr sz="2400" spc="-10" dirty="0">
                <a:solidFill>
                  <a:srgbClr val="0000E4"/>
                </a:solidFill>
                <a:latin typeface="Arial MT"/>
                <a:cs typeface="Arial MT"/>
              </a:rPr>
              <a:t>telephone operator/answering machine</a:t>
            </a:r>
            <a:r>
              <a:rPr sz="2000" spc="-10" dirty="0">
                <a:solidFill>
                  <a:srgbClr val="0000E4"/>
                </a:solidFill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8257" y="3315673"/>
            <a:ext cx="5182634" cy="33257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59410"/>
          </a:xfrm>
          <a:custGeom>
            <a:avLst/>
            <a:gdLst/>
            <a:ahLst/>
            <a:cxnLst/>
            <a:rect l="l" t="t" r="r" b="b"/>
            <a:pathLst>
              <a:path w="360045" h="359409">
                <a:moveTo>
                  <a:pt x="0" y="0"/>
                </a:moveTo>
                <a:lnTo>
                  <a:pt x="359283" y="0"/>
                </a:lnTo>
              </a:path>
              <a:path w="360045" h="359409">
                <a:moveTo>
                  <a:pt x="359664" y="0"/>
                </a:moveTo>
                <a:lnTo>
                  <a:pt x="359664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09">
                <a:moveTo>
                  <a:pt x="359232" y="0"/>
                </a:moveTo>
                <a:lnTo>
                  <a:pt x="0" y="0"/>
                </a:lnTo>
              </a:path>
              <a:path w="359409" h="359409">
                <a:moveTo>
                  <a:pt x="0" y="0"/>
                </a:moveTo>
                <a:lnTo>
                  <a:pt x="0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107" y="6356603"/>
            <a:ext cx="359410" cy="360045"/>
          </a:xfrm>
          <a:custGeom>
            <a:avLst/>
            <a:gdLst/>
            <a:ahLst/>
            <a:cxnLst/>
            <a:rect l="l" t="t" r="r" b="b"/>
            <a:pathLst>
              <a:path w="359409" h="360045">
                <a:moveTo>
                  <a:pt x="359232" y="359664"/>
                </a:moveTo>
                <a:lnTo>
                  <a:pt x="0" y="359664"/>
                </a:lnTo>
              </a:path>
              <a:path w="359409" h="360045">
                <a:moveTo>
                  <a:pt x="0" y="359232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8759" y="272034"/>
            <a:ext cx="32073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Goal-</a:t>
            </a:r>
            <a:r>
              <a:rPr spc="-25" dirty="0"/>
              <a:t>based</a:t>
            </a:r>
            <a:r>
              <a:rPr spc="-130" dirty="0"/>
              <a:t> </a:t>
            </a:r>
            <a:r>
              <a:rPr spc="-10" dirty="0"/>
              <a:t>Agents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8759" y="839241"/>
            <a:ext cx="8651240" cy="245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100"/>
              </a:spcBef>
            </a:pP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800" spc="-9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agent</a:t>
            </a:r>
            <a:r>
              <a:rPr sz="2800" spc="-12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decides</a:t>
            </a:r>
            <a:r>
              <a:rPr sz="2800" spc="-8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its</a:t>
            </a:r>
            <a:r>
              <a:rPr sz="2800" spc="-15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action(s)</a:t>
            </a:r>
            <a:r>
              <a:rPr sz="2800" spc="-12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based</a:t>
            </a:r>
            <a:r>
              <a:rPr sz="2800" spc="-10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on</a:t>
            </a:r>
            <a:r>
              <a:rPr sz="2800" spc="-10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</a:t>
            </a:r>
            <a:r>
              <a:rPr sz="2800" spc="-12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known</a:t>
            </a:r>
            <a:r>
              <a:rPr sz="2800" spc="-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goal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.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These</a:t>
            </a:r>
            <a:r>
              <a:rPr sz="2800" spc="-8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agents</a:t>
            </a:r>
            <a:r>
              <a:rPr sz="2800" spc="-10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have</a:t>
            </a:r>
            <a:r>
              <a:rPr sz="2800" spc="-9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all</a:t>
            </a:r>
            <a:r>
              <a:rPr sz="2800" spc="-10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of</a:t>
            </a:r>
            <a:r>
              <a:rPr sz="2800" spc="-11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800" spc="-114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above</a:t>
            </a:r>
            <a:r>
              <a:rPr sz="2800" spc="-11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and</a:t>
            </a:r>
            <a:r>
              <a:rPr sz="2800" spc="-6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goal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12700" marR="1044575">
              <a:lnSpc>
                <a:spcPct val="151800"/>
              </a:lnSpc>
              <a:spcBef>
                <a:spcPts val="15"/>
              </a:spcBef>
            </a:pP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Involves</a:t>
            </a:r>
            <a:r>
              <a:rPr sz="2800" spc="-10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007E"/>
                </a:solidFill>
                <a:latin typeface="Arial MT"/>
                <a:cs typeface="Arial MT"/>
              </a:rPr>
              <a:t>consideration</a:t>
            </a:r>
            <a:r>
              <a:rPr sz="28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of</a:t>
            </a:r>
            <a:r>
              <a:rPr sz="2800" spc="-9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800" spc="-9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previous</a:t>
            </a:r>
            <a:r>
              <a:rPr sz="28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8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future states</a:t>
            </a:r>
            <a:r>
              <a:rPr sz="2800" spc="-10" dirty="0">
                <a:solidFill>
                  <a:srgbClr val="00007E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380" y="5299709"/>
            <a:ext cx="214122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E4"/>
                </a:solidFill>
                <a:latin typeface="Arial MT"/>
                <a:cs typeface="Arial MT"/>
              </a:rPr>
              <a:t>e.g.a</a:t>
            </a:r>
            <a:r>
              <a:rPr sz="2000" spc="-45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E4"/>
                </a:solidFill>
                <a:latin typeface="Arial MT"/>
                <a:cs typeface="Arial MT"/>
              </a:rPr>
              <a:t>GPS</a:t>
            </a:r>
            <a:r>
              <a:rPr sz="2000" spc="-135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E4"/>
                </a:solidFill>
                <a:latin typeface="Arial MT"/>
                <a:cs typeface="Arial MT"/>
              </a:rPr>
              <a:t>system </a:t>
            </a:r>
            <a:r>
              <a:rPr sz="2000" dirty="0">
                <a:solidFill>
                  <a:srgbClr val="0000E4"/>
                </a:solidFill>
                <a:latin typeface="Arial MT"/>
                <a:cs typeface="Arial MT"/>
              </a:rPr>
              <a:t>finding</a:t>
            </a:r>
            <a:r>
              <a:rPr sz="2000" spc="-75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5"/>
                </a:solidFill>
                <a:latin typeface="Arial MT"/>
                <a:cs typeface="Arial MT"/>
              </a:rPr>
              <a:t>a</a:t>
            </a:r>
            <a:r>
              <a:rPr sz="2000" spc="-40" dirty="0">
                <a:solidFill>
                  <a:schemeClr val="accent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5"/>
                </a:solidFill>
                <a:latin typeface="Arial MT"/>
                <a:cs typeface="Arial MT"/>
              </a:rPr>
              <a:t>path</a:t>
            </a:r>
            <a:r>
              <a:rPr sz="2000" spc="-75" dirty="0">
                <a:solidFill>
                  <a:schemeClr val="accent5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00E4"/>
                </a:solidFill>
                <a:latin typeface="Arial MT"/>
                <a:cs typeface="Arial MT"/>
              </a:rPr>
              <a:t>to </a:t>
            </a:r>
            <a:r>
              <a:rPr sz="2000" spc="-10" dirty="0">
                <a:solidFill>
                  <a:srgbClr val="0000E4"/>
                </a:solidFill>
                <a:latin typeface="Arial MT"/>
                <a:cs typeface="Arial MT"/>
              </a:rPr>
              <a:t>certain</a:t>
            </a:r>
            <a:r>
              <a:rPr sz="2000" spc="-80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chemeClr val="accent5"/>
                </a:solidFill>
                <a:latin typeface="Arial MT"/>
                <a:cs typeface="Arial MT"/>
              </a:rPr>
              <a:t>destination</a:t>
            </a:r>
            <a:r>
              <a:rPr sz="2000" spc="-10" dirty="0">
                <a:solidFill>
                  <a:srgbClr val="0000E4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2861339"/>
            <a:ext cx="5619750" cy="359203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59410"/>
          </a:xfrm>
          <a:custGeom>
            <a:avLst/>
            <a:gdLst/>
            <a:ahLst/>
            <a:cxnLst/>
            <a:rect l="l" t="t" r="r" b="b"/>
            <a:pathLst>
              <a:path w="360045" h="359409">
                <a:moveTo>
                  <a:pt x="0" y="0"/>
                </a:moveTo>
                <a:lnTo>
                  <a:pt x="359283" y="0"/>
                </a:lnTo>
              </a:path>
              <a:path w="360045" h="359409">
                <a:moveTo>
                  <a:pt x="359664" y="0"/>
                </a:moveTo>
                <a:lnTo>
                  <a:pt x="359664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09">
                <a:moveTo>
                  <a:pt x="359232" y="0"/>
                </a:moveTo>
                <a:lnTo>
                  <a:pt x="0" y="0"/>
                </a:lnTo>
              </a:path>
              <a:path w="359409" h="359409">
                <a:moveTo>
                  <a:pt x="0" y="0"/>
                </a:moveTo>
                <a:lnTo>
                  <a:pt x="0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107" y="6356603"/>
            <a:ext cx="359410" cy="360045"/>
          </a:xfrm>
          <a:custGeom>
            <a:avLst/>
            <a:gdLst/>
            <a:ahLst/>
            <a:cxnLst/>
            <a:rect l="l" t="t" r="r" b="b"/>
            <a:pathLst>
              <a:path w="359409" h="360045">
                <a:moveTo>
                  <a:pt x="359232" y="359664"/>
                </a:moveTo>
                <a:lnTo>
                  <a:pt x="0" y="359664"/>
                </a:lnTo>
              </a:path>
              <a:path w="359409" h="360045">
                <a:moveTo>
                  <a:pt x="0" y="359232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4987" y="207010"/>
            <a:ext cx="34023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0" dirty="0"/>
              <a:t>Utility-</a:t>
            </a:r>
            <a:r>
              <a:rPr spc="-10" dirty="0"/>
              <a:t>based</a:t>
            </a:r>
            <a:r>
              <a:rPr spc="-114" dirty="0"/>
              <a:t> </a:t>
            </a:r>
            <a:r>
              <a:rPr spc="-10" dirty="0"/>
              <a:t>Agents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2782" y="754760"/>
            <a:ext cx="7594600" cy="223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98855" indent="-342900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400" spc="-8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agent</a:t>
            </a:r>
            <a:r>
              <a:rPr sz="2400" spc="-6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decides</a:t>
            </a:r>
            <a:r>
              <a:rPr sz="2400" spc="-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its</a:t>
            </a:r>
            <a:r>
              <a:rPr sz="2400" spc="-9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action(s)</a:t>
            </a:r>
            <a:r>
              <a:rPr sz="2400" spc="-9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based</a:t>
            </a:r>
            <a:r>
              <a:rPr sz="2400" spc="-5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on</a:t>
            </a:r>
            <a:r>
              <a:rPr sz="2400" spc="-7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7E"/>
                </a:solidFill>
                <a:latin typeface="Arial MT"/>
                <a:cs typeface="Arial MT"/>
              </a:rPr>
              <a:t>utilities/ preferences.</a:t>
            </a:r>
            <a:endParaRPr sz="2400" dirty="0">
              <a:latin typeface="Arial MT"/>
              <a:cs typeface="Arial MT"/>
            </a:endParaRPr>
          </a:p>
          <a:p>
            <a:pPr marL="355600" marR="5080" indent="-342900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Utility</a:t>
            </a:r>
            <a:r>
              <a:rPr sz="2400" spc="-6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function</a:t>
            </a:r>
            <a:r>
              <a:rPr sz="2400" spc="-8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to</a:t>
            </a:r>
            <a:r>
              <a:rPr sz="2400" spc="-9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decide</a:t>
            </a:r>
            <a:r>
              <a:rPr sz="2400" spc="-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which</a:t>
            </a:r>
            <a:r>
              <a:rPr sz="24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world</a:t>
            </a:r>
            <a:r>
              <a:rPr sz="2400" spc="-4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state</a:t>
            </a:r>
            <a:r>
              <a:rPr sz="2400" spc="-12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007E"/>
                </a:solidFill>
                <a:latin typeface="Arial MT"/>
                <a:cs typeface="Arial MT"/>
              </a:rPr>
              <a:t>(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Optimality</a:t>
            </a:r>
            <a:r>
              <a:rPr sz="2400" spc="-10" dirty="0">
                <a:solidFill>
                  <a:srgbClr val="00007E"/>
                </a:solidFill>
                <a:latin typeface="Arial MT"/>
                <a:cs typeface="Arial MT"/>
              </a:rPr>
              <a:t>)</a:t>
            </a:r>
            <a:r>
              <a:rPr sz="2400" spc="-7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0007E"/>
                </a:solidFill>
                <a:latin typeface="Arial MT"/>
                <a:cs typeface="Arial MT"/>
              </a:rPr>
              <a:t>is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better</a:t>
            </a:r>
            <a:r>
              <a:rPr sz="2400" spc="-6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for</a:t>
            </a:r>
            <a:r>
              <a:rPr sz="2400" spc="-5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7E"/>
                </a:solidFill>
                <a:latin typeface="Arial MT"/>
                <a:cs typeface="Arial MT"/>
              </a:rPr>
              <a:t>an</a:t>
            </a:r>
            <a:r>
              <a:rPr sz="2400" spc="-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400" spc="-50" dirty="0" smtClean="0">
                <a:solidFill>
                  <a:srgbClr val="00007E"/>
                </a:solidFill>
                <a:latin typeface="Arial MT"/>
                <a:cs typeface="Arial MT"/>
              </a:rPr>
              <a:t>a</a:t>
            </a:r>
            <a:r>
              <a:rPr lang="en-US" sz="2400" spc="-50" dirty="0" smtClean="0">
                <a:solidFill>
                  <a:srgbClr val="00007E"/>
                </a:solidFill>
                <a:latin typeface="Arial MT"/>
                <a:cs typeface="Arial MT"/>
              </a:rPr>
              <a:t>gent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845" y="4593082"/>
            <a:ext cx="2064385" cy="1551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00E4"/>
                </a:solidFill>
                <a:latin typeface="Arial MT"/>
                <a:cs typeface="Arial MT"/>
              </a:rPr>
              <a:t>e.g.</a:t>
            </a:r>
            <a:r>
              <a:rPr sz="2000" spc="-200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E4"/>
                </a:solidFill>
                <a:latin typeface="Arial MT"/>
                <a:cs typeface="Arial MT"/>
              </a:rPr>
              <a:t>A</a:t>
            </a:r>
            <a:r>
              <a:rPr sz="2000" spc="-105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00E4"/>
                </a:solidFill>
                <a:latin typeface="Arial MT"/>
                <a:cs typeface="Arial MT"/>
              </a:rPr>
              <a:t>GPS</a:t>
            </a:r>
            <a:endParaRPr sz="2000" dirty="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0000E4"/>
                </a:solidFill>
                <a:latin typeface="Arial MT"/>
                <a:cs typeface="Arial MT"/>
              </a:rPr>
              <a:t>system</a:t>
            </a:r>
            <a:r>
              <a:rPr sz="2000" spc="-105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E4"/>
                </a:solidFill>
                <a:latin typeface="Arial MT"/>
                <a:cs typeface="Arial MT"/>
              </a:rPr>
              <a:t>finding</a:t>
            </a:r>
            <a:r>
              <a:rPr sz="2000" spc="-85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chemeClr val="accent5"/>
                </a:solidFill>
                <a:latin typeface="Arial MT"/>
                <a:cs typeface="Arial MT"/>
              </a:rPr>
              <a:t>a </a:t>
            </a:r>
            <a:r>
              <a:rPr sz="2000" spc="-10" dirty="0">
                <a:solidFill>
                  <a:schemeClr val="accent5"/>
                </a:solidFill>
                <a:latin typeface="Arial MT"/>
                <a:cs typeface="Arial MT"/>
              </a:rPr>
              <a:t>shortest/fastest/sa </a:t>
            </a:r>
            <a:r>
              <a:rPr sz="2000" dirty="0">
                <a:solidFill>
                  <a:schemeClr val="accent5"/>
                </a:solidFill>
                <a:latin typeface="Arial MT"/>
                <a:cs typeface="Arial MT"/>
              </a:rPr>
              <a:t>fer</a:t>
            </a:r>
            <a:r>
              <a:rPr sz="2000" spc="-65" dirty="0">
                <a:solidFill>
                  <a:schemeClr val="accent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chemeClr val="accent5"/>
                </a:solidFill>
                <a:latin typeface="Arial MT"/>
                <a:cs typeface="Arial MT"/>
              </a:rPr>
              <a:t>path</a:t>
            </a:r>
            <a:r>
              <a:rPr sz="2000" spc="-85" dirty="0">
                <a:solidFill>
                  <a:schemeClr val="accent5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E4"/>
                </a:solidFill>
                <a:latin typeface="Arial MT"/>
                <a:cs typeface="Arial MT"/>
              </a:rPr>
              <a:t>to</a:t>
            </a:r>
            <a:r>
              <a:rPr sz="2000" spc="-45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chemeClr val="accent5"/>
                </a:solidFill>
                <a:latin typeface="Arial MT"/>
                <a:cs typeface="Arial MT"/>
              </a:rPr>
              <a:t>certain</a:t>
            </a:r>
            <a:endParaRPr sz="2000" dirty="0">
              <a:solidFill>
                <a:schemeClr val="accent5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spc="-10" dirty="0">
                <a:solidFill>
                  <a:schemeClr val="accent5"/>
                </a:solidFill>
                <a:latin typeface="Arial MT"/>
                <a:cs typeface="Arial MT"/>
              </a:rPr>
              <a:t>destination.</a:t>
            </a:r>
            <a:endParaRPr sz="2000" dirty="0">
              <a:solidFill>
                <a:schemeClr val="accent5"/>
              </a:solidFill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5426" y="2839592"/>
            <a:ext cx="5591175" cy="357187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59410"/>
          </a:xfrm>
          <a:custGeom>
            <a:avLst/>
            <a:gdLst/>
            <a:ahLst/>
            <a:cxnLst/>
            <a:rect l="l" t="t" r="r" b="b"/>
            <a:pathLst>
              <a:path w="360045" h="359409">
                <a:moveTo>
                  <a:pt x="0" y="0"/>
                </a:moveTo>
                <a:lnTo>
                  <a:pt x="359283" y="0"/>
                </a:lnTo>
              </a:path>
              <a:path w="360045" h="359409">
                <a:moveTo>
                  <a:pt x="359664" y="0"/>
                </a:moveTo>
                <a:lnTo>
                  <a:pt x="359664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59410" cy="359410"/>
          </a:xfrm>
          <a:custGeom>
            <a:avLst/>
            <a:gdLst/>
            <a:ahLst/>
            <a:cxnLst/>
            <a:rect l="l" t="t" r="r" b="b"/>
            <a:pathLst>
              <a:path w="359409" h="359409">
                <a:moveTo>
                  <a:pt x="359232" y="0"/>
                </a:moveTo>
                <a:lnTo>
                  <a:pt x="0" y="0"/>
                </a:lnTo>
              </a:path>
              <a:path w="359409" h="359409">
                <a:moveTo>
                  <a:pt x="0" y="0"/>
                </a:moveTo>
                <a:lnTo>
                  <a:pt x="0" y="359283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107" y="6356603"/>
            <a:ext cx="359410" cy="360045"/>
          </a:xfrm>
          <a:custGeom>
            <a:avLst/>
            <a:gdLst/>
            <a:ahLst/>
            <a:cxnLst/>
            <a:rect l="l" t="t" r="r" b="b"/>
            <a:pathLst>
              <a:path w="359409" h="360045">
                <a:moveTo>
                  <a:pt x="359232" y="359664"/>
                </a:moveTo>
                <a:lnTo>
                  <a:pt x="0" y="359664"/>
                </a:lnTo>
              </a:path>
              <a:path w="359409" h="360045">
                <a:moveTo>
                  <a:pt x="0" y="359232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4162" y="109473"/>
            <a:ext cx="2776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Learning</a:t>
            </a:r>
            <a:r>
              <a:rPr spc="-120" dirty="0"/>
              <a:t> </a:t>
            </a:r>
            <a:r>
              <a:rPr spc="-10" dirty="0"/>
              <a:t>Agents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5664" y="3284420"/>
            <a:ext cx="4876729" cy="3382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0822" y="712419"/>
            <a:ext cx="7738745" cy="3829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95"/>
              </a:lnSpc>
              <a:spcBef>
                <a:spcPts val="105"/>
              </a:spcBef>
            </a:pP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agent</a:t>
            </a:r>
            <a:r>
              <a:rPr sz="2000" spc="-5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adapts</a:t>
            </a:r>
            <a:r>
              <a:rPr sz="2000" spc="-6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its</a:t>
            </a:r>
            <a:r>
              <a:rPr sz="2000" spc="-4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action(s)</a:t>
            </a:r>
            <a:r>
              <a:rPr sz="2000" spc="-9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based</a:t>
            </a:r>
            <a:r>
              <a:rPr sz="2000" spc="-6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on</a:t>
            </a:r>
            <a:r>
              <a:rPr sz="2000" spc="-2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feedback</a:t>
            </a:r>
            <a:r>
              <a:rPr sz="20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(not</a:t>
            </a:r>
            <a:r>
              <a:rPr sz="20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only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sensors).</a:t>
            </a:r>
            <a:endParaRPr sz="2000">
              <a:latin typeface="Arial MT"/>
              <a:cs typeface="Arial MT"/>
            </a:endParaRPr>
          </a:p>
          <a:p>
            <a:pPr marL="355600" marR="220979" indent="-342900">
              <a:lnSpc>
                <a:spcPts val="2420"/>
              </a:lnSpc>
              <a:spcBef>
                <a:spcPts val="60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Learning</a:t>
            </a:r>
            <a:r>
              <a:rPr sz="20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element</a:t>
            </a:r>
            <a:r>
              <a:rPr sz="2000" spc="-9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-</a:t>
            </a:r>
            <a:r>
              <a:rPr sz="2000" spc="-4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responsible</a:t>
            </a:r>
            <a:r>
              <a:rPr sz="2000" spc="-9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for</a:t>
            </a:r>
            <a:r>
              <a:rPr sz="2000" spc="-5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making</a:t>
            </a:r>
            <a:r>
              <a:rPr sz="20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improvements</a:t>
            </a:r>
            <a:r>
              <a:rPr sz="20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sz="200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past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events</a:t>
            </a:r>
            <a:r>
              <a:rPr sz="2000" spc="-10" dirty="0">
                <a:solidFill>
                  <a:srgbClr val="00007E"/>
                </a:solidFill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Performance</a:t>
            </a:r>
            <a:r>
              <a:rPr sz="20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element</a:t>
            </a:r>
            <a:r>
              <a:rPr sz="2000" spc="-6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-</a:t>
            </a:r>
            <a:r>
              <a:rPr sz="2000" spc="-4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what</a:t>
            </a:r>
            <a:r>
              <a:rPr sz="2000" spc="-7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we</a:t>
            </a:r>
            <a:r>
              <a:rPr sz="2000" spc="-2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have</a:t>
            </a:r>
            <a:r>
              <a:rPr sz="2000" spc="-5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up</a:t>
            </a:r>
            <a:r>
              <a:rPr sz="2000" spc="-4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now</a:t>
            </a:r>
            <a:r>
              <a:rPr sz="2000" spc="-4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considered</a:t>
            </a:r>
            <a:r>
              <a:rPr sz="2000" spc="-8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to</a:t>
            </a:r>
            <a:r>
              <a:rPr sz="2000" spc="-5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be</a:t>
            </a:r>
            <a:r>
              <a:rPr sz="2000" spc="-4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entire</a:t>
            </a:r>
            <a:r>
              <a:rPr sz="20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agent.</a:t>
            </a:r>
            <a:r>
              <a:rPr sz="2000" spc="-11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spc="-95" dirty="0">
                <a:solidFill>
                  <a:srgbClr val="00007E"/>
                </a:solidFill>
                <a:latin typeface="Arial MT"/>
                <a:cs typeface="Arial MT"/>
              </a:rPr>
              <a:t>Takes</a:t>
            </a:r>
            <a:r>
              <a:rPr sz="2000" spc="-6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percepts</a:t>
            </a:r>
            <a:r>
              <a:rPr sz="2000" spc="-8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and</a:t>
            </a:r>
            <a:r>
              <a:rPr sz="2000" spc="-4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then</a:t>
            </a:r>
            <a:r>
              <a:rPr sz="2000" spc="-4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decides</a:t>
            </a:r>
            <a:r>
              <a:rPr sz="2000" spc="-7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on</a:t>
            </a:r>
            <a:r>
              <a:rPr sz="2000" spc="-2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7E"/>
                </a:solidFill>
                <a:latin typeface="Arial MT"/>
                <a:cs typeface="Arial MT"/>
              </a:rPr>
              <a:t>actions.</a:t>
            </a:r>
            <a:endParaRPr sz="2000">
              <a:latin typeface="Arial MT"/>
              <a:cs typeface="Arial MT"/>
            </a:endParaRPr>
          </a:p>
          <a:p>
            <a:pPr marL="355600" marR="73025" indent="-342900">
              <a:lnSpc>
                <a:spcPct val="101000"/>
              </a:lnSpc>
              <a:spcBef>
                <a:spcPts val="110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Critic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-</a:t>
            </a:r>
            <a:r>
              <a:rPr sz="2000" spc="-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gives</a:t>
            </a:r>
            <a:r>
              <a:rPr sz="2000" spc="-5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7E"/>
                </a:solidFill>
                <a:latin typeface="Arial MT"/>
                <a:cs typeface="Arial MT"/>
              </a:rPr>
              <a:t>learning</a:t>
            </a:r>
            <a:r>
              <a:rPr sz="2000" spc="-8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element</a:t>
            </a:r>
            <a:r>
              <a:rPr sz="2000" spc="-7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feedback</a:t>
            </a:r>
            <a:r>
              <a:rPr sz="2000" spc="-8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on</a:t>
            </a:r>
            <a:r>
              <a:rPr sz="2000" spc="-4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how</a:t>
            </a:r>
            <a:r>
              <a:rPr sz="2000" spc="-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the</a:t>
            </a:r>
            <a:r>
              <a:rPr sz="2000" spc="-6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7E"/>
                </a:solidFill>
                <a:latin typeface="Arial MT"/>
                <a:cs typeface="Arial MT"/>
              </a:rPr>
              <a:t>performance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element</a:t>
            </a:r>
            <a:r>
              <a:rPr sz="2000" spc="-7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is</a:t>
            </a:r>
            <a:r>
              <a:rPr sz="2000" spc="-2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doing</a:t>
            </a:r>
            <a:r>
              <a:rPr sz="2000" spc="-5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and</a:t>
            </a:r>
            <a:r>
              <a:rPr sz="2000" spc="-5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if</a:t>
            </a:r>
            <a:r>
              <a:rPr sz="2000" spc="-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it</a:t>
            </a:r>
            <a:r>
              <a:rPr sz="2000" spc="-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needs</a:t>
            </a:r>
            <a:r>
              <a:rPr sz="2000" spc="-7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be</a:t>
            </a:r>
            <a:r>
              <a:rPr sz="2000" spc="-4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7E"/>
                </a:solidFill>
                <a:latin typeface="Arial MT"/>
                <a:cs typeface="Arial MT"/>
              </a:rPr>
              <a:t>modified.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Problem</a:t>
            </a:r>
            <a:r>
              <a:rPr sz="2000" spc="-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generator</a:t>
            </a:r>
            <a:r>
              <a:rPr sz="20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-</a:t>
            </a:r>
            <a:r>
              <a:rPr sz="2000" spc="-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it</a:t>
            </a:r>
            <a:r>
              <a:rPr sz="2000" spc="-2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suggests</a:t>
            </a:r>
            <a:r>
              <a:rPr sz="2000" spc="-9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actions</a:t>
            </a:r>
            <a:r>
              <a:rPr sz="2000" spc="-6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that</a:t>
            </a:r>
            <a:r>
              <a:rPr sz="2000" spc="-60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lead</a:t>
            </a:r>
            <a:r>
              <a:rPr sz="2000" spc="-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new</a:t>
            </a:r>
            <a:r>
              <a:rPr sz="2000" spc="-25" dirty="0">
                <a:solidFill>
                  <a:srgbClr val="00007E"/>
                </a:solidFill>
                <a:latin typeface="Arial MT"/>
                <a:cs typeface="Arial MT"/>
              </a:rPr>
              <a:t> and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25"/>
              </a:spcBef>
            </a:pPr>
            <a:r>
              <a:rPr sz="2000" dirty="0">
                <a:solidFill>
                  <a:srgbClr val="00007E"/>
                </a:solidFill>
                <a:latin typeface="Arial MT"/>
                <a:cs typeface="Arial MT"/>
              </a:rPr>
              <a:t>informative</a:t>
            </a:r>
            <a:r>
              <a:rPr sz="2000" spc="-135" dirty="0">
                <a:solidFill>
                  <a:srgbClr val="0000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007E"/>
                </a:solidFill>
                <a:latin typeface="Arial MT"/>
                <a:cs typeface="Arial MT"/>
              </a:rPr>
              <a:t>experiences.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2000">
              <a:latin typeface="Arial MT"/>
              <a:cs typeface="Arial MT"/>
            </a:endParaRPr>
          </a:p>
          <a:p>
            <a:pPr marL="419100">
              <a:lnSpc>
                <a:spcPct val="100000"/>
              </a:lnSpc>
            </a:pPr>
            <a:r>
              <a:rPr sz="2000" dirty="0">
                <a:solidFill>
                  <a:srgbClr val="0000E4"/>
                </a:solidFill>
                <a:latin typeface="Arial MT"/>
                <a:cs typeface="Arial MT"/>
              </a:rPr>
              <a:t>e.g.</a:t>
            </a:r>
            <a:r>
              <a:rPr sz="2000" spc="-120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E4"/>
                </a:solidFill>
                <a:latin typeface="Arial MT"/>
                <a:cs typeface="Arial MT"/>
              </a:rPr>
              <a:t>human</a:t>
            </a:r>
            <a:r>
              <a:rPr sz="2000" spc="-100" dirty="0">
                <a:solidFill>
                  <a:srgbClr val="0000E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00E4"/>
                </a:solidFill>
                <a:latin typeface="Arial MT"/>
                <a:cs typeface="Arial MT"/>
              </a:rPr>
              <a:t>agent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70" dirty="0"/>
              <a:t> </a:t>
            </a: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1043" y="1164082"/>
            <a:ext cx="757872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Intelligent</a:t>
            </a:r>
            <a:r>
              <a:rPr sz="2400" b="1" spc="-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Agents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88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IA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 Behavior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88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IA</a:t>
            </a: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 Structure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88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b="1" spc="-10" dirty="0">
                <a:solidFill>
                  <a:srgbClr val="1F487C"/>
                </a:solidFill>
                <a:latin typeface="Calibri"/>
                <a:cs typeface="Calibri"/>
              </a:rPr>
              <a:t>Environment</a:t>
            </a:r>
            <a:r>
              <a:rPr sz="2400" b="1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1F487C"/>
                </a:solidFill>
                <a:latin typeface="Calibri"/>
                <a:cs typeface="Calibri"/>
              </a:rPr>
              <a:t>types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885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Agent</a:t>
            </a:r>
            <a:r>
              <a:rPr sz="2400" b="1" spc="-7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F487C"/>
                </a:solidFill>
                <a:latin typeface="Calibri"/>
                <a:cs typeface="Calibri"/>
              </a:rPr>
              <a:t>Types:</a:t>
            </a:r>
            <a:r>
              <a:rPr sz="2400" b="1" spc="-4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Reflex,</a:t>
            </a:r>
            <a:r>
              <a:rPr sz="2400" spc="-8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1F487C"/>
                </a:solidFill>
                <a:latin typeface="Calibri"/>
                <a:cs typeface="Calibri"/>
              </a:rPr>
              <a:t>state-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based,</a:t>
            </a:r>
            <a:r>
              <a:rPr sz="2400" spc="-6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goal-</a:t>
            </a:r>
            <a:r>
              <a:rPr sz="2400" dirty="0">
                <a:solidFill>
                  <a:srgbClr val="1F487C"/>
                </a:solidFill>
                <a:latin typeface="Calibri"/>
                <a:cs typeface="Calibri"/>
              </a:rPr>
              <a:t>based,</a:t>
            </a:r>
            <a:r>
              <a:rPr sz="2400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487C"/>
                </a:solidFill>
                <a:latin typeface="Calibri"/>
                <a:cs typeface="Calibri"/>
              </a:rPr>
              <a:t>utility-based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635" y="226822"/>
            <a:ext cx="16236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2486</TotalTime>
  <Words>1457</Words>
  <Application>Microsoft Office PowerPoint</Application>
  <PresentationFormat>On-screen Show (4:3)</PresentationFormat>
  <Paragraphs>261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Arial</vt:lpstr>
      <vt:lpstr>Arial MT</vt:lpstr>
      <vt:lpstr>Calibri</vt:lpstr>
      <vt:lpstr>Calibri Light</vt:lpstr>
      <vt:lpstr>Times New Roman</vt:lpstr>
      <vt:lpstr>Trebuchet MS</vt:lpstr>
      <vt:lpstr>Verdana</vt:lpstr>
      <vt:lpstr>Wingdings</vt:lpstr>
      <vt:lpstr>Office Theme</vt:lpstr>
      <vt:lpstr>Artificial Intelligence</vt:lpstr>
      <vt:lpstr>PowerPoint Presentation</vt:lpstr>
      <vt:lpstr>Certainly not these…</vt:lpstr>
      <vt:lpstr>Agents</vt:lpstr>
      <vt:lpstr>AGENTS</vt:lpstr>
      <vt:lpstr>Agents</vt:lpstr>
      <vt:lpstr>Robotic Agent</vt:lpstr>
      <vt:lpstr>Software Agent</vt:lpstr>
      <vt:lpstr>Percept Sequence</vt:lpstr>
      <vt:lpstr>Agent Function</vt:lpstr>
      <vt:lpstr>Agents and Environments</vt:lpstr>
      <vt:lpstr>PowerPoint Presentation</vt:lpstr>
      <vt:lpstr>A vacuum-cleaner Agent</vt:lpstr>
      <vt:lpstr>Intelligent Agents</vt:lpstr>
      <vt:lpstr>Rational Agents</vt:lpstr>
      <vt:lpstr>Rational Agents</vt:lpstr>
      <vt:lpstr>Intelligent Agents</vt:lpstr>
      <vt:lpstr>PEAS</vt:lpstr>
      <vt:lpstr>PEAS</vt:lpstr>
      <vt:lpstr>PEAS</vt:lpstr>
      <vt:lpstr>PEAS</vt:lpstr>
      <vt:lpstr>Intelligent Agents</vt:lpstr>
      <vt:lpstr>Environment Types</vt:lpstr>
      <vt:lpstr>Environment Types</vt:lpstr>
      <vt:lpstr>Environment Types</vt:lpstr>
      <vt:lpstr>Environment Types</vt:lpstr>
      <vt:lpstr>Environment Types</vt:lpstr>
      <vt:lpstr>Environment Types</vt:lpstr>
      <vt:lpstr>Environment Types</vt:lpstr>
      <vt:lpstr>Environment Types</vt:lpstr>
      <vt:lpstr>Intelligent Agents</vt:lpstr>
      <vt:lpstr>Agent Types</vt:lpstr>
      <vt:lpstr>Simple Reflex Agents</vt:lpstr>
      <vt:lpstr>Simple Reflex Agents</vt:lpstr>
      <vt:lpstr>Model-based Reflex Agents</vt:lpstr>
      <vt:lpstr>Goal-based Agents</vt:lpstr>
      <vt:lpstr>Utility-based Agents</vt:lpstr>
      <vt:lpstr>Learning Agents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Anum Hamid</cp:lastModifiedBy>
  <cp:revision>9</cp:revision>
  <dcterms:created xsi:type="dcterms:W3CDTF">2025-01-21T10:53:47Z</dcterms:created>
  <dcterms:modified xsi:type="dcterms:W3CDTF">2025-01-27T04:58:45Z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2025-01-21T00:00:00Z</vt:filetime>
  </property>
  <property fmtid="{D5CDD505-2E9C-101B-9397-08002B2CF9AE}" pid="5" name="Producer">
    <vt:lpwstr>Microsoft® PowerPoint® 2016</vt:lpwstr>
  </property>
</Properties>
</file>