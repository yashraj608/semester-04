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78" r:id="rId4"/>
    <p:sldId id="258" r:id="rId5"/>
    <p:sldId id="259" r:id="rId6"/>
    <p:sldId id="260" r:id="rId7"/>
    <p:sldId id="261" r:id="rId8"/>
    <p:sldId id="281" r:id="rId9"/>
    <p:sldId id="282" r:id="rId10"/>
    <p:sldId id="283" r:id="rId11"/>
    <p:sldId id="284" r:id="rId12"/>
    <p:sldId id="262" r:id="rId13"/>
    <p:sldId id="263" r:id="rId14"/>
    <p:sldId id="279" r:id="rId15"/>
    <p:sldId id="265" r:id="rId16"/>
    <p:sldId id="266" r:id="rId17"/>
    <p:sldId id="267" r:id="rId18"/>
    <p:sldId id="268" r:id="rId19"/>
    <p:sldId id="269" r:id="rId20"/>
    <p:sldId id="285" r:id="rId21"/>
    <p:sldId id="270" r:id="rId22"/>
    <p:sldId id="286" r:id="rId23"/>
    <p:sldId id="271" r:id="rId24"/>
    <p:sldId id="272" r:id="rId25"/>
    <p:sldId id="287" r:id="rId26"/>
    <p:sldId id="288" r:id="rId27"/>
    <p:sldId id="289" r:id="rId28"/>
    <p:sldId id="273" r:id="rId29"/>
    <p:sldId id="274" r:id="rId30"/>
    <p:sldId id="275" r:id="rId31"/>
    <p:sldId id="280" r:id="rId32"/>
    <p:sldId id="290" r:id="rId33"/>
    <p:sldId id="291" r:id="rId34"/>
    <p:sldId id="276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277" r:id="rId5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474821-A659-4B8C-A20D-C242403F2F81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FFB94-1F94-42E7-9356-6018E3D1B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35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Demo:</a:t>
            </a:r>
          </a:p>
          <a:p>
            <a:endParaRPr lang="en-US" baseline="0" dirty="0"/>
          </a:p>
          <a:p>
            <a:r>
              <a:rPr lang="en-US" baseline="0" dirty="0"/>
              <a:t>Run </a:t>
            </a:r>
            <a:r>
              <a:rPr lang="en-US" baseline="0" dirty="0" err="1"/>
              <a:t>constraint.jar</a:t>
            </a:r>
            <a:r>
              <a:rPr lang="en-US" baseline="0" dirty="0"/>
              <a:t> or </a:t>
            </a:r>
            <a:r>
              <a:rPr lang="en-US" baseline="0" dirty="0" err="1"/>
              <a:t>constraint.exe</a:t>
            </a:r>
            <a:r>
              <a:rPr lang="en-US" baseline="0" dirty="0"/>
              <a:t>, load the 5 queens problem.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 is just showing the n-queens applet as</a:t>
            </a:r>
            <a:r>
              <a:rPr lang="en-US" baseline="0" dirty="0"/>
              <a:t> illustration of constraint graph, but later in lecture we’ll interact with the applet.</a:t>
            </a:r>
          </a:p>
          <a:p>
            <a:r>
              <a:rPr lang="en-US" dirty="0" err="1"/>
              <a:t>aispace.org</a:t>
            </a:r>
            <a:r>
              <a:rPr lang="en-US" dirty="0"/>
              <a:t> will have the latest 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07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470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88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Complex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  (first) / Arc Consistency (second)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54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063"/>
            <a:ext cx="12192000" cy="25787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70177" y="2833366"/>
            <a:ext cx="7851644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ngle Poin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38C6E-F926-40F2-A9FD-896B35967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146F9-BD00-4765-AF1F-1B0630D5F8AE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4C9CC-0B0F-46FF-9103-86768480F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47643-E9AB-402E-B8F1-C7797A3C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74CE-9D79-4D97-9FFF-B63C5BD1D10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8F8C9299-A551-4E4C-BB80-83D0A221B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78474F9-A195-42B7-BEFF-469172C090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3339" y="881063"/>
            <a:ext cx="11291583" cy="521811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378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0D6D-9160-8E16-887E-F97CE70E8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49BC2-45AB-8E29-0B02-CAAF1D8BD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67ABA-F066-74BB-56CC-F286BCD5C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146F9-BD00-4765-AF1F-1B0630D5F8AE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22F12-6A1F-D947-D4EB-ED9CA555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CDF18-EBDF-A2CA-0046-506A55D38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74CE-9D79-4D97-9FFF-B63C5BD1D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9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232CE6-015D-9D9E-B3F6-BEE7A790E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146F9-BD00-4765-AF1F-1B0630D5F8AE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8AACF0-8B59-89F8-8A71-E07DEB5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C32AA-4CF0-C9F8-5F84-54DFD0D92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74CE-9D79-4D97-9FFF-B63C5BD1D1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858785A-1AF0-6878-A3F2-78CDDFDD0F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6213" y="258763"/>
            <a:ext cx="11852275" cy="6096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47441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571" y="307334"/>
            <a:ext cx="10356856" cy="130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9404" y="3087049"/>
            <a:ext cx="10173191" cy="2585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4455" y="2833366"/>
            <a:ext cx="7605522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245735" algn="l"/>
              </a:tabLst>
            </a:pPr>
            <a:r>
              <a:rPr sz="3950" b="1" dirty="0">
                <a:solidFill>
                  <a:srgbClr val="FFC000"/>
                </a:solidFill>
                <a:latin typeface="Arial"/>
                <a:cs typeface="Arial"/>
              </a:rPr>
              <a:t>Artificial</a:t>
            </a:r>
            <a:r>
              <a:rPr sz="3950" b="1" spc="9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950" b="1" dirty="0" smtClean="0">
                <a:solidFill>
                  <a:srgbClr val="FFC000"/>
                </a:solidFill>
                <a:latin typeface="Arial"/>
                <a:cs typeface="Arial"/>
              </a:rPr>
              <a:t>Intelligence</a:t>
            </a:r>
            <a:r>
              <a:rPr lang="en-US" sz="3950" b="1" dirty="0" smtClean="0">
                <a:solidFill>
                  <a:srgbClr val="FFC000"/>
                </a:solidFill>
                <a:latin typeface="Arial"/>
                <a:cs typeface="Arial"/>
              </a:rPr>
              <a:t>  </a:t>
            </a:r>
            <a:r>
              <a:rPr sz="3950" b="1" spc="-10" dirty="0" smtClean="0">
                <a:solidFill>
                  <a:srgbClr val="FFC000"/>
                </a:solidFill>
                <a:latin typeface="Arial"/>
                <a:cs typeface="Arial"/>
              </a:rPr>
              <a:t>(</a:t>
            </a:r>
            <a:r>
              <a:rPr lang="en-US" sz="3950" b="1" spc="-10" dirty="0" smtClean="0">
                <a:solidFill>
                  <a:srgbClr val="FFC000"/>
                </a:solidFill>
                <a:latin typeface="Arial"/>
                <a:cs typeface="Arial"/>
              </a:rPr>
              <a:t>AI-2002</a:t>
            </a:r>
            <a:r>
              <a:rPr sz="3950" b="1" spc="-10" dirty="0" smtClean="0">
                <a:solidFill>
                  <a:srgbClr val="FFC000"/>
                </a:solidFill>
                <a:latin typeface="Arial"/>
                <a:cs typeface="Arial"/>
              </a:rPr>
              <a:t>)</a:t>
            </a:r>
            <a:endParaRPr sz="3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54455" y="4249100"/>
            <a:ext cx="846010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b="1" spc="100" dirty="0">
                <a:solidFill>
                  <a:srgbClr val="44536A"/>
                </a:solidFill>
                <a:latin typeface="Arial"/>
                <a:cs typeface="Arial"/>
              </a:rPr>
              <a:t>Chapter</a:t>
            </a:r>
            <a:r>
              <a:rPr sz="3200" b="1" spc="-355" dirty="0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sz="3200" b="1" spc="90" dirty="0">
                <a:solidFill>
                  <a:srgbClr val="44536A"/>
                </a:solidFill>
                <a:latin typeface="Arial"/>
                <a:cs typeface="Arial"/>
              </a:rPr>
              <a:t>6:</a:t>
            </a:r>
            <a:r>
              <a:rPr sz="3200" b="1" spc="-254" dirty="0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sz="3200" b="1" spc="45" dirty="0">
                <a:solidFill>
                  <a:srgbClr val="44536A"/>
                </a:solidFill>
                <a:latin typeface="Arial"/>
                <a:cs typeface="Arial"/>
              </a:rPr>
              <a:t>Constraint</a:t>
            </a:r>
            <a:r>
              <a:rPr sz="3200" b="1" spc="-305" dirty="0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sz="3200" b="1" spc="35" dirty="0">
                <a:solidFill>
                  <a:srgbClr val="44536A"/>
                </a:solidFill>
                <a:latin typeface="Arial"/>
                <a:cs typeface="Arial"/>
              </a:rPr>
              <a:t>Satisfaction</a:t>
            </a:r>
            <a:r>
              <a:rPr sz="3200" b="1" spc="-355" dirty="0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sz="3200" b="1" spc="45" dirty="0">
                <a:solidFill>
                  <a:srgbClr val="44536A"/>
                </a:solidFill>
                <a:latin typeface="Arial"/>
                <a:cs typeface="Arial"/>
              </a:rPr>
              <a:t>Problem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1" y="609277"/>
            <a:ext cx="246951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O</a:t>
            </a:r>
            <a:r>
              <a:rPr spc="35" dirty="0"/>
              <a:t>b</a:t>
            </a:r>
            <a:r>
              <a:rPr dirty="0"/>
              <a:t>j</a:t>
            </a:r>
            <a:r>
              <a:rPr spc="30" dirty="0"/>
              <a:t>ec</a:t>
            </a:r>
            <a:r>
              <a:rPr spc="-25" dirty="0"/>
              <a:t>t</a:t>
            </a:r>
            <a:r>
              <a:rPr spc="-35" dirty="0"/>
              <a:t>i</a:t>
            </a:r>
            <a:r>
              <a:rPr spc="-60" dirty="0"/>
              <a:t>v</a:t>
            </a:r>
            <a:r>
              <a:rPr spc="30" dirty="0"/>
              <a:t>e</a:t>
            </a:r>
            <a:r>
              <a:rPr spc="1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1" y="1702673"/>
            <a:ext cx="9352280" cy="3611879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5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5" dirty="0">
                <a:latin typeface="Calibri"/>
                <a:cs typeface="Calibri"/>
              </a:rPr>
              <a:t>Backtracking</a:t>
            </a:r>
            <a:endParaRPr sz="275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-5" dirty="0">
                <a:latin typeface="Calibri"/>
                <a:cs typeface="Calibri"/>
              </a:rPr>
              <a:t>MRV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and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degree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heuristic</a:t>
            </a:r>
            <a:endParaRPr sz="275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-5" dirty="0">
                <a:latin typeface="Calibri"/>
                <a:cs typeface="Calibri"/>
              </a:rPr>
              <a:t>Forward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checking</a:t>
            </a:r>
            <a:endParaRPr sz="275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dirty="0">
                <a:latin typeface="Calibri"/>
                <a:cs typeface="Calibri"/>
              </a:rPr>
              <a:t>Improvement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in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forward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check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(through</a:t>
            </a:r>
            <a:r>
              <a:rPr sz="2750" spc="24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heuristic</a:t>
            </a:r>
            <a:r>
              <a:rPr sz="2750" spc="29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combination)</a:t>
            </a:r>
            <a:endParaRPr sz="275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10" dirty="0">
                <a:latin typeface="Calibri"/>
                <a:cs typeface="Calibri"/>
              </a:rPr>
              <a:t>MAC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(maintaining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arc</a:t>
            </a:r>
            <a:r>
              <a:rPr sz="2750" dirty="0">
                <a:latin typeface="Calibri"/>
                <a:cs typeface="Calibri"/>
              </a:rPr>
              <a:t> consistency)</a:t>
            </a:r>
            <a:endParaRPr sz="275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20" dirty="0">
                <a:latin typeface="Calibri"/>
                <a:cs typeface="Calibri"/>
              </a:rPr>
              <a:t>Back</a:t>
            </a:r>
            <a:r>
              <a:rPr sz="2750" spc="-5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jumping</a:t>
            </a:r>
            <a:endParaRPr sz="275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-25" dirty="0">
                <a:latin typeface="Calibri"/>
                <a:cs typeface="Calibri"/>
              </a:rPr>
              <a:t>Intelligent</a:t>
            </a:r>
            <a:r>
              <a:rPr sz="2750" spc="33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backtracking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(constraint</a:t>
            </a:r>
            <a:r>
              <a:rPr sz="2750" spc="18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learning</a:t>
            </a:r>
            <a:r>
              <a:rPr sz="2750" spc="254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)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447800"/>
            <a:ext cx="9783599" cy="4857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858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spc="45" dirty="0">
                <a:solidFill>
                  <a:srgbClr val="44536A"/>
                </a:solidFill>
                <a:latin typeface="Arial"/>
                <a:cs typeface="Arial"/>
              </a:rPr>
              <a:t>Constraint</a:t>
            </a:r>
            <a:r>
              <a:rPr lang="en-US" sz="3200" b="1" spc="-305" dirty="0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lang="en-US" sz="3200" b="1" spc="35" dirty="0">
                <a:solidFill>
                  <a:srgbClr val="44536A"/>
                </a:solidFill>
                <a:latin typeface="Arial"/>
                <a:cs typeface="Arial"/>
              </a:rPr>
              <a:t>Satisfaction</a:t>
            </a:r>
            <a:r>
              <a:rPr lang="en-US" sz="3200" b="1" spc="-355" dirty="0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lang="en-US" sz="3200" b="1" spc="45" dirty="0">
                <a:solidFill>
                  <a:srgbClr val="44536A"/>
                </a:solidFill>
                <a:latin typeface="Arial"/>
                <a:cs typeface="Arial"/>
              </a:rPr>
              <a:t>Problem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45313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1" y="609277"/>
            <a:ext cx="732790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5" dirty="0"/>
              <a:t>Constraint</a:t>
            </a:r>
            <a:r>
              <a:rPr spc="-125" dirty="0"/>
              <a:t> </a:t>
            </a:r>
            <a:r>
              <a:rPr spc="-10" dirty="0"/>
              <a:t>Satisfaction</a:t>
            </a:r>
            <a:r>
              <a:rPr spc="-150" dirty="0"/>
              <a:t> </a:t>
            </a:r>
            <a:r>
              <a:rPr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1" y="1794252"/>
            <a:ext cx="10061575" cy="32721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1935" algn="l"/>
              </a:tabLst>
            </a:pPr>
            <a:r>
              <a:rPr lang="en-US" sz="2750" spc="10" dirty="0" smtClean="0">
                <a:latin typeface="Calibri"/>
                <a:cs typeface="Calibri"/>
              </a:rPr>
              <a:t>So far, </a:t>
            </a:r>
            <a:r>
              <a:rPr sz="2750" dirty="0" smtClean="0">
                <a:latin typeface="Calibri"/>
                <a:cs typeface="Calibri"/>
              </a:rPr>
              <a:t>Search</a:t>
            </a:r>
            <a:r>
              <a:rPr sz="2750" spc="90" dirty="0" smtClean="0">
                <a:latin typeface="Calibri"/>
                <a:cs typeface="Calibri"/>
              </a:rPr>
              <a:t> </a:t>
            </a:r>
            <a:r>
              <a:rPr sz="2750" dirty="0" smtClean="0">
                <a:latin typeface="Calibri"/>
                <a:cs typeface="Calibri"/>
              </a:rPr>
              <a:t>space</a:t>
            </a:r>
            <a:r>
              <a:rPr sz="2750" spc="110" dirty="0" smtClean="0">
                <a:latin typeface="Calibri"/>
                <a:cs typeface="Calibri"/>
              </a:rPr>
              <a:t> </a:t>
            </a:r>
            <a:r>
              <a:rPr sz="2750" spc="-10" dirty="0" smtClean="0">
                <a:latin typeface="Calibri"/>
                <a:cs typeface="Calibri"/>
              </a:rPr>
              <a:t>state</a:t>
            </a:r>
            <a:r>
              <a:rPr lang="en-US" sz="2750" spc="-10" dirty="0" smtClean="0">
                <a:latin typeface="Calibri"/>
                <a:cs typeface="Calibri"/>
              </a:rPr>
              <a:t>s</a:t>
            </a:r>
            <a:r>
              <a:rPr sz="2750" spc="90" dirty="0" smtClean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evaluated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by </a:t>
            </a:r>
            <a:r>
              <a:rPr sz="2750" spc="-10" dirty="0">
                <a:latin typeface="Calibri"/>
                <a:cs typeface="Calibri"/>
              </a:rPr>
              <a:t>heuristics</a:t>
            </a:r>
            <a:r>
              <a:rPr sz="2750" spc="32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and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goal.</a:t>
            </a:r>
            <a:endParaRPr sz="27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42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00"/>
              </a:lnSpc>
              <a:buFont typeface="Arial MT"/>
              <a:buChar char="•"/>
              <a:tabLst>
                <a:tab pos="241935" algn="l"/>
              </a:tabLst>
            </a:pPr>
            <a:r>
              <a:rPr sz="2750" spc="15" dirty="0">
                <a:latin typeface="Calibri"/>
                <a:cs typeface="Calibri"/>
              </a:rPr>
              <a:t>A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constraint</a:t>
            </a:r>
            <a:r>
              <a:rPr sz="2750" spc="18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satisfaction</a:t>
            </a:r>
            <a:r>
              <a:rPr sz="2750" spc="18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problem</a:t>
            </a:r>
            <a:r>
              <a:rPr sz="2750" spc="24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(CSP)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a</a:t>
            </a:r>
            <a:r>
              <a:rPr sz="2750" spc="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problem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that</a:t>
            </a:r>
            <a:r>
              <a:rPr sz="2750" spc="10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requires</a:t>
            </a:r>
            <a:r>
              <a:rPr sz="2750" spc="17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its </a:t>
            </a:r>
            <a:r>
              <a:rPr sz="2750" spc="-61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solution </a:t>
            </a:r>
            <a:r>
              <a:rPr sz="2750" spc="-20" dirty="0">
                <a:latin typeface="Calibri"/>
                <a:cs typeface="Calibri"/>
              </a:rPr>
              <a:t>within</a:t>
            </a:r>
            <a:r>
              <a:rPr sz="2750" spc="-15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some </a:t>
            </a:r>
            <a:r>
              <a:rPr sz="2750" spc="-5" dirty="0">
                <a:latin typeface="Calibri"/>
                <a:cs typeface="Calibri"/>
              </a:rPr>
              <a:t>limitations/conditions</a:t>
            </a:r>
            <a:r>
              <a:rPr sz="275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also </a:t>
            </a:r>
            <a:r>
              <a:rPr sz="2750" spc="5" dirty="0">
                <a:latin typeface="Calibri"/>
                <a:cs typeface="Calibri"/>
              </a:rPr>
              <a:t>known </a:t>
            </a:r>
            <a:r>
              <a:rPr sz="2750" spc="20" dirty="0">
                <a:latin typeface="Calibri"/>
                <a:cs typeface="Calibri"/>
              </a:rPr>
              <a:t>as 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constraints.</a:t>
            </a:r>
            <a:endParaRPr sz="27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39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buFont typeface="Arial MT"/>
              <a:buChar char="•"/>
              <a:tabLst>
                <a:tab pos="241935" algn="l"/>
              </a:tabLst>
            </a:pPr>
            <a:r>
              <a:rPr sz="2750" spc="-5" dirty="0">
                <a:latin typeface="Calibri"/>
                <a:cs typeface="Calibri"/>
              </a:rPr>
              <a:t>For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which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typical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problems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can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be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converted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CSP</a:t>
            </a:r>
            <a:r>
              <a:rPr sz="2750" spc="-3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and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solved.</a:t>
            </a:r>
            <a:endParaRPr sz="27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1" y="307334"/>
            <a:ext cx="667067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5" dirty="0"/>
              <a:t>Converting</a:t>
            </a:r>
            <a:r>
              <a:rPr spc="-110" dirty="0"/>
              <a:t> </a:t>
            </a:r>
            <a:r>
              <a:rPr spc="5" dirty="0"/>
              <a:t>problems</a:t>
            </a:r>
            <a:r>
              <a:rPr spc="-150" dirty="0"/>
              <a:t> </a:t>
            </a:r>
            <a:r>
              <a:rPr spc="-45" dirty="0"/>
              <a:t>to</a:t>
            </a:r>
            <a:r>
              <a:rPr spc="-20" dirty="0"/>
              <a:t> CSPs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63" y="1702673"/>
            <a:ext cx="9398635" cy="246761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5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15" dirty="0">
                <a:latin typeface="Calibri"/>
                <a:cs typeface="Calibri"/>
              </a:rPr>
              <a:t>A </a:t>
            </a:r>
            <a:r>
              <a:rPr sz="2750" spc="-15" dirty="0">
                <a:latin typeface="Calibri"/>
                <a:cs typeface="Calibri"/>
              </a:rPr>
              <a:t>problem</a:t>
            </a:r>
            <a:r>
              <a:rPr sz="2750" spc="23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be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converted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CSP</a:t>
            </a:r>
            <a:r>
              <a:rPr sz="2750" spc="4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requires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following</a:t>
            </a:r>
            <a:r>
              <a:rPr sz="2750" spc="25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steps:</a:t>
            </a:r>
            <a:endParaRPr sz="275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b="1" spc="10" dirty="0">
                <a:latin typeface="Calibri"/>
                <a:cs typeface="Calibri"/>
              </a:rPr>
              <a:t>Step</a:t>
            </a:r>
            <a:r>
              <a:rPr sz="2750" b="1" spc="60" dirty="0">
                <a:latin typeface="Calibri"/>
                <a:cs typeface="Calibri"/>
              </a:rPr>
              <a:t> </a:t>
            </a:r>
            <a:r>
              <a:rPr sz="2750" b="1" spc="15" dirty="0">
                <a:latin typeface="Calibri"/>
                <a:cs typeface="Calibri"/>
              </a:rPr>
              <a:t>1:</a:t>
            </a:r>
            <a:r>
              <a:rPr sz="2750" b="1" spc="-2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Create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a</a:t>
            </a:r>
            <a:r>
              <a:rPr sz="2750" spc="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variable</a:t>
            </a:r>
            <a:r>
              <a:rPr sz="2750" spc="17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set.(Representing</a:t>
            </a:r>
            <a:r>
              <a:rPr sz="2750" spc="33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state)</a:t>
            </a:r>
            <a:endParaRPr sz="275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b="1" spc="10" dirty="0">
                <a:latin typeface="Calibri"/>
                <a:cs typeface="Calibri"/>
              </a:rPr>
              <a:t>Step</a:t>
            </a:r>
            <a:r>
              <a:rPr sz="2750" b="1" spc="50" dirty="0">
                <a:latin typeface="Calibri"/>
                <a:cs typeface="Calibri"/>
              </a:rPr>
              <a:t> </a:t>
            </a:r>
            <a:r>
              <a:rPr sz="2750" b="1" spc="15" dirty="0">
                <a:latin typeface="Calibri"/>
                <a:cs typeface="Calibri"/>
              </a:rPr>
              <a:t>2:</a:t>
            </a:r>
            <a:r>
              <a:rPr sz="2750" b="1" spc="-3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Create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a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domain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set.(values)</a:t>
            </a:r>
            <a:endParaRPr sz="2750">
              <a:latin typeface="Calibri"/>
              <a:cs typeface="Calibri"/>
            </a:endParaRPr>
          </a:p>
          <a:p>
            <a:pPr marL="241300" marR="5080" indent="-229235">
              <a:lnSpc>
                <a:spcPts val="3080"/>
              </a:lnSpc>
              <a:spcBef>
                <a:spcPts val="97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b="1" spc="10" dirty="0">
                <a:latin typeface="Calibri"/>
                <a:cs typeface="Calibri"/>
              </a:rPr>
              <a:t>Step</a:t>
            </a:r>
            <a:r>
              <a:rPr sz="2750" b="1" spc="60" dirty="0">
                <a:latin typeface="Calibri"/>
                <a:cs typeface="Calibri"/>
              </a:rPr>
              <a:t> </a:t>
            </a:r>
            <a:r>
              <a:rPr sz="2750" b="1" spc="15" dirty="0">
                <a:latin typeface="Calibri"/>
                <a:cs typeface="Calibri"/>
              </a:rPr>
              <a:t>3:</a:t>
            </a:r>
            <a:r>
              <a:rPr sz="2750" b="1" spc="-2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Create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a</a:t>
            </a:r>
            <a:r>
              <a:rPr sz="2750" spc="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constraint</a:t>
            </a:r>
            <a:r>
              <a:rPr sz="2750" spc="18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set</a:t>
            </a:r>
            <a:r>
              <a:rPr sz="2750" spc="10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with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variables</a:t>
            </a:r>
            <a:r>
              <a:rPr sz="2750" spc="25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and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domains</a:t>
            </a:r>
            <a:r>
              <a:rPr sz="2750" spc="17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after </a:t>
            </a:r>
            <a:r>
              <a:rPr sz="2750" spc="-60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considering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constraints.(limitations)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1" y="235833"/>
            <a:ext cx="518858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CSP</a:t>
            </a:r>
            <a:r>
              <a:rPr spc="-105" dirty="0"/>
              <a:t> </a:t>
            </a:r>
            <a:r>
              <a:rPr spc="5" dirty="0"/>
              <a:t>Example1-Sudoku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2804" y="2306027"/>
            <a:ext cx="3706361" cy="36659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629150">
              <a:lnSpc>
                <a:spcPct val="100000"/>
              </a:lnSpc>
              <a:spcBef>
                <a:spcPts val="125"/>
              </a:spcBef>
            </a:pPr>
            <a:r>
              <a:rPr b="1" spc="-5" dirty="0">
                <a:solidFill>
                  <a:srgbClr val="006FC0"/>
                </a:solidFill>
                <a:latin typeface="Calibri"/>
                <a:cs typeface="Calibri"/>
              </a:rPr>
              <a:t>VARIABLES</a:t>
            </a:r>
            <a:r>
              <a:rPr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pc="10" dirty="0"/>
              <a:t>–</a:t>
            </a:r>
            <a:r>
              <a:rPr spc="15" dirty="0"/>
              <a:t> </a:t>
            </a:r>
            <a:r>
              <a:rPr spc="-10" dirty="0"/>
              <a:t>variables</a:t>
            </a:r>
            <a:r>
              <a:rPr spc="229" dirty="0"/>
              <a:t> </a:t>
            </a:r>
            <a:r>
              <a:rPr spc="15" dirty="0"/>
              <a:t>are</a:t>
            </a:r>
            <a:r>
              <a:rPr spc="-55" dirty="0"/>
              <a:t> </a:t>
            </a:r>
            <a:r>
              <a:rPr spc="-10" dirty="0"/>
              <a:t>cells</a:t>
            </a:r>
            <a:r>
              <a:rPr spc="80" dirty="0"/>
              <a:t> </a:t>
            </a:r>
            <a:r>
              <a:rPr dirty="0"/>
              <a:t>(A1-I9)</a:t>
            </a:r>
          </a:p>
          <a:p>
            <a:pPr marL="4629150">
              <a:lnSpc>
                <a:spcPct val="100000"/>
              </a:lnSpc>
              <a:spcBef>
                <a:spcPts val="80"/>
              </a:spcBef>
            </a:pPr>
            <a:r>
              <a:rPr b="1" dirty="0">
                <a:solidFill>
                  <a:srgbClr val="006FC0"/>
                </a:solidFill>
                <a:latin typeface="Calibri"/>
                <a:cs typeface="Calibri"/>
              </a:rPr>
              <a:t>DOMAIN</a:t>
            </a:r>
            <a:r>
              <a:rPr b="1" spc="1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pc="10" dirty="0"/>
              <a:t>–</a:t>
            </a:r>
            <a:r>
              <a:rPr spc="20" dirty="0"/>
              <a:t> </a:t>
            </a:r>
            <a:r>
              <a:rPr spc="10" dirty="0"/>
              <a:t>domain</a:t>
            </a:r>
            <a:r>
              <a:rPr spc="90" dirty="0"/>
              <a:t> </a:t>
            </a:r>
            <a:r>
              <a:rPr spc="25" dirty="0"/>
              <a:t>of</a:t>
            </a:r>
            <a:r>
              <a:rPr spc="-50" dirty="0"/>
              <a:t> </a:t>
            </a:r>
            <a:r>
              <a:rPr spc="10" dirty="0"/>
              <a:t>each</a:t>
            </a:r>
            <a:r>
              <a:rPr spc="85" dirty="0"/>
              <a:t> </a:t>
            </a:r>
            <a:r>
              <a:rPr spc="-10" dirty="0"/>
              <a:t>variable</a:t>
            </a:r>
            <a:r>
              <a:rPr spc="90" dirty="0"/>
              <a:t> </a:t>
            </a:r>
            <a:r>
              <a:rPr spc="-15" dirty="0"/>
              <a:t>is</a:t>
            </a:r>
          </a:p>
          <a:p>
            <a:pPr marL="4629150">
              <a:lnSpc>
                <a:spcPct val="100000"/>
              </a:lnSpc>
              <a:spcBef>
                <a:spcPts val="80"/>
              </a:spcBef>
            </a:pPr>
            <a:r>
              <a:rPr spc="5" dirty="0"/>
              <a:t>{1,2,3,4,5,6,7,8,9}</a:t>
            </a:r>
          </a:p>
          <a:p>
            <a:pPr marL="4629150" marR="455295">
              <a:lnSpc>
                <a:spcPts val="3379"/>
              </a:lnSpc>
              <a:spcBef>
                <a:spcPts val="50"/>
              </a:spcBef>
            </a:pPr>
            <a:r>
              <a:rPr b="1" dirty="0">
                <a:solidFill>
                  <a:srgbClr val="006FC0"/>
                </a:solidFill>
                <a:latin typeface="Calibri"/>
                <a:cs typeface="Calibri"/>
              </a:rPr>
              <a:t>CONSTRAINT</a:t>
            </a:r>
            <a:r>
              <a:rPr dirty="0"/>
              <a:t>–</a:t>
            </a:r>
            <a:r>
              <a:rPr spc="5" dirty="0"/>
              <a:t> </a:t>
            </a:r>
            <a:r>
              <a:rPr spc="-15" dirty="0"/>
              <a:t>constraints: rows, </a:t>
            </a:r>
            <a:r>
              <a:rPr spc="-10" dirty="0"/>
              <a:t> </a:t>
            </a:r>
            <a:r>
              <a:rPr dirty="0"/>
              <a:t>columns,</a:t>
            </a:r>
            <a:r>
              <a:rPr spc="100" dirty="0"/>
              <a:t> </a:t>
            </a:r>
            <a:r>
              <a:rPr spc="-25" dirty="0"/>
              <a:t>boxes</a:t>
            </a:r>
            <a:r>
              <a:rPr spc="160" dirty="0"/>
              <a:t> </a:t>
            </a:r>
            <a:r>
              <a:rPr spc="5" dirty="0"/>
              <a:t>contain</a:t>
            </a:r>
            <a:r>
              <a:rPr spc="1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spc="-25" dirty="0"/>
              <a:t>different</a:t>
            </a:r>
          </a:p>
          <a:p>
            <a:pPr marL="4629150">
              <a:lnSpc>
                <a:spcPts val="3250"/>
              </a:lnSpc>
            </a:pPr>
            <a:r>
              <a:rPr spc="-15" dirty="0"/>
              <a:t>numbers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7571" y="1121723"/>
            <a:ext cx="10028555" cy="87820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45"/>
              </a:spcBef>
            </a:pPr>
            <a:r>
              <a:rPr sz="2750" spc="-15" dirty="0">
                <a:solidFill>
                  <a:srgbClr val="FF0000"/>
                </a:solidFill>
                <a:latin typeface="Calibri"/>
                <a:cs typeface="Calibri"/>
              </a:rPr>
              <a:t>Rule</a:t>
            </a:r>
            <a:r>
              <a:rPr sz="2750" spc="-15" dirty="0">
                <a:latin typeface="Calibri"/>
                <a:cs typeface="Calibri"/>
              </a:rPr>
              <a:t>: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Fill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all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empty</a:t>
            </a:r>
            <a:r>
              <a:rPr sz="2750" spc="1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Squares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so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that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numbers</a:t>
            </a:r>
            <a:r>
              <a:rPr sz="2750" spc="24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1</a:t>
            </a:r>
            <a:r>
              <a:rPr sz="2750" spc="-5" dirty="0">
                <a:latin typeface="Calibri"/>
                <a:cs typeface="Calibri"/>
              </a:rPr>
              <a:t> to</a:t>
            </a:r>
            <a:r>
              <a:rPr sz="2750" spc="10" dirty="0">
                <a:latin typeface="Calibri"/>
                <a:cs typeface="Calibri"/>
              </a:rPr>
              <a:t> 9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appear</a:t>
            </a:r>
            <a:r>
              <a:rPr sz="2750" spc="14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once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in </a:t>
            </a:r>
            <a:r>
              <a:rPr sz="2750" spc="-60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each </a:t>
            </a:r>
            <a:r>
              <a:rPr sz="2750" spc="-65" dirty="0">
                <a:latin typeface="Calibri"/>
                <a:cs typeface="Calibri"/>
              </a:rPr>
              <a:t>row,</a:t>
            </a:r>
            <a:r>
              <a:rPr sz="2750" spc="10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column </a:t>
            </a:r>
            <a:r>
              <a:rPr sz="2750" spc="5" dirty="0">
                <a:latin typeface="Calibri"/>
                <a:cs typeface="Calibri"/>
              </a:rPr>
              <a:t>and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3x3</a:t>
            </a:r>
            <a:r>
              <a:rPr sz="2750" spc="-1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box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9461" y="214942"/>
            <a:ext cx="559181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Example2-Map</a:t>
            </a:r>
            <a:r>
              <a:rPr spc="-220" dirty="0"/>
              <a:t> </a:t>
            </a:r>
            <a:r>
              <a:rPr spc="5" dirty="0"/>
              <a:t>Coloring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79778" y="5269296"/>
            <a:ext cx="6227445" cy="1131570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Rule</a:t>
            </a:r>
            <a:r>
              <a:rPr sz="2400" spc="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Color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 </a:t>
            </a:r>
            <a:r>
              <a:rPr sz="2400" spc="-5" dirty="0">
                <a:latin typeface="Calibri"/>
                <a:cs typeface="Calibri"/>
              </a:rPr>
              <a:t>region </a:t>
            </a:r>
            <a:r>
              <a:rPr sz="2400" dirty="0">
                <a:latin typeface="Calibri"/>
                <a:cs typeface="Calibri"/>
              </a:rPr>
              <a:t>either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green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blue</a:t>
            </a:r>
            <a:endParaRPr sz="2400">
              <a:latin typeface="Calibri"/>
              <a:cs typeface="Calibri"/>
            </a:endParaRPr>
          </a:p>
          <a:p>
            <a:pPr marL="622300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Calibri"/>
                <a:cs typeface="Calibri"/>
              </a:rPr>
              <a:t>-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No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adjacent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region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have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the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same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color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6315" y="1105159"/>
            <a:ext cx="5934974" cy="42055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5995-B701-4244-B217-E4DF20C0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 Coloring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DED32E-664F-4B4A-8C17-0AEC304DD9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140" t="1105"/>
          <a:stretch>
            <a:fillRect/>
          </a:stretch>
        </p:blipFill>
        <p:spPr bwMode="auto">
          <a:xfrm>
            <a:off x="2532185" y="610112"/>
            <a:ext cx="6852687" cy="5711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27295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33AC6-1EF5-45C3-9526-82AE58686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 Coloring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AC419-21F9-41CA-9236-A4C94A9F6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756" y="1447800"/>
            <a:ext cx="10173191" cy="258572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Variables: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WA, NT, SA, Q, NSW, V, T</a:t>
            </a:r>
          </a:p>
          <a:p>
            <a:pPr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400" dirty="0"/>
              <a:t>Domains: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D = {</a:t>
            </a:r>
            <a:r>
              <a:rPr lang="en-US" sz="2400" b="1" dirty="0">
                <a:solidFill>
                  <a:srgbClr val="FF0000"/>
                </a:solidFill>
              </a:rPr>
              <a:t>R</a:t>
            </a:r>
            <a:r>
              <a:rPr lang="en-US" sz="2400" dirty="0"/>
              <a:t> , </a:t>
            </a:r>
            <a:r>
              <a:rPr lang="en-US" sz="2400" b="1" dirty="0">
                <a:solidFill>
                  <a:srgbClr val="66FF33"/>
                </a:solidFill>
              </a:rPr>
              <a:t>G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70C0"/>
                </a:solidFill>
              </a:rPr>
              <a:t>B</a:t>
            </a:r>
            <a:r>
              <a:rPr lang="en-US" sz="2400" dirty="0"/>
              <a:t>}</a:t>
            </a:r>
          </a:p>
          <a:p>
            <a:pPr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400" dirty="0"/>
              <a:t>Constraints: 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adjacent regions must have different colors</a:t>
            </a:r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dirty="0"/>
              <a:t>WA != NT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(WA, NT) in {(</a:t>
            </a:r>
            <a:r>
              <a:rPr lang="en-US" sz="2400" b="1" dirty="0">
                <a:solidFill>
                  <a:srgbClr val="FF0000"/>
                </a:solidFill>
              </a:rPr>
              <a:t>R</a:t>
            </a:r>
            <a:r>
              <a:rPr lang="en-US" sz="2400" dirty="0"/>
              <a:t>,</a:t>
            </a:r>
            <a:r>
              <a:rPr lang="en-US" sz="2400" b="1" dirty="0">
                <a:solidFill>
                  <a:srgbClr val="66FF33"/>
                </a:solidFill>
              </a:rPr>
              <a:t>G</a:t>
            </a:r>
            <a:r>
              <a:rPr lang="en-US" sz="2400" dirty="0"/>
              <a:t>), (</a:t>
            </a:r>
            <a:r>
              <a:rPr lang="en-US" sz="2400" b="1" dirty="0">
                <a:solidFill>
                  <a:srgbClr val="FF0000"/>
                </a:solidFill>
              </a:rPr>
              <a:t>R</a:t>
            </a:r>
            <a:r>
              <a:rPr lang="en-US" sz="2400" dirty="0"/>
              <a:t>,</a:t>
            </a:r>
            <a:r>
              <a:rPr lang="en-US" sz="2400" b="1" dirty="0">
                <a:solidFill>
                  <a:srgbClr val="0070C0"/>
                </a:solidFill>
              </a:rPr>
              <a:t>B</a:t>
            </a:r>
            <a:r>
              <a:rPr lang="en-US" sz="2400" dirty="0"/>
              <a:t>), (</a:t>
            </a:r>
            <a:r>
              <a:rPr lang="en-US" sz="2400" b="1" dirty="0">
                <a:solidFill>
                  <a:srgbClr val="0070C0"/>
                </a:solidFill>
              </a:rPr>
              <a:t>B</a:t>
            </a:r>
            <a:r>
              <a:rPr lang="en-US" sz="2400" dirty="0"/>
              <a:t>,</a:t>
            </a:r>
            <a:r>
              <a:rPr lang="en-US" sz="2400" b="1" dirty="0">
                <a:solidFill>
                  <a:srgbClr val="66FF33"/>
                </a:solidFill>
              </a:rPr>
              <a:t>G</a:t>
            </a:r>
            <a:r>
              <a:rPr lang="en-US" sz="2400" dirty="0"/>
              <a:t>), … }</a:t>
            </a:r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400" dirty="0"/>
              <a:t>Solutions are assignments satisfying all constraints, e.g.: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D7C3E7-CF1C-4901-8B4F-C2DFC822F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140" t="1105"/>
          <a:stretch>
            <a:fillRect/>
          </a:stretch>
        </p:blipFill>
        <p:spPr bwMode="auto">
          <a:xfrm>
            <a:off x="7449981" y="1143000"/>
            <a:ext cx="4593811" cy="380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46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/>
              <a:t>Constraint Graphs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4969557" y="747847"/>
            <a:ext cx="6145101" cy="536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B9A2975-0AA8-4845-AAE6-3EC24698BE2C}"/>
              </a:ext>
            </a:extLst>
          </p:cNvPr>
          <p:cNvGraphicFramePr>
            <a:graphicFrameLocks noGrp="1"/>
          </p:cNvGraphicFramePr>
          <p:nvPr/>
        </p:nvGraphicFramePr>
        <p:xfrm>
          <a:off x="166616" y="2783540"/>
          <a:ext cx="4682013" cy="3879477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668859">
                  <a:extLst>
                    <a:ext uri="{9D8B030D-6E8A-4147-A177-3AD203B41FA5}">
                      <a16:colId xmlns:a16="http://schemas.microsoft.com/office/drawing/2014/main" val="3969358994"/>
                    </a:ext>
                  </a:extLst>
                </a:gridCol>
                <a:gridCol w="668859">
                  <a:extLst>
                    <a:ext uri="{9D8B030D-6E8A-4147-A177-3AD203B41FA5}">
                      <a16:colId xmlns:a16="http://schemas.microsoft.com/office/drawing/2014/main" val="1715029951"/>
                    </a:ext>
                  </a:extLst>
                </a:gridCol>
                <a:gridCol w="668859">
                  <a:extLst>
                    <a:ext uri="{9D8B030D-6E8A-4147-A177-3AD203B41FA5}">
                      <a16:colId xmlns:a16="http://schemas.microsoft.com/office/drawing/2014/main" val="1988958108"/>
                    </a:ext>
                  </a:extLst>
                </a:gridCol>
                <a:gridCol w="668859">
                  <a:extLst>
                    <a:ext uri="{9D8B030D-6E8A-4147-A177-3AD203B41FA5}">
                      <a16:colId xmlns:a16="http://schemas.microsoft.com/office/drawing/2014/main" val="3200310050"/>
                    </a:ext>
                  </a:extLst>
                </a:gridCol>
                <a:gridCol w="668859">
                  <a:extLst>
                    <a:ext uri="{9D8B030D-6E8A-4147-A177-3AD203B41FA5}">
                      <a16:colId xmlns:a16="http://schemas.microsoft.com/office/drawing/2014/main" val="3605911821"/>
                    </a:ext>
                  </a:extLst>
                </a:gridCol>
                <a:gridCol w="668859">
                  <a:extLst>
                    <a:ext uri="{9D8B030D-6E8A-4147-A177-3AD203B41FA5}">
                      <a16:colId xmlns:a16="http://schemas.microsoft.com/office/drawing/2014/main" val="3034699114"/>
                    </a:ext>
                  </a:extLst>
                </a:gridCol>
                <a:gridCol w="668859">
                  <a:extLst>
                    <a:ext uri="{9D8B030D-6E8A-4147-A177-3AD203B41FA5}">
                      <a16:colId xmlns:a16="http://schemas.microsoft.com/office/drawing/2014/main" val="760501351"/>
                    </a:ext>
                  </a:extLst>
                </a:gridCol>
              </a:tblGrid>
              <a:tr h="554211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NSW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3072471"/>
                  </a:ext>
                </a:extLst>
              </a:tr>
              <a:tr h="55421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096245"/>
                  </a:ext>
                </a:extLst>
              </a:tr>
              <a:tr h="55421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139006"/>
                  </a:ext>
                </a:extLst>
              </a:tr>
              <a:tr h="55421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1235209"/>
                  </a:ext>
                </a:extLst>
              </a:tr>
              <a:tr h="55421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708093"/>
                  </a:ext>
                </a:extLst>
              </a:tr>
              <a:tr h="55421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NSW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3912638"/>
                  </a:ext>
                </a:extLst>
              </a:tr>
              <a:tr h="55421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0514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4749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/>
              <a:t>Constraint Graphs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70104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Binary CSP: each constraint relates (at most) two variables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Binary constraint graph: nodes are variables, arcs show constraints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General-purpose CSP algorithms use the graph structure to speed up search. E.g., Tasmania is an independent sub problem!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7848600" y="1600201"/>
            <a:ext cx="3327400" cy="290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5693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1" y="609277"/>
            <a:ext cx="841946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CSP</a:t>
            </a:r>
            <a:r>
              <a:rPr spc="-60" dirty="0"/>
              <a:t> </a:t>
            </a:r>
            <a:r>
              <a:rPr spc="-15" dirty="0"/>
              <a:t>Representation</a:t>
            </a:r>
            <a:r>
              <a:rPr spc="-90" dirty="0"/>
              <a:t> </a:t>
            </a:r>
            <a:r>
              <a:rPr spc="20" dirty="0"/>
              <a:t>of</a:t>
            </a:r>
            <a:r>
              <a:rPr spc="-85" dirty="0"/>
              <a:t> </a:t>
            </a:r>
            <a:r>
              <a:rPr spc="25" dirty="0"/>
              <a:t>Map</a:t>
            </a:r>
            <a:r>
              <a:rPr spc="-95" dirty="0"/>
              <a:t> </a:t>
            </a:r>
            <a:r>
              <a:rPr spc="5" dirty="0"/>
              <a:t>Coloring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683" y="1307211"/>
            <a:ext cx="3560947" cy="282231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435853" y="1307217"/>
            <a:ext cx="5117465" cy="3294379"/>
            <a:chOff x="5435853" y="1307217"/>
            <a:chExt cx="5117465" cy="329437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2203" y="1307217"/>
              <a:ext cx="5110977" cy="32942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42203" y="3428987"/>
              <a:ext cx="1917700" cy="701040"/>
            </a:xfrm>
            <a:custGeom>
              <a:avLst/>
              <a:gdLst/>
              <a:ahLst/>
              <a:cxnLst/>
              <a:rect l="l" t="t" r="r" b="b"/>
              <a:pathLst>
                <a:path w="1917700" h="701039">
                  <a:moveTo>
                    <a:pt x="1917323" y="0"/>
                  </a:moveTo>
                  <a:lnTo>
                    <a:pt x="0" y="0"/>
                  </a:lnTo>
                  <a:lnTo>
                    <a:pt x="0" y="700540"/>
                  </a:lnTo>
                  <a:lnTo>
                    <a:pt x="1917323" y="700540"/>
                  </a:lnTo>
                  <a:lnTo>
                    <a:pt x="19173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42203" y="3428987"/>
              <a:ext cx="1917700" cy="701040"/>
            </a:xfrm>
            <a:custGeom>
              <a:avLst/>
              <a:gdLst/>
              <a:ahLst/>
              <a:cxnLst/>
              <a:rect l="l" t="t" r="r" b="b"/>
              <a:pathLst>
                <a:path w="1917700" h="701039">
                  <a:moveTo>
                    <a:pt x="0" y="700540"/>
                  </a:moveTo>
                  <a:lnTo>
                    <a:pt x="1917323" y="700540"/>
                  </a:lnTo>
                  <a:lnTo>
                    <a:pt x="1917323" y="0"/>
                  </a:lnTo>
                  <a:lnTo>
                    <a:pt x="0" y="0"/>
                  </a:lnTo>
                  <a:lnTo>
                    <a:pt x="0" y="7005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314825" y="2590800"/>
            <a:ext cx="752475" cy="447675"/>
            <a:chOff x="4314825" y="2590800"/>
            <a:chExt cx="752475" cy="44767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14825" y="2590800"/>
              <a:ext cx="752475" cy="4476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368789" y="2609606"/>
              <a:ext cx="654050" cy="368935"/>
            </a:xfrm>
            <a:custGeom>
              <a:avLst/>
              <a:gdLst/>
              <a:ahLst/>
              <a:cxnLst/>
              <a:rect l="l" t="t" r="r" b="b"/>
              <a:pathLst>
                <a:path w="654050" h="368935">
                  <a:moveTo>
                    <a:pt x="469544" y="0"/>
                  </a:moveTo>
                  <a:lnTo>
                    <a:pt x="469544" y="92201"/>
                  </a:lnTo>
                  <a:lnTo>
                    <a:pt x="0" y="92201"/>
                  </a:lnTo>
                  <a:lnTo>
                    <a:pt x="0" y="276453"/>
                  </a:lnTo>
                  <a:lnTo>
                    <a:pt x="469544" y="276453"/>
                  </a:lnTo>
                  <a:lnTo>
                    <a:pt x="469544" y="368655"/>
                  </a:lnTo>
                  <a:lnTo>
                    <a:pt x="653948" y="184251"/>
                  </a:lnTo>
                  <a:lnTo>
                    <a:pt x="46954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164964" y="4964047"/>
            <a:ext cx="3169285" cy="13074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5" dirty="0">
                <a:solidFill>
                  <a:srgbClr val="006FC0"/>
                </a:solidFill>
                <a:latin typeface="Calibri"/>
                <a:cs typeface="Calibri"/>
              </a:rPr>
              <a:t>Constraint</a:t>
            </a:r>
            <a:r>
              <a:rPr sz="2750" b="1" spc="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dirty="0">
                <a:solidFill>
                  <a:srgbClr val="006FC0"/>
                </a:solidFill>
                <a:latin typeface="Calibri"/>
                <a:cs typeface="Calibri"/>
              </a:rPr>
              <a:t>Graph</a:t>
            </a:r>
            <a:endParaRPr sz="2750">
              <a:latin typeface="Calibri"/>
              <a:cs typeface="Calibri"/>
            </a:endParaRPr>
          </a:p>
          <a:p>
            <a:pPr marL="298450" indent="-286385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sz="2750" b="1" spc="15" dirty="0">
                <a:solidFill>
                  <a:srgbClr val="006FC0"/>
                </a:solidFill>
                <a:latin typeface="Calibri"/>
                <a:cs typeface="Calibri"/>
              </a:rPr>
              <a:t>Nodes</a:t>
            </a:r>
            <a:r>
              <a:rPr sz="2750" b="1" spc="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are</a:t>
            </a:r>
            <a:r>
              <a:rPr sz="2750" spc="-6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Variables</a:t>
            </a:r>
            <a:endParaRPr sz="2750">
              <a:latin typeface="Calibri"/>
              <a:cs typeface="Calibri"/>
            </a:endParaRPr>
          </a:p>
          <a:p>
            <a:pPr marL="298450" indent="-286385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sz="2750" b="1" spc="-30" dirty="0">
                <a:solidFill>
                  <a:srgbClr val="006FC0"/>
                </a:solidFill>
                <a:latin typeface="Calibri"/>
                <a:cs typeface="Calibri"/>
              </a:rPr>
              <a:t>Arcs</a:t>
            </a:r>
            <a:r>
              <a:rPr sz="2750" b="1" spc="1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are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Constraint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6079" y="4447601"/>
            <a:ext cx="5821045" cy="21564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b="1" spc="-10" dirty="0">
                <a:solidFill>
                  <a:srgbClr val="006FC0"/>
                </a:solidFill>
                <a:latin typeface="Calibri"/>
                <a:cs typeface="Calibri"/>
              </a:rPr>
              <a:t>Variables:</a:t>
            </a:r>
            <a:r>
              <a:rPr sz="2750" b="1" spc="1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spc="-50" dirty="0">
                <a:latin typeface="Calibri"/>
                <a:cs typeface="Calibri"/>
              </a:rPr>
              <a:t>WA,</a:t>
            </a:r>
            <a:r>
              <a:rPr sz="2750" spc="105" dirty="0">
                <a:latin typeface="Calibri"/>
                <a:cs typeface="Calibri"/>
              </a:rPr>
              <a:t> </a:t>
            </a:r>
            <a:r>
              <a:rPr sz="2750" spc="-90" dirty="0">
                <a:latin typeface="Calibri"/>
                <a:cs typeface="Calibri"/>
              </a:rPr>
              <a:t>NT,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85" dirty="0">
                <a:latin typeface="Calibri"/>
                <a:cs typeface="Calibri"/>
              </a:rPr>
              <a:t>Q,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60" dirty="0">
                <a:latin typeface="Calibri"/>
                <a:cs typeface="Calibri"/>
              </a:rPr>
              <a:t>NSW,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105" dirty="0">
                <a:latin typeface="Calibri"/>
                <a:cs typeface="Calibri"/>
              </a:rPr>
              <a:t>V,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SA,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T</a:t>
            </a:r>
            <a:endParaRPr sz="2750">
              <a:latin typeface="Calibri"/>
              <a:cs typeface="Calibri"/>
            </a:endParaRPr>
          </a:p>
          <a:p>
            <a:pPr marL="12700" marR="5080">
              <a:lnSpc>
                <a:spcPct val="101299"/>
              </a:lnSpc>
              <a:spcBef>
                <a:spcPts val="35"/>
              </a:spcBef>
            </a:pPr>
            <a:r>
              <a:rPr sz="2750" b="1" spc="5" dirty="0">
                <a:solidFill>
                  <a:srgbClr val="006FC0"/>
                </a:solidFill>
                <a:latin typeface="Calibri"/>
                <a:cs typeface="Calibri"/>
              </a:rPr>
              <a:t>Domains:</a:t>
            </a:r>
            <a:r>
              <a:rPr sz="275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Di</a:t>
            </a:r>
            <a:r>
              <a:rPr sz="2750" spc="10" dirty="0">
                <a:latin typeface="Calibri"/>
                <a:cs typeface="Calibri"/>
              </a:rPr>
              <a:t> =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{red,</a:t>
            </a:r>
            <a:r>
              <a:rPr sz="2750" spc="10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green,</a:t>
            </a:r>
            <a:r>
              <a:rPr sz="2750" spc="10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blue} </a:t>
            </a:r>
            <a:r>
              <a:rPr sz="2750" spc="-15" dirty="0">
                <a:latin typeface="Calibri"/>
                <a:cs typeface="Calibri"/>
              </a:rPr>
              <a:t> </a:t>
            </a:r>
            <a:r>
              <a:rPr sz="2750" b="1" spc="5" dirty="0">
                <a:solidFill>
                  <a:srgbClr val="006FC0"/>
                </a:solidFill>
                <a:latin typeface="Calibri"/>
                <a:cs typeface="Calibri"/>
              </a:rPr>
              <a:t>Constraints:</a:t>
            </a:r>
            <a:r>
              <a:rPr sz="2750" b="1" spc="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adjacent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regions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must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have </a:t>
            </a:r>
            <a:r>
              <a:rPr sz="2750" spc="-60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different</a:t>
            </a:r>
            <a:r>
              <a:rPr sz="2750" spc="16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colors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750" spc="-20" dirty="0">
                <a:latin typeface="Calibri"/>
                <a:cs typeface="Calibri"/>
              </a:rPr>
              <a:t>e.g.,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55" dirty="0">
                <a:latin typeface="Calibri"/>
                <a:cs typeface="Calibri"/>
              </a:rPr>
              <a:t>WA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≠ </a:t>
            </a:r>
            <a:r>
              <a:rPr sz="2750" spc="-90" dirty="0">
                <a:latin typeface="Calibri"/>
                <a:cs typeface="Calibri"/>
              </a:rPr>
              <a:t>NT,</a:t>
            </a:r>
            <a:r>
              <a:rPr sz="2750" spc="25" dirty="0">
                <a:latin typeface="Calibri"/>
                <a:cs typeface="Calibri"/>
              </a:rPr>
              <a:t> or</a:t>
            </a:r>
            <a:r>
              <a:rPr sz="2750" spc="5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(WA,NT)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1" y="609277"/>
            <a:ext cx="535051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5" dirty="0"/>
              <a:t>Varieties</a:t>
            </a:r>
            <a:r>
              <a:rPr spc="-80" dirty="0"/>
              <a:t> </a:t>
            </a:r>
            <a:r>
              <a:rPr spc="20" dirty="0"/>
              <a:t>of</a:t>
            </a:r>
            <a:r>
              <a:rPr spc="-95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1" y="1712534"/>
            <a:ext cx="10240645" cy="1723389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Unary</a:t>
            </a:r>
            <a:r>
              <a:rPr sz="2400" spc="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Calibri"/>
                <a:cs typeface="Calibri"/>
              </a:rPr>
              <a:t>constraints</a:t>
            </a:r>
            <a:r>
              <a:rPr sz="2400" spc="-20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involve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single </a:t>
            </a:r>
            <a:r>
              <a:rPr sz="2400" spc="-20" dirty="0">
                <a:latin typeface="Calibri"/>
                <a:cs typeface="Calibri"/>
              </a:rPr>
              <a:t>variable,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e.g.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SA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≠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green</a:t>
            </a:r>
            <a:endParaRPr sz="24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15" dirty="0">
                <a:solidFill>
                  <a:srgbClr val="006FC0"/>
                </a:solidFill>
                <a:latin typeface="Calibri"/>
                <a:cs typeface="Calibri"/>
              </a:rPr>
              <a:t>Binary</a:t>
            </a:r>
            <a:r>
              <a:rPr sz="2400" spc="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Calibri"/>
                <a:cs typeface="Calibri"/>
              </a:rPr>
              <a:t>constraints</a:t>
            </a:r>
            <a:r>
              <a:rPr sz="2400" spc="-1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involve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pairs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variables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(relates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two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variables),e.g.,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≠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5" dirty="0">
                <a:latin typeface="Calibri"/>
                <a:cs typeface="Calibri"/>
              </a:rPr>
              <a:t>WA</a:t>
            </a:r>
            <a:endParaRPr sz="2400">
              <a:latin typeface="Calibri"/>
              <a:cs typeface="Calibri"/>
            </a:endParaRPr>
          </a:p>
          <a:p>
            <a:pPr marL="241300" marR="5080" indent="-229235">
              <a:lnSpc>
                <a:spcPts val="2550"/>
              </a:lnSpc>
              <a:spcBef>
                <a:spcPts val="108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5" dirty="0">
                <a:solidFill>
                  <a:srgbClr val="006FC0"/>
                </a:solidFill>
                <a:latin typeface="Calibri"/>
                <a:cs typeface="Calibri"/>
              </a:rPr>
              <a:t>Higher-order constraints </a:t>
            </a:r>
            <a:r>
              <a:rPr sz="2400" spc="-30" dirty="0">
                <a:latin typeface="Calibri"/>
                <a:cs typeface="Calibri"/>
              </a:rPr>
              <a:t>involve </a:t>
            </a:r>
            <a:r>
              <a:rPr sz="2400" dirty="0">
                <a:latin typeface="Calibri"/>
                <a:cs typeface="Calibri"/>
              </a:rPr>
              <a:t>3 or </a:t>
            </a:r>
            <a:r>
              <a:rPr sz="2400" spc="5" dirty="0">
                <a:latin typeface="Calibri"/>
                <a:cs typeface="Calibri"/>
              </a:rPr>
              <a:t>more </a:t>
            </a:r>
            <a:r>
              <a:rPr sz="2400" spc="-10" dirty="0">
                <a:latin typeface="Calibri"/>
                <a:cs typeface="Calibri"/>
              </a:rPr>
              <a:t>variables, </a:t>
            </a:r>
            <a:r>
              <a:rPr sz="2400" dirty="0">
                <a:latin typeface="Calibri"/>
                <a:cs typeface="Calibri"/>
              </a:rPr>
              <a:t>e.g. cryptarithmetic </a:t>
            </a:r>
            <a:r>
              <a:rPr sz="2400" spc="5" dirty="0">
                <a:latin typeface="Calibri"/>
                <a:cs typeface="Calibri"/>
              </a:rPr>
              <a:t>puzzles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(column</a:t>
            </a:r>
            <a:r>
              <a:rPr sz="2400" spc="-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constraints)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3200400" y="2895600"/>
            <a:ext cx="5923280" cy="94000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US" sz="6000" b="1" kern="0" spc="-5" dirty="0" smtClean="0">
                <a:solidFill>
                  <a:sysClr val="windowText" lastClr="000000"/>
                </a:solidFill>
              </a:rPr>
              <a:t>BACKTRACKING</a:t>
            </a:r>
            <a:endParaRPr lang="en-US" sz="6000" b="1" kern="0" spc="1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701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1" y="609277"/>
            <a:ext cx="462788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5" dirty="0"/>
              <a:t>Backtracking</a:t>
            </a:r>
            <a:r>
              <a:rPr spc="-130" dirty="0"/>
              <a:t> </a:t>
            </a:r>
            <a:r>
              <a:rPr spc="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66" y="1410648"/>
            <a:ext cx="10114280" cy="27571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1300" marR="60325" indent="-229235">
              <a:lnSpc>
                <a:spcPts val="3080"/>
              </a:lnSpc>
              <a:spcBef>
                <a:spcPts val="409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-20" dirty="0">
                <a:latin typeface="Calibri"/>
                <a:cs typeface="Calibri"/>
              </a:rPr>
              <a:t>Depth-first</a:t>
            </a:r>
            <a:r>
              <a:rPr sz="2750" spc="33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search</a:t>
            </a:r>
            <a:r>
              <a:rPr sz="2750" spc="18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for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CSPs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with</a:t>
            </a:r>
            <a:r>
              <a:rPr sz="2750" spc="18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single-variable</a:t>
            </a:r>
            <a:r>
              <a:rPr sz="2750" spc="33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assignments</a:t>
            </a:r>
            <a:r>
              <a:rPr sz="2750" spc="40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called </a:t>
            </a:r>
            <a:r>
              <a:rPr sz="2750" spc="-61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backtracking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search</a:t>
            </a:r>
            <a:endParaRPr sz="2750">
              <a:latin typeface="Calibri"/>
              <a:cs typeface="Calibri"/>
            </a:endParaRPr>
          </a:p>
          <a:p>
            <a:pPr marL="241300" marR="5080" indent="-229235">
              <a:lnSpc>
                <a:spcPts val="3080"/>
              </a:lnSpc>
              <a:spcBef>
                <a:spcPts val="90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-20" dirty="0">
                <a:latin typeface="Calibri"/>
                <a:cs typeface="Calibri"/>
              </a:rPr>
              <a:t>Variable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assignments</a:t>
            </a:r>
            <a:r>
              <a:rPr sz="2750" spc="39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are</a:t>
            </a:r>
            <a:r>
              <a:rPr sz="2750" spc="-4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commutative:</a:t>
            </a:r>
            <a:r>
              <a:rPr sz="2750" spc="-1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[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55" dirty="0">
                <a:latin typeface="Calibri"/>
                <a:cs typeface="Calibri"/>
              </a:rPr>
              <a:t>WA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=</a:t>
            </a:r>
            <a:r>
              <a:rPr sz="2750" dirty="0">
                <a:latin typeface="Calibri"/>
                <a:cs typeface="Calibri"/>
              </a:rPr>
              <a:t> </a:t>
            </a:r>
            <a:r>
              <a:rPr sz="2750" spc="5" dirty="0">
                <a:solidFill>
                  <a:srgbClr val="FF0000"/>
                </a:solidFill>
                <a:latin typeface="Calibri"/>
                <a:cs typeface="Calibri"/>
              </a:rPr>
              <a:t>red</a:t>
            </a:r>
            <a:r>
              <a:rPr sz="275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then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NT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-5" dirty="0">
                <a:solidFill>
                  <a:srgbClr val="00AF50"/>
                </a:solidFill>
                <a:latin typeface="Calibri"/>
                <a:cs typeface="Calibri"/>
              </a:rPr>
              <a:t>green</a:t>
            </a:r>
            <a:r>
              <a:rPr sz="2750" spc="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] </a:t>
            </a:r>
            <a:r>
              <a:rPr sz="2750" spc="-60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same</a:t>
            </a:r>
            <a:r>
              <a:rPr sz="2750" spc="20" dirty="0">
                <a:latin typeface="Calibri"/>
                <a:cs typeface="Calibri"/>
              </a:rPr>
              <a:t> as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[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NT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-5" dirty="0">
                <a:solidFill>
                  <a:srgbClr val="00AF50"/>
                </a:solidFill>
                <a:latin typeface="Calibri"/>
                <a:cs typeface="Calibri"/>
              </a:rPr>
              <a:t>green</a:t>
            </a:r>
            <a:r>
              <a:rPr sz="2750" spc="1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then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55" dirty="0">
                <a:latin typeface="Calibri"/>
                <a:cs typeface="Calibri"/>
              </a:rPr>
              <a:t>WA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=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5" dirty="0">
                <a:solidFill>
                  <a:srgbClr val="FF0000"/>
                </a:solidFill>
                <a:latin typeface="Calibri"/>
                <a:cs typeface="Calibri"/>
              </a:rPr>
              <a:t>red</a:t>
            </a:r>
            <a:r>
              <a:rPr sz="275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]</a:t>
            </a:r>
            <a:endParaRPr sz="2750">
              <a:latin typeface="Calibri"/>
              <a:cs typeface="Calibri"/>
            </a:endParaRPr>
          </a:p>
          <a:p>
            <a:pPr marL="317500" indent="-3054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317500" algn="l"/>
                <a:tab pos="318135" algn="l"/>
              </a:tabLst>
            </a:pPr>
            <a:r>
              <a:rPr sz="2750" dirty="0">
                <a:latin typeface="Calibri"/>
                <a:cs typeface="Calibri"/>
              </a:rPr>
              <a:t>Only</a:t>
            </a:r>
            <a:r>
              <a:rPr sz="2750" spc="14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need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consider</a:t>
            </a:r>
            <a:r>
              <a:rPr sz="2750" spc="13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assignments</a:t>
            </a:r>
            <a:r>
              <a:rPr sz="2750" spc="3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10" dirty="0">
                <a:latin typeface="Calibri"/>
                <a:cs typeface="Calibri"/>
              </a:rPr>
              <a:t> a</a:t>
            </a:r>
            <a:r>
              <a:rPr sz="275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single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variable</a:t>
            </a:r>
            <a:r>
              <a:rPr sz="2750" spc="17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at</a:t>
            </a:r>
            <a:r>
              <a:rPr sz="2750" spc="-5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each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node</a:t>
            </a:r>
            <a:endParaRPr sz="2750">
              <a:latin typeface="Calibri"/>
              <a:cs typeface="Calibri"/>
            </a:endParaRPr>
          </a:p>
          <a:p>
            <a:pPr marL="403225" indent="-39116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403225" algn="l"/>
                <a:tab pos="403860" algn="l"/>
              </a:tabLst>
            </a:pPr>
            <a:r>
              <a:rPr sz="2750" spc="10" dirty="0">
                <a:latin typeface="Calibri"/>
                <a:cs typeface="Calibri"/>
              </a:rPr>
              <a:t>Backtracks </a:t>
            </a:r>
            <a:r>
              <a:rPr sz="2750" spc="-10" dirty="0">
                <a:latin typeface="Calibri"/>
                <a:cs typeface="Calibri"/>
              </a:rPr>
              <a:t>when</a:t>
            </a:r>
            <a:r>
              <a:rPr sz="2750" spc="16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variable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has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no</a:t>
            </a:r>
            <a:r>
              <a:rPr sz="2750" spc="7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legal</a:t>
            </a:r>
            <a:r>
              <a:rPr sz="2750" spc="16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value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2251" y="1753209"/>
            <a:ext cx="6401157" cy="42063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571" y="609277"/>
            <a:ext cx="997394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5" dirty="0"/>
              <a:t>Backtracking</a:t>
            </a:r>
            <a:r>
              <a:rPr spc="-90" dirty="0"/>
              <a:t> </a:t>
            </a:r>
            <a:r>
              <a:rPr spc="-5" dirty="0"/>
              <a:t>for</a:t>
            </a:r>
            <a:r>
              <a:rPr spc="-90" dirty="0"/>
              <a:t> </a:t>
            </a:r>
            <a:r>
              <a:rPr spc="5" dirty="0"/>
              <a:t>the </a:t>
            </a:r>
            <a:r>
              <a:rPr spc="10" dirty="0"/>
              <a:t>map-coloring</a:t>
            </a:r>
            <a:r>
              <a:rPr spc="-240" dirty="0"/>
              <a:t> </a:t>
            </a:r>
            <a:r>
              <a:rPr spc="5" dirty="0"/>
              <a:t>problem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2740" y="1260728"/>
            <a:ext cx="6029960" cy="4781550"/>
            <a:chOff x="132740" y="1260728"/>
            <a:chExt cx="6029960" cy="47815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1690609"/>
              <a:ext cx="4527804" cy="43514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2100" y="3505199"/>
              <a:ext cx="790575" cy="4953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42203" y="3548390"/>
              <a:ext cx="654050" cy="368935"/>
            </a:xfrm>
            <a:custGeom>
              <a:avLst/>
              <a:gdLst/>
              <a:ahLst/>
              <a:cxnLst/>
              <a:rect l="l" t="t" r="r" b="b"/>
              <a:pathLst>
                <a:path w="654050" h="368935">
                  <a:moveTo>
                    <a:pt x="469391" y="0"/>
                  </a:moveTo>
                  <a:lnTo>
                    <a:pt x="469391" y="92049"/>
                  </a:lnTo>
                  <a:lnTo>
                    <a:pt x="0" y="92049"/>
                  </a:lnTo>
                  <a:lnTo>
                    <a:pt x="0" y="276468"/>
                  </a:lnTo>
                  <a:lnTo>
                    <a:pt x="469391" y="276468"/>
                  </a:lnTo>
                  <a:lnTo>
                    <a:pt x="469391" y="368670"/>
                  </a:lnTo>
                  <a:lnTo>
                    <a:pt x="653795" y="184251"/>
                  </a:lnTo>
                  <a:lnTo>
                    <a:pt x="469391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740" y="1260728"/>
              <a:ext cx="2091308" cy="21682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1" y="609277"/>
            <a:ext cx="552577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5" dirty="0"/>
              <a:t>Backtracking</a:t>
            </a:r>
            <a:r>
              <a:rPr spc="-125" dirty="0"/>
              <a:t> </a:t>
            </a:r>
            <a:r>
              <a:rPr dirty="0"/>
              <a:t>Example:2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9922" y="1708131"/>
            <a:ext cx="9719466" cy="40539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2196" y="663650"/>
            <a:ext cx="8094733" cy="569290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4394" y="667045"/>
            <a:ext cx="10343266" cy="551110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42FEE0-F140-4B34-9027-E982ABFF7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Backtracking search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1D6D58-7603-438C-B5C1-57EBE74133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Backtracking = DFS + </a:t>
            </a:r>
            <a:r>
              <a:rPr lang="en-US" b="1" dirty="0">
                <a:solidFill>
                  <a:srgbClr val="0070C0"/>
                </a:solidFill>
              </a:rPr>
              <a:t>variable-ordering</a:t>
            </a:r>
            <a:r>
              <a:rPr lang="en-US" dirty="0"/>
              <a:t> + </a:t>
            </a:r>
            <a:r>
              <a:rPr lang="en-US" b="1" dirty="0">
                <a:solidFill>
                  <a:srgbClr val="7030A0"/>
                </a:solidFill>
              </a:rPr>
              <a:t>fail-on-violation</a:t>
            </a:r>
          </a:p>
        </p:txBody>
      </p:sp>
    </p:spTree>
    <p:extLst>
      <p:ext uri="{BB962C8B-B14F-4D97-AF65-F5344CB8AC3E}">
        <p14:creationId xmlns:p14="http://schemas.microsoft.com/office/powerpoint/2010/main" val="4061206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745"/>
              </a:spcBef>
            </a:pPr>
            <a:r>
              <a:rPr spc="5" dirty="0"/>
              <a:t>Improving</a:t>
            </a:r>
            <a:r>
              <a:rPr spc="-170" dirty="0"/>
              <a:t> </a:t>
            </a:r>
            <a:r>
              <a:rPr dirty="0"/>
              <a:t>backtracking</a:t>
            </a:r>
            <a:r>
              <a:rPr spc="-90" dirty="0"/>
              <a:t> </a:t>
            </a:r>
            <a:r>
              <a:rPr spc="5" dirty="0"/>
              <a:t>efficiency</a:t>
            </a:r>
            <a:r>
              <a:rPr spc="-240" dirty="0"/>
              <a:t> </a:t>
            </a:r>
            <a:r>
              <a:rPr spc="-25" dirty="0"/>
              <a:t>(Variable </a:t>
            </a:r>
            <a:r>
              <a:rPr spc="-980" dirty="0"/>
              <a:t> </a:t>
            </a:r>
            <a:r>
              <a:rPr spc="15" dirty="0"/>
              <a:t>and</a:t>
            </a:r>
            <a:r>
              <a:rPr spc="-70" dirty="0"/>
              <a:t> </a:t>
            </a:r>
            <a:r>
              <a:rPr spc="-40" dirty="0"/>
              <a:t>Value</a:t>
            </a:r>
            <a:r>
              <a:rPr spc="-75" dirty="0"/>
              <a:t> </a:t>
            </a:r>
            <a:r>
              <a:rPr spc="5" dirty="0"/>
              <a:t>Ordering)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1" y="1984378"/>
            <a:ext cx="9547860" cy="31489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480"/>
              </a:spcBef>
            </a:pPr>
            <a:r>
              <a:rPr sz="2750" spc="5" dirty="0">
                <a:latin typeface="Calibri"/>
                <a:cs typeface="Calibri"/>
              </a:rPr>
              <a:t>By</a:t>
            </a:r>
            <a:r>
              <a:rPr sz="275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default,</a:t>
            </a:r>
            <a:r>
              <a:rPr sz="2750" spc="27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Backtrack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algorithm</a:t>
            </a:r>
            <a:r>
              <a:rPr sz="2750" spc="16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simply</a:t>
            </a:r>
            <a:r>
              <a:rPr sz="2750" spc="229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selects</a:t>
            </a:r>
            <a:r>
              <a:rPr sz="2750" spc="17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10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next</a:t>
            </a:r>
            <a:r>
              <a:rPr sz="2750" spc="18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unassigned </a:t>
            </a:r>
            <a:r>
              <a:rPr sz="2750" spc="-60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variable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in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order</a:t>
            </a:r>
            <a:r>
              <a:rPr sz="2750" spc="13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given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by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list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VARIABLES[csp].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750" b="1" spc="10" dirty="0">
                <a:solidFill>
                  <a:srgbClr val="006FC0"/>
                </a:solidFill>
                <a:latin typeface="Calibri"/>
                <a:cs typeface="Calibri"/>
              </a:rPr>
              <a:t>General-purpose</a:t>
            </a:r>
            <a:r>
              <a:rPr sz="2750" b="1" spc="1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spc="20" dirty="0">
                <a:solidFill>
                  <a:srgbClr val="006FC0"/>
                </a:solidFill>
                <a:latin typeface="Calibri"/>
                <a:cs typeface="Calibri"/>
              </a:rPr>
              <a:t>methods</a:t>
            </a:r>
            <a:r>
              <a:rPr sz="275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spc="-5" dirty="0">
                <a:solidFill>
                  <a:srgbClr val="006FC0"/>
                </a:solidFill>
                <a:latin typeface="Calibri"/>
                <a:cs typeface="Calibri"/>
              </a:rPr>
              <a:t>can</a:t>
            </a:r>
            <a:r>
              <a:rPr sz="2750" b="1" spc="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spc="25" dirty="0">
                <a:solidFill>
                  <a:srgbClr val="006FC0"/>
                </a:solidFill>
                <a:latin typeface="Calibri"/>
                <a:cs typeface="Calibri"/>
              </a:rPr>
              <a:t>give</a:t>
            </a:r>
            <a:r>
              <a:rPr sz="2750" b="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spc="25" dirty="0">
                <a:solidFill>
                  <a:srgbClr val="006FC0"/>
                </a:solidFill>
                <a:latin typeface="Calibri"/>
                <a:cs typeface="Calibri"/>
              </a:rPr>
              <a:t>huge</a:t>
            </a:r>
            <a:r>
              <a:rPr sz="275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spc="-5" dirty="0">
                <a:solidFill>
                  <a:srgbClr val="006FC0"/>
                </a:solidFill>
                <a:latin typeface="Calibri"/>
                <a:cs typeface="Calibri"/>
              </a:rPr>
              <a:t>gains</a:t>
            </a:r>
            <a:r>
              <a:rPr sz="2750" b="1" spc="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spc="5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2750" b="1" spc="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spc="20" dirty="0">
                <a:solidFill>
                  <a:srgbClr val="006FC0"/>
                </a:solidFill>
                <a:latin typeface="Calibri"/>
                <a:cs typeface="Calibri"/>
              </a:rPr>
              <a:t>speed:</a:t>
            </a:r>
            <a:endParaRPr sz="275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5" dirty="0">
                <a:latin typeface="Calibri"/>
                <a:cs typeface="Calibri"/>
              </a:rPr>
              <a:t>Which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variable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should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be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assigned</a:t>
            </a:r>
            <a:r>
              <a:rPr sz="2750" spc="24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next?</a:t>
            </a:r>
            <a:endParaRPr sz="275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-5" dirty="0">
                <a:latin typeface="Calibri"/>
                <a:cs typeface="Calibri"/>
              </a:rPr>
              <a:t>In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what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order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should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its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values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be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tried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?</a:t>
            </a:r>
            <a:endParaRPr sz="275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25" dirty="0">
                <a:latin typeface="Calibri"/>
                <a:cs typeface="Calibri"/>
              </a:rPr>
              <a:t>Can</a:t>
            </a:r>
            <a:r>
              <a:rPr sz="2750" spc="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we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detect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inevitable</a:t>
            </a:r>
            <a:r>
              <a:rPr sz="2750" spc="16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failure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early?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C5BE9-2B70-1C82-2B9D-C2DC29772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C2DD-C2B2-58CC-832E-BA089BC67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</a:t>
            </a:r>
          </a:p>
        </p:txBody>
      </p:sp>
    </p:spTree>
    <p:extLst>
      <p:ext uri="{BB962C8B-B14F-4D97-AF65-F5344CB8AC3E}">
        <p14:creationId xmlns:p14="http://schemas.microsoft.com/office/powerpoint/2010/main" val="347011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2426" y="1712466"/>
            <a:ext cx="8407024" cy="27146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571" y="120263"/>
            <a:ext cx="7973059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Minimum</a:t>
            </a:r>
            <a:r>
              <a:rPr spc="-110" dirty="0"/>
              <a:t> </a:t>
            </a:r>
            <a:r>
              <a:rPr spc="-5" dirty="0"/>
              <a:t>remaining</a:t>
            </a:r>
            <a:r>
              <a:rPr spc="-100" dirty="0"/>
              <a:t> </a:t>
            </a:r>
            <a:r>
              <a:rPr spc="-5" dirty="0"/>
              <a:t>values</a:t>
            </a:r>
            <a:r>
              <a:rPr spc="-65" dirty="0"/>
              <a:t> </a:t>
            </a:r>
            <a:r>
              <a:rPr spc="-10" dirty="0"/>
              <a:t>(MRV)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7571" y="852165"/>
            <a:ext cx="9901555" cy="114173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9235" algn="just">
              <a:lnSpc>
                <a:spcPct val="90300"/>
              </a:lnSpc>
              <a:spcBef>
                <a:spcPts val="43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This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intuitive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idea-choosing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variable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15" dirty="0">
                <a:latin typeface="Calibri"/>
                <a:cs typeface="Calibri"/>
              </a:rPr>
              <a:t>with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fewest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"legal"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values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is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called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minimum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remaining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values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20" dirty="0">
                <a:latin typeface="Calibri"/>
                <a:cs typeface="Calibri"/>
              </a:rPr>
              <a:t>(MRV)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heuristic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20" dirty="0">
                <a:latin typeface="Calibri"/>
                <a:cs typeface="Calibri"/>
              </a:rPr>
              <a:t>(also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known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most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constrained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variable)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3978" y="3530931"/>
            <a:ext cx="3086100" cy="23812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5925" y="4079555"/>
            <a:ext cx="11163935" cy="2689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35483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libri"/>
                <a:cs typeface="Calibri"/>
              </a:rPr>
              <a:t>WA=(2)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Red</a:t>
            </a:r>
            <a:endParaRPr sz="2000">
              <a:latin typeface="Calibri"/>
              <a:cs typeface="Calibri"/>
            </a:endParaRPr>
          </a:p>
          <a:p>
            <a:pPr marL="435483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NT(Remaining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values)=2(</a:t>
            </a:r>
            <a:r>
              <a:rPr sz="2000" dirty="0">
                <a:solidFill>
                  <a:srgbClr val="006FC0"/>
                </a:solidFill>
                <a:latin typeface="Calibri"/>
                <a:cs typeface="Calibri"/>
              </a:rPr>
              <a:t>Blue</a:t>
            </a:r>
            <a:r>
              <a:rPr sz="2000" spc="-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Green</a:t>
            </a:r>
            <a:r>
              <a:rPr sz="2000" spc="-1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435483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while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15" dirty="0">
                <a:latin typeface="Calibri"/>
                <a:cs typeface="Calibri"/>
              </a:rPr>
              <a:t>Q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and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NSW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have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3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remaining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values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so,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20" dirty="0">
                <a:latin typeface="Calibri"/>
                <a:cs typeface="Calibri"/>
              </a:rPr>
              <a:t>go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for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NT</a:t>
            </a:r>
            <a:endParaRPr sz="2000">
              <a:latin typeface="Calibri"/>
              <a:cs typeface="Calibri"/>
            </a:endParaRPr>
          </a:p>
          <a:p>
            <a:pPr marL="4354830">
              <a:lnSpc>
                <a:spcPct val="100000"/>
              </a:lnSpc>
              <a:spcBef>
                <a:spcPts val="5"/>
              </a:spcBef>
            </a:pPr>
            <a:r>
              <a:rPr sz="2000" spc="-25" dirty="0">
                <a:latin typeface="Calibri"/>
                <a:cs typeface="Calibri"/>
              </a:rPr>
              <a:t>S</a:t>
            </a:r>
            <a:r>
              <a:rPr sz="2000" spc="3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(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Calibri"/>
                <a:cs typeface="Calibri"/>
              </a:rPr>
              <a:t>R</a:t>
            </a:r>
            <a:r>
              <a:rPr sz="2000" spc="-30" dirty="0">
                <a:latin typeface="Calibri"/>
                <a:cs typeface="Calibri"/>
              </a:rPr>
              <a:t>e</a:t>
            </a:r>
            <a:r>
              <a:rPr sz="2000" spc="45" dirty="0">
                <a:latin typeface="Calibri"/>
                <a:cs typeface="Calibri"/>
              </a:rPr>
              <a:t>m</a:t>
            </a:r>
            <a:r>
              <a:rPr sz="2000" spc="1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inin</a:t>
            </a:r>
            <a:r>
              <a:rPr sz="2000" spc="10" dirty="0">
                <a:latin typeface="Calibri"/>
                <a:cs typeface="Calibri"/>
              </a:rPr>
              <a:t>g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v</a:t>
            </a:r>
            <a:r>
              <a:rPr sz="2000" spc="1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l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spc="-30" dirty="0">
                <a:latin typeface="Calibri"/>
                <a:cs typeface="Calibri"/>
              </a:rPr>
              <a:t>e</a:t>
            </a:r>
            <a:r>
              <a:rPr sz="2000" spc="35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)</a:t>
            </a:r>
            <a:r>
              <a:rPr sz="2000" spc="10" dirty="0">
                <a:latin typeface="Calibri"/>
                <a:cs typeface="Calibri"/>
              </a:rPr>
              <a:t>=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Calibri"/>
                <a:cs typeface="Calibri"/>
              </a:rPr>
              <a:t>1</a:t>
            </a:r>
            <a:r>
              <a:rPr sz="2000" spc="15" dirty="0">
                <a:latin typeface="Calibri"/>
                <a:cs typeface="Calibri"/>
              </a:rPr>
              <a:t>(</a:t>
            </a:r>
            <a:r>
              <a:rPr sz="2000" spc="30" dirty="0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sz="2000" spc="-10" dirty="0">
                <a:solidFill>
                  <a:srgbClr val="006FC0"/>
                </a:solidFill>
                <a:latin typeface="Calibri"/>
                <a:cs typeface="Calibri"/>
              </a:rPr>
              <a:t>lu</a:t>
            </a:r>
            <a:r>
              <a:rPr sz="2000" spc="-25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99100"/>
              </a:lnSpc>
              <a:spcBef>
                <a:spcPts val="5"/>
              </a:spcBef>
            </a:pPr>
            <a:r>
              <a:rPr sz="1800" spc="-5" dirty="0">
                <a:solidFill>
                  <a:srgbClr val="444444"/>
                </a:solidFill>
                <a:latin typeface="Arial MT"/>
                <a:cs typeface="Arial MT"/>
              </a:rPr>
              <a:t>after</a:t>
            </a:r>
            <a:r>
              <a:rPr sz="1800" spc="20" dirty="0">
                <a:solidFill>
                  <a:srgbClr val="444444"/>
                </a:solidFill>
                <a:latin typeface="Arial MT"/>
                <a:cs typeface="Arial MT"/>
              </a:rPr>
              <a:t> the</a:t>
            </a:r>
            <a:r>
              <a:rPr sz="1800" spc="-7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5" dirty="0">
                <a:solidFill>
                  <a:srgbClr val="444444"/>
                </a:solidFill>
                <a:latin typeface="Arial MT"/>
                <a:cs typeface="Arial MT"/>
              </a:rPr>
              <a:t>assignments</a:t>
            </a:r>
            <a:r>
              <a:rPr sz="1800" spc="-1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44444"/>
                </a:solidFill>
                <a:latin typeface="Arial MT"/>
                <a:cs typeface="Arial MT"/>
              </a:rPr>
              <a:t>for</a:t>
            </a:r>
            <a:r>
              <a:rPr sz="1800" spc="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-30" dirty="0">
                <a:solidFill>
                  <a:srgbClr val="444444"/>
                </a:solidFill>
                <a:latin typeface="Arial MT"/>
                <a:cs typeface="Arial MT"/>
              </a:rPr>
              <a:t>WA</a:t>
            </a:r>
            <a:r>
              <a:rPr sz="1800" spc="-1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44444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red</a:t>
            </a:r>
            <a:r>
              <a:rPr sz="1800" spc="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5" dirty="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sz="1800" spc="-7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444444"/>
                </a:solidFill>
                <a:latin typeface="Arial MT"/>
                <a:cs typeface="Arial MT"/>
              </a:rPr>
              <a:t>NT</a:t>
            </a:r>
            <a:r>
              <a:rPr sz="1800" spc="5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44444"/>
                </a:solidFill>
                <a:latin typeface="Arial MT"/>
                <a:cs typeface="Arial MT"/>
              </a:rPr>
              <a:t>=</a:t>
            </a:r>
            <a:r>
              <a:rPr sz="1800" spc="-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5" dirty="0">
                <a:solidFill>
                  <a:srgbClr val="00AF50"/>
                </a:solidFill>
                <a:latin typeface="Arial MT"/>
                <a:cs typeface="Arial MT"/>
              </a:rPr>
              <a:t>green</a:t>
            </a:r>
            <a:r>
              <a:rPr sz="1800" spc="5" dirty="0">
                <a:solidFill>
                  <a:srgbClr val="444444"/>
                </a:solidFill>
                <a:latin typeface="Arial MT"/>
                <a:cs typeface="Arial MT"/>
              </a:rPr>
              <a:t>,</a:t>
            </a:r>
            <a:r>
              <a:rPr sz="18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5" dirty="0">
                <a:solidFill>
                  <a:srgbClr val="444444"/>
                </a:solidFill>
                <a:latin typeface="Arial MT"/>
                <a:cs typeface="Arial MT"/>
              </a:rPr>
              <a:t>there</a:t>
            </a:r>
            <a:r>
              <a:rPr sz="1800" spc="-8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444444"/>
                </a:solidFill>
                <a:latin typeface="Arial MT"/>
                <a:cs typeface="Arial MT"/>
              </a:rPr>
              <a:t>is</a:t>
            </a:r>
            <a:r>
              <a:rPr sz="1800" spc="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15" dirty="0">
                <a:solidFill>
                  <a:srgbClr val="444444"/>
                </a:solidFill>
                <a:latin typeface="Arial MT"/>
                <a:cs typeface="Arial MT"/>
              </a:rPr>
              <a:t>only</a:t>
            </a:r>
            <a:r>
              <a:rPr sz="1800" spc="-5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5" dirty="0">
                <a:solidFill>
                  <a:srgbClr val="444444"/>
                </a:solidFill>
                <a:latin typeface="Arial MT"/>
                <a:cs typeface="Arial MT"/>
              </a:rPr>
              <a:t>one</a:t>
            </a:r>
            <a:r>
              <a:rPr sz="180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444444"/>
                </a:solidFill>
                <a:latin typeface="Arial MT"/>
                <a:cs typeface="Arial MT"/>
              </a:rPr>
              <a:t>possible</a:t>
            </a:r>
            <a:r>
              <a:rPr sz="1800" spc="-15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44444"/>
                </a:solidFill>
                <a:latin typeface="Arial MT"/>
                <a:cs typeface="Arial MT"/>
              </a:rPr>
              <a:t>value for</a:t>
            </a:r>
            <a:r>
              <a:rPr sz="1800" spc="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-30" dirty="0">
                <a:solidFill>
                  <a:srgbClr val="444444"/>
                </a:solidFill>
                <a:latin typeface="Arial MT"/>
                <a:cs typeface="Arial MT"/>
              </a:rPr>
              <a:t>SA,</a:t>
            </a:r>
            <a:r>
              <a:rPr sz="1800" spc="4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44444"/>
                </a:solidFill>
                <a:latin typeface="Arial MT"/>
                <a:cs typeface="Arial MT"/>
              </a:rPr>
              <a:t>so</a:t>
            </a:r>
            <a:r>
              <a:rPr sz="1800" spc="-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444444"/>
                </a:solidFill>
                <a:latin typeface="Arial MT"/>
                <a:cs typeface="Arial MT"/>
              </a:rPr>
              <a:t>it</a:t>
            </a:r>
            <a:r>
              <a:rPr sz="1800" spc="4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444444"/>
                </a:solidFill>
                <a:latin typeface="Arial MT"/>
                <a:cs typeface="Arial MT"/>
              </a:rPr>
              <a:t>makes</a:t>
            </a:r>
            <a:r>
              <a:rPr sz="1800" spc="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44444"/>
                </a:solidFill>
                <a:latin typeface="Arial MT"/>
                <a:cs typeface="Arial MT"/>
              </a:rPr>
              <a:t>sense </a:t>
            </a:r>
            <a:r>
              <a:rPr sz="1800" spc="-484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444444"/>
                </a:solidFill>
                <a:latin typeface="Arial MT"/>
                <a:cs typeface="Arial MT"/>
              </a:rPr>
              <a:t>to </a:t>
            </a:r>
            <a:r>
              <a:rPr sz="1800" spc="-5" dirty="0">
                <a:solidFill>
                  <a:srgbClr val="444444"/>
                </a:solidFill>
                <a:latin typeface="Arial MT"/>
                <a:cs typeface="Arial MT"/>
              </a:rPr>
              <a:t>assign </a:t>
            </a:r>
            <a:r>
              <a:rPr sz="1800" b="1" spc="-5" dirty="0">
                <a:solidFill>
                  <a:srgbClr val="444444"/>
                </a:solidFill>
                <a:latin typeface="Arial"/>
                <a:cs typeface="Arial"/>
              </a:rPr>
              <a:t>SA </a:t>
            </a:r>
            <a:r>
              <a:rPr sz="1800" dirty="0">
                <a:solidFill>
                  <a:srgbClr val="444444"/>
                </a:solidFill>
                <a:latin typeface="Arial MT"/>
                <a:cs typeface="Arial MT"/>
              </a:rPr>
              <a:t>= </a:t>
            </a:r>
            <a:r>
              <a:rPr sz="1800" spc="30" dirty="0">
                <a:solidFill>
                  <a:srgbClr val="4471C4"/>
                </a:solidFill>
                <a:latin typeface="Arial MT"/>
                <a:cs typeface="Arial MT"/>
              </a:rPr>
              <a:t>blue </a:t>
            </a:r>
            <a:r>
              <a:rPr sz="1800" spc="-20" dirty="0">
                <a:solidFill>
                  <a:srgbClr val="444444"/>
                </a:solidFill>
                <a:latin typeface="Arial MT"/>
                <a:cs typeface="Arial MT"/>
              </a:rPr>
              <a:t>next </a:t>
            </a:r>
            <a:r>
              <a:rPr sz="1800" dirty="0">
                <a:solidFill>
                  <a:srgbClr val="444444"/>
                </a:solidFill>
                <a:latin typeface="Arial MT"/>
                <a:cs typeface="Arial MT"/>
              </a:rPr>
              <a:t>rather </a:t>
            </a:r>
            <a:r>
              <a:rPr sz="1800" spc="10" dirty="0">
                <a:solidFill>
                  <a:srgbClr val="444444"/>
                </a:solidFill>
                <a:latin typeface="Arial MT"/>
                <a:cs typeface="Arial MT"/>
              </a:rPr>
              <a:t>than </a:t>
            </a:r>
            <a:r>
              <a:rPr sz="1800" spc="5" dirty="0">
                <a:solidFill>
                  <a:srgbClr val="444444"/>
                </a:solidFill>
                <a:latin typeface="Arial MT"/>
                <a:cs typeface="Arial MT"/>
              </a:rPr>
              <a:t>assigning </a:t>
            </a:r>
            <a:r>
              <a:rPr sz="1800" spc="10" dirty="0">
                <a:solidFill>
                  <a:srgbClr val="444444"/>
                </a:solidFill>
                <a:latin typeface="Arial MT"/>
                <a:cs typeface="Arial MT"/>
              </a:rPr>
              <a:t>Q, </a:t>
            </a:r>
            <a:r>
              <a:rPr sz="1800" spc="-5" dirty="0">
                <a:solidFill>
                  <a:srgbClr val="444444"/>
                </a:solidFill>
                <a:latin typeface="Arial MT"/>
                <a:cs typeface="Arial MT"/>
              </a:rPr>
              <a:t>after </a:t>
            </a:r>
            <a:r>
              <a:rPr sz="1800" dirty="0">
                <a:solidFill>
                  <a:srgbClr val="444444"/>
                </a:solidFill>
                <a:latin typeface="Arial MT"/>
                <a:cs typeface="Arial MT"/>
              </a:rPr>
              <a:t>SA </a:t>
            </a:r>
            <a:r>
              <a:rPr sz="1800" spc="-15" dirty="0">
                <a:solidFill>
                  <a:srgbClr val="444444"/>
                </a:solidFill>
                <a:latin typeface="Arial MT"/>
                <a:cs typeface="Arial MT"/>
              </a:rPr>
              <a:t>is </a:t>
            </a:r>
            <a:r>
              <a:rPr sz="1800" spc="5" dirty="0">
                <a:solidFill>
                  <a:srgbClr val="444444"/>
                </a:solidFill>
                <a:latin typeface="Arial MT"/>
                <a:cs typeface="Arial MT"/>
              </a:rPr>
              <a:t>assigned, </a:t>
            </a:r>
            <a:r>
              <a:rPr sz="1800" spc="20" dirty="0">
                <a:solidFill>
                  <a:srgbClr val="444444"/>
                </a:solidFill>
                <a:latin typeface="Arial MT"/>
                <a:cs typeface="Arial MT"/>
              </a:rPr>
              <a:t>the </a:t>
            </a:r>
            <a:r>
              <a:rPr sz="1800" spc="-10" dirty="0">
                <a:solidFill>
                  <a:srgbClr val="444444"/>
                </a:solidFill>
                <a:latin typeface="Arial MT"/>
                <a:cs typeface="Arial MT"/>
              </a:rPr>
              <a:t>choices </a:t>
            </a:r>
            <a:r>
              <a:rPr sz="1800" spc="-5" dirty="0">
                <a:solidFill>
                  <a:srgbClr val="444444"/>
                </a:solidFill>
                <a:latin typeface="Arial MT"/>
                <a:cs typeface="Arial MT"/>
              </a:rPr>
              <a:t>for </a:t>
            </a:r>
            <a:r>
              <a:rPr sz="1800" spc="10" dirty="0">
                <a:solidFill>
                  <a:srgbClr val="444444"/>
                </a:solidFill>
                <a:latin typeface="Arial MT"/>
                <a:cs typeface="Arial MT"/>
              </a:rPr>
              <a:t>Q, </a:t>
            </a:r>
            <a:r>
              <a:rPr sz="1800" spc="-15" dirty="0">
                <a:solidFill>
                  <a:srgbClr val="444444"/>
                </a:solidFill>
                <a:latin typeface="Arial MT"/>
                <a:cs typeface="Arial MT"/>
              </a:rPr>
              <a:t>NS </a:t>
            </a:r>
            <a:r>
              <a:rPr sz="1800" spc="-30" dirty="0">
                <a:solidFill>
                  <a:srgbClr val="444444"/>
                </a:solidFill>
                <a:latin typeface="Arial MT"/>
                <a:cs typeface="Arial MT"/>
              </a:rPr>
              <a:t>W, </a:t>
            </a:r>
            <a:r>
              <a:rPr sz="1800" spc="5" dirty="0">
                <a:solidFill>
                  <a:srgbClr val="444444"/>
                </a:solidFill>
                <a:latin typeface="Arial MT"/>
                <a:cs typeface="Arial MT"/>
              </a:rPr>
              <a:t>and </a:t>
            </a:r>
            <a:r>
              <a:rPr sz="1800" dirty="0">
                <a:solidFill>
                  <a:srgbClr val="444444"/>
                </a:solidFill>
                <a:latin typeface="Arial MT"/>
                <a:cs typeface="Arial MT"/>
              </a:rPr>
              <a:t>V </a:t>
            </a:r>
            <a:r>
              <a:rPr sz="1800" spc="-10" dirty="0">
                <a:solidFill>
                  <a:srgbClr val="444444"/>
                </a:solidFill>
                <a:latin typeface="Arial MT"/>
                <a:cs typeface="Arial MT"/>
              </a:rPr>
              <a:t>are </a:t>
            </a:r>
            <a:r>
              <a:rPr sz="1800" spc="5" dirty="0">
                <a:solidFill>
                  <a:srgbClr val="444444"/>
                </a:solidFill>
                <a:latin typeface="Arial MT"/>
                <a:cs typeface="Arial MT"/>
              </a:rPr>
              <a:t>all </a:t>
            </a:r>
            <a:r>
              <a:rPr sz="1800" spc="-49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44444"/>
                </a:solidFill>
                <a:latin typeface="Arial MT"/>
                <a:cs typeface="Arial MT"/>
              </a:rPr>
              <a:t>forced.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9508" y="2585975"/>
            <a:ext cx="8229600" cy="1523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3899" y="307334"/>
            <a:ext cx="6342380" cy="13017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745"/>
              </a:spcBef>
            </a:pPr>
            <a:r>
              <a:rPr spc="50" dirty="0"/>
              <a:t>M</a:t>
            </a:r>
            <a:r>
              <a:rPr spc="30" dirty="0"/>
              <a:t>o</a:t>
            </a:r>
            <a:r>
              <a:rPr spc="-30" dirty="0"/>
              <a:t>s</a:t>
            </a:r>
            <a:r>
              <a:rPr spc="-20" dirty="0"/>
              <a:t>t</a:t>
            </a:r>
            <a:r>
              <a:rPr dirty="0"/>
              <a:t>-</a:t>
            </a:r>
            <a:r>
              <a:rPr spc="-5" dirty="0"/>
              <a:t>C</a:t>
            </a:r>
            <a:r>
              <a:rPr spc="30" dirty="0"/>
              <a:t>on</a:t>
            </a:r>
            <a:r>
              <a:rPr spc="-30" dirty="0"/>
              <a:t>s</a:t>
            </a:r>
            <a:r>
              <a:rPr spc="-25" dirty="0"/>
              <a:t>t</a:t>
            </a:r>
            <a:r>
              <a:rPr spc="-65" dirty="0"/>
              <a:t>r</a:t>
            </a:r>
            <a:r>
              <a:rPr spc="10" dirty="0"/>
              <a:t>a</a:t>
            </a:r>
            <a:r>
              <a:rPr spc="-45" dirty="0"/>
              <a:t>i</a:t>
            </a:r>
            <a:r>
              <a:rPr spc="30" dirty="0"/>
              <a:t>n</a:t>
            </a:r>
            <a:r>
              <a:rPr spc="-30" dirty="0"/>
              <a:t>i</a:t>
            </a:r>
            <a:r>
              <a:rPr spc="30" dirty="0"/>
              <a:t>n</a:t>
            </a:r>
            <a:r>
              <a:rPr spc="10" dirty="0"/>
              <a:t>g</a:t>
            </a:r>
            <a:r>
              <a:rPr b="0" spc="-350" dirty="0">
                <a:latin typeface="Times New Roman"/>
                <a:cs typeface="Times New Roman"/>
              </a:rPr>
              <a:t> </a:t>
            </a:r>
            <a:r>
              <a:rPr spc="-204" dirty="0"/>
              <a:t>V</a:t>
            </a:r>
            <a:r>
              <a:rPr spc="10" dirty="0"/>
              <a:t>ar</a:t>
            </a:r>
            <a:r>
              <a:rPr spc="-40" dirty="0"/>
              <a:t>i</a:t>
            </a:r>
            <a:r>
              <a:rPr spc="15" dirty="0"/>
              <a:t>ab</a:t>
            </a:r>
            <a:r>
              <a:rPr spc="-20" dirty="0"/>
              <a:t>l</a:t>
            </a:r>
            <a:r>
              <a:rPr spc="10" dirty="0"/>
              <a:t>e 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dirty="0"/>
              <a:t>(Degree</a:t>
            </a:r>
            <a:r>
              <a:rPr spc="-85" dirty="0"/>
              <a:t> </a:t>
            </a:r>
            <a:r>
              <a:rPr dirty="0"/>
              <a:t>Heuristics)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7571" y="1794252"/>
            <a:ext cx="9173845" cy="84010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9235">
              <a:lnSpc>
                <a:spcPts val="3080"/>
              </a:lnSpc>
              <a:spcBef>
                <a:spcPts val="41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15" dirty="0">
                <a:latin typeface="Calibri"/>
                <a:cs typeface="Calibri"/>
              </a:rPr>
              <a:t>Most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constraining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variable:</a:t>
            </a:r>
            <a:r>
              <a:rPr sz="2750" spc="204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choose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variable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with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most </a:t>
            </a:r>
            <a:r>
              <a:rPr sz="2750" spc="-61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constraints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30" dirty="0">
                <a:latin typeface="Calibri"/>
                <a:cs typeface="Calibri"/>
              </a:rPr>
              <a:t>on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remaining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variables</a:t>
            </a:r>
            <a:endParaRPr sz="27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7244" y="3986543"/>
            <a:ext cx="3086100" cy="23812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23082" y="4426900"/>
            <a:ext cx="5565140" cy="1250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libri"/>
                <a:cs typeface="Calibri"/>
              </a:rPr>
              <a:t>SA=5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(Most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Constraints)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BLUE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85" dirty="0">
                <a:latin typeface="Calibri"/>
                <a:cs typeface="Calibri"/>
              </a:rPr>
              <a:t>NT,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40" dirty="0">
                <a:latin typeface="Calibri"/>
                <a:cs typeface="Calibri"/>
              </a:rPr>
              <a:t>Q,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NSW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15" dirty="0">
                <a:latin typeface="Calibri"/>
                <a:cs typeface="Calibri"/>
              </a:rPr>
              <a:t>3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TIE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b/w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break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choosing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the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alibri"/>
                <a:cs typeface="Calibri"/>
              </a:rPr>
              <a:t>first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choice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either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60" dirty="0">
                <a:latin typeface="Calibri"/>
                <a:cs typeface="Calibri"/>
              </a:rPr>
              <a:t>NSW.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So,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choose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40" dirty="0">
                <a:latin typeface="Calibri"/>
                <a:cs typeface="Calibri"/>
              </a:rPr>
              <a:t>Q,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NSW </a:t>
            </a:r>
            <a:r>
              <a:rPr sz="2000" spc="15" dirty="0">
                <a:latin typeface="Calibri"/>
                <a:cs typeface="Calibri"/>
              </a:rPr>
              <a:t>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lang="en-US" sz="2000" spc="-60" dirty="0" smtClean="0">
                <a:latin typeface="Calibri"/>
                <a:cs typeface="Calibri"/>
              </a:rPr>
              <a:t>Q</a:t>
            </a:r>
            <a:r>
              <a:rPr sz="2000" spc="-60" dirty="0" smtClean="0">
                <a:latin typeface="Calibri"/>
                <a:cs typeface="Calibri"/>
              </a:rPr>
              <a:t>,</a:t>
            </a:r>
            <a:r>
              <a:rPr sz="2000" spc="15" dirty="0" smtClean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Then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15" dirty="0">
                <a:latin typeface="Calibri"/>
                <a:cs typeface="Calibri"/>
              </a:rPr>
              <a:t>Q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and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NT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22516-9B74-CAA3-F852-059E65DC0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55BB-545A-390C-063E-0B61C9847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</a:t>
            </a:r>
          </a:p>
        </p:txBody>
      </p:sp>
    </p:spTree>
    <p:extLst>
      <p:ext uri="{BB962C8B-B14F-4D97-AF65-F5344CB8AC3E}">
        <p14:creationId xmlns:p14="http://schemas.microsoft.com/office/powerpoint/2010/main" val="3585788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Filtering: Forward Checking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Filtering: Keep track of domains for unassigned variables and cross off bad options</a:t>
            </a:r>
          </a:p>
          <a:p>
            <a:endParaRPr lang="en-US"/>
          </a:p>
          <a:p>
            <a:pPr lvl="2"/>
            <a:r>
              <a:rPr lang="en-US"/>
              <a:t>Forward </a:t>
            </a:r>
            <a:r>
              <a:rPr lang="en-US" dirty="0"/>
              <a:t>checking: Cross off values that violate a constraint when added to the existing assignment</a:t>
            </a:r>
          </a:p>
        </p:txBody>
      </p:sp>
    </p:spTree>
    <p:extLst>
      <p:ext uri="{BB962C8B-B14F-4D97-AF65-F5344CB8AC3E}">
        <p14:creationId xmlns:p14="http://schemas.microsoft.com/office/powerpoint/2010/main" val="3152061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Filtering: Forward Checking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009403" y="1306823"/>
            <a:ext cx="10173191" cy="2585720"/>
          </a:xfrm>
        </p:spPr>
        <p:txBody>
          <a:bodyPr>
            <a:normAutofit/>
          </a:bodyPr>
          <a:lstStyle/>
          <a:p>
            <a:r>
              <a:rPr lang="en-US" sz="2000" dirty="0"/>
              <a:t>Filtering: Keep track of domains for unassigned variables and cross off bad options</a:t>
            </a:r>
          </a:p>
          <a:p>
            <a:r>
              <a:rPr lang="en-US" sz="2000" dirty="0"/>
              <a:t>Forward checking: Cross off values that violate a constraint when added to the existing assignment</a:t>
            </a:r>
          </a:p>
        </p:txBody>
      </p:sp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9502" b="67024"/>
          <a:stretch>
            <a:fillRect/>
          </a:stretch>
        </p:blipFill>
        <p:spPr bwMode="auto">
          <a:xfrm>
            <a:off x="1828800" y="2438400"/>
            <a:ext cx="7543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5036" r="14557"/>
          <a:stretch>
            <a:fillRect/>
          </a:stretch>
        </p:blipFill>
        <p:spPr bwMode="auto">
          <a:xfrm>
            <a:off x="2514601" y="3657601"/>
            <a:ext cx="7122459" cy="240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9" name="Text Box 23"/>
          <p:cNvSpPr txBox="1">
            <a:spLocks noChangeArrowheads="1"/>
          </p:cNvSpPr>
          <p:nvPr/>
        </p:nvSpPr>
        <p:spPr bwMode="auto">
          <a:xfrm>
            <a:off x="2729755" y="2756649"/>
            <a:ext cx="5921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WA</a:t>
            </a:r>
          </a:p>
        </p:txBody>
      </p:sp>
      <p:sp>
        <p:nvSpPr>
          <p:cNvPr id="26640" name="Text Box 24"/>
          <p:cNvSpPr txBox="1">
            <a:spLocks noChangeArrowheads="1"/>
          </p:cNvSpPr>
          <p:nvPr/>
        </p:nvSpPr>
        <p:spPr bwMode="auto">
          <a:xfrm>
            <a:off x="3177990" y="2891120"/>
            <a:ext cx="4524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SA</a:t>
            </a:r>
          </a:p>
        </p:txBody>
      </p:sp>
      <p:sp>
        <p:nvSpPr>
          <p:cNvPr id="26641" name="Text Box 25"/>
          <p:cNvSpPr txBox="1">
            <a:spLocks noChangeArrowheads="1"/>
          </p:cNvSpPr>
          <p:nvPr/>
        </p:nvSpPr>
        <p:spPr bwMode="auto">
          <a:xfrm>
            <a:off x="3119721" y="2643469"/>
            <a:ext cx="4524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NT</a:t>
            </a:r>
          </a:p>
        </p:txBody>
      </p:sp>
      <p:sp>
        <p:nvSpPr>
          <p:cNvPr id="26642" name="Text Box 26"/>
          <p:cNvSpPr txBox="1">
            <a:spLocks noChangeArrowheads="1"/>
          </p:cNvSpPr>
          <p:nvPr/>
        </p:nvSpPr>
        <p:spPr bwMode="auto">
          <a:xfrm>
            <a:off x="3491755" y="2680449"/>
            <a:ext cx="4524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Q</a:t>
            </a:r>
          </a:p>
        </p:txBody>
      </p:sp>
      <p:sp>
        <p:nvSpPr>
          <p:cNvPr id="26643" name="Text Box 27"/>
          <p:cNvSpPr txBox="1">
            <a:spLocks noChangeArrowheads="1"/>
          </p:cNvSpPr>
          <p:nvPr/>
        </p:nvSpPr>
        <p:spPr bwMode="auto">
          <a:xfrm>
            <a:off x="3496235" y="2985252"/>
            <a:ext cx="6223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dirty="0">
                <a:latin typeface="Calibri" pitchFamily="34" charset="0"/>
              </a:rPr>
              <a:t>NSW</a:t>
            </a:r>
          </a:p>
        </p:txBody>
      </p:sp>
      <p:sp>
        <p:nvSpPr>
          <p:cNvPr id="26644" name="Text Box 28"/>
          <p:cNvSpPr txBox="1">
            <a:spLocks noChangeArrowheads="1"/>
          </p:cNvSpPr>
          <p:nvPr/>
        </p:nvSpPr>
        <p:spPr bwMode="auto">
          <a:xfrm>
            <a:off x="3523131" y="3177989"/>
            <a:ext cx="622300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V</a:t>
            </a:r>
          </a:p>
        </p:txBody>
      </p:sp>
      <p:sp>
        <p:nvSpPr>
          <p:cNvPr id="925725" name="Rectangle 29"/>
          <p:cNvSpPr>
            <a:spLocks noChangeArrowheads="1"/>
          </p:cNvSpPr>
          <p:nvPr/>
        </p:nvSpPr>
        <p:spPr bwMode="auto">
          <a:xfrm>
            <a:off x="2286000" y="4648200"/>
            <a:ext cx="8382000" cy="1447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6" name="Rectangle 30"/>
          <p:cNvSpPr>
            <a:spLocks noChangeArrowheads="1"/>
          </p:cNvSpPr>
          <p:nvPr/>
        </p:nvSpPr>
        <p:spPr bwMode="auto">
          <a:xfrm>
            <a:off x="2286000" y="5105400"/>
            <a:ext cx="83820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7" name="Rectangle 31"/>
          <p:cNvSpPr>
            <a:spLocks noChangeArrowheads="1"/>
          </p:cNvSpPr>
          <p:nvPr/>
        </p:nvSpPr>
        <p:spPr bwMode="auto">
          <a:xfrm>
            <a:off x="2286000" y="5629835"/>
            <a:ext cx="8382000" cy="533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8" name="Rectangle 32"/>
          <p:cNvSpPr>
            <a:spLocks noChangeArrowheads="1"/>
          </p:cNvSpPr>
          <p:nvPr/>
        </p:nvSpPr>
        <p:spPr bwMode="auto">
          <a:xfrm>
            <a:off x="3962400" y="2286000"/>
            <a:ext cx="5486400" cy="1295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9" name="Rectangle 33"/>
          <p:cNvSpPr>
            <a:spLocks noChangeArrowheads="1"/>
          </p:cNvSpPr>
          <p:nvPr/>
        </p:nvSpPr>
        <p:spPr bwMode="auto">
          <a:xfrm>
            <a:off x="5715000" y="2286000"/>
            <a:ext cx="3886200" cy="1295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30" name="Rectangle 34"/>
          <p:cNvSpPr>
            <a:spLocks noChangeArrowheads="1"/>
          </p:cNvSpPr>
          <p:nvPr/>
        </p:nvSpPr>
        <p:spPr bwMode="auto">
          <a:xfrm>
            <a:off x="7485531" y="2286000"/>
            <a:ext cx="2286000" cy="1295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9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725" grpId="0" animBg="1"/>
      <p:bldP spid="925726" grpId="0" animBg="1"/>
      <p:bldP spid="925727" grpId="0" animBg="1"/>
      <p:bldP spid="925728" grpId="0" animBg="1"/>
      <p:bldP spid="925729" grpId="0" animBg="1"/>
      <p:bldP spid="9257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1" y="609277"/>
            <a:ext cx="417957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dirty="0"/>
              <a:t>Forward</a:t>
            </a:r>
            <a:r>
              <a:rPr spc="-60" dirty="0"/>
              <a:t> </a:t>
            </a:r>
            <a:r>
              <a:rPr spc="10" dirty="0"/>
              <a:t>Checking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219200"/>
            <a:ext cx="10134600" cy="540756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1" y="609277"/>
            <a:ext cx="671449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dirty="0"/>
              <a:t>Forward</a:t>
            </a:r>
            <a:r>
              <a:rPr spc="-25" dirty="0"/>
              <a:t> </a:t>
            </a:r>
            <a:r>
              <a:rPr spc="10" dirty="0"/>
              <a:t>Checking</a:t>
            </a:r>
            <a:r>
              <a:rPr spc="-120" dirty="0"/>
              <a:t> </a:t>
            </a:r>
            <a:r>
              <a:rPr dirty="0"/>
              <a:t>Example:2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447800"/>
            <a:ext cx="9906000" cy="501428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1" y="609277"/>
            <a:ext cx="714692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0" spc="15" dirty="0">
                <a:latin typeface="Calibri Light"/>
                <a:cs typeface="Calibri Light"/>
              </a:rPr>
              <a:t>F</a:t>
            </a:r>
            <a:r>
              <a:rPr b="0" spc="10" dirty="0">
                <a:latin typeface="Calibri Light"/>
                <a:cs typeface="Calibri Light"/>
              </a:rPr>
              <a:t>o</a:t>
            </a:r>
            <a:r>
              <a:rPr b="0" spc="-15" dirty="0">
                <a:latin typeface="Calibri Light"/>
                <a:cs typeface="Calibri Light"/>
              </a:rPr>
              <a:t>r</a:t>
            </a:r>
            <a:r>
              <a:rPr b="0" spc="-80" dirty="0">
                <a:latin typeface="Calibri Light"/>
                <a:cs typeface="Calibri Light"/>
              </a:rPr>
              <a:t>w</a:t>
            </a:r>
            <a:r>
              <a:rPr b="0" spc="-50" dirty="0">
                <a:latin typeface="Calibri Light"/>
                <a:cs typeface="Calibri Light"/>
              </a:rPr>
              <a:t>a</a:t>
            </a:r>
            <a:r>
              <a:rPr b="0" spc="-95" dirty="0">
                <a:latin typeface="Calibri Light"/>
                <a:cs typeface="Calibri Light"/>
              </a:rPr>
              <a:t>r</a:t>
            </a:r>
            <a:r>
              <a:rPr b="0" spc="15" dirty="0">
                <a:latin typeface="Calibri Light"/>
                <a:cs typeface="Calibri Light"/>
              </a:rPr>
              <a:t>d</a:t>
            </a:r>
            <a:r>
              <a:rPr b="0" spc="-300" dirty="0">
                <a:latin typeface="Calibri Light"/>
                <a:cs typeface="Calibri Light"/>
              </a:rPr>
              <a:t> </a:t>
            </a:r>
            <a:r>
              <a:rPr b="0" spc="40" dirty="0">
                <a:latin typeface="Calibri Light"/>
                <a:cs typeface="Calibri Light"/>
              </a:rPr>
              <a:t>C</a:t>
            </a:r>
            <a:r>
              <a:rPr b="0" spc="30" dirty="0">
                <a:latin typeface="Calibri Light"/>
                <a:cs typeface="Calibri Light"/>
              </a:rPr>
              <a:t>h</a:t>
            </a:r>
            <a:r>
              <a:rPr b="0" spc="10" dirty="0">
                <a:latin typeface="Calibri Light"/>
                <a:cs typeface="Calibri Light"/>
              </a:rPr>
              <a:t>e</a:t>
            </a:r>
            <a:r>
              <a:rPr b="0" spc="-10" dirty="0">
                <a:latin typeface="Calibri Light"/>
                <a:cs typeface="Calibri Light"/>
              </a:rPr>
              <a:t>c</a:t>
            </a:r>
            <a:r>
              <a:rPr b="0" spc="-65" dirty="0">
                <a:latin typeface="Calibri Light"/>
                <a:cs typeface="Calibri Light"/>
              </a:rPr>
              <a:t>k</a:t>
            </a:r>
            <a:r>
              <a:rPr b="0" spc="5" dirty="0">
                <a:latin typeface="Calibri Light"/>
                <a:cs typeface="Calibri Light"/>
              </a:rPr>
              <a:t>i</a:t>
            </a:r>
            <a:r>
              <a:rPr b="0" spc="-40" dirty="0">
                <a:latin typeface="Calibri Light"/>
                <a:cs typeface="Calibri Light"/>
              </a:rPr>
              <a:t>n</a:t>
            </a:r>
            <a:r>
              <a:rPr b="0" spc="15" dirty="0">
                <a:latin typeface="Calibri Light"/>
                <a:cs typeface="Calibri Light"/>
              </a:rPr>
              <a:t>g</a:t>
            </a:r>
            <a:r>
              <a:rPr b="0" spc="-300" dirty="0">
                <a:latin typeface="Calibri Light"/>
                <a:cs typeface="Calibri Light"/>
              </a:rPr>
              <a:t> </a:t>
            </a:r>
            <a:r>
              <a:rPr b="0" spc="15" dirty="0">
                <a:latin typeface="Calibri Light"/>
                <a:cs typeface="Calibri Light"/>
              </a:rPr>
              <a:t>E</a:t>
            </a:r>
            <a:r>
              <a:rPr b="0" spc="-35" dirty="0">
                <a:latin typeface="Calibri Light"/>
                <a:cs typeface="Calibri Light"/>
              </a:rPr>
              <a:t>x</a:t>
            </a:r>
            <a:r>
              <a:rPr b="0" spc="25" dirty="0">
                <a:latin typeface="Calibri Light"/>
                <a:cs typeface="Calibri Light"/>
              </a:rPr>
              <a:t>a</a:t>
            </a:r>
            <a:r>
              <a:rPr b="0" spc="-30" dirty="0">
                <a:latin typeface="Calibri Light"/>
                <a:cs typeface="Calibri Light"/>
              </a:rPr>
              <a:t>m</a:t>
            </a:r>
            <a:r>
              <a:rPr b="0" spc="-114" dirty="0">
                <a:latin typeface="Calibri Light"/>
                <a:cs typeface="Calibri Light"/>
              </a:rPr>
              <a:t>p</a:t>
            </a:r>
            <a:r>
              <a:rPr b="0" spc="5" dirty="0">
                <a:latin typeface="Calibri Light"/>
                <a:cs typeface="Calibri Light"/>
              </a:rPr>
              <a:t>l</a:t>
            </a:r>
            <a:r>
              <a:rPr b="0" dirty="0">
                <a:latin typeface="Calibri Light"/>
                <a:cs typeface="Calibri Light"/>
              </a:rPr>
              <a:t>e</a:t>
            </a:r>
            <a:r>
              <a:rPr b="0" spc="-35" dirty="0">
                <a:latin typeface="Calibri Light"/>
                <a:cs typeface="Calibri Light"/>
              </a:rPr>
              <a:t>:</a:t>
            </a:r>
            <a:r>
              <a:rPr b="0" spc="-60" dirty="0">
                <a:latin typeface="Calibri Light"/>
                <a:cs typeface="Calibri Light"/>
              </a:rPr>
              <a:t>2</a:t>
            </a:r>
            <a:r>
              <a:rPr b="0" spc="-70" dirty="0">
                <a:latin typeface="Calibri Light"/>
                <a:cs typeface="Calibri Light"/>
              </a:rPr>
              <a:t>…</a:t>
            </a:r>
            <a:r>
              <a:rPr b="0" spc="20" dirty="0">
                <a:latin typeface="Calibri Light"/>
                <a:cs typeface="Calibri Light"/>
              </a:rPr>
              <a:t>…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321" y="1951498"/>
            <a:ext cx="9950162" cy="443272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71" y="307334"/>
            <a:ext cx="10356856" cy="677108"/>
          </a:xfrm>
        </p:spPr>
        <p:txBody>
          <a:bodyPr/>
          <a:lstStyle/>
          <a:p>
            <a:r>
              <a:rPr lang="en-US" spc="15" dirty="0"/>
              <a:t>ARC</a:t>
            </a:r>
            <a:r>
              <a:rPr lang="en-US" spc="-195" dirty="0"/>
              <a:t> </a:t>
            </a:r>
            <a:r>
              <a:rPr lang="en-US" spc="5" dirty="0"/>
              <a:t>Consistency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004957"/>
            <a:ext cx="7089069" cy="51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6897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Consistency of A Single Arc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881628" y="1409495"/>
            <a:ext cx="10173191" cy="258572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An arc X </a:t>
            </a:r>
            <a:r>
              <a:rPr lang="en-US" dirty="0">
                <a:sym typeface="Symbol" pitchFamily="18" charset="2"/>
              </a:rPr>
              <a:t> </a:t>
            </a:r>
            <a:r>
              <a:rPr lang="en-US" dirty="0"/>
              <a:t>Y is consistent </a:t>
            </a:r>
            <a:r>
              <a:rPr lang="en-US" dirty="0" err="1"/>
              <a:t>iff</a:t>
            </a:r>
            <a:r>
              <a:rPr lang="en-US" dirty="0"/>
              <a:t> for every x in the tail there is some y in the head which could be assigned without violating a constraint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Forward checking: Enforcing consistency of arcs pointing to each new assignment</a:t>
            </a:r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 cstate="print"/>
          <a:srcRect l="32086" t="992" r="53169" b="49403"/>
          <a:stretch>
            <a:fillRect/>
          </a:stretch>
        </p:blipFill>
        <p:spPr bwMode="auto">
          <a:xfrm>
            <a:off x="1371600" y="2209800"/>
            <a:ext cx="1676400" cy="1532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7757" name="Freeform 13"/>
          <p:cNvSpPr>
            <a:spLocks/>
          </p:cNvSpPr>
          <p:nvPr/>
        </p:nvSpPr>
        <p:spPr bwMode="auto">
          <a:xfrm>
            <a:off x="4455459" y="3200400"/>
            <a:ext cx="2286000" cy="304800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927760" name="Freeform 16"/>
          <p:cNvSpPr>
            <a:spLocks/>
          </p:cNvSpPr>
          <p:nvPr/>
        </p:nvSpPr>
        <p:spPr bwMode="auto">
          <a:xfrm>
            <a:off x="4455459" y="3200400"/>
            <a:ext cx="1219200" cy="152400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2855259" y="4466178"/>
            <a:ext cx="4904558" cy="46166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 algn="ctr"/>
            <a:r>
              <a:rPr lang="en-US" sz="2400" i="1" dirty="0">
                <a:latin typeface="Calibri" pitchFamily="34" charset="0"/>
              </a:rPr>
              <a:t>Delete from the tail!</a:t>
            </a:r>
          </a:p>
        </p:txBody>
      </p:sp>
      <p:pic>
        <p:nvPicPr>
          <p:cNvPr id="28682" name="Picture 4"/>
          <p:cNvPicPr>
            <a:picLocks noChangeAspect="1" noChangeArrowheads="1"/>
          </p:cNvPicPr>
          <p:nvPr/>
        </p:nvPicPr>
        <p:blipFill>
          <a:blip r:embed="rId3" cstate="print"/>
          <a:srcRect l="240" t="44061" r="14766" b="29301"/>
          <a:stretch>
            <a:fillRect/>
          </a:stretch>
        </p:blipFill>
        <p:spPr bwMode="auto">
          <a:xfrm>
            <a:off x="4016188" y="2362200"/>
            <a:ext cx="6347012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3" name="Picture 4"/>
          <p:cNvPicPr>
            <a:picLocks noChangeAspect="1" noChangeArrowheads="1"/>
          </p:cNvPicPr>
          <p:nvPr/>
        </p:nvPicPr>
        <p:blipFill>
          <a:blip r:embed="rId3" cstate="print"/>
          <a:srcRect l="2042" t="89345" r="86736" b="2664"/>
          <a:stretch>
            <a:fillRect/>
          </a:stretch>
        </p:blipFill>
        <p:spPr bwMode="auto">
          <a:xfrm>
            <a:off x="4150659" y="2819400"/>
            <a:ext cx="838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Text Box 23"/>
          <p:cNvSpPr txBox="1">
            <a:spLocks noChangeArrowheads="1"/>
          </p:cNvSpPr>
          <p:nvPr/>
        </p:nvSpPr>
        <p:spPr bwMode="auto">
          <a:xfrm>
            <a:off x="1465262" y="2698376"/>
            <a:ext cx="5921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WA</a:t>
            </a:r>
          </a:p>
        </p:txBody>
      </p:sp>
      <p:sp>
        <p:nvSpPr>
          <p:cNvPr id="39" name="Text Box 24"/>
          <p:cNvSpPr txBox="1">
            <a:spLocks noChangeArrowheads="1"/>
          </p:cNvSpPr>
          <p:nvPr/>
        </p:nvSpPr>
        <p:spPr bwMode="auto">
          <a:xfrm>
            <a:off x="2057400" y="2800350"/>
            <a:ext cx="4524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SA</a:t>
            </a:r>
          </a:p>
        </p:txBody>
      </p:sp>
      <p:sp>
        <p:nvSpPr>
          <p:cNvPr id="40" name="Text Box 25"/>
          <p:cNvSpPr txBox="1">
            <a:spLocks noChangeArrowheads="1"/>
          </p:cNvSpPr>
          <p:nvPr/>
        </p:nvSpPr>
        <p:spPr bwMode="auto">
          <a:xfrm>
            <a:off x="1981200" y="2469776"/>
            <a:ext cx="4524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NT</a:t>
            </a:r>
          </a:p>
        </p:txBody>
      </p:sp>
      <p:sp>
        <p:nvSpPr>
          <p:cNvPr id="41" name="Text Box 26"/>
          <p:cNvSpPr txBox="1">
            <a:spLocks noChangeArrowheads="1"/>
          </p:cNvSpPr>
          <p:nvPr/>
        </p:nvSpPr>
        <p:spPr bwMode="auto">
          <a:xfrm>
            <a:off x="2438400" y="2545976"/>
            <a:ext cx="4524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Q</a:t>
            </a:r>
          </a:p>
        </p:txBody>
      </p:sp>
      <p:sp>
        <p:nvSpPr>
          <p:cNvPr id="42" name="Text Box 27"/>
          <p:cNvSpPr txBox="1">
            <a:spLocks noChangeArrowheads="1"/>
          </p:cNvSpPr>
          <p:nvPr/>
        </p:nvSpPr>
        <p:spPr bwMode="auto">
          <a:xfrm>
            <a:off x="2487705" y="2944906"/>
            <a:ext cx="6223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dirty="0">
                <a:latin typeface="Calibri" pitchFamily="34" charset="0"/>
              </a:rPr>
              <a:t>NSW</a:t>
            </a:r>
          </a:p>
        </p:txBody>
      </p:sp>
      <p:sp>
        <p:nvSpPr>
          <p:cNvPr id="43" name="Text Box 28"/>
          <p:cNvSpPr txBox="1">
            <a:spLocks noChangeArrowheads="1"/>
          </p:cNvSpPr>
          <p:nvPr/>
        </p:nvSpPr>
        <p:spPr bwMode="auto">
          <a:xfrm>
            <a:off x="2483970" y="3200401"/>
            <a:ext cx="6223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52078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757" grpId="0" animBg="1"/>
      <p:bldP spid="927760" grpId="0" animBg="1"/>
      <p:bldP spid="927760" grpId="1" animBg="1"/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217302"/>
            <a:ext cx="10820400" cy="472629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simple form of propagation makes sure all arcs are consistent: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Important: If X loses a value, neighbors of X need to be rechecked!</a:t>
            </a:r>
          </a:p>
          <a:p>
            <a:r>
              <a:rPr lang="en-US" dirty="0"/>
              <a:t>Arc consistency detects failure earlier than forward checking</a:t>
            </a:r>
          </a:p>
          <a:p>
            <a:r>
              <a:rPr lang="en-US" dirty="0"/>
              <a:t>Can be run as a preprocessor or after each assignment </a:t>
            </a:r>
          </a:p>
          <a:p>
            <a:r>
              <a:rPr lang="en-US" dirty="0"/>
              <a:t>What’s the downside of enforcing arc consistency?</a:t>
            </a:r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0" t="60717" r="14474"/>
          <a:stretch>
            <a:fillRect/>
          </a:stretch>
        </p:blipFill>
        <p:spPr bwMode="auto">
          <a:xfrm>
            <a:off x="3505200" y="2492188"/>
            <a:ext cx="7086600" cy="88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3170" r="31245" b="49403"/>
          <a:stretch>
            <a:fillRect/>
          </a:stretch>
        </p:blipFill>
        <p:spPr bwMode="auto">
          <a:xfrm>
            <a:off x="914400" y="2339788"/>
            <a:ext cx="1752600" cy="154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 Consistency of an Entire CSP</a:t>
            </a:r>
          </a:p>
        </p:txBody>
      </p:sp>
      <p:sp>
        <p:nvSpPr>
          <p:cNvPr id="927757" name="Freeform 13"/>
          <p:cNvSpPr>
            <a:spLocks/>
          </p:cNvSpPr>
          <p:nvPr/>
        </p:nvSpPr>
        <p:spPr bwMode="auto">
          <a:xfrm>
            <a:off x="7756338" y="3482788"/>
            <a:ext cx="2286000" cy="304800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927758" name="Freeform 14"/>
          <p:cNvSpPr>
            <a:spLocks/>
          </p:cNvSpPr>
          <p:nvPr/>
        </p:nvSpPr>
        <p:spPr bwMode="auto">
          <a:xfrm>
            <a:off x="7756338" y="3482788"/>
            <a:ext cx="2286000" cy="304800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lg" len="med"/>
            <a:tailEnd type="none" w="lg" len="med"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927760" name="Freeform 16"/>
          <p:cNvSpPr>
            <a:spLocks/>
          </p:cNvSpPr>
          <p:nvPr/>
        </p:nvSpPr>
        <p:spPr bwMode="auto">
          <a:xfrm>
            <a:off x="7756338" y="3482788"/>
            <a:ext cx="1219200" cy="152400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927761" name="Freeform 17"/>
          <p:cNvSpPr>
            <a:spLocks/>
          </p:cNvSpPr>
          <p:nvPr/>
        </p:nvSpPr>
        <p:spPr bwMode="auto">
          <a:xfrm>
            <a:off x="5394138" y="3482788"/>
            <a:ext cx="4648200" cy="381000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29707" name="TextBox 17"/>
          <p:cNvSpPr txBox="1">
            <a:spLocks noChangeArrowheads="1"/>
          </p:cNvSpPr>
          <p:nvPr/>
        </p:nvSpPr>
        <p:spPr bwMode="auto">
          <a:xfrm>
            <a:off x="9372600" y="5257800"/>
            <a:ext cx="1905000" cy="120032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 algn="ctr"/>
            <a:r>
              <a:rPr lang="en-US" sz="2400" i="1" dirty="0">
                <a:latin typeface="Calibri" pitchFamily="34" charset="0"/>
              </a:rPr>
              <a:t>Remember: Delete from  the tail!</a:t>
            </a:r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1008062" y="2873188"/>
            <a:ext cx="5921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WA</a:t>
            </a: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1600200" y="2949388"/>
            <a:ext cx="4524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SA</a:t>
            </a:r>
          </a:p>
        </p:txBody>
      </p:sp>
      <p:sp>
        <p:nvSpPr>
          <p:cNvPr id="32" name="Text Box 25"/>
          <p:cNvSpPr txBox="1">
            <a:spLocks noChangeArrowheads="1"/>
          </p:cNvSpPr>
          <p:nvPr/>
        </p:nvSpPr>
        <p:spPr bwMode="auto">
          <a:xfrm>
            <a:off x="1524000" y="2644588"/>
            <a:ext cx="4524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NT</a:t>
            </a:r>
          </a:p>
        </p:txBody>
      </p:sp>
      <p:sp>
        <p:nvSpPr>
          <p:cNvPr id="33" name="Text Box 26"/>
          <p:cNvSpPr txBox="1">
            <a:spLocks noChangeArrowheads="1"/>
          </p:cNvSpPr>
          <p:nvPr/>
        </p:nvSpPr>
        <p:spPr bwMode="auto">
          <a:xfrm>
            <a:off x="2017060" y="2711823"/>
            <a:ext cx="4524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Q</a:t>
            </a:r>
          </a:p>
        </p:txBody>
      </p:sp>
      <p:sp>
        <p:nvSpPr>
          <p:cNvPr id="34" name="Text Box 27"/>
          <p:cNvSpPr txBox="1">
            <a:spLocks noChangeArrowheads="1"/>
          </p:cNvSpPr>
          <p:nvPr/>
        </p:nvSpPr>
        <p:spPr bwMode="auto">
          <a:xfrm>
            <a:off x="2048435" y="3119718"/>
            <a:ext cx="6223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dirty="0">
                <a:latin typeface="Calibri" pitchFamily="34" charset="0"/>
              </a:rPr>
              <a:t>NSW</a:t>
            </a:r>
          </a:p>
        </p:txBody>
      </p:sp>
      <p:sp>
        <p:nvSpPr>
          <p:cNvPr id="35" name="Text Box 28"/>
          <p:cNvSpPr txBox="1">
            <a:spLocks noChangeArrowheads="1"/>
          </p:cNvSpPr>
          <p:nvPr/>
        </p:nvSpPr>
        <p:spPr bwMode="auto">
          <a:xfrm>
            <a:off x="2044700" y="3348318"/>
            <a:ext cx="6223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268990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757" grpId="0" animBg="1"/>
      <p:bldP spid="927757" grpId="1" animBg="1"/>
      <p:bldP spid="927758" grpId="0" animBg="1"/>
      <p:bldP spid="927758" grpId="1" animBg="1"/>
      <p:bldP spid="927760" grpId="0" animBg="1"/>
      <p:bldP spid="927760" grpId="1" animBg="1"/>
      <p:bldP spid="927760" grpId="2" animBg="1"/>
      <p:bldP spid="927760" grpId="3" animBg="1"/>
      <p:bldP spid="92776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1" y="609277"/>
            <a:ext cx="385572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ARC</a:t>
            </a:r>
            <a:r>
              <a:rPr spc="-195" dirty="0"/>
              <a:t> </a:t>
            </a:r>
            <a:r>
              <a:rPr spc="5" dirty="0"/>
              <a:t>Consistency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283080"/>
            <a:ext cx="10314432" cy="520979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F69E-C721-8CB3-259D-423970BC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ABE533B-0C16-CF30-F3C1-E6EB9B1372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015" y="180400"/>
            <a:ext cx="10915970" cy="6497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77075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/>
              <a:t>Limitations of Arc Consistency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1"/>
            <a:ext cx="5562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After enforcing arc consistency:</a:t>
            </a:r>
          </a:p>
          <a:p>
            <a:pPr lvl="1" eaLnBrk="1" hangingPunct="1"/>
            <a:r>
              <a:rPr lang="en-US" dirty="0"/>
              <a:t>Can have one solution left</a:t>
            </a:r>
          </a:p>
          <a:p>
            <a:pPr lvl="1" eaLnBrk="1" hangingPunct="1"/>
            <a:r>
              <a:rPr lang="en-US" dirty="0"/>
              <a:t>Can have multiple solutions left</a:t>
            </a:r>
          </a:p>
          <a:p>
            <a:pPr lvl="1" eaLnBrk="1" hangingPunct="1"/>
            <a:r>
              <a:rPr lang="en-US" dirty="0"/>
              <a:t>Can have no solutions left (and not know it)</a:t>
            </a:r>
          </a:p>
          <a:p>
            <a:pPr lvl="1"/>
            <a:endParaRPr lang="en-US" dirty="0"/>
          </a:p>
          <a:p>
            <a:r>
              <a:rPr lang="en-US" dirty="0"/>
              <a:t>Arc consistency still runs inside a backtracking search!</a:t>
            </a:r>
          </a:p>
        </p:txBody>
      </p:sp>
      <p:grpSp>
        <p:nvGrpSpPr>
          <p:cNvPr id="31748" name="Group 4"/>
          <p:cNvGrpSpPr>
            <a:grpSpLocks/>
          </p:cNvGrpSpPr>
          <p:nvPr/>
        </p:nvGrpSpPr>
        <p:grpSpPr bwMode="auto">
          <a:xfrm>
            <a:off x="7543800" y="1524000"/>
            <a:ext cx="3124200" cy="1524000"/>
            <a:chOff x="3552" y="1056"/>
            <a:chExt cx="2016" cy="1056"/>
          </a:xfrm>
        </p:grpSpPr>
        <p:grpSp>
          <p:nvGrpSpPr>
            <p:cNvPr id="31775" name="Group 5"/>
            <p:cNvGrpSpPr>
              <a:grpSpLocks/>
            </p:cNvGrpSpPr>
            <p:nvPr/>
          </p:nvGrpSpPr>
          <p:grpSpPr bwMode="auto">
            <a:xfrm>
              <a:off x="4176" y="1056"/>
              <a:ext cx="768" cy="384"/>
              <a:chOff x="2448" y="2736"/>
              <a:chExt cx="768" cy="384"/>
            </a:xfrm>
          </p:grpSpPr>
          <p:sp>
            <p:nvSpPr>
              <p:cNvPr id="31785" name="Oval 6"/>
              <p:cNvSpPr>
                <a:spLocks noChangeArrowheads="1"/>
              </p:cNvSpPr>
              <p:nvPr/>
            </p:nvSpPr>
            <p:spPr bwMode="auto">
              <a:xfrm>
                <a:off x="2448" y="2736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6" name="Text Box 7"/>
              <p:cNvSpPr txBox="1">
                <a:spLocks noChangeArrowheads="1"/>
              </p:cNvSpPr>
              <p:nvPr/>
            </p:nvSpPr>
            <p:spPr bwMode="auto">
              <a:xfrm>
                <a:off x="2772" y="2800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776" name="Group 8"/>
            <p:cNvGrpSpPr>
              <a:grpSpLocks/>
            </p:cNvGrpSpPr>
            <p:nvPr/>
          </p:nvGrpSpPr>
          <p:grpSpPr bwMode="auto">
            <a:xfrm>
              <a:off x="4800" y="1728"/>
              <a:ext cx="768" cy="384"/>
              <a:chOff x="3072" y="3408"/>
              <a:chExt cx="768" cy="384"/>
            </a:xfrm>
          </p:grpSpPr>
          <p:sp>
            <p:nvSpPr>
              <p:cNvPr id="31783" name="Oval 9"/>
              <p:cNvSpPr>
                <a:spLocks noChangeArrowheads="1"/>
              </p:cNvSpPr>
              <p:nvPr/>
            </p:nvSpPr>
            <p:spPr bwMode="auto">
              <a:xfrm>
                <a:off x="3072" y="3408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4" name="Text Box 10"/>
              <p:cNvSpPr txBox="1">
                <a:spLocks noChangeArrowheads="1"/>
              </p:cNvSpPr>
              <p:nvPr/>
            </p:nvSpPr>
            <p:spPr bwMode="auto">
              <a:xfrm>
                <a:off x="3396" y="3472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777" name="Group 11"/>
            <p:cNvGrpSpPr>
              <a:grpSpLocks/>
            </p:cNvGrpSpPr>
            <p:nvPr/>
          </p:nvGrpSpPr>
          <p:grpSpPr bwMode="auto">
            <a:xfrm>
              <a:off x="3552" y="1728"/>
              <a:ext cx="768" cy="384"/>
              <a:chOff x="1824" y="3408"/>
              <a:chExt cx="768" cy="384"/>
            </a:xfrm>
          </p:grpSpPr>
          <p:sp>
            <p:nvSpPr>
              <p:cNvPr id="31781" name="Oval 12"/>
              <p:cNvSpPr>
                <a:spLocks noChangeArrowheads="1"/>
              </p:cNvSpPr>
              <p:nvPr/>
            </p:nvSpPr>
            <p:spPr bwMode="auto">
              <a:xfrm>
                <a:off x="1824" y="3408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2" name="Text Box 13"/>
              <p:cNvSpPr txBox="1">
                <a:spLocks noChangeArrowheads="1"/>
              </p:cNvSpPr>
              <p:nvPr/>
            </p:nvSpPr>
            <p:spPr bwMode="auto">
              <a:xfrm>
                <a:off x="2148" y="3472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sp>
          <p:nvSpPr>
            <p:cNvPr id="31778" name="Line 14"/>
            <p:cNvSpPr>
              <a:spLocks noChangeShapeType="1"/>
            </p:cNvSpPr>
            <p:nvPr/>
          </p:nvSpPr>
          <p:spPr bwMode="auto">
            <a:xfrm flipH="1">
              <a:off x="3983" y="1440"/>
              <a:ext cx="578" cy="2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9" name="Line 15"/>
            <p:cNvSpPr>
              <a:spLocks noChangeShapeType="1"/>
            </p:cNvSpPr>
            <p:nvPr/>
          </p:nvSpPr>
          <p:spPr bwMode="auto">
            <a:xfrm>
              <a:off x="4560" y="1440"/>
              <a:ext cx="528" cy="2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80" name="Line 16"/>
            <p:cNvSpPr>
              <a:spLocks noChangeShapeType="1"/>
            </p:cNvSpPr>
            <p:nvPr/>
          </p:nvSpPr>
          <p:spPr bwMode="auto">
            <a:xfrm>
              <a:off x="4320" y="1920"/>
              <a:ext cx="480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49" name="Rectangle 18"/>
          <p:cNvSpPr>
            <a:spLocks noChangeArrowheads="1"/>
          </p:cNvSpPr>
          <p:nvPr/>
        </p:nvSpPr>
        <p:spPr bwMode="auto">
          <a:xfrm>
            <a:off x="8001000" y="2667000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0" name="Rectangle 19"/>
          <p:cNvSpPr>
            <a:spLocks noChangeArrowheads="1"/>
          </p:cNvSpPr>
          <p:nvPr/>
        </p:nvSpPr>
        <p:spPr bwMode="auto">
          <a:xfrm>
            <a:off x="8305800" y="2667000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1" name="Rectangle 21"/>
          <p:cNvSpPr>
            <a:spLocks noChangeArrowheads="1"/>
          </p:cNvSpPr>
          <p:nvPr/>
        </p:nvSpPr>
        <p:spPr bwMode="auto">
          <a:xfrm>
            <a:off x="9982200" y="2667000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2" name="Rectangle 22"/>
          <p:cNvSpPr>
            <a:spLocks noChangeArrowheads="1"/>
          </p:cNvSpPr>
          <p:nvPr/>
        </p:nvSpPr>
        <p:spPr bwMode="auto">
          <a:xfrm>
            <a:off x="8686800" y="1676400"/>
            <a:ext cx="8382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3" name="Rectangle 23"/>
          <p:cNvSpPr>
            <a:spLocks noChangeArrowheads="1"/>
          </p:cNvSpPr>
          <p:nvPr/>
        </p:nvSpPr>
        <p:spPr bwMode="auto">
          <a:xfrm>
            <a:off x="10287000" y="2667000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grpSp>
        <p:nvGrpSpPr>
          <p:cNvPr id="31754" name="Group 24"/>
          <p:cNvGrpSpPr>
            <a:grpSpLocks/>
          </p:cNvGrpSpPr>
          <p:nvPr/>
        </p:nvGrpSpPr>
        <p:grpSpPr bwMode="auto">
          <a:xfrm>
            <a:off x="7543800" y="3581400"/>
            <a:ext cx="3124200" cy="1524000"/>
            <a:chOff x="3552" y="1056"/>
            <a:chExt cx="2016" cy="1056"/>
          </a:xfrm>
        </p:grpSpPr>
        <p:grpSp>
          <p:nvGrpSpPr>
            <p:cNvPr id="31763" name="Group 25"/>
            <p:cNvGrpSpPr>
              <a:grpSpLocks/>
            </p:cNvGrpSpPr>
            <p:nvPr/>
          </p:nvGrpSpPr>
          <p:grpSpPr bwMode="auto">
            <a:xfrm>
              <a:off x="4176" y="1056"/>
              <a:ext cx="768" cy="384"/>
              <a:chOff x="2448" y="2736"/>
              <a:chExt cx="768" cy="384"/>
            </a:xfrm>
          </p:grpSpPr>
          <p:sp>
            <p:nvSpPr>
              <p:cNvPr id="31773" name="Oval 26"/>
              <p:cNvSpPr>
                <a:spLocks noChangeArrowheads="1"/>
              </p:cNvSpPr>
              <p:nvPr/>
            </p:nvSpPr>
            <p:spPr bwMode="auto">
              <a:xfrm>
                <a:off x="2448" y="2736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4" name="Text Box 27"/>
              <p:cNvSpPr txBox="1">
                <a:spLocks noChangeArrowheads="1"/>
              </p:cNvSpPr>
              <p:nvPr/>
            </p:nvSpPr>
            <p:spPr bwMode="auto">
              <a:xfrm>
                <a:off x="2772" y="2800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764" name="Group 28"/>
            <p:cNvGrpSpPr>
              <a:grpSpLocks/>
            </p:cNvGrpSpPr>
            <p:nvPr/>
          </p:nvGrpSpPr>
          <p:grpSpPr bwMode="auto">
            <a:xfrm>
              <a:off x="4800" y="1728"/>
              <a:ext cx="768" cy="384"/>
              <a:chOff x="3072" y="3408"/>
              <a:chExt cx="768" cy="384"/>
            </a:xfrm>
          </p:grpSpPr>
          <p:sp>
            <p:nvSpPr>
              <p:cNvPr id="31771" name="Oval 29"/>
              <p:cNvSpPr>
                <a:spLocks noChangeArrowheads="1"/>
              </p:cNvSpPr>
              <p:nvPr/>
            </p:nvSpPr>
            <p:spPr bwMode="auto">
              <a:xfrm>
                <a:off x="3072" y="3408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2" name="Text Box 30"/>
              <p:cNvSpPr txBox="1">
                <a:spLocks noChangeArrowheads="1"/>
              </p:cNvSpPr>
              <p:nvPr/>
            </p:nvSpPr>
            <p:spPr bwMode="auto">
              <a:xfrm>
                <a:off x="3396" y="3472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765" name="Group 31"/>
            <p:cNvGrpSpPr>
              <a:grpSpLocks/>
            </p:cNvGrpSpPr>
            <p:nvPr/>
          </p:nvGrpSpPr>
          <p:grpSpPr bwMode="auto">
            <a:xfrm>
              <a:off x="3552" y="1728"/>
              <a:ext cx="768" cy="384"/>
              <a:chOff x="1824" y="3408"/>
              <a:chExt cx="768" cy="384"/>
            </a:xfrm>
          </p:grpSpPr>
          <p:sp>
            <p:nvSpPr>
              <p:cNvPr id="31769" name="Oval 32"/>
              <p:cNvSpPr>
                <a:spLocks noChangeArrowheads="1"/>
              </p:cNvSpPr>
              <p:nvPr/>
            </p:nvSpPr>
            <p:spPr bwMode="auto">
              <a:xfrm>
                <a:off x="1824" y="3408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0" name="Text Box 33"/>
              <p:cNvSpPr txBox="1">
                <a:spLocks noChangeArrowheads="1"/>
              </p:cNvSpPr>
              <p:nvPr/>
            </p:nvSpPr>
            <p:spPr bwMode="auto">
              <a:xfrm>
                <a:off x="2148" y="3472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sp>
          <p:nvSpPr>
            <p:cNvPr id="31766" name="Line 34"/>
            <p:cNvSpPr>
              <a:spLocks noChangeShapeType="1"/>
            </p:cNvSpPr>
            <p:nvPr/>
          </p:nvSpPr>
          <p:spPr bwMode="auto">
            <a:xfrm flipH="1">
              <a:off x="3983" y="1440"/>
              <a:ext cx="578" cy="2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67" name="Line 35"/>
            <p:cNvSpPr>
              <a:spLocks noChangeShapeType="1"/>
            </p:cNvSpPr>
            <p:nvPr/>
          </p:nvSpPr>
          <p:spPr bwMode="auto">
            <a:xfrm>
              <a:off x="4560" y="1440"/>
              <a:ext cx="528" cy="2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68" name="Line 36"/>
            <p:cNvSpPr>
              <a:spLocks noChangeShapeType="1"/>
            </p:cNvSpPr>
            <p:nvPr/>
          </p:nvSpPr>
          <p:spPr bwMode="auto">
            <a:xfrm>
              <a:off x="4320" y="1920"/>
              <a:ext cx="480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55" name="Rectangle 37"/>
          <p:cNvSpPr>
            <a:spLocks noChangeArrowheads="1"/>
          </p:cNvSpPr>
          <p:nvPr/>
        </p:nvSpPr>
        <p:spPr bwMode="auto">
          <a:xfrm>
            <a:off x="7696200" y="4724400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6" name="Rectangle 40"/>
          <p:cNvSpPr>
            <a:spLocks noChangeArrowheads="1"/>
          </p:cNvSpPr>
          <p:nvPr/>
        </p:nvSpPr>
        <p:spPr bwMode="auto">
          <a:xfrm>
            <a:off x="9677400" y="4724400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7" name="Rectangle 43"/>
          <p:cNvSpPr>
            <a:spLocks noChangeArrowheads="1"/>
          </p:cNvSpPr>
          <p:nvPr/>
        </p:nvSpPr>
        <p:spPr bwMode="auto">
          <a:xfrm>
            <a:off x="8686800" y="3733800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8" name="Rectangle 45"/>
          <p:cNvSpPr>
            <a:spLocks noChangeArrowheads="1"/>
          </p:cNvSpPr>
          <p:nvPr/>
        </p:nvSpPr>
        <p:spPr bwMode="auto">
          <a:xfrm>
            <a:off x="9296400" y="3733800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9" name="Rectangle 46"/>
          <p:cNvSpPr>
            <a:spLocks noChangeArrowheads="1"/>
          </p:cNvSpPr>
          <p:nvPr/>
        </p:nvSpPr>
        <p:spPr bwMode="auto">
          <a:xfrm>
            <a:off x="8305800" y="4724400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60" name="Rectangle 47"/>
          <p:cNvSpPr>
            <a:spLocks noChangeArrowheads="1"/>
          </p:cNvSpPr>
          <p:nvPr/>
        </p:nvSpPr>
        <p:spPr bwMode="auto">
          <a:xfrm>
            <a:off x="10287000" y="4724400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61" name="Text Box 48"/>
          <p:cNvSpPr txBox="1">
            <a:spLocks noChangeArrowheads="1"/>
          </p:cNvSpPr>
          <p:nvPr/>
        </p:nvSpPr>
        <p:spPr bwMode="auto">
          <a:xfrm>
            <a:off x="8382000" y="5334001"/>
            <a:ext cx="1752600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What went wrong here?</a:t>
            </a:r>
          </a:p>
        </p:txBody>
      </p:sp>
    </p:spTree>
    <p:extLst>
      <p:ext uri="{BB962C8B-B14F-4D97-AF65-F5344CB8AC3E}">
        <p14:creationId xmlns:p14="http://schemas.microsoft.com/office/powerpoint/2010/main" val="12437311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A0586-3D3C-F841-FABA-0D583608D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Cryptarithmetic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7EE41-2DC6-1852-8C24-B87AB527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396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87246DF-B234-5B0F-2786-AF082610851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>
          <a:xfrm>
            <a:off x="176212" y="85950"/>
            <a:ext cx="10938827" cy="667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754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FB1D55B-5F48-2DC8-4B2E-B2C09E5DAB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>
          <a:xfrm>
            <a:off x="551141" y="1102042"/>
            <a:ext cx="11089718" cy="395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7434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8BF53F6F-58BC-CF66-3FE1-EFCCCA6834C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>
          <a:xfrm>
            <a:off x="1927066" y="227812"/>
            <a:ext cx="8337867" cy="640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4173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92" y="180399"/>
            <a:ext cx="11852563" cy="521566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dirty="0"/>
              <a:t>Example: 4-Queens Problem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11909425" y="6416675"/>
            <a:ext cx="282575" cy="239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 Black"/>
                <a:ea typeface="+mn-ea"/>
                <a:cs typeface="Arial Black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220"/>
              </a:spcBef>
            </a:pPr>
            <a:fld id="{81D60167-4931-47E6-BA6A-407CBD079E47}" type="slidenum">
              <a:rPr lang="en-US" smtClean="0"/>
              <a:pPr marL="38100">
                <a:spcBef>
                  <a:spcPts val="220"/>
                </a:spcBef>
              </a:pPr>
              <a:t>41</a:t>
            </a:fld>
            <a:endParaRPr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4294967295"/>
          </p:nvPr>
        </p:nvSpPr>
        <p:spPr>
          <a:xfrm>
            <a:off x="0" y="6477000"/>
            <a:ext cx="882650" cy="17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4294967295"/>
          </p:nvPr>
        </p:nvSpPr>
        <p:spPr>
          <a:xfrm>
            <a:off x="0" y="6494463"/>
            <a:ext cx="1206500" cy="17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/>
              <a:t> </a:t>
            </a:r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43327" y="3043327"/>
          <a:ext cx="18288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820670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842407" y="2128927"/>
          <a:ext cx="131699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128407" y="2128927"/>
          <a:ext cx="131699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1590" algn="l"/>
                          <a:tab pos="47180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1590" algn="l"/>
                          <a:tab pos="47180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7167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3932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92" y="180399"/>
            <a:ext cx="11852563" cy="521566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dirty="0"/>
              <a:t>Example: 4-Queens Problem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4294967295"/>
          </p:nvPr>
        </p:nvSpPr>
        <p:spPr>
          <a:xfrm>
            <a:off x="11909425" y="6416675"/>
            <a:ext cx="282575" cy="239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 Black"/>
                <a:ea typeface="+mn-ea"/>
                <a:cs typeface="Arial Black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220"/>
              </a:spcBef>
            </a:pPr>
            <a:fld id="{81D60167-4931-47E6-BA6A-407CBD079E47}" type="slidenum">
              <a:rPr lang="en-US" smtClean="0"/>
              <a:pPr marL="38100">
                <a:spcBef>
                  <a:spcPts val="220"/>
                </a:spcBef>
              </a:pPr>
              <a:t>42</a:t>
            </a:fld>
            <a:endParaRPr dirty="0"/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4294967295"/>
          </p:nvPr>
        </p:nvSpPr>
        <p:spPr>
          <a:xfrm>
            <a:off x="0" y="6477000"/>
            <a:ext cx="882650" cy="17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4294967295"/>
          </p:nvPr>
        </p:nvSpPr>
        <p:spPr>
          <a:xfrm>
            <a:off x="0" y="6494463"/>
            <a:ext cx="1206500" cy="17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/>
              <a:t> 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043238" y="3043238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20670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41138" y="2128927"/>
          <a:ext cx="1317625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10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8128407" y="2128927"/>
          <a:ext cx="131699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1590" algn="l"/>
                          <a:tab pos="471805" algn="l"/>
                        </a:tabLst>
                      </a:pPr>
                      <a:r>
                        <a:rPr sz="2400" u="sng" dirty="0">
                          <a:solidFill>
                            <a:srgbClr val="FF33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1590" algn="l"/>
                          <a:tab pos="47180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7167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043328" y="3043328"/>
            <a:ext cx="1762125" cy="1762125"/>
            <a:chOff x="1519327" y="3043327"/>
            <a:chExt cx="1762125" cy="1762125"/>
          </a:xfrm>
        </p:grpSpPr>
        <p:sp>
          <p:nvSpPr>
            <p:cNvPr id="26" name="object 26"/>
            <p:cNvSpPr/>
            <p:nvPr/>
          </p:nvSpPr>
          <p:spPr>
            <a:xfrm>
              <a:off x="15240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146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146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667645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92" y="180399"/>
            <a:ext cx="11852563" cy="521566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dirty="0"/>
              <a:t>Example: 4-Queens Problem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4294967295"/>
          </p:nvPr>
        </p:nvSpPr>
        <p:spPr>
          <a:xfrm>
            <a:off x="11909425" y="6416675"/>
            <a:ext cx="282575" cy="239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 Black"/>
                <a:ea typeface="+mn-ea"/>
                <a:cs typeface="Arial Black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220"/>
              </a:spcBef>
            </a:pPr>
            <a:fld id="{81D60167-4931-47E6-BA6A-407CBD079E47}" type="slidenum">
              <a:rPr lang="en-US" smtClean="0"/>
              <a:pPr marL="38100">
                <a:spcBef>
                  <a:spcPts val="220"/>
                </a:spcBef>
              </a:pPr>
              <a:t>43</a:t>
            </a:fld>
            <a:endParaRPr dirty="0"/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4294967295"/>
          </p:nvPr>
        </p:nvSpPr>
        <p:spPr>
          <a:xfrm>
            <a:off x="0" y="6477000"/>
            <a:ext cx="882650" cy="17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4294967295"/>
          </p:nvPr>
        </p:nvSpPr>
        <p:spPr>
          <a:xfrm>
            <a:off x="0" y="6494463"/>
            <a:ext cx="1206500" cy="17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/>
              <a:t> 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043238" y="3043238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20670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38597" y="2128927"/>
          <a:ext cx="131953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3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  <a:tab pos="7829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	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667644"/>
              </p:ext>
            </p:extLst>
          </p:nvPr>
        </p:nvGraphicFramePr>
        <p:xfrm>
          <a:off x="812459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4345" algn="l"/>
                        </a:tabLst>
                      </a:pPr>
                      <a:r>
                        <a:rPr sz="2400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lang="en-US" sz="2400" dirty="0" smtClean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2400" spc="-10" dirty="0" smtClean="0">
                          <a:latin typeface="Arial"/>
                          <a:cs typeface="Arial"/>
                        </a:rPr>
                        <a:t>X2</a:t>
                      </a:r>
                      <a:endParaRPr sz="2400" dirty="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1950" algn="l"/>
                          <a:tab pos="617220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,3,4}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4345" algn="l"/>
                        </a:tabLst>
                      </a:pPr>
                      <a:r>
                        <a:rPr lang="en-US" sz="240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X4</a:t>
                      </a:r>
                      <a:endParaRPr sz="2400" dirty="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2585" algn="l"/>
                          <a:tab pos="112712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,2,3,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}</a:t>
                      </a: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7167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043328" y="3043328"/>
            <a:ext cx="1762125" cy="1762125"/>
            <a:chOff x="1519327" y="3043327"/>
            <a:chExt cx="1762125" cy="1762125"/>
          </a:xfrm>
        </p:grpSpPr>
        <p:sp>
          <p:nvSpPr>
            <p:cNvPr id="26" name="object 26"/>
            <p:cNvSpPr/>
            <p:nvPr/>
          </p:nvSpPr>
          <p:spPr>
            <a:xfrm>
              <a:off x="15240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146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146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741469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92" y="180399"/>
            <a:ext cx="11852563" cy="521566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dirty="0"/>
              <a:t>Example: 4-Queens Problem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4294967295"/>
          </p:nvPr>
        </p:nvSpPr>
        <p:spPr>
          <a:xfrm>
            <a:off x="11909425" y="6416675"/>
            <a:ext cx="282575" cy="239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 Black"/>
                <a:ea typeface="+mn-ea"/>
                <a:cs typeface="Arial Black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220"/>
              </a:spcBef>
            </a:pPr>
            <a:fld id="{81D60167-4931-47E6-BA6A-407CBD079E47}" type="slidenum">
              <a:rPr lang="en-US" smtClean="0"/>
              <a:pPr marL="38100">
                <a:spcBef>
                  <a:spcPts val="220"/>
                </a:spcBef>
              </a:pPr>
              <a:t>44</a:t>
            </a:fld>
            <a:endParaRPr dirty="0"/>
          </a:p>
        </p:txBody>
      </p:sp>
      <p:sp>
        <p:nvSpPr>
          <p:cNvPr id="49" name="object 49"/>
          <p:cNvSpPr txBox="1">
            <a:spLocks noGrp="1"/>
          </p:cNvSpPr>
          <p:nvPr>
            <p:ph type="dt" sz="half" idx="4294967295"/>
          </p:nvPr>
        </p:nvSpPr>
        <p:spPr>
          <a:xfrm>
            <a:off x="0" y="6477000"/>
            <a:ext cx="882650" cy="17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4294967295"/>
          </p:nvPr>
        </p:nvSpPr>
        <p:spPr>
          <a:xfrm>
            <a:off x="0" y="6494463"/>
            <a:ext cx="1206500" cy="17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/>
              <a:t> 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043238" y="3043238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20670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38597" y="2128927"/>
          <a:ext cx="131953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3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  <a:tab pos="7829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	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812459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4345" algn="l"/>
                        </a:tabLst>
                      </a:pPr>
                      <a:r>
                        <a:rPr sz="2400" u="sng" dirty="0" smtClean="0">
                          <a:solidFill>
                            <a:srgbClr val="FF33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X2</a:t>
                      </a:r>
                      <a:endParaRPr sz="2400" dirty="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2585" algn="l"/>
                          <a:tab pos="61912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,4}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434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X4</a:t>
                      </a:r>
                      <a:endParaRPr sz="2400" dirty="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2585" algn="l"/>
                          <a:tab pos="112712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,2,3,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}</a:t>
                      </a: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7167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043328" y="3043328"/>
            <a:ext cx="1762125" cy="1762125"/>
            <a:chOff x="1519327" y="3043327"/>
            <a:chExt cx="1762125" cy="1762125"/>
          </a:xfrm>
        </p:grpSpPr>
        <p:sp>
          <p:nvSpPr>
            <p:cNvPr id="26" name="object 26"/>
            <p:cNvSpPr/>
            <p:nvPr/>
          </p:nvSpPr>
          <p:spPr>
            <a:xfrm>
              <a:off x="15240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146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146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81200" y="39623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1200" y="39623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9718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9718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482535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92" y="180399"/>
            <a:ext cx="11852563" cy="521566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dirty="0"/>
              <a:t>Example: 4-Queens Problem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4294967295"/>
          </p:nvPr>
        </p:nvSpPr>
        <p:spPr>
          <a:xfrm>
            <a:off x="11909425" y="6416675"/>
            <a:ext cx="282575" cy="239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 Black"/>
                <a:ea typeface="+mn-ea"/>
                <a:cs typeface="Arial Black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220"/>
              </a:spcBef>
            </a:pPr>
            <a:fld id="{81D60167-4931-47E6-BA6A-407CBD079E47}" type="slidenum">
              <a:rPr lang="en-US" smtClean="0"/>
              <a:pPr marL="38100">
                <a:spcBef>
                  <a:spcPts val="220"/>
                </a:spcBef>
              </a:pPr>
              <a:t>45</a:t>
            </a:fld>
            <a:endParaRPr dirty="0"/>
          </a:p>
        </p:txBody>
      </p:sp>
      <p:sp>
        <p:nvSpPr>
          <p:cNvPr id="49" name="object 49"/>
          <p:cNvSpPr txBox="1">
            <a:spLocks noGrp="1"/>
          </p:cNvSpPr>
          <p:nvPr>
            <p:ph type="dt" sz="half" idx="4294967295"/>
          </p:nvPr>
        </p:nvSpPr>
        <p:spPr>
          <a:xfrm>
            <a:off x="0" y="6477000"/>
            <a:ext cx="882650" cy="17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4294967295"/>
          </p:nvPr>
        </p:nvSpPr>
        <p:spPr>
          <a:xfrm>
            <a:off x="0" y="6494463"/>
            <a:ext cx="1206500" cy="17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/>
              <a:t> 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043238" y="3043238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20670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34788" y="2128927"/>
          <a:ext cx="1321435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10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1145" algn="l"/>
                          <a:tab pos="527685" algn="l"/>
                          <a:tab pos="784225" algn="l"/>
                          <a:tab pos="1039494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,	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812459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3075" algn="l"/>
                        </a:tabLst>
                      </a:pPr>
                      <a:r>
                        <a:rPr sz="2400" u="sng" dirty="0">
                          <a:solidFill>
                            <a:srgbClr val="FF33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2585" algn="l"/>
                          <a:tab pos="6178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307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2585" algn="l"/>
                          <a:tab pos="112712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,2,3,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7167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043328" y="3043328"/>
            <a:ext cx="1762125" cy="1762125"/>
            <a:chOff x="1519327" y="3043327"/>
            <a:chExt cx="1762125" cy="1762125"/>
          </a:xfrm>
        </p:grpSpPr>
        <p:sp>
          <p:nvSpPr>
            <p:cNvPr id="26" name="object 26"/>
            <p:cNvSpPr/>
            <p:nvPr/>
          </p:nvSpPr>
          <p:spPr>
            <a:xfrm>
              <a:off x="15240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146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146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81200" y="39623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1200" y="39623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9718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9718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764836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92" y="180399"/>
            <a:ext cx="11852563" cy="521566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dirty="0"/>
              <a:t>Example: 4-Queens Problem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4294967295"/>
          </p:nvPr>
        </p:nvSpPr>
        <p:spPr>
          <a:xfrm>
            <a:off x="11909425" y="6416675"/>
            <a:ext cx="282575" cy="239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 Black"/>
                <a:ea typeface="+mn-ea"/>
                <a:cs typeface="Arial Black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220"/>
              </a:spcBef>
            </a:pPr>
            <a:fld id="{81D60167-4931-47E6-BA6A-407CBD079E47}" type="slidenum">
              <a:rPr lang="en-US" smtClean="0"/>
              <a:pPr marL="38100">
                <a:spcBef>
                  <a:spcPts val="220"/>
                </a:spcBef>
              </a:pPr>
              <a:t>46</a:t>
            </a:fld>
            <a:endParaRPr dirty="0"/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4294967295"/>
          </p:nvPr>
        </p:nvSpPr>
        <p:spPr>
          <a:xfrm>
            <a:off x="0" y="6477000"/>
            <a:ext cx="882650" cy="17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4294967295"/>
          </p:nvPr>
        </p:nvSpPr>
        <p:spPr>
          <a:xfrm>
            <a:off x="0" y="6494463"/>
            <a:ext cx="1206500" cy="17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/>
              <a:t> 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043238" y="3043238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20670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39867" y="2128927"/>
          <a:ext cx="131826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2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8128407" y="2128927"/>
          <a:ext cx="131699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0320" algn="l"/>
                          <a:tab pos="47180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0320" algn="l"/>
                          <a:tab pos="47180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{1,2,3,4}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7167879" y="2971800"/>
            <a:ext cx="913130" cy="1600200"/>
          </a:xfrm>
          <a:custGeom>
            <a:avLst/>
            <a:gdLst/>
            <a:ahLst/>
            <a:cxnLst/>
            <a:rect l="l" t="t" r="r" b="b"/>
            <a:pathLst>
              <a:path w="913129" h="1600200">
                <a:moveTo>
                  <a:pt x="0" y="0"/>
                </a:moveTo>
                <a:lnTo>
                  <a:pt x="913129" y="1600200"/>
                </a:lnTo>
              </a:path>
              <a:path w="913129" h="1600200">
                <a:moveTo>
                  <a:pt x="913129" y="0"/>
                </a:moveTo>
                <a:lnTo>
                  <a:pt x="7493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043328" y="3119528"/>
            <a:ext cx="1762125" cy="1685925"/>
            <a:chOff x="1519327" y="3119527"/>
            <a:chExt cx="1762125" cy="1685925"/>
          </a:xfrm>
        </p:grpSpPr>
        <p:sp>
          <p:nvSpPr>
            <p:cNvPr id="26" name="object 26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783009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92" y="180399"/>
            <a:ext cx="11852563" cy="521566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dirty="0"/>
              <a:t>Example: 4-Queens Problem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4294967295"/>
          </p:nvPr>
        </p:nvSpPr>
        <p:spPr>
          <a:xfrm>
            <a:off x="11909425" y="6416675"/>
            <a:ext cx="282575" cy="239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 Black"/>
                <a:ea typeface="+mn-ea"/>
                <a:cs typeface="Arial Black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220"/>
              </a:spcBef>
            </a:pPr>
            <a:fld id="{81D60167-4931-47E6-BA6A-407CBD079E47}" type="slidenum">
              <a:rPr lang="en-US" smtClean="0"/>
              <a:pPr marL="38100">
                <a:spcBef>
                  <a:spcPts val="220"/>
                </a:spcBef>
              </a:pPr>
              <a:t>47</a:t>
            </a:fld>
            <a:endParaRPr dirty="0"/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4294967295"/>
          </p:nvPr>
        </p:nvSpPr>
        <p:spPr>
          <a:xfrm>
            <a:off x="0" y="6477000"/>
            <a:ext cx="882650" cy="17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4294967295"/>
          </p:nvPr>
        </p:nvSpPr>
        <p:spPr>
          <a:xfrm>
            <a:off x="0" y="6494463"/>
            <a:ext cx="1206500" cy="17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/>
              <a:t> 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043238" y="3043238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20670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38598" y="2128927"/>
          <a:ext cx="1320165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525145" algn="l"/>
                          <a:tab pos="1034415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,3,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812332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307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  <a:tabLst>
                          <a:tab pos="361315" algn="l"/>
                          <a:tab pos="616585" algn="l"/>
                          <a:tab pos="87312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434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tabLst>
                          <a:tab pos="617855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	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7167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043328" y="3119528"/>
            <a:ext cx="1762125" cy="1685925"/>
            <a:chOff x="1519327" y="3119527"/>
            <a:chExt cx="1762125" cy="1685925"/>
          </a:xfrm>
        </p:grpSpPr>
        <p:sp>
          <p:nvSpPr>
            <p:cNvPr id="26" name="object 26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353568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92" y="180399"/>
            <a:ext cx="11852563" cy="521566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dirty="0"/>
              <a:t>Example: 4-Queens Problem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4294967295"/>
          </p:nvPr>
        </p:nvSpPr>
        <p:spPr>
          <a:xfrm>
            <a:off x="11909425" y="6416675"/>
            <a:ext cx="282575" cy="239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 Black"/>
                <a:ea typeface="+mn-ea"/>
                <a:cs typeface="Arial Black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220"/>
              </a:spcBef>
            </a:pPr>
            <a:fld id="{81D60167-4931-47E6-BA6A-407CBD079E47}" type="slidenum">
              <a:rPr lang="en-US" smtClean="0"/>
              <a:pPr marL="38100">
                <a:spcBef>
                  <a:spcPts val="220"/>
                </a:spcBef>
              </a:pPr>
              <a:t>48</a:t>
            </a:fld>
            <a:endParaRPr dirty="0"/>
          </a:p>
        </p:txBody>
      </p:sp>
      <p:sp>
        <p:nvSpPr>
          <p:cNvPr id="47" name="object 47"/>
          <p:cNvSpPr txBox="1">
            <a:spLocks noGrp="1"/>
          </p:cNvSpPr>
          <p:nvPr>
            <p:ph type="dt" sz="half" idx="4294967295"/>
          </p:nvPr>
        </p:nvSpPr>
        <p:spPr>
          <a:xfrm>
            <a:off x="0" y="6477000"/>
            <a:ext cx="882650" cy="17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4294967295"/>
          </p:nvPr>
        </p:nvSpPr>
        <p:spPr>
          <a:xfrm>
            <a:off x="0" y="6494463"/>
            <a:ext cx="1206500" cy="17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/>
              <a:t> 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043238" y="3043238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20670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38598" y="2128927"/>
          <a:ext cx="1320165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525145" algn="l"/>
                          <a:tab pos="1034415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,3,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812332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307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  <a:tabLst>
                          <a:tab pos="361315" algn="l"/>
                          <a:tab pos="616585" algn="l"/>
                          <a:tab pos="87312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5400" algn="l"/>
                          <a:tab pos="47434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tabLst>
                          <a:tab pos="617855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	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7167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043328" y="3119528"/>
            <a:ext cx="1762125" cy="1762125"/>
            <a:chOff x="1519327" y="3119527"/>
            <a:chExt cx="1762125" cy="1762125"/>
          </a:xfrm>
        </p:grpSpPr>
        <p:sp>
          <p:nvSpPr>
            <p:cNvPr id="26" name="object 26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791222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92" y="180399"/>
            <a:ext cx="11852563" cy="521566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dirty="0"/>
              <a:t>Example: 4-Queens Problem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4294967295"/>
          </p:nvPr>
        </p:nvSpPr>
        <p:spPr>
          <a:xfrm>
            <a:off x="11909425" y="6416675"/>
            <a:ext cx="282575" cy="239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 Black"/>
                <a:ea typeface="+mn-ea"/>
                <a:cs typeface="Arial Black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220"/>
              </a:spcBef>
            </a:pPr>
            <a:fld id="{81D60167-4931-47E6-BA6A-407CBD079E47}" type="slidenum">
              <a:rPr lang="en-US" smtClean="0"/>
              <a:pPr marL="38100">
                <a:spcBef>
                  <a:spcPts val="220"/>
                </a:spcBef>
              </a:pPr>
              <a:t>49</a:t>
            </a:fld>
            <a:endParaRPr dirty="0"/>
          </a:p>
        </p:txBody>
      </p:sp>
      <p:sp>
        <p:nvSpPr>
          <p:cNvPr id="47" name="object 47"/>
          <p:cNvSpPr txBox="1">
            <a:spLocks noGrp="1"/>
          </p:cNvSpPr>
          <p:nvPr>
            <p:ph type="dt" sz="half" idx="4294967295"/>
          </p:nvPr>
        </p:nvSpPr>
        <p:spPr>
          <a:xfrm>
            <a:off x="0" y="6477000"/>
            <a:ext cx="882650" cy="17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4294967295"/>
          </p:nvPr>
        </p:nvSpPr>
        <p:spPr>
          <a:xfrm>
            <a:off x="0" y="6494463"/>
            <a:ext cx="1206500" cy="17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/>
              <a:t> 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043238" y="3043238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20670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3732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525145" algn="l"/>
                          <a:tab pos="781050" algn="l"/>
                          <a:tab pos="1035050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,	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8123328" y="2128927"/>
          <a:ext cx="1321435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6034" algn="l"/>
                          <a:tab pos="473709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  <a:tabLst>
                          <a:tab pos="361950" algn="l"/>
                          <a:tab pos="617220" algn="l"/>
                          <a:tab pos="873760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6034" algn="l"/>
                          <a:tab pos="474980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tabLst>
                          <a:tab pos="615950" algn="l"/>
                          <a:tab pos="1125220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,3,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7167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043328" y="3119528"/>
            <a:ext cx="1762125" cy="1762125"/>
            <a:chOff x="1519327" y="3119527"/>
            <a:chExt cx="1762125" cy="1762125"/>
          </a:xfrm>
        </p:grpSpPr>
        <p:sp>
          <p:nvSpPr>
            <p:cNvPr id="26" name="object 26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798087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92" y="180399"/>
            <a:ext cx="11852563" cy="521566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dirty="0"/>
              <a:t>Example: 4-Queens Problem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4294967295"/>
          </p:nvPr>
        </p:nvSpPr>
        <p:spPr>
          <a:xfrm>
            <a:off x="11909425" y="6416675"/>
            <a:ext cx="282575" cy="239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 Black"/>
                <a:ea typeface="+mn-ea"/>
                <a:cs typeface="Arial Black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220"/>
              </a:spcBef>
            </a:pPr>
            <a:fld id="{81D60167-4931-47E6-BA6A-407CBD079E47}" type="slidenum">
              <a:rPr lang="en-US" smtClean="0"/>
              <a:pPr marL="38100">
                <a:spcBef>
                  <a:spcPts val="220"/>
                </a:spcBef>
              </a:pPr>
              <a:t>50</a:t>
            </a:fld>
            <a:endParaRPr dirty="0"/>
          </a:p>
        </p:txBody>
      </p:sp>
      <p:sp>
        <p:nvSpPr>
          <p:cNvPr id="51" name="object 51"/>
          <p:cNvSpPr txBox="1">
            <a:spLocks noGrp="1"/>
          </p:cNvSpPr>
          <p:nvPr>
            <p:ph type="dt" sz="half" idx="4294967295"/>
          </p:nvPr>
        </p:nvSpPr>
        <p:spPr>
          <a:xfrm>
            <a:off x="0" y="6477000"/>
            <a:ext cx="882650" cy="17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4294967295"/>
          </p:nvPr>
        </p:nvSpPr>
        <p:spPr>
          <a:xfrm>
            <a:off x="0" y="6494463"/>
            <a:ext cx="1206500" cy="17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/>
              <a:t> 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043238" y="3043238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20670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3732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525780" algn="l"/>
                          <a:tab pos="781050" algn="l"/>
                          <a:tab pos="1036319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,	,	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8123328" y="2128927"/>
          <a:ext cx="1321435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6034" algn="l"/>
                          <a:tab pos="473709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  <a:tabLst>
                          <a:tab pos="361950" algn="l"/>
                          <a:tab pos="617220" algn="l"/>
                          <a:tab pos="873760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6034" algn="l"/>
                          <a:tab pos="474980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tabLst>
                          <a:tab pos="615950" algn="l"/>
                          <a:tab pos="1125220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{1,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,3,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7167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043328" y="3043328"/>
            <a:ext cx="1762125" cy="1838325"/>
            <a:chOff x="1519327" y="3043327"/>
            <a:chExt cx="1762125" cy="1838325"/>
          </a:xfrm>
        </p:grpSpPr>
        <p:sp>
          <p:nvSpPr>
            <p:cNvPr id="26" name="object 26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4384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4384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319463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92" y="180399"/>
            <a:ext cx="11852563" cy="521566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dirty="0"/>
              <a:t>Example: 4-Queens Problem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4294967295"/>
          </p:nvPr>
        </p:nvSpPr>
        <p:spPr>
          <a:xfrm>
            <a:off x="11909425" y="6416675"/>
            <a:ext cx="282575" cy="239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 Black"/>
                <a:ea typeface="+mn-ea"/>
                <a:cs typeface="Arial Black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220"/>
              </a:spcBef>
            </a:pPr>
            <a:fld id="{81D60167-4931-47E6-BA6A-407CBD079E47}" type="slidenum">
              <a:rPr lang="en-US" smtClean="0"/>
              <a:pPr marL="38100">
                <a:spcBef>
                  <a:spcPts val="220"/>
                </a:spcBef>
              </a:pPr>
              <a:t>51</a:t>
            </a:fld>
            <a:endParaRPr dirty="0"/>
          </a:p>
        </p:txBody>
      </p:sp>
      <p:sp>
        <p:nvSpPr>
          <p:cNvPr id="51" name="object 51"/>
          <p:cNvSpPr txBox="1">
            <a:spLocks noGrp="1"/>
          </p:cNvSpPr>
          <p:nvPr>
            <p:ph type="dt" sz="half" idx="4294967295"/>
          </p:nvPr>
        </p:nvSpPr>
        <p:spPr>
          <a:xfrm>
            <a:off x="0" y="6477000"/>
            <a:ext cx="882650" cy="17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4294967295"/>
          </p:nvPr>
        </p:nvSpPr>
        <p:spPr>
          <a:xfrm>
            <a:off x="0" y="6494463"/>
            <a:ext cx="1206500" cy="17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/>
              <a:t> 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043238" y="3043238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20670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3732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525780" algn="l"/>
                          <a:tab pos="781050" algn="l"/>
                          <a:tab pos="1036319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,	,	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8123327" y="2128927"/>
          <a:ext cx="132207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6670" algn="l"/>
                          <a:tab pos="47434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2585" algn="l"/>
                          <a:tab pos="617855" algn="l"/>
                          <a:tab pos="874394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6670" algn="l"/>
                          <a:tab pos="47434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1950" algn="l"/>
                          <a:tab pos="615950" algn="l"/>
                          <a:tab pos="1125220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,3,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7167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043328" y="3043328"/>
            <a:ext cx="1762125" cy="1838325"/>
            <a:chOff x="1519327" y="3043327"/>
            <a:chExt cx="1762125" cy="1838325"/>
          </a:xfrm>
        </p:grpSpPr>
        <p:sp>
          <p:nvSpPr>
            <p:cNvPr id="26" name="object 26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4384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4384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427073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92" y="180399"/>
            <a:ext cx="11852563" cy="521566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dirty="0"/>
              <a:t>Example: 4-Queens Problem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4294967295"/>
          </p:nvPr>
        </p:nvSpPr>
        <p:spPr>
          <a:xfrm>
            <a:off x="11909425" y="6416675"/>
            <a:ext cx="282575" cy="239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 Black"/>
                <a:ea typeface="+mn-ea"/>
                <a:cs typeface="Arial Black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220"/>
              </a:spcBef>
            </a:pPr>
            <a:fld id="{81D60167-4931-47E6-BA6A-407CBD079E47}" type="slidenum">
              <a:rPr lang="en-US" smtClean="0"/>
              <a:pPr marL="38100">
                <a:spcBef>
                  <a:spcPts val="220"/>
                </a:spcBef>
              </a:pPr>
              <a:t>52</a:t>
            </a:fld>
            <a:endParaRPr dirty="0"/>
          </a:p>
        </p:txBody>
      </p:sp>
      <p:sp>
        <p:nvSpPr>
          <p:cNvPr id="53" name="object 53"/>
          <p:cNvSpPr txBox="1">
            <a:spLocks noGrp="1"/>
          </p:cNvSpPr>
          <p:nvPr>
            <p:ph type="dt" sz="half" idx="4294967295"/>
          </p:nvPr>
        </p:nvSpPr>
        <p:spPr>
          <a:xfrm>
            <a:off x="0" y="6477000"/>
            <a:ext cx="882650" cy="17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 spc="5"/>
              <a:t> </a:t>
            </a:r>
            <a:endParaRPr spc="-5" dirty="0"/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4294967295"/>
          </p:nvPr>
        </p:nvSpPr>
        <p:spPr>
          <a:xfrm>
            <a:off x="0" y="6494463"/>
            <a:ext cx="1206500" cy="17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US"/>
              <a:t> 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043238" y="3043238"/>
            <a:ext cx="1838325" cy="1838325"/>
            <a:chOff x="1519237" y="3043237"/>
            <a:chExt cx="1838325" cy="1838325"/>
          </a:xfrm>
        </p:grpSpPr>
        <p:sp>
          <p:nvSpPr>
            <p:cNvPr id="4" name="object 4"/>
            <p:cNvSpPr/>
            <p:nvPr/>
          </p:nvSpPr>
          <p:spPr>
            <a:xfrm>
              <a:off x="1524000" y="304800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4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1828800"/>
                  </a:lnTo>
                  <a:lnTo>
                    <a:pt x="914400" y="1828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3962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384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4000" y="4419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2286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20670" y="2625090"/>
            <a:ext cx="191960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spcBef>
                <a:spcPts val="700"/>
              </a:spcBef>
              <a:tabLst>
                <a:tab pos="850265" algn="l"/>
                <a:tab pos="1307465" algn="l"/>
                <a:tab pos="1764664" algn="l"/>
              </a:tabLst>
            </a:pPr>
            <a:r>
              <a:rPr sz="2000" dirty="0">
                <a:latin typeface="Arial"/>
                <a:cs typeface="Arial"/>
              </a:rPr>
              <a:t>1	2	3	4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37327" y="2128927"/>
          <a:ext cx="132080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X1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27241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,3,4}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X3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525780" algn="l"/>
                          <a:tab pos="781050" algn="l"/>
                          <a:tab pos="1036319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,	,	,	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8123327" y="2128927"/>
          <a:ext cx="1322070" cy="326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6670" algn="l"/>
                          <a:tab pos="47434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X2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2585" algn="l"/>
                          <a:tab pos="617855" algn="l"/>
                          <a:tab pos="874394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,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26670" algn="l"/>
                          <a:tab pos="474345" algn="l"/>
                        </a:tabLst>
                      </a:pPr>
                      <a:r>
                        <a:rPr sz="2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X4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tabLst>
                          <a:tab pos="361950" algn="l"/>
                          <a:tab pos="615950" algn="l"/>
                          <a:tab pos="1127760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	,	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400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,	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7167879" y="2971800"/>
            <a:ext cx="914400" cy="1600200"/>
          </a:xfrm>
          <a:custGeom>
            <a:avLst/>
            <a:gdLst/>
            <a:ahLst/>
            <a:cxnLst/>
            <a:rect l="l" t="t" r="r" b="b"/>
            <a:pathLst>
              <a:path w="914400" h="1600200">
                <a:moveTo>
                  <a:pt x="0" y="0"/>
                </a:moveTo>
                <a:lnTo>
                  <a:pt x="914400" y="1600200"/>
                </a:lnTo>
              </a:path>
              <a:path w="914400" h="1600200">
                <a:moveTo>
                  <a:pt x="914400" y="0"/>
                </a:moveTo>
                <a:lnTo>
                  <a:pt x="76200" y="1600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043328" y="3043328"/>
            <a:ext cx="1838325" cy="1838325"/>
            <a:chOff x="1519327" y="3043327"/>
            <a:chExt cx="1838325" cy="1838325"/>
          </a:xfrm>
        </p:grpSpPr>
        <p:sp>
          <p:nvSpPr>
            <p:cNvPr id="26" name="object 26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000" y="35051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574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146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574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718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14600" y="3581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1200" y="441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14600" y="40385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718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4384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43840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3388" y="7437"/>
                  </a:lnTo>
                  <a:lnTo>
                    <a:pt x="61447" y="28407"/>
                  </a:lnTo>
                  <a:lnTo>
                    <a:pt x="28773" y="60899"/>
                  </a:lnTo>
                  <a:lnTo>
                    <a:pt x="7559" y="102900"/>
                  </a:lnTo>
                  <a:lnTo>
                    <a:pt x="0" y="152400"/>
                  </a:lnTo>
                  <a:lnTo>
                    <a:pt x="7559" y="201411"/>
                  </a:lnTo>
                  <a:lnTo>
                    <a:pt x="28773" y="243352"/>
                  </a:lnTo>
                  <a:lnTo>
                    <a:pt x="61447" y="276026"/>
                  </a:lnTo>
                  <a:lnTo>
                    <a:pt x="103388" y="297240"/>
                  </a:lnTo>
                  <a:lnTo>
                    <a:pt x="152400" y="304800"/>
                  </a:lnTo>
                  <a:lnTo>
                    <a:pt x="201411" y="297240"/>
                  </a:lnTo>
                  <a:lnTo>
                    <a:pt x="243352" y="276026"/>
                  </a:lnTo>
                  <a:lnTo>
                    <a:pt x="276026" y="243352"/>
                  </a:lnTo>
                  <a:lnTo>
                    <a:pt x="297240" y="201411"/>
                  </a:lnTo>
                  <a:lnTo>
                    <a:pt x="304800" y="152400"/>
                  </a:lnTo>
                  <a:lnTo>
                    <a:pt x="297240" y="102900"/>
                  </a:lnTo>
                  <a:lnTo>
                    <a:pt x="276026" y="60899"/>
                  </a:lnTo>
                  <a:lnTo>
                    <a:pt x="243352" y="28407"/>
                  </a:lnTo>
                  <a:lnTo>
                    <a:pt x="201411" y="743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971800" y="31241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201411" y="7437"/>
                  </a:lnTo>
                  <a:lnTo>
                    <a:pt x="243352" y="28407"/>
                  </a:lnTo>
                  <a:lnTo>
                    <a:pt x="276026" y="60899"/>
                  </a:lnTo>
                  <a:lnTo>
                    <a:pt x="297240" y="102900"/>
                  </a:lnTo>
                  <a:lnTo>
                    <a:pt x="304800" y="152400"/>
                  </a:lnTo>
                  <a:lnTo>
                    <a:pt x="297240" y="201411"/>
                  </a:lnTo>
                  <a:lnTo>
                    <a:pt x="276026" y="243352"/>
                  </a:lnTo>
                  <a:lnTo>
                    <a:pt x="243352" y="276026"/>
                  </a:lnTo>
                  <a:lnTo>
                    <a:pt x="201411" y="297240"/>
                  </a:lnTo>
                  <a:lnTo>
                    <a:pt x="152400" y="304800"/>
                  </a:lnTo>
                  <a:lnTo>
                    <a:pt x="103388" y="297240"/>
                  </a:lnTo>
                  <a:lnTo>
                    <a:pt x="61447" y="276026"/>
                  </a:lnTo>
                  <a:lnTo>
                    <a:pt x="28773" y="243352"/>
                  </a:lnTo>
                  <a:lnTo>
                    <a:pt x="7559" y="201411"/>
                  </a:lnTo>
                  <a:lnTo>
                    <a:pt x="0" y="152400"/>
                  </a:lnTo>
                  <a:lnTo>
                    <a:pt x="7559" y="102900"/>
                  </a:lnTo>
                  <a:lnTo>
                    <a:pt x="28773" y="60899"/>
                  </a:lnTo>
                  <a:lnTo>
                    <a:pt x="61447" y="28407"/>
                  </a:lnTo>
                  <a:lnTo>
                    <a:pt x="103388" y="7437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0" y="0"/>
                  </a:moveTo>
                  <a:lnTo>
                    <a:pt x="0" y="0"/>
                  </a:lnTo>
                </a:path>
                <a:path w="304800" h="304800">
                  <a:moveTo>
                    <a:pt x="304800" y="304800"/>
                  </a:moveTo>
                  <a:lnTo>
                    <a:pt x="3048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895600" y="39623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7960" y="187960"/>
                  </a:lnTo>
                  <a:lnTo>
                    <a:pt x="0" y="228600"/>
                  </a:lnTo>
                  <a:lnTo>
                    <a:pt x="187960" y="269239"/>
                  </a:lnTo>
                  <a:lnTo>
                    <a:pt x="228600" y="457200"/>
                  </a:lnTo>
                  <a:lnTo>
                    <a:pt x="269239" y="269239"/>
                  </a:lnTo>
                  <a:lnTo>
                    <a:pt x="457200" y="228600"/>
                  </a:lnTo>
                  <a:lnTo>
                    <a:pt x="269239" y="1879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95600" y="39623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87960" y="187960"/>
                  </a:lnTo>
                  <a:lnTo>
                    <a:pt x="228600" y="0"/>
                  </a:lnTo>
                  <a:lnTo>
                    <a:pt x="269239" y="187960"/>
                  </a:lnTo>
                  <a:lnTo>
                    <a:pt x="457200" y="228600"/>
                  </a:lnTo>
                  <a:lnTo>
                    <a:pt x="269239" y="269239"/>
                  </a:lnTo>
                  <a:lnTo>
                    <a:pt x="228600" y="457200"/>
                  </a:lnTo>
                  <a:lnTo>
                    <a:pt x="187960" y="269239"/>
                  </a:lnTo>
                  <a:lnTo>
                    <a:pt x="0" y="22860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07619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1" y="609277"/>
            <a:ext cx="994537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5" dirty="0"/>
              <a:t>Intelligent</a:t>
            </a:r>
            <a:r>
              <a:rPr spc="20" dirty="0"/>
              <a:t> </a:t>
            </a:r>
            <a:r>
              <a:rPr spc="-5" dirty="0"/>
              <a:t>Backtracking:</a:t>
            </a:r>
            <a:r>
              <a:rPr spc="-105" dirty="0"/>
              <a:t> </a:t>
            </a:r>
            <a:r>
              <a:rPr spc="10" dirty="0"/>
              <a:t>Looking</a:t>
            </a:r>
            <a:r>
              <a:rPr spc="-85" dirty="0"/>
              <a:t> </a:t>
            </a:r>
            <a:r>
              <a:rPr spc="-10" dirty="0"/>
              <a:t>Backward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071" y="1371600"/>
            <a:ext cx="904493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1425</Words>
  <Application>Microsoft Office PowerPoint</Application>
  <PresentationFormat>Widescreen</PresentationFormat>
  <Paragraphs>454</Paragraphs>
  <Slides>53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Arial</vt:lpstr>
      <vt:lpstr>Arial Black</vt:lpstr>
      <vt:lpstr>Arial MT</vt:lpstr>
      <vt:lpstr>Calibri</vt:lpstr>
      <vt:lpstr>Calibri Light</vt:lpstr>
      <vt:lpstr>Symbol</vt:lpstr>
      <vt:lpstr>Times New Roman</vt:lpstr>
      <vt:lpstr>Office Theme</vt:lpstr>
      <vt:lpstr>PowerPoint Presentation</vt:lpstr>
      <vt:lpstr>Objectives</vt:lpstr>
      <vt:lpstr>PowerPoint Presentation</vt:lpstr>
      <vt:lpstr>Constraint Satisfaction Problem</vt:lpstr>
      <vt:lpstr>Converting problems to CSPs</vt:lpstr>
      <vt:lpstr>CSP Example1-Sudoku</vt:lpstr>
      <vt:lpstr>Example2-Map Coloring</vt:lpstr>
      <vt:lpstr>Map Coloring</vt:lpstr>
      <vt:lpstr>Map Coloring</vt:lpstr>
      <vt:lpstr>Constraint Graphs</vt:lpstr>
      <vt:lpstr>Constraint Graphs</vt:lpstr>
      <vt:lpstr>CSP Representation of Map Coloring</vt:lpstr>
      <vt:lpstr>Varieties of constraints</vt:lpstr>
      <vt:lpstr>PowerPoint Presentation</vt:lpstr>
      <vt:lpstr>Backtracking search</vt:lpstr>
      <vt:lpstr>Backtracking for the map-coloring problem</vt:lpstr>
      <vt:lpstr>Backtracking Example:2</vt:lpstr>
      <vt:lpstr>PowerPoint Presentation</vt:lpstr>
      <vt:lpstr>PowerPoint Presentation</vt:lpstr>
      <vt:lpstr>Backtracking search</vt:lpstr>
      <vt:lpstr>Improving backtracking efficiency (Variable  and Value Ordering)</vt:lpstr>
      <vt:lpstr>Ordering</vt:lpstr>
      <vt:lpstr>Minimum remaining values (MRV)</vt:lpstr>
      <vt:lpstr>Most-Constraining Variable  (Degree Heuristics)</vt:lpstr>
      <vt:lpstr>Filtering</vt:lpstr>
      <vt:lpstr>Filtering: Forward Checking</vt:lpstr>
      <vt:lpstr>Filtering: Forward Checking</vt:lpstr>
      <vt:lpstr>Forward Checking</vt:lpstr>
      <vt:lpstr>Forward Checking Example:2</vt:lpstr>
      <vt:lpstr>Forward Checking Example:2……</vt:lpstr>
      <vt:lpstr>ARC Consistency</vt:lpstr>
      <vt:lpstr>Consistency of A Single Arc</vt:lpstr>
      <vt:lpstr>Arc Consistency of an Entire CSP</vt:lpstr>
      <vt:lpstr>ARC Consistency</vt:lpstr>
      <vt:lpstr>PowerPoint Presentation</vt:lpstr>
      <vt:lpstr>Limitations of Arc Consistency</vt:lpstr>
      <vt:lpstr>Cryptarithmetic</vt:lpstr>
      <vt:lpstr>PowerPoint Presentation</vt:lpstr>
      <vt:lpstr>PowerPoint Presentation</vt:lpstr>
      <vt:lpstr>PowerPoint Presentation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Intelligent Backtracking: Looking Backward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Saeeda Kanwal</dc:creator>
  <cp:lastModifiedBy>Anum Hamid</cp:lastModifiedBy>
  <cp:revision>10</cp:revision>
  <dcterms:created xsi:type="dcterms:W3CDTF">2023-03-20T05:43:23Z</dcterms:created>
  <dcterms:modified xsi:type="dcterms:W3CDTF">2025-03-18T05:09:18Z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2020-04-06T00:00:00Z</vt:filetime>
  </property>
  <property fmtid="{D5CDD505-2E9C-101B-9397-08002B2CF9AE}" pid="3" name="Creator">
    <vt:lpwstr>Online2PDF.com</vt:lpwstr>
  </property>
  <property fmtid="{D5CDD505-2E9C-101B-9397-08002B2CF9AE}" pid="4" name="LastSaved">
    <vt:filetime>2020-04-06T00:00:00Z</vt:filetime>
  </property>
</Properties>
</file>