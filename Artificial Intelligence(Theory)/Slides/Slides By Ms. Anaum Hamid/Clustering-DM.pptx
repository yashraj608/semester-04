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84" r:id="rId2"/>
    <p:sldId id="569" r:id="rId3"/>
    <p:sldId id="570" r:id="rId4"/>
    <p:sldId id="571" r:id="rId5"/>
    <p:sldId id="589" r:id="rId6"/>
    <p:sldId id="485" r:id="rId7"/>
    <p:sldId id="486" r:id="rId8"/>
    <p:sldId id="567" r:id="rId9"/>
    <p:sldId id="568" r:id="rId10"/>
    <p:sldId id="487" r:id="rId11"/>
    <p:sldId id="488" r:id="rId12"/>
    <p:sldId id="489" r:id="rId13"/>
    <p:sldId id="490" r:id="rId14"/>
    <p:sldId id="491" r:id="rId15"/>
    <p:sldId id="492" r:id="rId16"/>
    <p:sldId id="493" r:id="rId17"/>
    <p:sldId id="495" r:id="rId18"/>
    <p:sldId id="496" r:id="rId19"/>
    <p:sldId id="497" r:id="rId20"/>
    <p:sldId id="562" r:id="rId21"/>
    <p:sldId id="563" r:id="rId22"/>
    <p:sldId id="591" r:id="rId23"/>
    <p:sldId id="592" r:id="rId24"/>
    <p:sldId id="593" r:id="rId25"/>
    <p:sldId id="594" r:id="rId26"/>
    <p:sldId id="595" r:id="rId27"/>
    <p:sldId id="566" r:id="rId28"/>
    <p:sldId id="503" r:id="rId29"/>
    <p:sldId id="504" r:id="rId30"/>
    <p:sldId id="50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C6"/>
    <a:srgbClr val="692A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3" autoAdjust="0"/>
    <p:restoredTop sz="92643" autoAdjust="0"/>
  </p:normalViewPr>
  <p:slideViewPr>
    <p:cSldViewPr>
      <p:cViewPr varScale="1">
        <p:scale>
          <a:sx n="107" d="100"/>
          <a:sy n="107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9B556C9-C570-4C97-BFA5-E6F2607538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317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047302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Freeform 17"/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/>
            <a:ahLst/>
            <a:cxnLst>
              <a:cxn ang="0">
                <a:pos x="12" y="124"/>
              </a:cxn>
              <a:cxn ang="0">
                <a:pos x="1381" y="12"/>
              </a:cxn>
              <a:cxn ang="0">
                <a:pos x="4064" y="581"/>
              </a:cxn>
              <a:cxn ang="0">
                <a:pos x="5773" y="118"/>
              </a:cxn>
              <a:cxn ang="0">
                <a:pos x="5766" y="2151"/>
              </a:cxn>
              <a:cxn ang="0">
                <a:pos x="3966" y="2263"/>
              </a:cxn>
              <a:cxn ang="0">
                <a:pos x="1963" y="1897"/>
              </a:cxn>
              <a:cxn ang="0">
                <a:pos x="6" y="2407"/>
              </a:cxn>
              <a:cxn ang="0">
                <a:pos x="12" y="124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0" name="Freeform 18"/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/>
            <a:ahLst/>
            <a:cxnLst>
              <a:cxn ang="0">
                <a:pos x="6" y="272"/>
              </a:cxn>
              <a:cxn ang="0">
                <a:pos x="1453" y="10"/>
              </a:cxn>
              <a:cxn ang="0">
                <a:pos x="4182" y="482"/>
              </a:cxn>
              <a:cxn ang="0">
                <a:pos x="5764" y="154"/>
              </a:cxn>
              <a:cxn ang="0">
                <a:pos x="5764" y="1806"/>
              </a:cxn>
              <a:cxn ang="0">
                <a:pos x="4005" y="1994"/>
              </a:cxn>
              <a:cxn ang="0">
                <a:pos x="1891" y="1522"/>
              </a:cxn>
              <a:cxn ang="0">
                <a:pos x="6" y="1967"/>
              </a:cxn>
              <a:cxn ang="0">
                <a:pos x="6" y="272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097" name="Group 25"/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3098" name="Oval 26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Oval 27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A5A4A9D-D66E-4573-B3EF-442AA627B81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19" name="Picture 4" descr="http://www.krupainfoservices.com/wp-content/uploads/2013/05/data-minin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95249"/>
            <a:ext cx="379095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Bahria Logo new white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" y="152400"/>
            <a:ext cx="4216933" cy="1097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75000"/>
                </a:schemeClr>
              </a:buClr>
              <a:defRPr/>
            </a:lvl1pPr>
            <a:lvl2pPr>
              <a:buClr>
                <a:schemeClr val="tx2">
                  <a:lumMod val="75000"/>
                </a:schemeClr>
              </a:buClr>
              <a:defRPr/>
            </a:lvl2pPr>
            <a:lvl3pPr>
              <a:buClr>
                <a:schemeClr val="tx2">
                  <a:lumMod val="75000"/>
                </a:schemeClr>
              </a:buClr>
              <a:defRPr/>
            </a:lvl3pPr>
            <a:lvl4pPr>
              <a:buClr>
                <a:schemeClr val="tx2">
                  <a:lumMod val="75000"/>
                </a:schemeClr>
              </a:buClr>
              <a:defRPr/>
            </a:lvl4pPr>
            <a:lvl5pPr>
              <a:buClr>
                <a:schemeClr val="tx2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C121D7-F84A-4508-92A7-9939F6DECD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F6881-EE79-4FA9-8A74-B8377DEE9A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4CF524-D3B1-43E4-84E2-796C6862C7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CC5F1-850A-4535-B011-D0B9054A13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584446-6D80-42B6-814B-F5A50A354C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4D0FC-6A02-447B-9931-3767B2850C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6F896-4EE7-4C99-A984-7C8646211C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702D9-945D-4AD6-953A-36E31114DE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96462-7D4A-4B97-9677-F6480506AB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B8C289-2DB5-4F3E-9967-17D2116511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D264751-2FF5-4412-8B78-977373DBCB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Freeform 16"/>
          <p:cNvSpPr>
            <a:spLocks/>
          </p:cNvSpPr>
          <p:nvPr/>
        </p:nvSpPr>
        <p:spPr bwMode="gray">
          <a:xfrm>
            <a:off x="-11113" y="0"/>
            <a:ext cx="9155113" cy="1620837"/>
          </a:xfrm>
          <a:custGeom>
            <a:avLst/>
            <a:gdLst/>
            <a:ahLst/>
            <a:cxnLst>
              <a:cxn ang="0">
                <a:pos x="6" y="109"/>
              </a:cxn>
              <a:cxn ang="0">
                <a:pos x="1427" y="46"/>
              </a:cxn>
              <a:cxn ang="0">
                <a:pos x="4032" y="255"/>
              </a:cxn>
              <a:cxn ang="0">
                <a:pos x="5767" y="0"/>
              </a:cxn>
              <a:cxn ang="0">
                <a:pos x="5767" y="776"/>
              </a:cxn>
              <a:cxn ang="0">
                <a:pos x="4065" y="831"/>
              </a:cxn>
              <a:cxn ang="0">
                <a:pos x="1984" y="674"/>
              </a:cxn>
              <a:cxn ang="0">
                <a:pos x="14" y="995"/>
              </a:cxn>
              <a:cxn ang="0">
                <a:pos x="6" y="109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41" name="Freeform 17"/>
          <p:cNvSpPr>
            <a:spLocks/>
          </p:cNvSpPr>
          <p:nvPr/>
        </p:nvSpPr>
        <p:spPr bwMode="gray">
          <a:xfrm>
            <a:off x="-20638" y="252412"/>
            <a:ext cx="9161463" cy="1006475"/>
          </a:xfrm>
          <a:custGeom>
            <a:avLst/>
            <a:gdLst/>
            <a:ahLst/>
            <a:cxnLst>
              <a:cxn ang="0">
                <a:pos x="20" y="109"/>
              </a:cxn>
              <a:cxn ang="0">
                <a:pos x="1442" y="3"/>
              </a:cxn>
              <a:cxn ang="0">
                <a:pos x="4150" y="148"/>
              </a:cxn>
              <a:cxn ang="0">
                <a:pos x="5771" y="37"/>
              </a:cxn>
              <a:cxn ang="0">
                <a:pos x="5771" y="557"/>
              </a:cxn>
              <a:cxn ang="0">
                <a:pos x="3942" y="592"/>
              </a:cxn>
              <a:cxn ang="0">
                <a:pos x="1839" y="456"/>
              </a:cxn>
              <a:cxn ang="0">
                <a:pos x="6" y="620"/>
              </a:cxn>
              <a:cxn ang="0">
                <a:pos x="20" y="109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042" name="Group 18"/>
          <p:cNvGrpSpPr>
            <a:grpSpLocks/>
          </p:cNvGrpSpPr>
          <p:nvPr/>
        </p:nvGrpSpPr>
        <p:grpSpPr bwMode="auto">
          <a:xfrm>
            <a:off x="7740650" y="293688"/>
            <a:ext cx="387350" cy="366712"/>
            <a:chOff x="4752" y="1200"/>
            <a:chExt cx="288" cy="288"/>
          </a:xfrm>
        </p:grpSpPr>
        <p:sp>
          <p:nvSpPr>
            <p:cNvPr id="1043" name="Oval 19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48" name="Group 24"/>
          <p:cNvGrpSpPr>
            <a:grpSpLocks/>
          </p:cNvGrpSpPr>
          <p:nvPr/>
        </p:nvGrpSpPr>
        <p:grpSpPr bwMode="auto">
          <a:xfrm>
            <a:off x="171450" y="538162"/>
            <a:ext cx="720725" cy="762000"/>
            <a:chOff x="4992" y="816"/>
            <a:chExt cx="576" cy="576"/>
          </a:xfrm>
        </p:grpSpPr>
        <p:sp>
          <p:nvSpPr>
            <p:cNvPr id="1049" name="Oval 25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A53430C-6074-4D29-8B94-F9A125AC8DA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404812"/>
            <a:ext cx="73914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grpSp>
        <p:nvGrpSpPr>
          <p:cNvPr id="1045" name="Group 21"/>
          <p:cNvGrpSpPr>
            <a:grpSpLocks/>
          </p:cNvGrpSpPr>
          <p:nvPr/>
        </p:nvGrpSpPr>
        <p:grpSpPr bwMode="auto">
          <a:xfrm>
            <a:off x="8153400" y="0"/>
            <a:ext cx="609600" cy="592138"/>
            <a:chOff x="4992" y="816"/>
            <a:chExt cx="576" cy="576"/>
          </a:xfrm>
        </p:grpSpPr>
        <p:sp>
          <p:nvSpPr>
            <p:cNvPr id="1046" name="Oval 2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What is Cluster Analysis?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Cluster</a:t>
            </a:r>
            <a:r>
              <a:rPr lang="en-US" altLang="zh-CN" sz="2400" dirty="0">
                <a:ea typeface="SimSun" panose="02010600030101010101" pitchFamily="2" charset="-122"/>
              </a:rPr>
              <a:t>: A collection of data objects</a:t>
            </a:r>
          </a:p>
          <a:p>
            <a:pPr lvl="1"/>
            <a:r>
              <a:rPr lang="en-US" altLang="zh-CN" dirty="0">
                <a:solidFill>
                  <a:srgbClr val="692AA2"/>
                </a:solidFill>
                <a:ea typeface="SimSun" panose="02010600030101010101" pitchFamily="2" charset="-122"/>
              </a:rPr>
              <a:t>similar</a:t>
            </a:r>
            <a:r>
              <a:rPr lang="en-US" altLang="zh-CN" dirty="0">
                <a:ea typeface="SimSun" panose="02010600030101010101" pitchFamily="2" charset="-122"/>
              </a:rPr>
              <a:t> (or related) to one another within the </a:t>
            </a: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same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group</a:t>
            </a:r>
          </a:p>
          <a:p>
            <a:pPr lvl="1"/>
            <a:r>
              <a:rPr lang="en-US" altLang="zh-CN" dirty="0">
                <a:solidFill>
                  <a:srgbClr val="692AA2"/>
                </a:solidFill>
                <a:ea typeface="SimSun" panose="02010600030101010101" pitchFamily="2" charset="-122"/>
              </a:rPr>
              <a:t>dissimilar</a:t>
            </a:r>
            <a:r>
              <a:rPr lang="en-US" altLang="zh-CN" dirty="0">
                <a:ea typeface="SimSun" panose="02010600030101010101" pitchFamily="2" charset="-122"/>
              </a:rPr>
              <a:t> (or unrelated) to the objects in </a:t>
            </a: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other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groups</a:t>
            </a:r>
          </a:p>
          <a:p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Cluster analysis </a:t>
            </a:r>
            <a:r>
              <a:rPr lang="en-US" altLang="zh-CN" sz="2400" dirty="0">
                <a:ea typeface="SimSun" panose="02010600030101010101" pitchFamily="2" charset="-122"/>
              </a:rPr>
              <a:t>(or </a:t>
            </a:r>
            <a:r>
              <a:rPr lang="en-US" altLang="zh-CN" sz="2400" i="1" dirty="0">
                <a:ea typeface="SimSun" panose="02010600030101010101" pitchFamily="2" charset="-122"/>
              </a:rPr>
              <a:t>clustering</a:t>
            </a:r>
            <a:r>
              <a:rPr lang="en-US" altLang="zh-CN" sz="2400" dirty="0">
                <a:ea typeface="SimSun" panose="02010600030101010101" pitchFamily="2" charset="-122"/>
              </a:rPr>
              <a:t>, </a:t>
            </a:r>
            <a:r>
              <a:rPr lang="en-US" altLang="zh-CN" sz="2400" i="1" dirty="0">
                <a:ea typeface="SimSun" panose="02010600030101010101" pitchFamily="2" charset="-122"/>
              </a:rPr>
              <a:t>data segmentation, …</a:t>
            </a:r>
            <a:r>
              <a:rPr lang="en-US" altLang="zh-CN" sz="2400" dirty="0">
                <a:ea typeface="SimSun" panose="02010600030101010101" pitchFamily="2" charset="-122"/>
              </a:rPr>
              <a:t>)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Finding similarities between data according to the characteristics found in the data and grouping similar data objects into clusters</a:t>
            </a:r>
          </a:p>
          <a:p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Unsupervised learning</a:t>
            </a:r>
            <a:r>
              <a:rPr lang="en-US" altLang="zh-CN" sz="2400" dirty="0">
                <a:ea typeface="SimSun" panose="02010600030101010101" pitchFamily="2" charset="-122"/>
              </a:rPr>
              <a:t>: no predefined classes (i.e., </a:t>
            </a:r>
            <a:r>
              <a:rPr lang="en-US" altLang="zh-CN" sz="2400" i="1" dirty="0">
                <a:ea typeface="SimSun" panose="02010600030101010101" pitchFamily="2" charset="-122"/>
              </a:rPr>
              <a:t>learning by observations</a:t>
            </a:r>
            <a:r>
              <a:rPr lang="en-US" altLang="zh-CN" sz="2400" dirty="0">
                <a:ea typeface="SimSun" panose="02010600030101010101" pitchFamily="2" charset="-122"/>
              </a:rPr>
              <a:t> vs. learning by examples: supervised)</a:t>
            </a:r>
          </a:p>
          <a:p>
            <a:r>
              <a:rPr lang="en-US" altLang="zh-CN" sz="2400" dirty="0">
                <a:ea typeface="SimSun" panose="02010600030101010101" pitchFamily="2" charset="-122"/>
              </a:rPr>
              <a:t>Typical applications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As a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ea typeface="SimSun" panose="02010600030101010101" pitchFamily="2" charset="-122"/>
              </a:rPr>
              <a:t>stand-alone tool</a:t>
            </a:r>
            <a:r>
              <a:rPr lang="en-US" altLang="zh-CN" dirty="0">
                <a:ea typeface="SimSun" panose="02010600030101010101" pitchFamily="2" charset="-122"/>
              </a:rPr>
              <a:t> to get insight into data distribution 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As a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ea typeface="SimSun" panose="02010600030101010101" pitchFamily="2" charset="-122"/>
              </a:rPr>
              <a:t>preprocessing step </a:t>
            </a:r>
            <a:r>
              <a:rPr lang="en-US" altLang="zh-CN" dirty="0">
                <a:ea typeface="SimSun" panose="02010600030101010101" pitchFamily="2" charset="-122"/>
              </a:rPr>
              <a:t>for other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40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What is Cluster Analysis?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 cstate="print"/>
          <a:srcRect t="7576" r="4348" b="4545"/>
          <a:stretch>
            <a:fillRect/>
          </a:stretch>
        </p:blipFill>
        <p:spPr bwMode="auto">
          <a:xfrm>
            <a:off x="1066800" y="1600200"/>
            <a:ext cx="7239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5240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What is Cluster Analysis?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Family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 l="2326" r="2326"/>
          <a:stretch>
            <a:fillRect/>
          </a:stretch>
        </p:blipFill>
        <p:spPr bwMode="auto">
          <a:xfrm>
            <a:off x="762000" y="2438400"/>
            <a:ext cx="3124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/>
          <p:nvPr/>
        </p:nvPicPr>
        <p:blipFill>
          <a:blip r:embed="rId3" cstate="print"/>
          <a:srcRect l="5455" r="7273"/>
          <a:stretch>
            <a:fillRect/>
          </a:stretch>
        </p:blipFill>
        <p:spPr bwMode="auto">
          <a:xfrm>
            <a:off x="4267200" y="2362200"/>
            <a:ext cx="3657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8"/>
          <p:cNvPicPr/>
          <p:nvPr/>
        </p:nvPicPr>
        <p:blipFill>
          <a:blip r:embed="rId4" cstate="print"/>
          <a:srcRect l="7547" r="7547"/>
          <a:stretch>
            <a:fillRect/>
          </a:stretch>
        </p:blipFill>
        <p:spPr bwMode="auto">
          <a:xfrm>
            <a:off x="2667000" y="4572000"/>
            <a:ext cx="3429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5240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What is Cluster Analysis?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Age</a:t>
            </a: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057400"/>
            <a:ext cx="4267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4724400"/>
            <a:ext cx="41910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5240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What is Cluster Analysis?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Gender</a:t>
            </a:r>
            <a:endParaRPr lang="en-US" dirty="0"/>
          </a:p>
        </p:txBody>
      </p:sp>
      <p:pic>
        <p:nvPicPr>
          <p:cNvPr id="503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981200"/>
            <a:ext cx="30384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38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4267200"/>
            <a:ext cx="635317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552406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 of Cluster Analysis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Data </a:t>
            </a:r>
            <a:r>
              <a:rPr lang="en-US" sz="2400" dirty="0">
                <a:solidFill>
                  <a:srgbClr val="C00000"/>
                </a:solidFill>
              </a:rPr>
              <a:t>reduction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Summarization</a:t>
            </a:r>
            <a:r>
              <a:rPr lang="en-US" altLang="zh-CN" dirty="0">
                <a:ea typeface="SimSun" panose="02010600030101010101" pitchFamily="2" charset="-122"/>
              </a:rPr>
              <a:t>: Preprocessing for regression, PCA, classification, and association analysis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0070C0"/>
                </a:solidFill>
                <a:ea typeface="SimSun" panose="02010600030101010101" pitchFamily="2" charset="-122"/>
              </a:rPr>
              <a:t>Compression</a:t>
            </a:r>
            <a:r>
              <a:rPr lang="en-US" altLang="zh-CN" dirty="0">
                <a:ea typeface="SimSun" panose="02010600030101010101" pitchFamily="2" charset="-122"/>
              </a:rPr>
              <a:t>: Image processing: vector quantization</a:t>
            </a:r>
            <a:endParaRPr lang="en-US" dirty="0"/>
          </a:p>
          <a:p>
            <a:r>
              <a:rPr lang="en-US" sz="2400" dirty="0"/>
              <a:t>Hypothesis generation and testing</a:t>
            </a:r>
          </a:p>
          <a:p>
            <a:r>
              <a:rPr lang="en-US" sz="2400" dirty="0"/>
              <a:t>Prediction based on groups</a:t>
            </a:r>
          </a:p>
          <a:p>
            <a:pPr lvl="1"/>
            <a:r>
              <a:rPr lang="en-US" dirty="0"/>
              <a:t>Cluster &amp; find characteristics/patterns for each group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ea typeface="SimSun" panose="02010600030101010101" pitchFamily="2" charset="-122"/>
              </a:rPr>
              <a:t>Finding K-nearest Neighbors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ea typeface="SimSun" panose="02010600030101010101" pitchFamily="2" charset="-122"/>
              </a:rPr>
              <a:t>Localizing search to one or a small number of clusters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Outlier detection</a:t>
            </a:r>
            <a:r>
              <a:rPr lang="en-US" altLang="zh-CN" sz="2400" dirty="0">
                <a:ea typeface="SimSun" panose="02010600030101010101" pitchFamily="2" charset="-122"/>
              </a:rPr>
              <a:t>: Outliers are often viewed as those “far away” from any </a:t>
            </a:r>
            <a:r>
              <a:rPr lang="en-US" altLang="zh-CN" sz="2400" dirty="0" smtClean="0">
                <a:ea typeface="SimSun" panose="02010600030101010101" pitchFamily="2" charset="-122"/>
              </a:rPr>
              <a:t>cluster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43107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Clustering: Application Examples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7886700" cy="5429251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Biology</a:t>
            </a:r>
            <a:r>
              <a:rPr lang="en-US" altLang="zh-CN" dirty="0">
                <a:ea typeface="SimSun" panose="02010600030101010101" pitchFamily="2" charset="-122"/>
              </a:rPr>
              <a:t>: taxonomy of living things: kingdom, phylum, class, order, family, genus and species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Information retrieval</a:t>
            </a:r>
            <a:r>
              <a:rPr lang="en-US" altLang="zh-CN" dirty="0">
                <a:ea typeface="SimSun" panose="02010600030101010101" pitchFamily="2" charset="-122"/>
              </a:rPr>
              <a:t>: document clustering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Land use</a:t>
            </a:r>
            <a:r>
              <a:rPr lang="en-US" altLang="zh-CN" dirty="0">
                <a:ea typeface="SimSun" panose="02010600030101010101" pitchFamily="2" charset="-122"/>
              </a:rPr>
              <a:t>: Identification of areas of similar land use in an earth observation database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Marketing</a:t>
            </a:r>
            <a:r>
              <a:rPr lang="en-US" altLang="zh-CN" dirty="0">
                <a:ea typeface="SimSun" panose="02010600030101010101" pitchFamily="2" charset="-122"/>
              </a:rPr>
              <a:t>: Help marketers discover distinct groups in their customer bases, and then use this knowledge to develop targeted marketing programs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City-planning</a:t>
            </a:r>
            <a:r>
              <a:rPr lang="en-US" altLang="zh-CN" dirty="0">
                <a:ea typeface="SimSun" panose="02010600030101010101" pitchFamily="2" charset="-122"/>
              </a:rPr>
              <a:t>: Identifying groups of houses according to their house type, value, and geographical location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Earth-quake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studies</a:t>
            </a:r>
            <a:r>
              <a:rPr lang="en-US" altLang="zh-CN" dirty="0">
                <a:ea typeface="SimSun" panose="02010600030101010101" pitchFamily="2" charset="-122"/>
              </a:rPr>
              <a:t>: Observed earth quake epicenters should be clustered along continent faults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Climate</a:t>
            </a:r>
            <a:r>
              <a:rPr lang="en-US" altLang="zh-CN" dirty="0">
                <a:ea typeface="SimSun" panose="02010600030101010101" pitchFamily="2" charset="-122"/>
              </a:rPr>
              <a:t>: understanding earth climate, find patterns of atmospheric and ocean</a:t>
            </a:r>
          </a:p>
          <a:p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Economic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ea typeface="SimSun" panose="02010600030101010101" pitchFamily="2" charset="-122"/>
              </a:rPr>
              <a:t>Science</a:t>
            </a:r>
            <a:r>
              <a:rPr lang="en-US" altLang="zh-CN" dirty="0">
                <a:ea typeface="SimSun" panose="02010600030101010101" pitchFamily="2" charset="-122"/>
              </a:rPr>
              <a:t>: market </a:t>
            </a:r>
            <a:r>
              <a:rPr lang="en-US" altLang="zh-CN" dirty="0" smtClean="0">
                <a:ea typeface="SimSun" panose="02010600030101010101" pitchFamily="2" charset="-122"/>
              </a:rPr>
              <a:t>research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9007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CN" dirty="0" smtClean="0"/>
              <a:t>Earthquakes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412C5C-C73A-4010-A543-514F6E608F9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216066" name="Picture 2" descr="http://www.readinessinfo.com/gifs/eqmaps/eqworld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235" y="1295400"/>
            <a:ext cx="8123565" cy="4686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CN" dirty="0" smtClean="0"/>
              <a:t>Image Segmentation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412C5C-C73A-4010-A543-514F6E608F9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220162" name="Picture 2" descr="http://www-sipl.technion.ac.il/UploadedFiles/imageSegmentation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371600"/>
            <a:ext cx="6067425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8439150" cy="1200149"/>
          </a:xfrm>
        </p:spPr>
        <p:txBody>
          <a:bodyPr>
            <a:normAutofit/>
          </a:bodyPr>
          <a:lstStyle/>
          <a:p>
            <a:r>
              <a:rPr lang="en-US" dirty="0"/>
              <a:t>Basic Steps to Develop a Clustering Task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9104"/>
            <a:ext cx="7886700" cy="4947445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Feature selection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Select info concerning the task of interest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Minimal information redundancy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Proximity measure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Similarity of two feature vectors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Clustering criterion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Expressed via a cost function or some rules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Clustering algorithms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Choice of algorithms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Validation of the results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Validation test (also, </a:t>
            </a:r>
            <a:r>
              <a:rPr lang="en-US" sz="2000" i="1" dirty="0"/>
              <a:t>clustering tendency </a:t>
            </a:r>
            <a:r>
              <a:rPr lang="en-US" sz="2000" dirty="0"/>
              <a:t>test)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Interpretation of the results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Integration with </a:t>
            </a:r>
            <a:r>
              <a:rPr lang="en-US" sz="2000" dirty="0" smtClean="0"/>
              <a:t>applications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1062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Quality: What Is Good Clustering?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848600" cy="22098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good clustering method will produce high quality clusters</a:t>
            </a:r>
          </a:p>
          <a:p>
            <a:pPr lvl="1"/>
            <a:r>
              <a:rPr lang="en-US" dirty="0"/>
              <a:t>high intra-class similarity: cohesive within clusters</a:t>
            </a:r>
          </a:p>
          <a:p>
            <a:pPr lvl="1"/>
            <a:r>
              <a:rPr lang="en-US" dirty="0"/>
              <a:t>low inter-class similarity: distinctive between clusters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quality of a clustering method depends on</a:t>
            </a:r>
          </a:p>
          <a:p>
            <a:pPr lvl="1"/>
            <a:r>
              <a:rPr lang="en-US" dirty="0"/>
              <a:t>the similarity measure used by the method </a:t>
            </a:r>
          </a:p>
          <a:p>
            <a:pPr lvl="1"/>
            <a:r>
              <a:rPr lang="en-US" dirty="0"/>
              <a:t>its implementation, and</a:t>
            </a:r>
          </a:p>
          <a:p>
            <a:pPr lvl="1"/>
            <a:r>
              <a:rPr lang="en-US" dirty="0"/>
              <a:t>Its ability to discover some or all of the hidden patterns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276600" y="3951288"/>
            <a:ext cx="3048000" cy="2678112"/>
            <a:chOff x="2160" y="2544"/>
            <a:chExt cx="1920" cy="1687"/>
          </a:xfrm>
        </p:grpSpPr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2" name="Group 33"/>
          <p:cNvGrpSpPr>
            <a:grpSpLocks/>
          </p:cNvGrpSpPr>
          <p:nvPr/>
        </p:nvGrpSpPr>
        <p:grpSpPr bwMode="auto">
          <a:xfrm>
            <a:off x="5257800" y="3657600"/>
            <a:ext cx="2895600" cy="1905000"/>
            <a:chOff x="3312" y="1968"/>
            <a:chExt cx="1824" cy="1200"/>
          </a:xfrm>
        </p:grpSpPr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utoShape 35"/>
            <p:cNvSpPr>
              <a:spLocks noChangeArrowheads="1"/>
            </p:cNvSpPr>
            <p:nvPr/>
          </p:nvSpPr>
          <p:spPr bwMode="auto">
            <a:xfrm>
              <a:off x="3984" y="1968"/>
              <a:ext cx="1152" cy="528"/>
            </a:xfrm>
            <a:prstGeom prst="wedgeRectCallout">
              <a:avLst>
                <a:gd name="adj1" fmla="val -91947"/>
                <a:gd name="adj2" fmla="val 127030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latin typeface="Tahoma" pitchFamily="34" charset="0"/>
                </a:rPr>
                <a:t>Inter-cluster distances are maximized</a:t>
              </a:r>
            </a:p>
          </p:txBody>
        </p:sp>
      </p:grpSp>
      <p:grpSp>
        <p:nvGrpSpPr>
          <p:cNvPr id="35" name="Group 36"/>
          <p:cNvGrpSpPr>
            <a:grpSpLocks/>
          </p:cNvGrpSpPr>
          <p:nvPr/>
        </p:nvGrpSpPr>
        <p:grpSpPr bwMode="auto">
          <a:xfrm>
            <a:off x="2895600" y="4038600"/>
            <a:ext cx="3276600" cy="2286000"/>
            <a:chOff x="1824" y="2208"/>
            <a:chExt cx="2064" cy="1440"/>
          </a:xfrm>
        </p:grpSpPr>
        <p:sp>
          <p:nvSpPr>
            <p:cNvPr id="36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40"/>
          <p:cNvGrpSpPr>
            <a:grpSpLocks/>
          </p:cNvGrpSpPr>
          <p:nvPr/>
        </p:nvGrpSpPr>
        <p:grpSpPr bwMode="auto">
          <a:xfrm>
            <a:off x="838200" y="3810000"/>
            <a:ext cx="2743200" cy="1219200"/>
            <a:chOff x="912" y="2064"/>
            <a:chExt cx="1344" cy="768"/>
          </a:xfrm>
        </p:grpSpPr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AutoShape 42"/>
            <p:cNvSpPr>
              <a:spLocks noChangeArrowheads="1"/>
            </p:cNvSpPr>
            <p:nvPr/>
          </p:nvSpPr>
          <p:spPr bwMode="auto">
            <a:xfrm>
              <a:off x="912" y="2064"/>
              <a:ext cx="1269" cy="480"/>
            </a:xfrm>
            <a:prstGeom prst="wedgeRectCallout">
              <a:avLst>
                <a:gd name="adj1" fmla="val 47978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b="0" dirty="0">
                  <a:latin typeface="Tahoma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9461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Measure the Quality of Clustering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9104"/>
            <a:ext cx="7886700" cy="4947445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Dissimilarity/Similarity metric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Similarity is expressed in terms of a distance function, typically metric: </a:t>
            </a:r>
            <a:r>
              <a:rPr lang="en-US" altLang="zh-CN" i="1" dirty="0">
                <a:ea typeface="SimSun" panose="02010600030101010101" pitchFamily="2" charset="-122"/>
              </a:rPr>
              <a:t>d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i="1" dirty="0">
                <a:ea typeface="SimSun" panose="02010600030101010101" pitchFamily="2" charset="-122"/>
              </a:rPr>
              <a:t>, j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definitions of </a:t>
            </a:r>
            <a:r>
              <a:rPr lang="en-US" altLang="zh-CN" dirty="0">
                <a:solidFill>
                  <a:schemeClr val="tx2"/>
                </a:solidFill>
                <a:ea typeface="SimSun" panose="02010600030101010101" pitchFamily="2" charset="-122"/>
              </a:rPr>
              <a:t>distance functions</a:t>
            </a:r>
            <a:r>
              <a:rPr lang="en-US" altLang="zh-CN" dirty="0">
                <a:ea typeface="SimSun" panose="02010600030101010101" pitchFamily="2" charset="-122"/>
              </a:rPr>
              <a:t> are usually rather different for interval-scaled, </a:t>
            </a:r>
            <a:r>
              <a:rPr lang="en-US" altLang="zh-CN" dirty="0" err="1">
                <a:ea typeface="SimSun" panose="02010600030101010101" pitchFamily="2" charset="-122"/>
              </a:rPr>
              <a:t>boolean</a:t>
            </a:r>
            <a:r>
              <a:rPr lang="en-US" altLang="zh-CN" dirty="0">
                <a:ea typeface="SimSun" panose="02010600030101010101" pitchFamily="2" charset="-122"/>
              </a:rPr>
              <a:t>, categorical, ordinal ratio, and vector variables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Weights should be associated with different variables based on applications and data semantics</a:t>
            </a:r>
            <a:endParaRPr lang="en-US" altLang="zh-CN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 marL="457200" indent="-457200"/>
            <a:r>
              <a:rPr lang="en-US" altLang="zh-CN" sz="2400" dirty="0">
                <a:solidFill>
                  <a:srgbClr val="C00000"/>
                </a:solidFill>
                <a:ea typeface="SimSun" panose="02010600030101010101" pitchFamily="2" charset="-122"/>
              </a:rPr>
              <a:t>Quality of clustering</a:t>
            </a:r>
            <a:r>
              <a:rPr lang="en-US" altLang="zh-CN" sz="2400" dirty="0">
                <a:ea typeface="SimSun" panose="02010600030101010101" pitchFamily="2" charset="-122"/>
              </a:rPr>
              <a:t>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There is usually a separate “quality” function that measures the “goodness” of a cluster.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It is hard to define “similar enough” or “good enough” </a:t>
            </a:r>
          </a:p>
          <a:p>
            <a:pPr lvl="2"/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 The answer is typically highly </a:t>
            </a:r>
            <a:r>
              <a:rPr lang="en-US" altLang="zh-CN" dirty="0" smtClean="0">
                <a:ea typeface="SimSun" panose="02010600030101010101" pitchFamily="2" charset="-122"/>
                <a:sym typeface="Symbol" panose="05050102010706020507" pitchFamily="18" charset="2"/>
              </a:rPr>
              <a:t>subjective</a:t>
            </a:r>
            <a:endParaRPr lang="en-US" altLang="zh-CN" dirty="0">
              <a:ea typeface="SimSun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7689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>
                <a:ea typeface="SimSun" panose="02010600030101010101" pitchFamily="2" charset="-122"/>
              </a:rPr>
              <a:t>Considerations for Cluster Analysis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7886700" cy="5276851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 smtClean="0">
                <a:ea typeface="SimSun" panose="02010600030101010101" pitchFamily="2" charset="-122"/>
              </a:rPr>
              <a:t>Partitioning criteria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 smtClean="0">
                <a:ea typeface="SimSun" panose="02010600030101010101" pitchFamily="2" charset="-122"/>
              </a:rPr>
              <a:t>Single level vs. hierarchical partitioning (often, multi-level hierarchical partitioning is desirable)</a:t>
            </a:r>
          </a:p>
          <a:p>
            <a:pPr>
              <a:spcAft>
                <a:spcPts val="600"/>
              </a:spcAft>
            </a:pPr>
            <a:r>
              <a:rPr lang="en-US" altLang="zh-CN" sz="2400" dirty="0" smtClean="0">
                <a:ea typeface="SimSun" panose="02010600030101010101" pitchFamily="2" charset="-122"/>
              </a:rPr>
              <a:t>Separation of clusters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 smtClean="0">
                <a:ea typeface="SimSun" panose="02010600030101010101" pitchFamily="2" charset="-122"/>
              </a:rPr>
              <a:t>Exclusive (e.g., one customer belongs to only one region) vs. non-exclusive (e.g., one document may belong to more than one class)</a:t>
            </a:r>
          </a:p>
          <a:p>
            <a:pPr>
              <a:spcAft>
                <a:spcPts val="600"/>
              </a:spcAft>
            </a:pPr>
            <a:r>
              <a:rPr lang="en-US" altLang="zh-CN" sz="2400" dirty="0" smtClean="0">
                <a:ea typeface="SimSun" panose="02010600030101010101" pitchFamily="2" charset="-122"/>
              </a:rPr>
              <a:t>Similarity measure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 smtClean="0">
                <a:ea typeface="SimSun" panose="02010600030101010101" pitchFamily="2" charset="-122"/>
              </a:rPr>
              <a:t>Distance-based (e.g., Euclidian, road network, vector)  vs. connectivity-based (e.g., density or contiguity)</a:t>
            </a:r>
          </a:p>
          <a:p>
            <a:pPr>
              <a:spcAft>
                <a:spcPts val="600"/>
              </a:spcAft>
            </a:pPr>
            <a:r>
              <a:rPr lang="en-US" altLang="zh-CN" sz="2400" dirty="0" smtClean="0">
                <a:ea typeface="SimSun" panose="02010600030101010101" pitchFamily="2" charset="-122"/>
              </a:rPr>
              <a:t>Clustering space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 smtClean="0">
                <a:ea typeface="SimSun" panose="02010600030101010101" pitchFamily="2" charset="-122"/>
              </a:rPr>
              <a:t>Full space (often when low dimensional) vs. subspaces (often in high-dimensional clustering)</a:t>
            </a:r>
          </a:p>
        </p:txBody>
      </p:sp>
      <p:sp>
        <p:nvSpPr>
          <p:cNvPr id="19460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35EE838-01B9-476E-A457-269E498E5E96}" type="slidenum">
              <a:rPr lang="en-US" altLang="zh-CN">
                <a:ea typeface="SimSun" panose="02010600030101010101" pitchFamily="2" charset="-122"/>
              </a:rPr>
              <a:pPr eaLnBrk="1" hangingPunct="1"/>
              <a:t>13</a:t>
            </a:fld>
            <a:endParaRPr lang="en-US" altLang="zh-CN"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58254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Requirements and Challenges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Scalability</a:t>
            </a:r>
          </a:p>
          <a:p>
            <a:pPr lvl="1"/>
            <a:r>
              <a:rPr lang="en-US" dirty="0" smtClean="0"/>
              <a:t>Clustering </a:t>
            </a:r>
            <a:r>
              <a:rPr lang="en-US" dirty="0"/>
              <a:t>all the data instead of only on samples</a:t>
            </a:r>
          </a:p>
          <a:p>
            <a:r>
              <a:rPr lang="en-US" dirty="0"/>
              <a:t>Ability to deal with different types of attributes</a:t>
            </a:r>
          </a:p>
          <a:p>
            <a:pPr lvl="1"/>
            <a:r>
              <a:rPr lang="en-US" dirty="0"/>
              <a:t>Numerical, binary, categorical, ordinal, linked, and mixture of these </a:t>
            </a:r>
          </a:p>
          <a:p>
            <a:r>
              <a:rPr lang="en-US" dirty="0"/>
              <a:t>Constraint-based clustering</a:t>
            </a:r>
          </a:p>
          <a:p>
            <a:pPr lvl="1"/>
            <a:r>
              <a:rPr lang="en-US" dirty="0"/>
              <a:t>User may give inputs on constraints</a:t>
            </a:r>
          </a:p>
          <a:p>
            <a:pPr lvl="1"/>
            <a:r>
              <a:rPr lang="en-US" dirty="0"/>
              <a:t>Use domain knowledge to determine input parameters</a:t>
            </a:r>
          </a:p>
          <a:p>
            <a:r>
              <a:rPr lang="en-US" dirty="0"/>
              <a:t>Interpretability and usability</a:t>
            </a:r>
          </a:p>
          <a:p>
            <a:r>
              <a:rPr lang="en-US" dirty="0"/>
              <a:t>Others </a:t>
            </a:r>
          </a:p>
          <a:p>
            <a:pPr lvl="1"/>
            <a:r>
              <a:rPr lang="en-US" dirty="0"/>
              <a:t>Discovery of clusters with arbitrary shape</a:t>
            </a:r>
          </a:p>
          <a:p>
            <a:pPr lvl="1"/>
            <a:r>
              <a:rPr lang="en-US" dirty="0"/>
              <a:t>Ability to deal with noisy data</a:t>
            </a:r>
          </a:p>
          <a:p>
            <a:pPr lvl="1"/>
            <a:r>
              <a:rPr lang="en-US" dirty="0"/>
              <a:t>Incremental clustering and insensitivity to input order</a:t>
            </a:r>
          </a:p>
          <a:p>
            <a:pPr lvl="1"/>
            <a:r>
              <a:rPr lang="en-US" dirty="0"/>
              <a:t>High dimensionality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35427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Major Clustering Approaches 1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9522"/>
            <a:ext cx="7886700" cy="509702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Partitioning</a:t>
            </a:r>
            <a:r>
              <a:rPr lang="en-US" dirty="0"/>
              <a:t> approach: </a:t>
            </a:r>
          </a:p>
          <a:p>
            <a:pPr lvl="1"/>
            <a:r>
              <a:rPr lang="en-US" dirty="0"/>
              <a:t>Construct various partitions and then evaluate them by some criterion, e.g., minimizing the sum of square errors</a:t>
            </a:r>
          </a:p>
          <a:p>
            <a:pPr lvl="1"/>
            <a:r>
              <a:rPr lang="en-US" dirty="0"/>
              <a:t>Typical methods: </a:t>
            </a:r>
            <a:r>
              <a:rPr lang="en-US" dirty="0">
                <a:solidFill>
                  <a:srgbClr val="0070C0"/>
                </a:solidFill>
              </a:rPr>
              <a:t>k-means</a:t>
            </a:r>
            <a:r>
              <a:rPr lang="en-US" dirty="0"/>
              <a:t>, k-</a:t>
            </a:r>
            <a:r>
              <a:rPr lang="en-US" dirty="0" err="1"/>
              <a:t>medoids</a:t>
            </a:r>
            <a:r>
              <a:rPr lang="en-US" dirty="0"/>
              <a:t>, CLARANS</a:t>
            </a:r>
          </a:p>
          <a:p>
            <a:r>
              <a:rPr lang="en-US" dirty="0">
                <a:solidFill>
                  <a:srgbClr val="C00000"/>
                </a:solidFill>
              </a:rPr>
              <a:t>Hierarchical</a:t>
            </a:r>
            <a:r>
              <a:rPr lang="en-US" dirty="0"/>
              <a:t> approach: </a:t>
            </a:r>
          </a:p>
          <a:p>
            <a:pPr lvl="1"/>
            <a:r>
              <a:rPr lang="en-US" dirty="0"/>
              <a:t>Create a hierarchical decomposition of the set of data (or objects) using some criterion</a:t>
            </a:r>
          </a:p>
          <a:p>
            <a:pPr lvl="1"/>
            <a:r>
              <a:rPr lang="en-US" dirty="0"/>
              <a:t>Typical methods: Diana, Agnes, BIRCH, </a:t>
            </a:r>
            <a:r>
              <a:rPr lang="en-US" dirty="0" smtClean="0"/>
              <a:t>CHAMELEON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Density-based</a:t>
            </a:r>
            <a:r>
              <a:rPr lang="en-US" dirty="0"/>
              <a:t> approach: </a:t>
            </a:r>
          </a:p>
          <a:p>
            <a:pPr lvl="1"/>
            <a:r>
              <a:rPr lang="en-US" dirty="0"/>
              <a:t>Based on connectivity and density functions</a:t>
            </a:r>
          </a:p>
          <a:p>
            <a:pPr lvl="1"/>
            <a:r>
              <a:rPr lang="en-US" dirty="0"/>
              <a:t>Typical methods: DBSACN, OPTICS, </a:t>
            </a:r>
            <a:r>
              <a:rPr lang="en-US" dirty="0" err="1"/>
              <a:t>DenClue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Grid-based </a:t>
            </a:r>
            <a:r>
              <a:rPr lang="en-US" dirty="0"/>
              <a:t>approach: </a:t>
            </a:r>
          </a:p>
          <a:p>
            <a:pPr lvl="1"/>
            <a:r>
              <a:rPr lang="en-US" dirty="0"/>
              <a:t>based on a multiple-level granularity structure</a:t>
            </a:r>
          </a:p>
          <a:p>
            <a:pPr lvl="1"/>
            <a:r>
              <a:rPr lang="en-US" dirty="0"/>
              <a:t>Typical methods: STING, </a:t>
            </a:r>
            <a:r>
              <a:rPr lang="en-US" dirty="0" err="1"/>
              <a:t>WaveCluster</a:t>
            </a:r>
            <a:r>
              <a:rPr lang="en-US" dirty="0"/>
              <a:t>, CLIQUE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4467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Major Clustering Approaches 2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Model-based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A model is hypothesized for each of the clusters and tries to find the best fit of that model to each other</a:t>
            </a:r>
          </a:p>
          <a:p>
            <a:pPr lvl="1"/>
            <a:r>
              <a:rPr lang="en-US" dirty="0"/>
              <a:t>Typical methods: EM, SOM, COBWEB</a:t>
            </a:r>
          </a:p>
          <a:p>
            <a:r>
              <a:rPr lang="en-US" dirty="0">
                <a:solidFill>
                  <a:srgbClr val="C00000"/>
                </a:solidFill>
              </a:rPr>
              <a:t>Frequent</a:t>
            </a:r>
            <a:r>
              <a:rPr lang="en-US" dirty="0"/>
              <a:t> pattern-based:</a:t>
            </a:r>
          </a:p>
          <a:p>
            <a:pPr lvl="1"/>
            <a:r>
              <a:rPr lang="en-US" dirty="0"/>
              <a:t>Based on the analysis of frequent patterns</a:t>
            </a:r>
          </a:p>
          <a:p>
            <a:pPr lvl="1"/>
            <a:r>
              <a:rPr lang="en-US" dirty="0"/>
              <a:t>Typical methods: p-Cluster</a:t>
            </a:r>
          </a:p>
          <a:p>
            <a:r>
              <a:rPr lang="en-US" dirty="0">
                <a:solidFill>
                  <a:srgbClr val="C00000"/>
                </a:solidFill>
              </a:rPr>
              <a:t>User-guided </a:t>
            </a:r>
            <a:r>
              <a:rPr lang="en-US" dirty="0"/>
              <a:t>or constraint-based: </a:t>
            </a:r>
          </a:p>
          <a:p>
            <a:pPr lvl="1"/>
            <a:r>
              <a:rPr lang="en-US" dirty="0"/>
              <a:t>Clustering by considering user-specified or application-specific constraints</a:t>
            </a:r>
          </a:p>
          <a:p>
            <a:pPr lvl="1"/>
            <a:r>
              <a:rPr lang="en-US" dirty="0"/>
              <a:t>Typical methods: COD (obstacles), constrained clustering</a:t>
            </a:r>
          </a:p>
          <a:p>
            <a:r>
              <a:rPr lang="en-US" dirty="0">
                <a:solidFill>
                  <a:srgbClr val="C00000"/>
                </a:solidFill>
              </a:rPr>
              <a:t>Link-based </a:t>
            </a:r>
            <a:r>
              <a:rPr lang="en-US" dirty="0"/>
              <a:t>clustering:</a:t>
            </a:r>
          </a:p>
          <a:p>
            <a:pPr lvl="1"/>
            <a:r>
              <a:rPr lang="en-US" dirty="0"/>
              <a:t>Objects are often linked together in various ways</a:t>
            </a:r>
          </a:p>
          <a:p>
            <a:pPr lvl="1"/>
            <a:r>
              <a:rPr lang="en-US" dirty="0"/>
              <a:t>Massive links can be used to cluster objects: </a:t>
            </a:r>
            <a:r>
              <a:rPr lang="en-US" dirty="0" err="1"/>
              <a:t>SimRank</a:t>
            </a:r>
            <a:r>
              <a:rPr lang="en-US" dirty="0"/>
              <a:t>, </a:t>
            </a:r>
            <a:r>
              <a:rPr lang="en-US" dirty="0" err="1"/>
              <a:t>LinkClus</a:t>
            </a:r>
            <a:endParaRPr lang="en-US" dirty="0"/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817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00"/>
            <a:ext cx="8134350" cy="1200149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Partitioning Algorithms: Basic Concept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9104"/>
            <a:ext cx="7886700" cy="51764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sz="2600" dirty="0">
                <a:solidFill>
                  <a:srgbClr val="C00000"/>
                </a:solidFill>
                <a:ea typeface="SimSun" panose="02010600030101010101" pitchFamily="2" charset="-122"/>
              </a:rPr>
              <a:t>Partitioning method</a:t>
            </a:r>
            <a:r>
              <a:rPr lang="en-US" altLang="zh-CN" sz="2600" u="sng" dirty="0">
                <a:ea typeface="SimSun" panose="02010600030101010101" pitchFamily="2" charset="-122"/>
              </a:rPr>
              <a:t>:</a:t>
            </a:r>
            <a:r>
              <a:rPr lang="en-US" altLang="zh-CN" sz="2600" dirty="0">
                <a:ea typeface="SimSun" panose="02010600030101010101" pitchFamily="2" charset="-122"/>
              </a:rPr>
              <a:t> Partitioning a database </a:t>
            </a:r>
            <a:r>
              <a:rPr lang="en-US" altLang="zh-CN" sz="2600" b="1" i="1" dirty="0">
                <a:ea typeface="SimSun" panose="02010600030101010101" pitchFamily="2" charset="-122"/>
              </a:rPr>
              <a:t>D</a:t>
            </a:r>
            <a:r>
              <a:rPr lang="en-US" altLang="zh-CN" sz="2600" dirty="0">
                <a:ea typeface="SimSun" panose="02010600030101010101" pitchFamily="2" charset="-122"/>
              </a:rPr>
              <a:t> of </a:t>
            </a:r>
            <a:r>
              <a:rPr lang="en-US" altLang="zh-CN" sz="2600" b="1" i="1" dirty="0">
                <a:ea typeface="SimSun" panose="02010600030101010101" pitchFamily="2" charset="-122"/>
              </a:rPr>
              <a:t>n</a:t>
            </a:r>
            <a:r>
              <a:rPr lang="en-US" altLang="zh-CN" sz="2600" dirty="0">
                <a:ea typeface="SimSun" panose="02010600030101010101" pitchFamily="2" charset="-122"/>
              </a:rPr>
              <a:t> objects into a set of </a:t>
            </a:r>
            <a:r>
              <a:rPr lang="en-US" altLang="zh-CN" sz="2600" b="1" i="1" dirty="0">
                <a:ea typeface="SimSun" panose="02010600030101010101" pitchFamily="2" charset="-122"/>
              </a:rPr>
              <a:t>k</a:t>
            </a:r>
            <a:r>
              <a:rPr lang="en-US" altLang="zh-CN" sz="2600" dirty="0">
                <a:ea typeface="SimSun" panose="02010600030101010101" pitchFamily="2" charset="-122"/>
              </a:rPr>
              <a:t> clusters, such that the sum of squared distances is minimized (where c</a:t>
            </a:r>
            <a:r>
              <a:rPr lang="en-US" altLang="zh-CN" sz="2600" baseline="-25000" dirty="0">
                <a:ea typeface="SimSun" panose="02010600030101010101" pitchFamily="2" charset="-122"/>
              </a:rPr>
              <a:t>i</a:t>
            </a:r>
            <a:r>
              <a:rPr lang="en-US" altLang="zh-CN" sz="2600" dirty="0">
                <a:ea typeface="SimSun" panose="02010600030101010101" pitchFamily="2" charset="-122"/>
              </a:rPr>
              <a:t> is the centroid or </a:t>
            </a:r>
            <a:r>
              <a:rPr lang="en-US" altLang="zh-CN" sz="2600" dirty="0" err="1">
                <a:ea typeface="SimSun" panose="02010600030101010101" pitchFamily="2" charset="-122"/>
              </a:rPr>
              <a:t>medoid</a:t>
            </a:r>
            <a:r>
              <a:rPr lang="en-US" altLang="zh-CN" sz="2600" dirty="0">
                <a:ea typeface="SimSun" panose="02010600030101010101" pitchFamily="2" charset="-122"/>
              </a:rPr>
              <a:t> of cluster </a:t>
            </a:r>
            <a:r>
              <a:rPr lang="en-US" altLang="zh-CN" sz="2600" dirty="0" err="1">
                <a:ea typeface="SimSun" panose="02010600030101010101" pitchFamily="2" charset="-122"/>
              </a:rPr>
              <a:t>C</a:t>
            </a:r>
            <a:r>
              <a:rPr lang="en-US" altLang="zh-CN" sz="2600" baseline="-25000" dirty="0" err="1">
                <a:ea typeface="SimSun" panose="02010600030101010101" pitchFamily="2" charset="-122"/>
              </a:rPr>
              <a:t>i</a:t>
            </a:r>
            <a:r>
              <a:rPr lang="en-US" altLang="zh-CN" sz="2600" dirty="0">
                <a:ea typeface="SimSun" panose="02010600030101010101" pitchFamily="2" charset="-122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zh-CN" sz="2600" dirty="0">
              <a:ea typeface="SimSun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600" dirty="0" smtClean="0">
                <a:ea typeface="SimSun" panose="02010600030101010101" pitchFamily="2" charset="-122"/>
              </a:rPr>
              <a:t>Given </a:t>
            </a:r>
            <a:r>
              <a:rPr lang="en-US" altLang="zh-CN" sz="2600" i="1" dirty="0">
                <a:ea typeface="SimSun" panose="02010600030101010101" pitchFamily="2" charset="-122"/>
              </a:rPr>
              <a:t>k</a:t>
            </a:r>
            <a:r>
              <a:rPr lang="en-US" altLang="zh-CN" sz="2600" dirty="0">
                <a:ea typeface="SimSun" panose="02010600030101010101" pitchFamily="2" charset="-122"/>
              </a:rPr>
              <a:t>, find a partition of </a:t>
            </a:r>
            <a:r>
              <a:rPr lang="en-US" altLang="zh-CN" sz="2600" i="1" dirty="0">
                <a:ea typeface="SimSun" panose="02010600030101010101" pitchFamily="2" charset="-122"/>
              </a:rPr>
              <a:t>k clusters </a:t>
            </a:r>
            <a:r>
              <a:rPr lang="en-US" altLang="zh-CN" sz="2600" dirty="0">
                <a:ea typeface="SimSun" panose="02010600030101010101" pitchFamily="2" charset="-122"/>
              </a:rPr>
              <a:t>that optimizes the chosen partitioning criterion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2"/>
                </a:solidFill>
                <a:ea typeface="SimSun" panose="02010600030101010101" pitchFamily="2" charset="-122"/>
              </a:rPr>
              <a:t>Global optimal</a:t>
            </a:r>
            <a:r>
              <a:rPr lang="en-US" altLang="zh-CN" sz="2000" dirty="0">
                <a:ea typeface="SimSun" panose="02010600030101010101" pitchFamily="2" charset="-122"/>
              </a:rPr>
              <a:t>: exhaustively enumerate all partitions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>
                <a:solidFill>
                  <a:schemeClr val="tx2"/>
                </a:solidFill>
                <a:ea typeface="SimSun" panose="02010600030101010101" pitchFamily="2" charset="-122"/>
              </a:rPr>
              <a:t>Heuristic methods</a:t>
            </a:r>
            <a:r>
              <a:rPr lang="en-US" altLang="zh-CN" sz="2000" dirty="0">
                <a:ea typeface="SimSun" panose="02010600030101010101" pitchFamily="2" charset="-122"/>
              </a:rPr>
              <a:t>: </a:t>
            </a:r>
            <a:r>
              <a:rPr lang="en-US" altLang="zh-CN" sz="2000" i="1" dirty="0">
                <a:ea typeface="SimSun" panose="02010600030101010101" pitchFamily="2" charset="-122"/>
              </a:rPr>
              <a:t>k-means</a:t>
            </a:r>
            <a:r>
              <a:rPr lang="en-US" altLang="zh-CN" sz="2000" dirty="0">
                <a:ea typeface="SimSun" panose="02010600030101010101" pitchFamily="2" charset="-122"/>
              </a:rPr>
              <a:t> and </a:t>
            </a:r>
            <a:r>
              <a:rPr lang="en-US" altLang="zh-CN" sz="2000" i="1" dirty="0">
                <a:ea typeface="SimSun" panose="02010600030101010101" pitchFamily="2" charset="-122"/>
              </a:rPr>
              <a:t>k-</a:t>
            </a:r>
            <a:r>
              <a:rPr lang="en-US" altLang="zh-CN" sz="2000" i="1" dirty="0" err="1">
                <a:ea typeface="SimSun" panose="02010600030101010101" pitchFamily="2" charset="-122"/>
              </a:rPr>
              <a:t>medoids</a:t>
            </a:r>
            <a:r>
              <a:rPr lang="en-US" altLang="zh-CN" sz="2000" dirty="0">
                <a:ea typeface="SimSun" panose="02010600030101010101" pitchFamily="2" charset="-122"/>
              </a:rPr>
              <a:t> algorithms</a:t>
            </a:r>
          </a:p>
          <a:p>
            <a:pPr lvl="1">
              <a:lnSpc>
                <a:spcPct val="110000"/>
              </a:lnSpc>
            </a:pPr>
            <a:r>
              <a:rPr lang="en-US" altLang="zh-CN" sz="2000" i="1" dirty="0">
                <a:solidFill>
                  <a:schemeClr val="tx2"/>
                </a:solidFill>
                <a:ea typeface="SimSun" panose="02010600030101010101" pitchFamily="2" charset="-122"/>
              </a:rPr>
              <a:t>k-means</a:t>
            </a:r>
            <a:r>
              <a:rPr lang="en-US" altLang="zh-CN" sz="2000" dirty="0">
                <a:solidFill>
                  <a:srgbClr val="0070C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ea typeface="SimSun" panose="02010600030101010101" pitchFamily="2" charset="-122"/>
              </a:rPr>
              <a:t>(MacQueen’67, Lloyd’57/’82): Each cluster is represented by the center of the cluster</a:t>
            </a:r>
          </a:p>
          <a:p>
            <a:pPr lvl="1">
              <a:lnSpc>
                <a:spcPct val="110000"/>
              </a:lnSpc>
            </a:pPr>
            <a:r>
              <a:rPr lang="en-US" altLang="zh-CN" sz="2000" i="1" dirty="0">
                <a:solidFill>
                  <a:schemeClr val="tx2"/>
                </a:solidFill>
                <a:ea typeface="SimSun" panose="02010600030101010101" pitchFamily="2" charset="-122"/>
              </a:rPr>
              <a:t>k-</a:t>
            </a:r>
            <a:r>
              <a:rPr lang="en-US" altLang="zh-CN" sz="2000" i="1" dirty="0" err="1">
                <a:solidFill>
                  <a:schemeClr val="tx2"/>
                </a:solidFill>
                <a:ea typeface="SimSun" panose="02010600030101010101" pitchFamily="2" charset="-122"/>
              </a:rPr>
              <a:t>medoids</a:t>
            </a:r>
            <a:r>
              <a:rPr lang="en-US" altLang="zh-CN" sz="2000" dirty="0">
                <a:solidFill>
                  <a:srgbClr val="0070C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dirty="0">
                <a:ea typeface="SimSun" panose="02010600030101010101" pitchFamily="2" charset="-122"/>
              </a:rPr>
              <a:t>or PAM (Partition around </a:t>
            </a:r>
            <a:r>
              <a:rPr lang="en-US" altLang="zh-CN" sz="2000" dirty="0" err="1">
                <a:ea typeface="SimSun" panose="02010600030101010101" pitchFamily="2" charset="-122"/>
              </a:rPr>
              <a:t>medoids</a:t>
            </a:r>
            <a:r>
              <a:rPr lang="en-US" altLang="zh-CN" sz="2000" dirty="0">
                <a:ea typeface="SimSun" panose="02010600030101010101" pitchFamily="2" charset="-122"/>
              </a:rPr>
              <a:t>) (Kaufman &amp; Rousseeuw’87): Each cluster is represented by one of the objects in the cluster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124200" y="3086100"/>
          <a:ext cx="2851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21" name="Equation" r:id="rId3" imgW="1459866" imgH="253890" progId="Equation.3">
                  <p:embed/>
                </p:oleObj>
              </mc:Choice>
              <mc:Fallback>
                <p:oleObj name="Equation" r:id="rId3" imgW="1459866" imgH="25389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86100"/>
                        <a:ext cx="28511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48677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i="1" dirty="0">
                <a:ea typeface="SimSun" panose="02010600030101010101" pitchFamily="2" charset="-122"/>
              </a:rPr>
              <a:t>K-Means</a:t>
            </a:r>
            <a:r>
              <a:rPr lang="en-US" altLang="zh-CN" dirty="0">
                <a:ea typeface="SimSun" panose="02010600030101010101" pitchFamily="2" charset="-122"/>
              </a:rPr>
              <a:t> Clustering Method</a:t>
            </a:r>
            <a:r>
              <a:rPr lang="en-US" altLang="zh-CN" sz="3600" dirty="0">
                <a:ea typeface="SimSun" panose="02010600030101010101" pitchFamily="2" charset="-122"/>
              </a:rPr>
              <a:t> 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ea typeface="SimSun" panose="02010600030101010101" pitchFamily="2" charset="-122"/>
              </a:rPr>
              <a:t>Given </a:t>
            </a:r>
            <a:r>
              <a:rPr lang="en-US" altLang="zh-CN" sz="2400" i="1" dirty="0">
                <a:ea typeface="SimSun" panose="02010600030101010101" pitchFamily="2" charset="-122"/>
              </a:rPr>
              <a:t>k</a:t>
            </a:r>
            <a:r>
              <a:rPr lang="en-US" altLang="zh-CN" sz="2400" dirty="0">
                <a:ea typeface="SimSun" panose="02010600030101010101" pitchFamily="2" charset="-122"/>
              </a:rPr>
              <a:t>, the </a:t>
            </a:r>
            <a:r>
              <a:rPr lang="en-US" altLang="zh-CN" sz="2400" i="1" dirty="0">
                <a:ea typeface="SimSun" panose="02010600030101010101" pitchFamily="2" charset="-122"/>
              </a:rPr>
              <a:t>k-means</a:t>
            </a:r>
            <a:r>
              <a:rPr lang="en-US" altLang="zh-CN" sz="2400" dirty="0">
                <a:ea typeface="SimSun" panose="02010600030101010101" pitchFamily="2" charset="-122"/>
              </a:rPr>
              <a:t> algorithm is implemented in four steps: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Partition objects into </a:t>
            </a:r>
            <a:r>
              <a:rPr lang="en-US" altLang="zh-CN" i="1" dirty="0">
                <a:solidFill>
                  <a:srgbClr val="000000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 nonempty subsets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Compute seed points as the centroids of the clusters of the current partitioning (the centroid is the center, i.e., </a:t>
            </a:r>
            <a:r>
              <a:rPr lang="en-US" altLang="zh-CN" i="1" dirty="0">
                <a:solidFill>
                  <a:schemeClr val="tx2"/>
                </a:solidFill>
                <a:ea typeface="SimSun" panose="02010600030101010101" pitchFamily="2" charset="-122"/>
              </a:rPr>
              <a:t>mean point</a:t>
            </a: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, of the cluster)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Assign each object to the cluster with the nearest seed point  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ea typeface="SimSun" panose="02010600030101010101" pitchFamily="2" charset="-122"/>
              </a:rPr>
              <a:t>Go back to Step 2, stop when the assignment does not change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3373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K-Means Clustering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Line 93"/>
          <p:cNvSpPr>
            <a:spLocks noChangeShapeType="1"/>
          </p:cNvSpPr>
          <p:nvPr/>
        </p:nvSpPr>
        <p:spPr bwMode="auto">
          <a:xfrm>
            <a:off x="5803900" y="236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id-ID">
              <a:effectLst/>
            </a:endParaRPr>
          </a:p>
        </p:txBody>
      </p:sp>
      <p:sp>
        <p:nvSpPr>
          <p:cNvPr id="6" name="Text Box 181"/>
          <p:cNvSpPr txBox="1">
            <a:spLocks noChangeArrowheads="1"/>
          </p:cNvSpPr>
          <p:nvPr/>
        </p:nvSpPr>
        <p:spPr bwMode="auto">
          <a:xfrm>
            <a:off x="2451100" y="1771650"/>
            <a:ext cx="11430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K=2</a:t>
            </a:r>
          </a:p>
          <a:p>
            <a:pPr algn="l" eaLnBrk="1" hangingPunct="1">
              <a:spcBef>
                <a:spcPct val="50000"/>
              </a:spcBef>
            </a:pPr>
            <a:endParaRPr lang="en-US" altLang="ko-KR" sz="1400">
              <a:effectLst/>
              <a:ea typeface="Gulim" panose="020B0600000101010101" pitchFamily="34" charset="-127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Arbitrarily partition objects into k groups</a:t>
            </a:r>
          </a:p>
        </p:txBody>
      </p:sp>
      <p:sp>
        <p:nvSpPr>
          <p:cNvPr id="7" name="Line 183"/>
          <p:cNvSpPr>
            <a:spLocks noChangeShapeType="1"/>
          </p:cNvSpPr>
          <p:nvPr/>
        </p:nvSpPr>
        <p:spPr bwMode="auto">
          <a:xfrm>
            <a:off x="2603500" y="2286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algn="l"/>
            <a:endParaRPr lang="id-ID">
              <a:effectLst/>
            </a:endParaRPr>
          </a:p>
        </p:txBody>
      </p:sp>
      <p:sp>
        <p:nvSpPr>
          <p:cNvPr id="8" name="Text Box 185"/>
          <p:cNvSpPr txBox="1">
            <a:spLocks noChangeArrowheads="1"/>
          </p:cNvSpPr>
          <p:nvPr/>
        </p:nvSpPr>
        <p:spPr bwMode="auto">
          <a:xfrm>
            <a:off x="5727700" y="2438400"/>
            <a:ext cx="10668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Update the cluster centroids</a:t>
            </a:r>
          </a:p>
        </p:txBody>
      </p:sp>
      <p:sp>
        <p:nvSpPr>
          <p:cNvPr id="9" name="Text Box 190"/>
          <p:cNvSpPr txBox="1">
            <a:spLocks noChangeArrowheads="1"/>
          </p:cNvSpPr>
          <p:nvPr/>
        </p:nvSpPr>
        <p:spPr bwMode="auto">
          <a:xfrm>
            <a:off x="5727700" y="4953000"/>
            <a:ext cx="10668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Update the cluster centroids</a:t>
            </a:r>
          </a:p>
          <a:p>
            <a:pPr algn="l" eaLnBrk="1" hangingPunct="1">
              <a:spcBef>
                <a:spcPct val="50000"/>
              </a:spcBef>
            </a:pPr>
            <a:endParaRPr lang="en-US" altLang="ko-KR" sz="1400">
              <a:effectLst/>
              <a:ea typeface="Gulim" panose="020B0600000101010101" pitchFamily="34" charset="-127"/>
            </a:endParaRPr>
          </a:p>
        </p:txBody>
      </p:sp>
      <p:sp>
        <p:nvSpPr>
          <p:cNvPr id="10" name="Text Box 191"/>
          <p:cNvSpPr txBox="1">
            <a:spLocks noChangeArrowheads="1"/>
          </p:cNvSpPr>
          <p:nvPr/>
        </p:nvSpPr>
        <p:spPr bwMode="auto">
          <a:xfrm>
            <a:off x="7099300" y="35814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Reassign  objects</a:t>
            </a:r>
          </a:p>
        </p:txBody>
      </p:sp>
      <p:sp>
        <p:nvSpPr>
          <p:cNvPr id="11" name="Line 192"/>
          <p:cNvSpPr>
            <a:spLocks noChangeShapeType="1"/>
          </p:cNvSpPr>
          <p:nvPr/>
        </p:nvSpPr>
        <p:spPr bwMode="auto">
          <a:xfrm>
            <a:off x="7937500" y="3581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algn="l"/>
            <a:endParaRPr lang="id-ID">
              <a:effectLst/>
            </a:endParaRPr>
          </a:p>
        </p:txBody>
      </p:sp>
      <p:sp>
        <p:nvSpPr>
          <p:cNvPr id="12" name="Text Box 193"/>
          <p:cNvSpPr txBox="1">
            <a:spLocks noChangeArrowheads="1"/>
          </p:cNvSpPr>
          <p:nvPr/>
        </p:nvSpPr>
        <p:spPr bwMode="auto">
          <a:xfrm>
            <a:off x="4584700" y="350520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Loop if needed</a:t>
            </a:r>
          </a:p>
        </p:txBody>
      </p:sp>
      <p:graphicFrame>
        <p:nvGraphicFramePr>
          <p:cNvPr id="13" name="Object 1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040449"/>
              </p:ext>
            </p:extLst>
          </p:nvPr>
        </p:nvGraphicFramePr>
        <p:xfrm>
          <a:off x="393700" y="1447800"/>
          <a:ext cx="2120900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3" name="SmartDraw" r:id="rId3" imgW="3479292" imgH="3255264" progId="">
                  <p:embed/>
                </p:oleObj>
              </mc:Choice>
              <mc:Fallback>
                <p:oleObj name="SmartDraw" r:id="rId3" imgW="3479292" imgH="3255264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1447800"/>
                        <a:ext cx="2120900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136370"/>
              </p:ext>
            </p:extLst>
          </p:nvPr>
        </p:nvGraphicFramePr>
        <p:xfrm>
          <a:off x="3441700" y="1447800"/>
          <a:ext cx="21844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4" name="SmartDraw" r:id="rId5" imgW="3479292" imgH="3255264" progId="">
                  <p:embed/>
                </p:oleObj>
              </mc:Choice>
              <mc:Fallback>
                <p:oleObj name="SmartDraw" r:id="rId5" imgW="3479292" imgH="3255264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447800"/>
                        <a:ext cx="2184400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6405943"/>
              </p:ext>
            </p:extLst>
          </p:nvPr>
        </p:nvGraphicFramePr>
        <p:xfrm>
          <a:off x="6794500" y="1447800"/>
          <a:ext cx="227330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5" name="SmartDraw" r:id="rId7" imgW="3479292" imgH="3255264" progId="">
                  <p:embed/>
                </p:oleObj>
              </mc:Choice>
              <mc:Fallback>
                <p:oleObj name="SmartDraw" r:id="rId7" imgW="3479292" imgH="3255264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1447800"/>
                        <a:ext cx="2273300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59547"/>
              </p:ext>
            </p:extLst>
          </p:nvPr>
        </p:nvGraphicFramePr>
        <p:xfrm>
          <a:off x="6794500" y="3892550"/>
          <a:ext cx="227330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6" name="SmartDraw" r:id="rId9" imgW="3479292" imgH="3255264" progId="">
                  <p:embed/>
                </p:oleObj>
              </mc:Choice>
              <mc:Fallback>
                <p:oleObj name="SmartDraw" r:id="rId9" imgW="3479292" imgH="3255264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3892550"/>
                        <a:ext cx="2273300" cy="212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584707"/>
              </p:ext>
            </p:extLst>
          </p:nvPr>
        </p:nvGraphicFramePr>
        <p:xfrm>
          <a:off x="3594100" y="3962400"/>
          <a:ext cx="2197100" cy="205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577" name="SmartDraw" r:id="rId11" imgW="3479292" imgH="3255264" progId="">
                  <p:embed/>
                </p:oleObj>
              </mc:Choice>
              <mc:Fallback>
                <p:oleObj name="SmartDraw" r:id="rId11" imgW="3479292" imgH="3255264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3962400"/>
                        <a:ext cx="2197100" cy="205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92"/>
          <p:cNvSpPr>
            <a:spLocks noChangeShapeType="1"/>
          </p:cNvSpPr>
          <p:nvPr/>
        </p:nvSpPr>
        <p:spPr bwMode="auto">
          <a:xfrm flipV="1">
            <a:off x="4356100" y="3505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algn="l"/>
            <a:endParaRPr lang="id-ID">
              <a:effectLst/>
            </a:endParaRPr>
          </a:p>
        </p:txBody>
      </p:sp>
      <p:sp>
        <p:nvSpPr>
          <p:cNvPr id="19" name="Text Box 181"/>
          <p:cNvSpPr txBox="1">
            <a:spLocks noChangeArrowheads="1"/>
          </p:cNvSpPr>
          <p:nvPr/>
        </p:nvSpPr>
        <p:spPr bwMode="auto">
          <a:xfrm>
            <a:off x="622300" y="34290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ffectLst/>
                <a:ea typeface="Gulim" panose="020B0600000101010101" pitchFamily="34" charset="-127"/>
              </a:rPr>
              <a:t>The initial data set</a:t>
            </a:r>
          </a:p>
        </p:txBody>
      </p:sp>
      <p:sp>
        <p:nvSpPr>
          <p:cNvPr id="20" name="Line 93"/>
          <p:cNvSpPr>
            <a:spLocks noChangeShapeType="1"/>
          </p:cNvSpPr>
          <p:nvPr/>
        </p:nvSpPr>
        <p:spPr bwMode="auto">
          <a:xfrm flipH="1">
            <a:off x="5803900" y="4876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/>
            <a:endParaRPr lang="id-ID">
              <a:effectLst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169789" y="3962400"/>
            <a:ext cx="3378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Partition objects into </a:t>
            </a:r>
            <a:r>
              <a:rPr lang="en-US" altLang="zh-CN" sz="16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nonempty subsets</a:t>
            </a:r>
          </a:p>
          <a:p>
            <a:pPr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1600" dirty="0"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Repeat</a:t>
            </a:r>
            <a:endParaRPr lang="en-US" altLang="zh-CN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lvl="1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Compute centroid (i.e., mean point) for each partition </a:t>
            </a:r>
          </a:p>
          <a:p>
            <a:pPr lvl="1" algn="l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Assign each object to the cluster of its nearest centroid  </a:t>
            </a:r>
          </a:p>
          <a:p>
            <a:pPr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Until no change</a:t>
            </a:r>
          </a:p>
        </p:txBody>
      </p:sp>
    </p:spTree>
    <p:extLst>
      <p:ext uri="{BB962C8B-B14F-4D97-AF65-F5344CB8AC3E}">
        <p14:creationId xmlns:p14="http://schemas.microsoft.com/office/powerpoint/2010/main" val="7171270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Algorithms steps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52453"/>
            <a:ext cx="8763000" cy="540554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Selecting the desired </a:t>
            </a:r>
            <a:r>
              <a:rPr lang="en-US" dirty="0" smtClean="0">
                <a:solidFill>
                  <a:srgbClr val="C00000"/>
                </a:solidFill>
              </a:rPr>
              <a:t>number of clusters 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Initialization k cluster centers </a:t>
            </a:r>
            <a:r>
              <a:rPr lang="en-US" dirty="0" smtClean="0"/>
              <a:t>(</a:t>
            </a:r>
            <a:r>
              <a:rPr lang="en-US" dirty="0" err="1" smtClean="0"/>
              <a:t>centroid</a:t>
            </a:r>
            <a:r>
              <a:rPr lang="en-US" dirty="0" smtClean="0"/>
              <a:t>) random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Place any data or object to the nearest cluster. The proximity of the two objects is determined based on the distance. The distance used in k-means algorithm is the Euclidean distance (d)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None/>
            </a:pPr>
            <a:r>
              <a:rPr lang="en-US" dirty="0" smtClean="0"/>
              <a:t>   x = x1, x2,. , , , </a:t>
            </a:r>
            <a:r>
              <a:rPr lang="en-US" dirty="0" err="1" smtClean="0"/>
              <a:t>Xn</a:t>
            </a:r>
            <a:r>
              <a:rPr lang="en-US" dirty="0" smtClean="0"/>
              <a:t> and y = y1, y2,. , , , </a:t>
            </a:r>
            <a:r>
              <a:rPr lang="en-US" dirty="0" err="1" smtClean="0"/>
              <a:t>Yn</a:t>
            </a:r>
            <a:r>
              <a:rPr lang="en-US" dirty="0" smtClean="0"/>
              <a:t> n is the number of attributes (columns) between 2 records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Recalculate cluster centers </a:t>
            </a:r>
            <a:r>
              <a:rPr lang="en-US" dirty="0" smtClean="0"/>
              <a:t>with the current cluster membership. Cluster center is the average (mean) of all the data, or objects in a particular cluster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Assign each object again using the new cluster centers</a:t>
            </a:r>
            <a:r>
              <a:rPr lang="en-US" dirty="0" smtClean="0"/>
              <a:t>. </a:t>
            </a:r>
            <a:r>
              <a:rPr lang="en-US" dirty="0" smtClean="0">
                <a:solidFill>
                  <a:schemeClr val="tx2"/>
                </a:solidFill>
              </a:rPr>
              <a:t>If the cluster centers have not changed again, then the clustering process is completed. Or, go back to step 3</a:t>
            </a:r>
            <a:r>
              <a:rPr lang="en-US" dirty="0" smtClean="0"/>
              <a:t> until the cluster centers do not change anymore (stable) or no significant decrease of the value of SSE (Sum of Squared Errors)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92" y="3053287"/>
            <a:ext cx="3231508" cy="83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000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1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[STEP 1] </a:t>
            </a:r>
            <a:r>
              <a:rPr lang="en-US" sz="2000" dirty="0" smtClean="0"/>
              <a:t>Determine the number of clusters </a:t>
            </a:r>
            <a:r>
              <a:rPr lang="en-US" sz="2000" dirty="0" smtClean="0">
                <a:solidFill>
                  <a:srgbClr val="C00000"/>
                </a:solidFill>
              </a:rPr>
              <a:t>k = 2</a:t>
            </a: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C00000"/>
                </a:solidFill>
              </a:rPr>
              <a:t>[STEP 2] </a:t>
            </a:r>
            <a:r>
              <a:rPr lang="en-US" sz="2000" dirty="0" smtClean="0"/>
              <a:t>Determine the initial </a:t>
            </a:r>
            <a:r>
              <a:rPr lang="en-US" sz="2000" dirty="0" err="1" smtClean="0"/>
              <a:t>centroid</a:t>
            </a:r>
            <a:r>
              <a:rPr lang="en-US" sz="2000" dirty="0" smtClean="0"/>
              <a:t> random example of the data besides </a:t>
            </a:r>
            <a:r>
              <a:rPr lang="en-US" sz="2000" dirty="0" smtClean="0">
                <a:solidFill>
                  <a:srgbClr val="C00000"/>
                </a:solidFill>
              </a:rPr>
              <a:t>m1 = (1,1), m2 = (2,1)</a:t>
            </a:r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[STEP 3] </a:t>
            </a:r>
            <a:r>
              <a:rPr lang="en-US" sz="2000" dirty="0" smtClean="0"/>
              <a:t>Place each object to the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closest cluster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centroid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based on the </a:t>
            </a:r>
            <a:r>
              <a:rPr lang="en-US" sz="2000" dirty="0" smtClean="0">
                <a:solidFill>
                  <a:srgbClr val="C00000"/>
                </a:solidFill>
              </a:rPr>
              <a:t>closest value difference (distance)</a:t>
            </a:r>
            <a:r>
              <a:rPr lang="en-US" sz="2000" dirty="0" smtClean="0"/>
              <a:t>.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1" y="3352800"/>
          <a:ext cx="4343399" cy="3118485"/>
        </p:xfrm>
        <a:graphic>
          <a:graphicData uri="http://schemas.openxmlformats.org/drawingml/2006/table">
            <a:tbl>
              <a:tblPr/>
              <a:tblGrid>
                <a:gridCol w="122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3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Instances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(1,1)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(2,1)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Cluster Membership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74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3657600"/>
            <a:ext cx="3352800" cy="230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1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[STEP 4] </a:t>
            </a:r>
            <a:r>
              <a:rPr lang="en-US" sz="2000" dirty="0" smtClean="0"/>
              <a:t>The results obtained, members </a:t>
            </a:r>
            <a:r>
              <a:rPr lang="en-US" sz="2000" dirty="0" smtClean="0">
                <a:solidFill>
                  <a:srgbClr val="C00000"/>
                </a:solidFill>
              </a:rPr>
              <a:t>cluster1 = {A, E, G},      </a:t>
            </a:r>
            <a:r>
              <a:rPr lang="en-US" sz="2000" dirty="0" smtClean="0"/>
              <a:t>cluster2 = {B, C, D, F, H}. The SSE(Sum of Square Error) and MSE(Mean Square Error) values are: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None/>
            </a:pPr>
            <a:r>
              <a:rPr lang="en-US" sz="2000" dirty="0" smtClean="0"/>
              <a:t>       </a:t>
            </a:r>
            <a:r>
              <a:rPr lang="en-US" sz="1800" dirty="0" smtClean="0"/>
              <a:t>SSE = </a:t>
            </a:r>
            <a:r>
              <a:rPr lang="en-US" sz="1800" b="1" dirty="0" smtClean="0">
                <a:solidFill>
                  <a:srgbClr val="C00000"/>
                </a:solidFill>
              </a:rPr>
              <a:t>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+(3-1)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+(2-1)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   	    + [(3-2)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+(3-1)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[(4-2)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+(3-1)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[(5-2)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+(3-1)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           + [(4-2)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+(2-1)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[(2-2)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+(1-1)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SSE = </a:t>
            </a:r>
            <a:r>
              <a:rPr lang="en-US" sz="1800" b="1" dirty="0" smtClean="0">
                <a:solidFill>
                  <a:srgbClr val="C00000"/>
                </a:solidFill>
              </a:rPr>
              <a:t>4 + 1 + 0 </a:t>
            </a:r>
            <a:r>
              <a:rPr lang="en-US" sz="1800" dirty="0" smtClean="0"/>
              <a:t>+ 5 + 8 + 13 + 5 + 0 = 36</a:t>
            </a:r>
          </a:p>
          <a:p>
            <a:pPr marL="514350" indent="-514350">
              <a:buNone/>
            </a:pPr>
            <a:r>
              <a:rPr lang="en-US" sz="1800" dirty="0" smtClean="0"/>
              <a:t>	MSE = 36/8 = 4.5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 smtClean="0"/>
          </a:p>
          <a:p>
            <a:pPr marL="514350" indent="-51435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[STEP 5] </a:t>
            </a:r>
            <a:r>
              <a:rPr lang="en-US" sz="2000" dirty="0" smtClean="0"/>
              <a:t>The new </a:t>
            </a:r>
            <a:r>
              <a:rPr lang="en-US" sz="2000" b="1" dirty="0" err="1" smtClean="0">
                <a:solidFill>
                  <a:schemeClr val="tx2"/>
                </a:solidFill>
              </a:rPr>
              <a:t>centroid</a:t>
            </a:r>
            <a:r>
              <a:rPr lang="en-US" sz="2000" dirty="0" smtClean="0"/>
              <a:t> for</a:t>
            </a:r>
          </a:p>
          <a:p>
            <a:pPr marL="514350" indent="-514350">
              <a:buNone/>
            </a:pPr>
            <a:r>
              <a:rPr lang="en-US" sz="2000" dirty="0" smtClean="0"/>
              <a:t>		cluster1 = [(1 + 1 + 1)/3, (3 + 2 + 1)/3] = (1, 2) and</a:t>
            </a:r>
          </a:p>
          <a:p>
            <a:pPr marL="514350" indent="-514350">
              <a:buNone/>
            </a:pPr>
            <a:r>
              <a:rPr lang="en-US" sz="2000" dirty="0" smtClean="0"/>
              <a:t>             cluster2 = [(3 + 4 + 5 + 4 + 2)/5, (3 + 3 + 3 + 2 + 1)/5] = (3.6, 2.4)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362200"/>
            <a:ext cx="28411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934200" y="3352800"/>
            <a:ext cx="20574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Cluster1 Cluster 2</a:t>
            </a:r>
          </a:p>
          <a:p>
            <a:r>
              <a:rPr lang="en-US" sz="1400" dirty="0" smtClean="0"/>
              <a:t>(1, 3)	(3, 3)</a:t>
            </a:r>
          </a:p>
          <a:p>
            <a:r>
              <a:rPr lang="en-US" sz="1400" dirty="0" smtClean="0"/>
              <a:t>(1, 2)	(4, 3)</a:t>
            </a:r>
          </a:p>
          <a:p>
            <a:r>
              <a:rPr lang="en-US" sz="1400" dirty="0" smtClean="0"/>
              <a:t>(1, 1)	(5, 3)</a:t>
            </a:r>
          </a:p>
          <a:p>
            <a:r>
              <a:rPr lang="en-US" sz="1400" dirty="0" smtClean="0"/>
              <a:t>	(4, 2)</a:t>
            </a:r>
          </a:p>
          <a:p>
            <a:r>
              <a:rPr lang="en-US" sz="1400" dirty="0" smtClean="0"/>
              <a:t>	(2, 1)</a:t>
            </a:r>
          </a:p>
          <a:p>
            <a:r>
              <a:rPr lang="en-US" sz="1400" dirty="0" smtClean="0"/>
              <a:t>--------	--------</a:t>
            </a:r>
          </a:p>
          <a:p>
            <a:r>
              <a:rPr lang="en-US" sz="1400" dirty="0" smtClean="0"/>
              <a:t>(3/3, 6/3) 	(18/5, 12/5)</a:t>
            </a:r>
          </a:p>
          <a:p>
            <a:r>
              <a:rPr lang="en-US" sz="1400" dirty="0" smtClean="0"/>
              <a:t>(1, 2)	(3.6, 2.4)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553200" y="5257800"/>
            <a:ext cx="457200" cy="381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5" idx="2"/>
          </p:cNvCxnSpPr>
          <p:nvPr/>
        </p:nvCxnSpPr>
        <p:spPr>
          <a:xfrm rot="5400000" flipH="1" flipV="1">
            <a:off x="7587914" y="5568614"/>
            <a:ext cx="559475" cy="19049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2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[STEP 3] </a:t>
            </a:r>
            <a:r>
              <a:rPr lang="en-US" sz="2000" dirty="0" smtClean="0"/>
              <a:t>Place each object to the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closest cluster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centroid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based on the </a:t>
            </a:r>
            <a:r>
              <a:rPr lang="en-US" sz="2000" dirty="0" smtClean="0">
                <a:solidFill>
                  <a:srgbClr val="C00000"/>
                </a:solidFill>
              </a:rPr>
              <a:t>closest value difference (distance)</a:t>
            </a:r>
            <a:r>
              <a:rPr lang="en-US" sz="2000" dirty="0" smtClean="0"/>
              <a:t>. 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2667000"/>
          <a:ext cx="4343401" cy="311848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5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Instances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1,2)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(3.6,2.4)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Cluster Membership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751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399" y="2971800"/>
            <a:ext cx="3927691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2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2000" dirty="0" smtClean="0"/>
              <a:t>[STEP 4] The results obtained, members cluster1 = {A, E, G, H}, cluster2 = {B, C, D, F}. The new SSE and MSE values are: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None/>
            </a:pPr>
            <a:r>
              <a:rPr lang="en-US" sz="2000" dirty="0" smtClean="0"/>
              <a:t>       </a:t>
            </a:r>
            <a:r>
              <a:rPr lang="en-US" sz="1800" dirty="0" smtClean="0"/>
              <a:t>SSE = </a:t>
            </a:r>
            <a:r>
              <a:rPr lang="en-US" sz="1800" b="1" dirty="0" smtClean="0">
                <a:solidFill>
                  <a:srgbClr val="C00000"/>
                </a:solidFill>
              </a:rPr>
              <a:t>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+(3-2)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+(2-2)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+(1-2)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 + [(2-1)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+(1-2)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   	    + [(3-3.6)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[(4-3.6)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[(5-3.6)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 </a:t>
            </a:r>
          </a:p>
          <a:p>
            <a:pPr marL="514350" indent="-514350">
              <a:buNone/>
            </a:pPr>
            <a:r>
              <a:rPr lang="en-US" sz="1800" dirty="0" smtClean="0"/>
              <a:t>                   + [(4-3.6)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+(2-2.4)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SSE = </a:t>
            </a:r>
            <a:r>
              <a:rPr lang="en-US" sz="1800" b="1" dirty="0" smtClean="0">
                <a:solidFill>
                  <a:srgbClr val="C00000"/>
                </a:solidFill>
              </a:rPr>
              <a:t>1 + 0 + 1 + 2 </a:t>
            </a:r>
            <a:r>
              <a:rPr lang="en-US" sz="1800" dirty="0" smtClean="0"/>
              <a:t>+ 0.72 + 0.52 + 2.32 + 0.32 = 7.88</a:t>
            </a:r>
          </a:p>
          <a:p>
            <a:pPr marL="514350" indent="-514350">
              <a:buNone/>
            </a:pPr>
            <a:r>
              <a:rPr lang="en-US" sz="1800" dirty="0" smtClean="0"/>
              <a:t>	MSE = 7.88/8 = 0.985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 smtClean="0"/>
          </a:p>
          <a:p>
            <a:pPr marL="514350" indent="-514350">
              <a:buNone/>
            </a:pPr>
            <a:r>
              <a:rPr lang="en-US" sz="2000" dirty="0" smtClean="0"/>
              <a:t>[STEP 5] The new </a:t>
            </a:r>
            <a:r>
              <a:rPr lang="en-US" sz="2000" dirty="0" err="1" smtClean="0"/>
              <a:t>centroid</a:t>
            </a:r>
            <a:r>
              <a:rPr lang="en-US" sz="2000" dirty="0" smtClean="0"/>
              <a:t> for</a:t>
            </a:r>
          </a:p>
          <a:p>
            <a:pPr marL="514350" indent="-514350">
              <a:buNone/>
            </a:pPr>
            <a:r>
              <a:rPr lang="en-US" sz="2000" dirty="0" smtClean="0"/>
              <a:t>		cluster1 = [(1 + 1 + 1+2)/4, (3 + 2 + 1+1)/4] = (1.25,1.75) and</a:t>
            </a:r>
          </a:p>
          <a:p>
            <a:pPr marL="514350" indent="-514350">
              <a:buNone/>
            </a:pPr>
            <a:r>
              <a:rPr lang="en-US" sz="2000" dirty="0" smtClean="0"/>
              <a:t>             cluster2 = [(3 + 4 + 5 + 4 )/4, (3 + 3 + 3 + 2 )/4] = (4, 2.75)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2286000"/>
            <a:ext cx="28411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3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sz="2000" b="1" dirty="0" smtClean="0">
                <a:solidFill>
                  <a:srgbClr val="7030A0"/>
                </a:solidFill>
              </a:rPr>
              <a:t>[STEP 3] </a:t>
            </a:r>
            <a:r>
              <a:rPr lang="en-US" sz="2000" dirty="0" smtClean="0"/>
              <a:t>Place each object to the 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closest cluster </a:t>
            </a:r>
            <a:r>
              <a:rPr lang="en-US" sz="2000" dirty="0" err="1" smtClean="0">
                <a:solidFill>
                  <a:schemeClr val="tx2">
                    <a:lumMod val="75000"/>
                  </a:schemeClr>
                </a:solidFill>
              </a:rPr>
              <a:t>centroid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 based on the </a:t>
            </a:r>
            <a:r>
              <a:rPr lang="en-US" sz="2000" dirty="0" smtClean="0">
                <a:solidFill>
                  <a:srgbClr val="C00000"/>
                </a:solidFill>
              </a:rPr>
              <a:t>closest value difference (distance)</a:t>
            </a:r>
            <a:r>
              <a:rPr lang="en-US" sz="2000" dirty="0" smtClean="0"/>
              <a:t>. 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3400" y="2667000"/>
          <a:ext cx="4800600" cy="311848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Instances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(1.25,1.75)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(4</a:t>
                      </a: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, 2.75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Cluster Membership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730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2971800"/>
            <a:ext cx="3597207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– Iteration 3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024096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sz="2000" dirty="0" smtClean="0"/>
              <a:t>[STEP 4] The results obtained, members cluster1 = {A, E, G, H}, cluster2 = {B, C, D, F }. The new SSE and MSE values are: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000" dirty="0" smtClean="0"/>
          </a:p>
          <a:p>
            <a:pPr marL="514350" indent="-514350">
              <a:buNone/>
            </a:pPr>
            <a:r>
              <a:rPr lang="en-US" sz="2000" dirty="0" smtClean="0"/>
              <a:t>       </a:t>
            </a:r>
            <a:r>
              <a:rPr lang="en-US" sz="1800" dirty="0" smtClean="0"/>
              <a:t>SSE = </a:t>
            </a:r>
            <a:r>
              <a:rPr lang="en-US" sz="1800" b="1" dirty="0" smtClean="0">
                <a:solidFill>
                  <a:srgbClr val="C00000"/>
                </a:solidFill>
              </a:rPr>
              <a:t>[(1-1.25)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+(3-1.75)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[(1-1.25)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+(2-1.75)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]+ [(1-1.25)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+(1-1.75)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 + [(2-1.25)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+(1-1.75)</a:t>
            </a:r>
            <a:r>
              <a:rPr lang="en-US" sz="18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1800" b="1" dirty="0" smtClean="0">
                <a:solidFill>
                  <a:srgbClr val="C00000"/>
                </a:solidFill>
              </a:rPr>
              <a:t>] </a:t>
            </a:r>
            <a:r>
              <a:rPr lang="en-US" sz="1800" dirty="0" smtClean="0"/>
              <a:t>+ [(3-4)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+(3-2.75)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[(4-4)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+(3-2.75)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]+ [(5-4)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+(3-2.75)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 + [(4-4)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+(2-2.75)</a:t>
            </a:r>
            <a:r>
              <a:rPr lang="en-US" sz="1800" baseline="30000" dirty="0" smtClean="0"/>
              <a:t>2</a:t>
            </a:r>
            <a:r>
              <a:rPr lang="en-US" sz="1800" dirty="0" smtClean="0"/>
              <a:t>]</a:t>
            </a:r>
          </a:p>
          <a:p>
            <a:pPr marL="514350" indent="-514350">
              <a:buNone/>
            </a:pPr>
            <a:r>
              <a:rPr lang="en-US" sz="1800" dirty="0" smtClean="0"/>
              <a:t>       </a:t>
            </a:r>
          </a:p>
          <a:p>
            <a:pPr marL="514350" indent="-514350">
              <a:buNone/>
            </a:pPr>
            <a:r>
              <a:rPr lang="en-US" sz="1800" dirty="0" smtClean="0"/>
              <a:t>        SSE = </a:t>
            </a:r>
            <a:r>
              <a:rPr lang="en-US" sz="1800" b="1" dirty="0" smtClean="0">
                <a:solidFill>
                  <a:srgbClr val="C00000"/>
                </a:solidFill>
              </a:rPr>
              <a:t>1.625 + 0.125 + 0.625 + 0.125 </a:t>
            </a:r>
            <a:r>
              <a:rPr lang="en-US" sz="1800" dirty="0" smtClean="0"/>
              <a:t>+ 1.0625 + 0.0625 + 1.0625 + 0.5625 = 7.88</a:t>
            </a:r>
          </a:p>
          <a:p>
            <a:pPr marL="514350" indent="-514350">
              <a:buNone/>
            </a:pPr>
            <a:r>
              <a:rPr lang="en-US" sz="1800" dirty="0" smtClean="0"/>
              <a:t>	MSE = 6.25/8 = 0.78125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 smtClean="0"/>
          </a:p>
          <a:p>
            <a:pPr marL="514350" indent="-514350">
              <a:buNone/>
            </a:pPr>
            <a:r>
              <a:rPr lang="en-US" sz="2000" dirty="0" smtClean="0"/>
              <a:t>[STEP 5] The new </a:t>
            </a:r>
            <a:r>
              <a:rPr lang="en-US" sz="2000" dirty="0" err="1" smtClean="0"/>
              <a:t>centroid</a:t>
            </a:r>
            <a:r>
              <a:rPr lang="en-US" sz="2000" dirty="0" smtClean="0"/>
              <a:t> for</a:t>
            </a:r>
          </a:p>
          <a:p>
            <a:pPr marL="514350" indent="-514350">
              <a:buNone/>
            </a:pPr>
            <a:r>
              <a:rPr lang="en-US" sz="2000" dirty="0" smtClean="0"/>
              <a:t>		cluster1 = [(1 + 1 + 1+2)/4, (3 + 2 + 1+1)/4] = (1.25,1.75) and</a:t>
            </a:r>
          </a:p>
          <a:p>
            <a:pPr marL="514350" indent="-514350">
              <a:buNone/>
            </a:pPr>
            <a:r>
              <a:rPr lang="en-US" sz="2000" dirty="0" smtClean="0"/>
              <a:t>             cluster2 = [(3 + 4 + 5 + 4 )/4, (3 + 3 + 3 + 2 )/4] = (4, 2.75)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133600"/>
            <a:ext cx="28411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8680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Result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848600" cy="4495799"/>
          </a:xfrm>
        </p:spPr>
        <p:txBody>
          <a:bodyPr>
            <a:normAutofit/>
          </a:bodyPr>
          <a:lstStyle/>
          <a:p>
            <a:r>
              <a:rPr lang="en-US" dirty="0" smtClean="0"/>
              <a:t>Can be seen in the table. </a:t>
            </a:r>
            <a:r>
              <a:rPr lang="en-US" dirty="0" smtClean="0">
                <a:solidFill>
                  <a:srgbClr val="C00000"/>
                </a:solidFill>
              </a:rPr>
              <a:t>No change of members again on each cluster</a:t>
            </a:r>
          </a:p>
          <a:p>
            <a:pPr lvl="1"/>
            <a:r>
              <a:rPr lang="en-US" dirty="0" smtClean="0"/>
              <a:t>The final results are: </a:t>
            </a:r>
          </a:p>
          <a:p>
            <a:pPr lvl="1"/>
            <a:r>
              <a:rPr lang="en-US" dirty="0" smtClean="0"/>
              <a:t>cluster1 = </a:t>
            </a:r>
            <a:r>
              <a:rPr lang="en-US" dirty="0" smtClean="0">
                <a:solidFill>
                  <a:schemeClr val="tx2"/>
                </a:solidFill>
              </a:rPr>
              <a:t>{A, E, G, H}, </a:t>
            </a:r>
            <a:r>
              <a:rPr lang="en-US" dirty="0" smtClean="0"/>
              <a:t>and </a:t>
            </a:r>
          </a:p>
          <a:p>
            <a:pPr lvl="1"/>
            <a:r>
              <a:rPr lang="en-US" dirty="0" smtClean="0"/>
              <a:t>cluster2 = </a:t>
            </a:r>
            <a:r>
              <a:rPr lang="en-US" dirty="0" smtClean="0">
                <a:solidFill>
                  <a:schemeClr val="tx2"/>
                </a:solidFill>
              </a:rPr>
              <a:t>{B, C, D, F}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With SSE value = 6.25 and  MSE value = 0.78125</a:t>
            </a:r>
          </a:p>
          <a:p>
            <a:pPr lvl="1"/>
            <a:r>
              <a:rPr lang="en-US" dirty="0" smtClean="0"/>
              <a:t>the number of iterations 3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6018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Comments on the </a:t>
            </a:r>
            <a:r>
              <a:rPr lang="en-US" altLang="zh-CN" i="1" dirty="0">
                <a:ea typeface="SimSun" panose="02010600030101010101" pitchFamily="2" charset="-122"/>
              </a:rPr>
              <a:t>K-Means</a:t>
            </a:r>
            <a:r>
              <a:rPr lang="en-US" altLang="zh-CN" dirty="0">
                <a:ea typeface="SimSun" panose="02010600030101010101" pitchFamily="2" charset="-122"/>
              </a:rPr>
              <a:t> Method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39062"/>
            <a:ext cx="7886700" cy="49855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 smtClean="0">
                <a:solidFill>
                  <a:srgbClr val="C00000"/>
                </a:solidFill>
                <a:ea typeface="SimSun" panose="02010600030101010101" pitchFamily="2" charset="-122"/>
              </a:rPr>
              <a:t>Strength</a:t>
            </a:r>
            <a:r>
              <a:rPr lang="en-US" altLang="zh-CN" sz="2600" u="sng" dirty="0" smtClean="0">
                <a:ea typeface="SimSun" panose="02010600030101010101" pitchFamily="2" charset="-122"/>
              </a:rPr>
              <a:t>:</a:t>
            </a:r>
            <a:endParaRPr lang="en-US" altLang="zh-CN" sz="2600" dirty="0">
              <a:ea typeface="SimSun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200" i="1" dirty="0" smtClean="0">
                <a:ea typeface="SimSun" panose="02010600030101010101" pitchFamily="2" charset="-122"/>
              </a:rPr>
              <a:t>Efficient</a:t>
            </a:r>
            <a:r>
              <a:rPr lang="en-US" altLang="zh-CN" sz="2200" dirty="0">
                <a:ea typeface="SimSun" panose="02010600030101010101" pitchFamily="2" charset="-122"/>
              </a:rPr>
              <a:t>: </a:t>
            </a:r>
            <a:r>
              <a:rPr lang="en-US" altLang="zh-CN" sz="2200" i="1" dirty="0">
                <a:ea typeface="SimSun" panose="02010600030101010101" pitchFamily="2" charset="-122"/>
              </a:rPr>
              <a:t>O</a:t>
            </a:r>
            <a:r>
              <a:rPr lang="en-US" altLang="zh-CN" sz="2200" dirty="0">
                <a:ea typeface="SimSun" panose="02010600030101010101" pitchFamily="2" charset="-122"/>
              </a:rPr>
              <a:t>(</a:t>
            </a:r>
            <a:r>
              <a:rPr lang="en-US" altLang="zh-CN" sz="2200" i="1" dirty="0" err="1">
                <a:ea typeface="SimSun" panose="02010600030101010101" pitchFamily="2" charset="-122"/>
              </a:rPr>
              <a:t>tkn</a:t>
            </a:r>
            <a:r>
              <a:rPr lang="en-US" altLang="zh-CN" sz="2200" dirty="0">
                <a:ea typeface="SimSun" panose="02010600030101010101" pitchFamily="2" charset="-122"/>
              </a:rPr>
              <a:t>), where </a:t>
            </a:r>
            <a:r>
              <a:rPr lang="en-US" altLang="zh-CN" sz="2200" i="1" dirty="0">
                <a:ea typeface="SimSun" panose="02010600030101010101" pitchFamily="2" charset="-122"/>
              </a:rPr>
              <a:t>n</a:t>
            </a:r>
            <a:r>
              <a:rPr lang="en-US" altLang="zh-CN" sz="2200" dirty="0">
                <a:ea typeface="SimSun" panose="02010600030101010101" pitchFamily="2" charset="-122"/>
              </a:rPr>
              <a:t> is # objects, </a:t>
            </a:r>
            <a:r>
              <a:rPr lang="en-US" altLang="zh-CN" sz="2200" i="1" dirty="0">
                <a:ea typeface="SimSun" panose="02010600030101010101" pitchFamily="2" charset="-122"/>
              </a:rPr>
              <a:t>k</a:t>
            </a:r>
            <a:r>
              <a:rPr lang="en-US" altLang="zh-CN" sz="2200" dirty="0">
                <a:ea typeface="SimSun" panose="02010600030101010101" pitchFamily="2" charset="-122"/>
              </a:rPr>
              <a:t> is # clusters, and </a:t>
            </a:r>
            <a:r>
              <a:rPr lang="en-US" altLang="zh-CN" sz="2200" i="1" dirty="0">
                <a:ea typeface="SimSun" panose="02010600030101010101" pitchFamily="2" charset="-122"/>
              </a:rPr>
              <a:t>t  </a:t>
            </a:r>
            <a:r>
              <a:rPr lang="en-US" altLang="zh-CN" sz="2200" dirty="0">
                <a:ea typeface="SimSun" panose="02010600030101010101" pitchFamily="2" charset="-122"/>
              </a:rPr>
              <a:t>is # iterations. Normally, </a:t>
            </a:r>
            <a:r>
              <a:rPr lang="en-US" altLang="zh-CN" sz="2200" i="1" dirty="0">
                <a:ea typeface="SimSun" panose="02010600030101010101" pitchFamily="2" charset="-122"/>
              </a:rPr>
              <a:t>k</a:t>
            </a:r>
            <a:r>
              <a:rPr lang="en-US" altLang="zh-CN" sz="2200" dirty="0">
                <a:ea typeface="SimSun" panose="02010600030101010101" pitchFamily="2" charset="-122"/>
              </a:rPr>
              <a:t>, </a:t>
            </a:r>
            <a:r>
              <a:rPr lang="en-US" altLang="zh-CN" sz="2200" i="1" dirty="0">
                <a:ea typeface="SimSun" panose="02010600030101010101" pitchFamily="2" charset="-122"/>
              </a:rPr>
              <a:t>t</a:t>
            </a:r>
            <a:r>
              <a:rPr lang="en-US" altLang="zh-CN" sz="2200" dirty="0">
                <a:ea typeface="SimSun" panose="02010600030101010101" pitchFamily="2" charset="-122"/>
              </a:rPr>
              <a:t> &lt;&lt; </a:t>
            </a:r>
            <a:r>
              <a:rPr lang="en-US" altLang="zh-CN" sz="2200" i="1" dirty="0" smtClean="0">
                <a:ea typeface="SimSun" panose="02010600030101010101" pitchFamily="2" charset="-122"/>
              </a:rPr>
              <a:t>n</a:t>
            </a:r>
            <a:r>
              <a:rPr lang="en-US" altLang="zh-CN" sz="2200" dirty="0" smtClean="0">
                <a:ea typeface="SimSun" panose="02010600030101010101" pitchFamily="2" charset="-12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ko-KR" sz="2200" dirty="0" smtClean="0">
                <a:ea typeface="Gulim" panose="020B0600000101010101" pitchFamily="34" charset="-127"/>
              </a:rPr>
              <a:t>Comparing</a:t>
            </a:r>
            <a:r>
              <a:rPr lang="en-US" altLang="ko-KR" sz="2200" dirty="0">
                <a:ea typeface="Gulim" panose="020B0600000101010101" pitchFamily="34" charset="-127"/>
              </a:rPr>
              <a:t>: PAM: O(k(n-k)</a:t>
            </a:r>
            <a:r>
              <a:rPr lang="en-US" altLang="ko-KR" sz="2200" baseline="30000" dirty="0">
                <a:ea typeface="Gulim" panose="020B0600000101010101" pitchFamily="34" charset="-127"/>
              </a:rPr>
              <a:t>2</a:t>
            </a:r>
            <a:r>
              <a:rPr lang="en-US" altLang="ko-KR" sz="2200" dirty="0">
                <a:ea typeface="Gulim" panose="020B0600000101010101" pitchFamily="34" charset="-127"/>
              </a:rPr>
              <a:t> ), CLARA: O(ks</a:t>
            </a:r>
            <a:r>
              <a:rPr lang="en-US" altLang="ko-KR" sz="2200" baseline="30000" dirty="0">
                <a:ea typeface="Gulim" panose="020B0600000101010101" pitchFamily="34" charset="-127"/>
              </a:rPr>
              <a:t>2</a:t>
            </a:r>
            <a:r>
              <a:rPr lang="en-US" altLang="ko-KR" sz="2200" dirty="0">
                <a:ea typeface="Gulim" panose="020B0600000101010101" pitchFamily="34" charset="-127"/>
              </a:rPr>
              <a:t> + k(n-k))</a:t>
            </a:r>
            <a:endParaRPr lang="en-US" altLang="zh-CN" sz="2200" dirty="0"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rgbClr val="C00000"/>
                </a:solidFill>
                <a:ea typeface="SimSun" panose="02010600030101010101" pitchFamily="2" charset="-122"/>
              </a:rPr>
              <a:t>Comment</a:t>
            </a:r>
            <a:r>
              <a:rPr lang="en-US" altLang="zh-CN" sz="2600" dirty="0">
                <a:ea typeface="SimSun" panose="02010600030101010101" pitchFamily="2" charset="-122"/>
              </a:rPr>
              <a:t>: </a:t>
            </a:r>
            <a:r>
              <a:rPr lang="en-US" altLang="zh-CN" sz="2000" dirty="0">
                <a:ea typeface="SimSun" panose="02010600030101010101" pitchFamily="2" charset="-122"/>
              </a:rPr>
              <a:t>Often terminates at a </a:t>
            </a:r>
            <a:r>
              <a:rPr lang="en-US" altLang="zh-CN" sz="2000" i="1" dirty="0">
                <a:ea typeface="SimSun" panose="02010600030101010101" pitchFamily="2" charset="-122"/>
              </a:rPr>
              <a:t>local optimal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600" dirty="0">
                <a:solidFill>
                  <a:srgbClr val="C00000"/>
                </a:solidFill>
                <a:ea typeface="SimSun" panose="02010600030101010101" pitchFamily="2" charset="-122"/>
              </a:rPr>
              <a:t>Weakness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ea typeface="SimSun" panose="02010600030101010101" pitchFamily="2" charset="-122"/>
              </a:rPr>
              <a:t>Applicable only to </a:t>
            </a:r>
            <a:r>
              <a:rPr lang="en-US" altLang="zh-CN" sz="2000" dirty="0">
                <a:solidFill>
                  <a:srgbClr val="0C0CC6"/>
                </a:solidFill>
                <a:ea typeface="SimSun" panose="02010600030101010101" pitchFamily="2" charset="-122"/>
              </a:rPr>
              <a:t>objects in a continuous n-dimensional </a:t>
            </a:r>
            <a:r>
              <a:rPr lang="en-US" altLang="zh-CN" sz="2000" dirty="0">
                <a:ea typeface="SimSun" panose="02010600030101010101" pitchFamily="2" charset="-122"/>
              </a:rPr>
              <a:t>space </a:t>
            </a:r>
            <a:endParaRPr lang="en-US" altLang="zh-CN" sz="2000" i="1" dirty="0">
              <a:ea typeface="SimSun" panose="02010600030101010101" pitchFamily="2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1900" dirty="0">
                <a:ea typeface="SimSun" panose="02010600030101010101" pitchFamily="2" charset="-122"/>
              </a:rPr>
              <a:t>Using the k-modes method for categorical data</a:t>
            </a:r>
          </a:p>
          <a:p>
            <a:pPr lvl="2">
              <a:lnSpc>
                <a:spcPct val="120000"/>
              </a:lnSpc>
            </a:pPr>
            <a:r>
              <a:rPr lang="en-US" altLang="zh-CN" sz="1900" dirty="0">
                <a:ea typeface="SimSun" panose="02010600030101010101" pitchFamily="2" charset="-122"/>
              </a:rPr>
              <a:t>In comparison, k-</a:t>
            </a:r>
            <a:r>
              <a:rPr lang="en-US" altLang="zh-CN" sz="1900" dirty="0" err="1">
                <a:ea typeface="SimSun" panose="02010600030101010101" pitchFamily="2" charset="-122"/>
              </a:rPr>
              <a:t>medoids</a:t>
            </a:r>
            <a:r>
              <a:rPr lang="en-US" altLang="zh-CN" sz="1900" dirty="0">
                <a:ea typeface="SimSun" panose="02010600030101010101" pitchFamily="2" charset="-122"/>
              </a:rPr>
              <a:t> can be applied to a wide range of data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C0CC6"/>
                </a:solidFill>
                <a:ea typeface="SimSun" panose="02010600030101010101" pitchFamily="2" charset="-122"/>
              </a:rPr>
              <a:t>Need to specify </a:t>
            </a:r>
            <a:r>
              <a:rPr lang="en-US" altLang="zh-CN" sz="2000" i="1" dirty="0">
                <a:solidFill>
                  <a:srgbClr val="0C0CC6"/>
                </a:solidFill>
                <a:ea typeface="SimSun" panose="02010600030101010101" pitchFamily="2" charset="-122"/>
              </a:rPr>
              <a:t>k</a:t>
            </a:r>
            <a:r>
              <a:rPr lang="en-US" altLang="zh-CN" sz="2000" i="1" dirty="0">
                <a:ea typeface="SimSun" panose="02010600030101010101" pitchFamily="2" charset="-122"/>
              </a:rPr>
              <a:t>, </a:t>
            </a:r>
            <a:r>
              <a:rPr lang="en-US" altLang="zh-CN" sz="2000" dirty="0">
                <a:ea typeface="SimSun" panose="02010600030101010101" pitchFamily="2" charset="-122"/>
              </a:rPr>
              <a:t>the </a:t>
            </a:r>
            <a:r>
              <a:rPr lang="en-US" altLang="zh-CN" sz="2000" i="1" dirty="0">
                <a:ea typeface="SimSun" panose="02010600030101010101" pitchFamily="2" charset="-122"/>
              </a:rPr>
              <a:t>number</a:t>
            </a:r>
            <a:r>
              <a:rPr lang="en-US" altLang="zh-CN" sz="2000" dirty="0">
                <a:ea typeface="SimSun" panose="02010600030101010101" pitchFamily="2" charset="-122"/>
              </a:rPr>
              <a:t> of clusters, in advance (there are ways to automatically determine the best </a:t>
            </a:r>
            <a:r>
              <a:rPr lang="en-US" altLang="zh-CN" sz="2000" i="1" dirty="0">
                <a:ea typeface="SimSun" panose="02010600030101010101" pitchFamily="2" charset="-122"/>
              </a:rPr>
              <a:t>k</a:t>
            </a:r>
            <a:r>
              <a:rPr lang="en-US" altLang="zh-CN" sz="2000" dirty="0">
                <a:ea typeface="SimSun" panose="02010600030101010101" pitchFamily="2" charset="-122"/>
              </a:rPr>
              <a:t> (see Hastie et al., 2009)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solidFill>
                  <a:srgbClr val="0C0CC6"/>
                </a:solidFill>
                <a:ea typeface="SimSun" panose="02010600030101010101" pitchFamily="2" charset="-122"/>
              </a:rPr>
              <a:t>Sensitive to noisy data </a:t>
            </a:r>
            <a:r>
              <a:rPr lang="en-US" altLang="zh-CN" sz="2000" dirty="0">
                <a:ea typeface="SimSun" panose="02010600030101010101" pitchFamily="2" charset="-122"/>
              </a:rPr>
              <a:t>and </a:t>
            </a:r>
            <a:r>
              <a:rPr lang="en-US" altLang="zh-CN" sz="2000" i="1" dirty="0">
                <a:ea typeface="SimSun" panose="02010600030101010101" pitchFamily="2" charset="-122"/>
              </a:rPr>
              <a:t>outliers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ea typeface="SimSun" panose="02010600030101010101" pitchFamily="2" charset="-122"/>
              </a:rPr>
              <a:t>Not suitable to discover clusters with </a:t>
            </a:r>
            <a:r>
              <a:rPr lang="en-US" altLang="zh-CN" sz="2000" i="1" dirty="0">
                <a:ea typeface="SimSun" panose="02010600030101010101" pitchFamily="2" charset="-122"/>
              </a:rPr>
              <a:t>non-convex shapes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6385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Variations of the </a:t>
            </a:r>
            <a:r>
              <a:rPr lang="en-US" altLang="zh-CN" i="1" dirty="0">
                <a:ea typeface="SimSun" panose="02010600030101010101" pitchFamily="2" charset="-122"/>
              </a:rPr>
              <a:t>K-Means</a:t>
            </a:r>
            <a:r>
              <a:rPr lang="en-US" altLang="zh-CN" dirty="0">
                <a:ea typeface="SimSun" panose="02010600030101010101" pitchFamily="2" charset="-122"/>
              </a:rPr>
              <a:t> Method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2549"/>
            <a:ext cx="7886700" cy="5124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ea typeface="SimSun" panose="02010600030101010101" pitchFamily="2" charset="-122"/>
              </a:rPr>
              <a:t>Most of the variants of the </a:t>
            </a:r>
            <a:r>
              <a:rPr lang="en-US" altLang="zh-CN" sz="2400" i="1" dirty="0">
                <a:ea typeface="SimSun" panose="02010600030101010101" pitchFamily="2" charset="-122"/>
              </a:rPr>
              <a:t>k-means</a:t>
            </a:r>
            <a:r>
              <a:rPr lang="en-US" altLang="zh-CN" sz="2400" dirty="0">
                <a:ea typeface="SimSun" panose="02010600030101010101" pitchFamily="2" charset="-122"/>
              </a:rPr>
              <a:t> which differ in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Selection of the </a:t>
            </a:r>
            <a:r>
              <a:rPr lang="en-US" altLang="zh-CN" dirty="0">
                <a:solidFill>
                  <a:srgbClr val="0C0CC6"/>
                </a:solidFill>
                <a:ea typeface="SimSun" panose="02010600030101010101" pitchFamily="2" charset="-122"/>
              </a:rPr>
              <a:t>initial </a:t>
            </a:r>
            <a:r>
              <a:rPr lang="en-US" altLang="zh-CN" i="1" dirty="0">
                <a:solidFill>
                  <a:srgbClr val="0C0CC6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0C0CC6"/>
                </a:solidFill>
                <a:ea typeface="SimSun" panose="02010600030101010101" pitchFamily="2" charset="-122"/>
              </a:rPr>
              <a:t> means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Dissimilarity calculations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Strategies to calculate cluster means</a:t>
            </a:r>
          </a:p>
          <a:p>
            <a:pPr>
              <a:lnSpc>
                <a:spcPct val="100000"/>
              </a:lnSpc>
            </a:pPr>
            <a:endParaRPr lang="en-US" altLang="zh-CN" sz="2400" dirty="0" smtClean="0"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 smtClean="0">
                <a:ea typeface="SimSun" panose="02010600030101010101" pitchFamily="2" charset="-122"/>
              </a:rPr>
              <a:t>Handling </a:t>
            </a:r>
            <a:r>
              <a:rPr lang="en-US" altLang="zh-CN" sz="2400" dirty="0">
                <a:ea typeface="SimSun" panose="02010600030101010101" pitchFamily="2" charset="-122"/>
              </a:rPr>
              <a:t>categorical data: </a:t>
            </a:r>
            <a:r>
              <a:rPr lang="en-US" altLang="zh-CN" sz="2400" i="1" dirty="0">
                <a:ea typeface="SimSun" panose="02010600030101010101" pitchFamily="2" charset="-122"/>
              </a:rPr>
              <a:t>k-modes</a:t>
            </a:r>
            <a:endParaRPr lang="en-US" altLang="zh-CN" sz="2400" dirty="0">
              <a:ea typeface="SimSun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Replacing means of clusters with </a:t>
            </a:r>
            <a:r>
              <a:rPr lang="en-US" altLang="zh-CN" u="sng" dirty="0">
                <a:ea typeface="SimSun" panose="02010600030101010101" pitchFamily="2" charset="-122"/>
              </a:rPr>
              <a:t>modes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Using new dissimilarity measures to deal with categorical objects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Using a </a:t>
            </a:r>
            <a:r>
              <a:rPr lang="en-US" altLang="zh-CN" u="sng" dirty="0">
                <a:ea typeface="SimSun" panose="02010600030101010101" pitchFamily="2" charset="-122"/>
              </a:rPr>
              <a:t>frequency</a:t>
            </a:r>
            <a:r>
              <a:rPr lang="en-US" altLang="zh-CN" dirty="0">
                <a:ea typeface="SimSun" panose="02010600030101010101" pitchFamily="2" charset="-122"/>
              </a:rPr>
              <a:t>-based method to update modes of clusters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SimSun" panose="02010600030101010101" pitchFamily="2" charset="-122"/>
              </a:rPr>
              <a:t>A mixture of categorical and numerical data: </a:t>
            </a:r>
            <a:r>
              <a:rPr lang="en-US" altLang="zh-CN" i="1" dirty="0">
                <a:ea typeface="SimSun" panose="02010600030101010101" pitchFamily="2" charset="-122"/>
              </a:rPr>
              <a:t>k-prototype</a:t>
            </a:r>
            <a:r>
              <a:rPr lang="en-US" altLang="zh-CN" dirty="0">
                <a:ea typeface="SimSun" panose="02010600030101010101" pitchFamily="2" charset="-122"/>
              </a:rPr>
              <a:t> method</a:t>
            </a:r>
          </a:p>
          <a:p>
            <a:pPr>
              <a:lnSpc>
                <a:spcPct val="100000"/>
              </a:lnSpc>
            </a:pPr>
            <a:endParaRPr lang="id-ID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096000" y="1981200"/>
          <a:ext cx="26876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69" name="SmartDraw" r:id="rId3" imgW="2688336" imgH="1371600" progId="">
                  <p:embed/>
                </p:oleObj>
              </mc:Choice>
              <mc:Fallback>
                <p:oleObj name="SmartDraw" r:id="rId3" imgW="2688336" imgH="1371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81200"/>
                        <a:ext cx="26876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337961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ea typeface="Gulim" panose="020B0600000101010101" pitchFamily="34" charset="-127"/>
              </a:rPr>
              <a:t>What Is the Problem of the K-Means Method?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9621"/>
            <a:ext cx="7886700" cy="464309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ea typeface="Gulim" panose="020B0600000101010101" pitchFamily="34" charset="-127"/>
              </a:rPr>
              <a:t>The k-means algorithm is </a:t>
            </a:r>
            <a:r>
              <a:rPr lang="en-US" altLang="ko-KR" sz="2400" dirty="0">
                <a:solidFill>
                  <a:srgbClr val="C00000"/>
                </a:solidFill>
                <a:ea typeface="Gulim" panose="020B0600000101010101" pitchFamily="34" charset="-127"/>
              </a:rPr>
              <a:t>sensitive to </a:t>
            </a:r>
            <a:r>
              <a:rPr lang="en-US" altLang="ko-KR" sz="2400" dirty="0" smtClean="0">
                <a:solidFill>
                  <a:srgbClr val="C00000"/>
                </a:solidFill>
                <a:ea typeface="Gulim" panose="020B0600000101010101" pitchFamily="34" charset="-127"/>
              </a:rPr>
              <a:t>outliers</a:t>
            </a:r>
            <a:r>
              <a:rPr lang="en-US" altLang="ko-KR" sz="2400" dirty="0" smtClean="0">
                <a:ea typeface="Gulim" panose="020B0600000101010101" pitchFamily="34" charset="-127"/>
              </a:rPr>
              <a:t>!</a:t>
            </a:r>
            <a:endParaRPr lang="en-US" altLang="ko-KR" sz="2400" dirty="0">
              <a:ea typeface="Gulim" panose="020B0600000101010101" pitchFamily="34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2000" dirty="0">
                <a:ea typeface="Gulim" panose="020B0600000101010101" pitchFamily="34" charset="-127"/>
              </a:rPr>
              <a:t>Since an object with an extremely large value may substantially distort the distribution of the data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ea typeface="Gulim" panose="020B0600000101010101" pitchFamily="34" charset="-127"/>
              </a:rPr>
              <a:t>K-</a:t>
            </a:r>
            <a:r>
              <a:rPr lang="en-US" altLang="ko-KR" sz="2400" dirty="0" err="1">
                <a:ea typeface="Gulim" panose="020B0600000101010101" pitchFamily="34" charset="-127"/>
              </a:rPr>
              <a:t>Medoids</a:t>
            </a:r>
            <a:r>
              <a:rPr lang="en-US" altLang="ko-KR" sz="2400" dirty="0">
                <a:ea typeface="Gulim" panose="020B0600000101010101" pitchFamily="34" charset="-127"/>
              </a:rPr>
              <a:t>: </a:t>
            </a:r>
            <a:endParaRPr lang="en-US" altLang="ko-KR" sz="2400" dirty="0" smtClean="0">
              <a:ea typeface="Gulim" panose="020B0600000101010101" pitchFamily="34" charset="-127"/>
            </a:endParaRPr>
          </a:p>
          <a:p>
            <a:pPr lvl="1">
              <a:lnSpc>
                <a:spcPct val="100000"/>
              </a:lnSpc>
            </a:pPr>
            <a:r>
              <a:rPr lang="en-US" altLang="ko-KR" sz="2000" dirty="0" smtClean="0">
                <a:ea typeface="Gulim" panose="020B0600000101010101" pitchFamily="34" charset="-127"/>
              </a:rPr>
              <a:t>Instead </a:t>
            </a:r>
            <a:r>
              <a:rPr lang="en-US" altLang="ko-KR" sz="2000" dirty="0">
                <a:ea typeface="Gulim" panose="020B0600000101010101" pitchFamily="34" charset="-127"/>
              </a:rPr>
              <a:t>of taking the </a:t>
            </a:r>
            <a:r>
              <a:rPr lang="en-US" altLang="ko-KR" sz="2000" b="1" dirty="0">
                <a:ea typeface="Gulim" panose="020B0600000101010101" pitchFamily="34" charset="-127"/>
              </a:rPr>
              <a:t>mean</a:t>
            </a:r>
            <a:r>
              <a:rPr lang="en-US" altLang="ko-KR" sz="2000" dirty="0">
                <a:ea typeface="Gulim" panose="020B0600000101010101" pitchFamily="34" charset="-127"/>
              </a:rPr>
              <a:t> value of the object in a cluster as a reference point, </a:t>
            </a:r>
            <a:r>
              <a:rPr lang="en-US" altLang="ko-KR" sz="2000" b="1" dirty="0" err="1">
                <a:solidFill>
                  <a:srgbClr val="C00000"/>
                </a:solidFill>
                <a:ea typeface="Gulim" panose="020B0600000101010101" pitchFamily="34" charset="-127"/>
              </a:rPr>
              <a:t>medoids</a:t>
            </a:r>
            <a:r>
              <a:rPr lang="en-US" altLang="ko-KR" sz="2000" dirty="0">
                <a:solidFill>
                  <a:srgbClr val="C00000"/>
                </a:solidFill>
                <a:ea typeface="Gulim" panose="020B0600000101010101" pitchFamily="34" charset="-127"/>
              </a:rPr>
              <a:t> </a:t>
            </a:r>
            <a:r>
              <a:rPr lang="en-US" altLang="ko-KR" sz="2000" dirty="0">
                <a:ea typeface="Gulim" panose="020B0600000101010101" pitchFamily="34" charset="-127"/>
              </a:rPr>
              <a:t>can be used, which is the </a:t>
            </a:r>
            <a:r>
              <a:rPr lang="en-US" altLang="ko-KR" sz="2000" b="1" dirty="0">
                <a:ea typeface="Gulim" panose="020B0600000101010101" pitchFamily="34" charset="-127"/>
              </a:rPr>
              <a:t>most centrally located</a:t>
            </a:r>
            <a:r>
              <a:rPr lang="en-US" altLang="ko-KR" sz="2000" dirty="0">
                <a:ea typeface="Gulim" panose="020B0600000101010101" pitchFamily="34" charset="-127"/>
              </a:rPr>
              <a:t> object in a </a:t>
            </a:r>
            <a:r>
              <a:rPr lang="en-US" altLang="ko-KR" sz="2000" dirty="0" smtClean="0">
                <a:ea typeface="Gulim" panose="020B0600000101010101" pitchFamily="34" charset="-127"/>
              </a:rPr>
              <a:t>cluster</a:t>
            </a:r>
            <a:endParaRPr lang="en-US" altLang="ko-KR" sz="2000" dirty="0">
              <a:ea typeface="Gulim" panose="020B0600000101010101" pitchFamily="34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6E0E4-908A-4724-B308-E4F6AE4FA0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1028"/>
          <p:cNvGrpSpPr>
            <a:grpSpLocks/>
          </p:cNvGrpSpPr>
          <p:nvPr/>
        </p:nvGrpSpPr>
        <p:grpSpPr bwMode="auto">
          <a:xfrm>
            <a:off x="1600200" y="4135524"/>
            <a:ext cx="5867400" cy="2054988"/>
            <a:chOff x="1344" y="3072"/>
            <a:chExt cx="3312" cy="1112"/>
          </a:xfrm>
        </p:grpSpPr>
        <p:grpSp>
          <p:nvGrpSpPr>
            <p:cNvPr id="6" name="Group 1029"/>
            <p:cNvGrpSpPr>
              <a:grpSpLocks/>
            </p:cNvGrpSpPr>
            <p:nvPr/>
          </p:nvGrpSpPr>
          <p:grpSpPr bwMode="auto">
            <a:xfrm>
              <a:off x="1344" y="3072"/>
              <a:ext cx="1248" cy="1112"/>
              <a:chOff x="1728" y="864"/>
              <a:chExt cx="1396" cy="1208"/>
            </a:xfrm>
          </p:grpSpPr>
          <p:sp>
            <p:nvSpPr>
              <p:cNvPr id="93" name="Rectangle 1030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94" name="Rectangle 1031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95" name="Line 1032"/>
              <p:cNvSpPr>
                <a:spLocks noChangeShapeType="1"/>
              </p:cNvSpPr>
              <p:nvPr/>
            </p:nvSpPr>
            <p:spPr bwMode="auto">
              <a:xfrm>
                <a:off x="1861" y="18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96" name="Line 1033"/>
              <p:cNvSpPr>
                <a:spLocks noChangeShapeType="1"/>
              </p:cNvSpPr>
              <p:nvPr/>
            </p:nvSpPr>
            <p:spPr bwMode="auto">
              <a:xfrm>
                <a:off x="1861" y="17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97" name="Line 1034"/>
              <p:cNvSpPr>
                <a:spLocks noChangeShapeType="1"/>
              </p:cNvSpPr>
              <p:nvPr/>
            </p:nvSpPr>
            <p:spPr bwMode="auto">
              <a:xfrm>
                <a:off x="1861" y="16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98" name="Line 1035"/>
              <p:cNvSpPr>
                <a:spLocks noChangeShapeType="1"/>
              </p:cNvSpPr>
              <p:nvPr/>
            </p:nvSpPr>
            <p:spPr bwMode="auto">
              <a:xfrm>
                <a:off x="1861" y="15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99" name="Line 1036"/>
              <p:cNvSpPr>
                <a:spLocks noChangeShapeType="1"/>
              </p:cNvSpPr>
              <p:nvPr/>
            </p:nvSpPr>
            <p:spPr bwMode="auto">
              <a:xfrm>
                <a:off x="1861" y="14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0" name="Line 1037"/>
              <p:cNvSpPr>
                <a:spLocks noChangeShapeType="1"/>
              </p:cNvSpPr>
              <p:nvPr/>
            </p:nvSpPr>
            <p:spPr bwMode="auto">
              <a:xfrm>
                <a:off x="1861" y="13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1" name="Line 1038"/>
              <p:cNvSpPr>
                <a:spLocks noChangeShapeType="1"/>
              </p:cNvSpPr>
              <p:nvPr/>
            </p:nvSpPr>
            <p:spPr bwMode="auto">
              <a:xfrm>
                <a:off x="1861" y="12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2" name="Line 1039"/>
              <p:cNvSpPr>
                <a:spLocks noChangeShapeType="1"/>
              </p:cNvSpPr>
              <p:nvPr/>
            </p:nvSpPr>
            <p:spPr bwMode="auto">
              <a:xfrm>
                <a:off x="1861" y="11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3" name="Line 1040"/>
              <p:cNvSpPr>
                <a:spLocks noChangeShapeType="1"/>
              </p:cNvSpPr>
              <p:nvPr/>
            </p:nvSpPr>
            <p:spPr bwMode="auto">
              <a:xfrm>
                <a:off x="1861" y="10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4" name="Line 1041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5" name="Line 1042"/>
              <p:cNvSpPr>
                <a:spLocks noChangeShapeType="1"/>
              </p:cNvSpPr>
              <p:nvPr/>
            </p:nvSpPr>
            <p:spPr bwMode="auto">
              <a:xfrm>
                <a:off x="19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6" name="Line 1043"/>
              <p:cNvSpPr>
                <a:spLocks noChangeShapeType="1"/>
              </p:cNvSpPr>
              <p:nvPr/>
            </p:nvSpPr>
            <p:spPr bwMode="auto">
              <a:xfrm>
                <a:off x="2102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7" name="Line 1044"/>
              <p:cNvSpPr>
                <a:spLocks noChangeShapeType="1"/>
              </p:cNvSpPr>
              <p:nvPr/>
            </p:nvSpPr>
            <p:spPr bwMode="auto">
              <a:xfrm>
                <a:off x="221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8" name="Line 1045"/>
              <p:cNvSpPr>
                <a:spLocks noChangeShapeType="1"/>
              </p:cNvSpPr>
              <p:nvPr/>
            </p:nvSpPr>
            <p:spPr bwMode="auto">
              <a:xfrm>
                <a:off x="23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09" name="Line 1046"/>
              <p:cNvSpPr>
                <a:spLocks noChangeShapeType="1"/>
              </p:cNvSpPr>
              <p:nvPr/>
            </p:nvSpPr>
            <p:spPr bwMode="auto">
              <a:xfrm>
                <a:off x="2460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0" name="Line 1047"/>
              <p:cNvSpPr>
                <a:spLocks noChangeShapeType="1"/>
              </p:cNvSpPr>
              <p:nvPr/>
            </p:nvSpPr>
            <p:spPr bwMode="auto">
              <a:xfrm>
                <a:off x="25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1" name="Line 1048"/>
              <p:cNvSpPr>
                <a:spLocks noChangeShapeType="1"/>
              </p:cNvSpPr>
              <p:nvPr/>
            </p:nvSpPr>
            <p:spPr bwMode="auto">
              <a:xfrm>
                <a:off x="270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2" name="Line 1049"/>
              <p:cNvSpPr>
                <a:spLocks noChangeShapeType="1"/>
              </p:cNvSpPr>
              <p:nvPr/>
            </p:nvSpPr>
            <p:spPr bwMode="auto">
              <a:xfrm>
                <a:off x="2818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3" name="Line 1050"/>
              <p:cNvSpPr>
                <a:spLocks noChangeShapeType="1"/>
              </p:cNvSpPr>
              <p:nvPr/>
            </p:nvSpPr>
            <p:spPr bwMode="auto">
              <a:xfrm>
                <a:off x="29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4" name="Line 1051"/>
              <p:cNvSpPr>
                <a:spLocks noChangeShapeType="1"/>
              </p:cNvSpPr>
              <p:nvPr/>
            </p:nvSpPr>
            <p:spPr bwMode="auto">
              <a:xfrm>
                <a:off x="305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5" name="Rectangle 1052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116" name="Line 1053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7" name="Line 1054"/>
              <p:cNvSpPr>
                <a:spLocks noChangeShapeType="1"/>
              </p:cNvSpPr>
              <p:nvPr/>
            </p:nvSpPr>
            <p:spPr bwMode="auto">
              <a:xfrm>
                <a:off x="1849" y="19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8" name="Line 1055"/>
              <p:cNvSpPr>
                <a:spLocks noChangeShapeType="1"/>
              </p:cNvSpPr>
              <p:nvPr/>
            </p:nvSpPr>
            <p:spPr bwMode="auto">
              <a:xfrm>
                <a:off x="1849" y="18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19" name="Line 1056"/>
              <p:cNvSpPr>
                <a:spLocks noChangeShapeType="1"/>
              </p:cNvSpPr>
              <p:nvPr/>
            </p:nvSpPr>
            <p:spPr bwMode="auto">
              <a:xfrm>
                <a:off x="1849" y="17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0" name="Line 1057"/>
              <p:cNvSpPr>
                <a:spLocks noChangeShapeType="1"/>
              </p:cNvSpPr>
              <p:nvPr/>
            </p:nvSpPr>
            <p:spPr bwMode="auto">
              <a:xfrm>
                <a:off x="1849" y="16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1" name="Line 1058"/>
              <p:cNvSpPr>
                <a:spLocks noChangeShapeType="1"/>
              </p:cNvSpPr>
              <p:nvPr/>
            </p:nvSpPr>
            <p:spPr bwMode="auto">
              <a:xfrm>
                <a:off x="1849" y="15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2" name="Line 1059"/>
              <p:cNvSpPr>
                <a:spLocks noChangeShapeType="1"/>
              </p:cNvSpPr>
              <p:nvPr/>
            </p:nvSpPr>
            <p:spPr bwMode="auto">
              <a:xfrm>
                <a:off x="1849" y="14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3" name="Line 1060"/>
              <p:cNvSpPr>
                <a:spLocks noChangeShapeType="1"/>
              </p:cNvSpPr>
              <p:nvPr/>
            </p:nvSpPr>
            <p:spPr bwMode="auto">
              <a:xfrm>
                <a:off x="1849" y="13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4" name="Line 1061"/>
              <p:cNvSpPr>
                <a:spLocks noChangeShapeType="1"/>
              </p:cNvSpPr>
              <p:nvPr/>
            </p:nvSpPr>
            <p:spPr bwMode="auto">
              <a:xfrm>
                <a:off x="1849" y="12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5" name="Line 1062"/>
              <p:cNvSpPr>
                <a:spLocks noChangeShapeType="1"/>
              </p:cNvSpPr>
              <p:nvPr/>
            </p:nvSpPr>
            <p:spPr bwMode="auto">
              <a:xfrm>
                <a:off x="1849" y="11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6" name="Line 1063"/>
              <p:cNvSpPr>
                <a:spLocks noChangeShapeType="1"/>
              </p:cNvSpPr>
              <p:nvPr/>
            </p:nvSpPr>
            <p:spPr bwMode="auto">
              <a:xfrm>
                <a:off x="1849" y="10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7" name="Line 1064"/>
              <p:cNvSpPr>
                <a:spLocks noChangeShapeType="1"/>
              </p:cNvSpPr>
              <p:nvPr/>
            </p:nvSpPr>
            <p:spPr bwMode="auto">
              <a:xfrm>
                <a:off x="1849" y="9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8" name="Line 1065"/>
              <p:cNvSpPr>
                <a:spLocks noChangeShapeType="1"/>
              </p:cNvSpPr>
              <p:nvPr/>
            </p:nvSpPr>
            <p:spPr bwMode="auto">
              <a:xfrm>
                <a:off x="1861" y="19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9" name="Line 1066"/>
              <p:cNvSpPr>
                <a:spLocks noChangeShapeType="1"/>
              </p:cNvSpPr>
              <p:nvPr/>
            </p:nvSpPr>
            <p:spPr bwMode="auto">
              <a:xfrm flipV="1">
                <a:off x="186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0" name="Line 1067"/>
              <p:cNvSpPr>
                <a:spLocks noChangeShapeType="1"/>
              </p:cNvSpPr>
              <p:nvPr/>
            </p:nvSpPr>
            <p:spPr bwMode="auto">
              <a:xfrm flipV="1">
                <a:off x="19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1" name="Line 1068"/>
              <p:cNvSpPr>
                <a:spLocks noChangeShapeType="1"/>
              </p:cNvSpPr>
              <p:nvPr/>
            </p:nvSpPr>
            <p:spPr bwMode="auto">
              <a:xfrm flipV="1">
                <a:off x="2102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2" name="Line 1069"/>
              <p:cNvSpPr>
                <a:spLocks noChangeShapeType="1"/>
              </p:cNvSpPr>
              <p:nvPr/>
            </p:nvSpPr>
            <p:spPr bwMode="auto">
              <a:xfrm flipV="1">
                <a:off x="221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3" name="Line 1070"/>
              <p:cNvSpPr>
                <a:spLocks noChangeShapeType="1"/>
              </p:cNvSpPr>
              <p:nvPr/>
            </p:nvSpPr>
            <p:spPr bwMode="auto">
              <a:xfrm flipV="1">
                <a:off x="23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4" name="Line 1071"/>
              <p:cNvSpPr>
                <a:spLocks noChangeShapeType="1"/>
              </p:cNvSpPr>
              <p:nvPr/>
            </p:nvSpPr>
            <p:spPr bwMode="auto">
              <a:xfrm flipV="1">
                <a:off x="2460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5" name="Line 1072"/>
              <p:cNvSpPr>
                <a:spLocks noChangeShapeType="1"/>
              </p:cNvSpPr>
              <p:nvPr/>
            </p:nvSpPr>
            <p:spPr bwMode="auto">
              <a:xfrm flipV="1">
                <a:off x="25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6" name="Line 1073"/>
              <p:cNvSpPr>
                <a:spLocks noChangeShapeType="1"/>
              </p:cNvSpPr>
              <p:nvPr/>
            </p:nvSpPr>
            <p:spPr bwMode="auto">
              <a:xfrm flipV="1">
                <a:off x="270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7" name="Line 1074"/>
              <p:cNvSpPr>
                <a:spLocks noChangeShapeType="1"/>
              </p:cNvSpPr>
              <p:nvPr/>
            </p:nvSpPr>
            <p:spPr bwMode="auto">
              <a:xfrm flipV="1">
                <a:off x="2818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8" name="Line 1075"/>
              <p:cNvSpPr>
                <a:spLocks noChangeShapeType="1"/>
              </p:cNvSpPr>
              <p:nvPr/>
            </p:nvSpPr>
            <p:spPr bwMode="auto">
              <a:xfrm flipV="1">
                <a:off x="29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9" name="Line 1076"/>
              <p:cNvSpPr>
                <a:spLocks noChangeShapeType="1"/>
              </p:cNvSpPr>
              <p:nvPr/>
            </p:nvSpPr>
            <p:spPr bwMode="auto">
              <a:xfrm flipV="1">
                <a:off x="305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0" name="Freeform 1077"/>
              <p:cNvSpPr>
                <a:spLocks/>
              </p:cNvSpPr>
              <p:nvPr/>
            </p:nvSpPr>
            <p:spPr bwMode="auto">
              <a:xfrm>
                <a:off x="2191" y="15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1" name="Freeform 1078"/>
              <p:cNvSpPr>
                <a:spLocks/>
              </p:cNvSpPr>
              <p:nvPr/>
            </p:nvSpPr>
            <p:spPr bwMode="auto">
              <a:xfrm>
                <a:off x="2191" y="13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2" name="Freeform 1079"/>
              <p:cNvSpPr>
                <a:spLocks/>
              </p:cNvSpPr>
              <p:nvPr/>
            </p:nvSpPr>
            <p:spPr bwMode="auto">
              <a:xfrm>
                <a:off x="2673" y="16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3" name="Freeform 1080"/>
              <p:cNvSpPr>
                <a:spLocks/>
              </p:cNvSpPr>
              <p:nvPr/>
            </p:nvSpPr>
            <p:spPr bwMode="auto">
              <a:xfrm>
                <a:off x="2311" y="12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4" name="Freeform 1081"/>
              <p:cNvSpPr>
                <a:spLocks/>
              </p:cNvSpPr>
              <p:nvPr/>
            </p:nvSpPr>
            <p:spPr bwMode="auto">
              <a:xfrm>
                <a:off x="2191" y="11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5" name="Freeform 1082"/>
              <p:cNvSpPr>
                <a:spLocks/>
              </p:cNvSpPr>
              <p:nvPr/>
            </p:nvSpPr>
            <p:spPr bwMode="auto">
              <a:xfrm>
                <a:off x="2790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6" name="Freeform 1083"/>
              <p:cNvSpPr>
                <a:spLocks/>
              </p:cNvSpPr>
              <p:nvPr/>
            </p:nvSpPr>
            <p:spPr bwMode="auto">
              <a:xfrm>
                <a:off x="2311" y="14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7" name="Freeform 1084"/>
              <p:cNvSpPr>
                <a:spLocks/>
              </p:cNvSpPr>
              <p:nvPr/>
            </p:nvSpPr>
            <p:spPr bwMode="auto">
              <a:xfrm>
                <a:off x="2432" y="17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8" name="Freeform 1085"/>
              <p:cNvSpPr>
                <a:spLocks/>
              </p:cNvSpPr>
              <p:nvPr/>
            </p:nvSpPr>
            <p:spPr bwMode="auto">
              <a:xfrm>
                <a:off x="2673" y="15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9" name="Freeform 1086"/>
              <p:cNvSpPr>
                <a:spLocks/>
              </p:cNvSpPr>
              <p:nvPr/>
            </p:nvSpPr>
            <p:spPr bwMode="auto">
              <a:xfrm>
                <a:off x="2432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50" name="Rectangle 1087"/>
              <p:cNvSpPr>
                <a:spLocks noChangeArrowheads="1"/>
              </p:cNvSpPr>
              <p:nvPr/>
            </p:nvSpPr>
            <p:spPr bwMode="auto">
              <a:xfrm>
                <a:off x="1805" y="18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1" name="Rectangle 1088"/>
              <p:cNvSpPr>
                <a:spLocks noChangeArrowheads="1"/>
              </p:cNvSpPr>
              <p:nvPr/>
            </p:nvSpPr>
            <p:spPr bwMode="auto">
              <a:xfrm>
                <a:off x="1805" y="17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2" name="Rectangle 1089"/>
              <p:cNvSpPr>
                <a:spLocks noChangeArrowheads="1"/>
              </p:cNvSpPr>
              <p:nvPr/>
            </p:nvSpPr>
            <p:spPr bwMode="auto">
              <a:xfrm>
                <a:off x="1805" y="17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2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3" name="Rectangle 1090"/>
              <p:cNvSpPr>
                <a:spLocks noChangeArrowheads="1"/>
              </p:cNvSpPr>
              <p:nvPr/>
            </p:nvSpPr>
            <p:spPr bwMode="auto">
              <a:xfrm>
                <a:off x="1805" y="16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3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4" name="Rectangle 1091"/>
              <p:cNvSpPr>
                <a:spLocks noChangeArrowheads="1"/>
              </p:cNvSpPr>
              <p:nvPr/>
            </p:nvSpPr>
            <p:spPr bwMode="auto">
              <a:xfrm>
                <a:off x="1805" y="15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4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5" name="Rectangle 1092"/>
              <p:cNvSpPr>
                <a:spLocks noChangeArrowheads="1"/>
              </p:cNvSpPr>
              <p:nvPr/>
            </p:nvSpPr>
            <p:spPr bwMode="auto">
              <a:xfrm>
                <a:off x="1805" y="14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5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6" name="Rectangle 1093"/>
              <p:cNvSpPr>
                <a:spLocks noChangeArrowheads="1"/>
              </p:cNvSpPr>
              <p:nvPr/>
            </p:nvSpPr>
            <p:spPr bwMode="auto">
              <a:xfrm>
                <a:off x="1805" y="13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6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7" name="Rectangle 1094"/>
              <p:cNvSpPr>
                <a:spLocks noChangeArrowheads="1"/>
              </p:cNvSpPr>
              <p:nvPr/>
            </p:nvSpPr>
            <p:spPr bwMode="auto">
              <a:xfrm>
                <a:off x="1805" y="12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7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8" name="Rectangle 1095"/>
              <p:cNvSpPr>
                <a:spLocks noChangeArrowheads="1"/>
              </p:cNvSpPr>
              <p:nvPr/>
            </p:nvSpPr>
            <p:spPr bwMode="auto">
              <a:xfrm>
                <a:off x="1805" y="11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8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59" name="Rectangle 1096"/>
              <p:cNvSpPr>
                <a:spLocks noChangeArrowheads="1"/>
              </p:cNvSpPr>
              <p:nvPr/>
            </p:nvSpPr>
            <p:spPr bwMode="auto">
              <a:xfrm>
                <a:off x="1805" y="10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9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0" name="Rectangle 1097"/>
              <p:cNvSpPr>
                <a:spLocks noChangeArrowheads="1"/>
              </p:cNvSpPr>
              <p:nvPr/>
            </p:nvSpPr>
            <p:spPr bwMode="auto">
              <a:xfrm>
                <a:off x="1779" y="9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1" name="Rectangle 1098"/>
              <p:cNvSpPr>
                <a:spLocks noChangeArrowheads="1"/>
              </p:cNvSpPr>
              <p:nvPr/>
            </p:nvSpPr>
            <p:spPr bwMode="auto">
              <a:xfrm>
                <a:off x="184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2" name="Rectangle 1099"/>
              <p:cNvSpPr>
                <a:spLocks noChangeArrowheads="1"/>
              </p:cNvSpPr>
              <p:nvPr/>
            </p:nvSpPr>
            <p:spPr bwMode="auto">
              <a:xfrm>
                <a:off x="196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3" name="Rectangle 1100"/>
              <p:cNvSpPr>
                <a:spLocks noChangeArrowheads="1"/>
              </p:cNvSpPr>
              <p:nvPr/>
            </p:nvSpPr>
            <p:spPr bwMode="auto">
              <a:xfrm>
                <a:off x="2090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2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4" name="Rectangle 1101"/>
              <p:cNvSpPr>
                <a:spLocks noChangeArrowheads="1"/>
              </p:cNvSpPr>
              <p:nvPr/>
            </p:nvSpPr>
            <p:spPr bwMode="auto">
              <a:xfrm>
                <a:off x="220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3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5" name="Rectangle 1102"/>
              <p:cNvSpPr>
                <a:spLocks noChangeArrowheads="1"/>
              </p:cNvSpPr>
              <p:nvPr/>
            </p:nvSpPr>
            <p:spPr bwMode="auto">
              <a:xfrm>
                <a:off x="232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4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6" name="Rectangle 1103"/>
              <p:cNvSpPr>
                <a:spLocks noChangeArrowheads="1"/>
              </p:cNvSpPr>
              <p:nvPr/>
            </p:nvSpPr>
            <p:spPr bwMode="auto">
              <a:xfrm>
                <a:off x="244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5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7" name="Rectangle 1104"/>
              <p:cNvSpPr>
                <a:spLocks noChangeArrowheads="1"/>
              </p:cNvSpPr>
              <p:nvPr/>
            </p:nvSpPr>
            <p:spPr bwMode="auto">
              <a:xfrm>
                <a:off x="256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6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8" name="Rectangle 1105"/>
              <p:cNvSpPr>
                <a:spLocks noChangeArrowheads="1"/>
              </p:cNvSpPr>
              <p:nvPr/>
            </p:nvSpPr>
            <p:spPr bwMode="auto">
              <a:xfrm>
                <a:off x="268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7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69" name="Rectangle 1106"/>
              <p:cNvSpPr>
                <a:spLocks noChangeArrowheads="1"/>
              </p:cNvSpPr>
              <p:nvPr/>
            </p:nvSpPr>
            <p:spPr bwMode="auto">
              <a:xfrm>
                <a:off x="280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8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70" name="Rectangle 1107"/>
              <p:cNvSpPr>
                <a:spLocks noChangeArrowheads="1"/>
              </p:cNvSpPr>
              <p:nvPr/>
            </p:nvSpPr>
            <p:spPr bwMode="auto">
              <a:xfrm>
                <a:off x="292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9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71" name="Rectangle 1108"/>
              <p:cNvSpPr>
                <a:spLocks noChangeArrowheads="1"/>
              </p:cNvSpPr>
              <p:nvPr/>
            </p:nvSpPr>
            <p:spPr bwMode="auto">
              <a:xfrm>
                <a:off x="3035" y="1962"/>
                <a:ext cx="6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172" name="Rectangle 1109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</p:grpSp>
        <p:grpSp>
          <p:nvGrpSpPr>
            <p:cNvPr id="7" name="Group 1110"/>
            <p:cNvGrpSpPr>
              <a:grpSpLocks/>
            </p:cNvGrpSpPr>
            <p:nvPr/>
          </p:nvGrpSpPr>
          <p:grpSpPr bwMode="auto">
            <a:xfrm>
              <a:off x="3408" y="3072"/>
              <a:ext cx="1248" cy="1112"/>
              <a:chOff x="3616" y="2464"/>
              <a:chExt cx="1396" cy="1208"/>
            </a:xfrm>
          </p:grpSpPr>
          <p:sp>
            <p:nvSpPr>
              <p:cNvPr id="9" name="Rectangle 1111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10" name="Rectangle 1112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11" name="Line 1113"/>
              <p:cNvSpPr>
                <a:spLocks noChangeShapeType="1"/>
              </p:cNvSpPr>
              <p:nvPr/>
            </p:nvSpPr>
            <p:spPr bwMode="auto">
              <a:xfrm>
                <a:off x="3749" y="34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2" name="Line 1114"/>
              <p:cNvSpPr>
                <a:spLocks noChangeShapeType="1"/>
              </p:cNvSpPr>
              <p:nvPr/>
            </p:nvSpPr>
            <p:spPr bwMode="auto">
              <a:xfrm>
                <a:off x="3749" y="33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3" name="Line 1115"/>
              <p:cNvSpPr>
                <a:spLocks noChangeShapeType="1"/>
              </p:cNvSpPr>
              <p:nvPr/>
            </p:nvSpPr>
            <p:spPr bwMode="auto">
              <a:xfrm>
                <a:off x="3749" y="32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4" name="Line 1116"/>
              <p:cNvSpPr>
                <a:spLocks noChangeShapeType="1"/>
              </p:cNvSpPr>
              <p:nvPr/>
            </p:nvSpPr>
            <p:spPr bwMode="auto">
              <a:xfrm>
                <a:off x="3749" y="31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5" name="Line 1117"/>
              <p:cNvSpPr>
                <a:spLocks noChangeShapeType="1"/>
              </p:cNvSpPr>
              <p:nvPr/>
            </p:nvSpPr>
            <p:spPr bwMode="auto">
              <a:xfrm>
                <a:off x="3749" y="30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6" name="Line 1118"/>
              <p:cNvSpPr>
                <a:spLocks noChangeShapeType="1"/>
              </p:cNvSpPr>
              <p:nvPr/>
            </p:nvSpPr>
            <p:spPr bwMode="auto">
              <a:xfrm>
                <a:off x="3749" y="29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7" name="Line 1119"/>
              <p:cNvSpPr>
                <a:spLocks noChangeShapeType="1"/>
              </p:cNvSpPr>
              <p:nvPr/>
            </p:nvSpPr>
            <p:spPr bwMode="auto">
              <a:xfrm>
                <a:off x="3749" y="28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8" name="Line 1120"/>
              <p:cNvSpPr>
                <a:spLocks noChangeShapeType="1"/>
              </p:cNvSpPr>
              <p:nvPr/>
            </p:nvSpPr>
            <p:spPr bwMode="auto">
              <a:xfrm>
                <a:off x="3749" y="27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19" name="Line 1121"/>
              <p:cNvSpPr>
                <a:spLocks noChangeShapeType="1"/>
              </p:cNvSpPr>
              <p:nvPr/>
            </p:nvSpPr>
            <p:spPr bwMode="auto">
              <a:xfrm>
                <a:off x="3749" y="26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0" name="Line 1122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1" name="Line 1123"/>
              <p:cNvSpPr>
                <a:spLocks noChangeShapeType="1"/>
              </p:cNvSpPr>
              <p:nvPr/>
            </p:nvSpPr>
            <p:spPr bwMode="auto">
              <a:xfrm>
                <a:off x="38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2" name="Line 1124"/>
              <p:cNvSpPr>
                <a:spLocks noChangeShapeType="1"/>
              </p:cNvSpPr>
              <p:nvPr/>
            </p:nvSpPr>
            <p:spPr bwMode="auto">
              <a:xfrm>
                <a:off x="3990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3" name="Line 1125"/>
              <p:cNvSpPr>
                <a:spLocks noChangeShapeType="1"/>
              </p:cNvSpPr>
              <p:nvPr/>
            </p:nvSpPr>
            <p:spPr bwMode="auto">
              <a:xfrm>
                <a:off x="410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4" name="Line 1126"/>
              <p:cNvSpPr>
                <a:spLocks noChangeShapeType="1"/>
              </p:cNvSpPr>
              <p:nvPr/>
            </p:nvSpPr>
            <p:spPr bwMode="auto">
              <a:xfrm>
                <a:off x="42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5" name="Line 1127"/>
              <p:cNvSpPr>
                <a:spLocks noChangeShapeType="1"/>
              </p:cNvSpPr>
              <p:nvPr/>
            </p:nvSpPr>
            <p:spPr bwMode="auto">
              <a:xfrm>
                <a:off x="4348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6" name="Line 1128"/>
              <p:cNvSpPr>
                <a:spLocks noChangeShapeType="1"/>
              </p:cNvSpPr>
              <p:nvPr/>
            </p:nvSpPr>
            <p:spPr bwMode="auto">
              <a:xfrm>
                <a:off x="44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7" name="Line 1129"/>
              <p:cNvSpPr>
                <a:spLocks noChangeShapeType="1"/>
              </p:cNvSpPr>
              <p:nvPr/>
            </p:nvSpPr>
            <p:spPr bwMode="auto">
              <a:xfrm>
                <a:off x="458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8" name="Line 1130"/>
              <p:cNvSpPr>
                <a:spLocks noChangeShapeType="1"/>
              </p:cNvSpPr>
              <p:nvPr/>
            </p:nvSpPr>
            <p:spPr bwMode="auto">
              <a:xfrm>
                <a:off x="4706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29" name="Line 1131"/>
              <p:cNvSpPr>
                <a:spLocks noChangeShapeType="1"/>
              </p:cNvSpPr>
              <p:nvPr/>
            </p:nvSpPr>
            <p:spPr bwMode="auto">
              <a:xfrm>
                <a:off x="48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0" name="Line 1132"/>
              <p:cNvSpPr>
                <a:spLocks noChangeShapeType="1"/>
              </p:cNvSpPr>
              <p:nvPr/>
            </p:nvSpPr>
            <p:spPr bwMode="auto">
              <a:xfrm>
                <a:off x="494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1" name="Rectangle 1133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32" name="Line 1134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3" name="Line 1135"/>
              <p:cNvSpPr>
                <a:spLocks noChangeShapeType="1"/>
              </p:cNvSpPr>
              <p:nvPr/>
            </p:nvSpPr>
            <p:spPr bwMode="auto">
              <a:xfrm>
                <a:off x="3737" y="35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4" name="Line 1136"/>
              <p:cNvSpPr>
                <a:spLocks noChangeShapeType="1"/>
              </p:cNvSpPr>
              <p:nvPr/>
            </p:nvSpPr>
            <p:spPr bwMode="auto">
              <a:xfrm>
                <a:off x="3737" y="34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5" name="Line 1137"/>
              <p:cNvSpPr>
                <a:spLocks noChangeShapeType="1"/>
              </p:cNvSpPr>
              <p:nvPr/>
            </p:nvSpPr>
            <p:spPr bwMode="auto">
              <a:xfrm>
                <a:off x="3737" y="33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6" name="Line 1138"/>
              <p:cNvSpPr>
                <a:spLocks noChangeShapeType="1"/>
              </p:cNvSpPr>
              <p:nvPr/>
            </p:nvSpPr>
            <p:spPr bwMode="auto">
              <a:xfrm>
                <a:off x="3737" y="32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7" name="Line 1139"/>
              <p:cNvSpPr>
                <a:spLocks noChangeShapeType="1"/>
              </p:cNvSpPr>
              <p:nvPr/>
            </p:nvSpPr>
            <p:spPr bwMode="auto">
              <a:xfrm>
                <a:off x="3737" y="31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8" name="Line 1140"/>
              <p:cNvSpPr>
                <a:spLocks noChangeShapeType="1"/>
              </p:cNvSpPr>
              <p:nvPr/>
            </p:nvSpPr>
            <p:spPr bwMode="auto">
              <a:xfrm>
                <a:off x="3737" y="30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9" name="Line 1141"/>
              <p:cNvSpPr>
                <a:spLocks noChangeShapeType="1"/>
              </p:cNvSpPr>
              <p:nvPr/>
            </p:nvSpPr>
            <p:spPr bwMode="auto">
              <a:xfrm>
                <a:off x="3737" y="29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0" name="Line 1142"/>
              <p:cNvSpPr>
                <a:spLocks noChangeShapeType="1"/>
              </p:cNvSpPr>
              <p:nvPr/>
            </p:nvSpPr>
            <p:spPr bwMode="auto">
              <a:xfrm>
                <a:off x="3737" y="28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1" name="Line 1143"/>
              <p:cNvSpPr>
                <a:spLocks noChangeShapeType="1"/>
              </p:cNvSpPr>
              <p:nvPr/>
            </p:nvSpPr>
            <p:spPr bwMode="auto">
              <a:xfrm>
                <a:off x="3737" y="27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2" name="Line 1144"/>
              <p:cNvSpPr>
                <a:spLocks noChangeShapeType="1"/>
              </p:cNvSpPr>
              <p:nvPr/>
            </p:nvSpPr>
            <p:spPr bwMode="auto">
              <a:xfrm>
                <a:off x="3737" y="26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3" name="Line 1145"/>
              <p:cNvSpPr>
                <a:spLocks noChangeShapeType="1"/>
              </p:cNvSpPr>
              <p:nvPr/>
            </p:nvSpPr>
            <p:spPr bwMode="auto">
              <a:xfrm>
                <a:off x="3737" y="25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4" name="Line 1146"/>
              <p:cNvSpPr>
                <a:spLocks noChangeShapeType="1"/>
              </p:cNvSpPr>
              <p:nvPr/>
            </p:nvSpPr>
            <p:spPr bwMode="auto">
              <a:xfrm>
                <a:off x="3749" y="35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5" name="Line 1147"/>
              <p:cNvSpPr>
                <a:spLocks noChangeShapeType="1"/>
              </p:cNvSpPr>
              <p:nvPr/>
            </p:nvSpPr>
            <p:spPr bwMode="auto">
              <a:xfrm flipV="1">
                <a:off x="374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6" name="Line 1148"/>
              <p:cNvSpPr>
                <a:spLocks noChangeShapeType="1"/>
              </p:cNvSpPr>
              <p:nvPr/>
            </p:nvSpPr>
            <p:spPr bwMode="auto">
              <a:xfrm flipV="1">
                <a:off x="38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7" name="Line 1149"/>
              <p:cNvSpPr>
                <a:spLocks noChangeShapeType="1"/>
              </p:cNvSpPr>
              <p:nvPr/>
            </p:nvSpPr>
            <p:spPr bwMode="auto">
              <a:xfrm flipV="1">
                <a:off x="3990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8" name="Line 1150"/>
              <p:cNvSpPr>
                <a:spLocks noChangeShapeType="1"/>
              </p:cNvSpPr>
              <p:nvPr/>
            </p:nvSpPr>
            <p:spPr bwMode="auto">
              <a:xfrm flipV="1">
                <a:off x="410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49" name="Line 1151"/>
              <p:cNvSpPr>
                <a:spLocks noChangeShapeType="1"/>
              </p:cNvSpPr>
              <p:nvPr/>
            </p:nvSpPr>
            <p:spPr bwMode="auto">
              <a:xfrm flipV="1">
                <a:off x="42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0" name="Line 1152"/>
              <p:cNvSpPr>
                <a:spLocks noChangeShapeType="1"/>
              </p:cNvSpPr>
              <p:nvPr/>
            </p:nvSpPr>
            <p:spPr bwMode="auto">
              <a:xfrm flipV="1">
                <a:off x="4348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1" name="Line 1153"/>
              <p:cNvSpPr>
                <a:spLocks noChangeShapeType="1"/>
              </p:cNvSpPr>
              <p:nvPr/>
            </p:nvSpPr>
            <p:spPr bwMode="auto">
              <a:xfrm flipV="1">
                <a:off x="44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2" name="Line 1154"/>
              <p:cNvSpPr>
                <a:spLocks noChangeShapeType="1"/>
              </p:cNvSpPr>
              <p:nvPr/>
            </p:nvSpPr>
            <p:spPr bwMode="auto">
              <a:xfrm flipV="1">
                <a:off x="458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3" name="Line 1155"/>
              <p:cNvSpPr>
                <a:spLocks noChangeShapeType="1"/>
              </p:cNvSpPr>
              <p:nvPr/>
            </p:nvSpPr>
            <p:spPr bwMode="auto">
              <a:xfrm flipV="1">
                <a:off x="4706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4" name="Line 1156"/>
              <p:cNvSpPr>
                <a:spLocks noChangeShapeType="1"/>
              </p:cNvSpPr>
              <p:nvPr/>
            </p:nvSpPr>
            <p:spPr bwMode="auto">
              <a:xfrm flipV="1">
                <a:off x="48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5" name="Line 1157"/>
              <p:cNvSpPr>
                <a:spLocks noChangeShapeType="1"/>
              </p:cNvSpPr>
              <p:nvPr/>
            </p:nvSpPr>
            <p:spPr bwMode="auto">
              <a:xfrm flipV="1">
                <a:off x="494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6" name="Freeform 1158"/>
              <p:cNvSpPr>
                <a:spLocks/>
              </p:cNvSpPr>
              <p:nvPr/>
            </p:nvSpPr>
            <p:spPr bwMode="auto">
              <a:xfrm>
                <a:off x="4079" y="31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7" name="Freeform 1159"/>
              <p:cNvSpPr>
                <a:spLocks/>
              </p:cNvSpPr>
              <p:nvPr/>
            </p:nvSpPr>
            <p:spPr bwMode="auto">
              <a:xfrm>
                <a:off x="4079" y="29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8" name="Freeform 1160"/>
              <p:cNvSpPr>
                <a:spLocks/>
              </p:cNvSpPr>
              <p:nvPr/>
            </p:nvSpPr>
            <p:spPr bwMode="auto">
              <a:xfrm>
                <a:off x="4561" y="32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9" name="Freeform 1161"/>
              <p:cNvSpPr>
                <a:spLocks/>
              </p:cNvSpPr>
              <p:nvPr/>
            </p:nvSpPr>
            <p:spPr bwMode="auto">
              <a:xfrm>
                <a:off x="4199" y="28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0" name="Freeform 1162"/>
              <p:cNvSpPr>
                <a:spLocks/>
              </p:cNvSpPr>
              <p:nvPr/>
            </p:nvSpPr>
            <p:spPr bwMode="auto">
              <a:xfrm>
                <a:off x="4079" y="27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1" name="Freeform 1163"/>
              <p:cNvSpPr>
                <a:spLocks/>
              </p:cNvSpPr>
              <p:nvPr/>
            </p:nvSpPr>
            <p:spPr bwMode="auto">
              <a:xfrm>
                <a:off x="4678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2" name="Freeform 1164"/>
              <p:cNvSpPr>
                <a:spLocks/>
              </p:cNvSpPr>
              <p:nvPr/>
            </p:nvSpPr>
            <p:spPr bwMode="auto">
              <a:xfrm>
                <a:off x="4199" y="30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3" name="Freeform 1165"/>
              <p:cNvSpPr>
                <a:spLocks/>
              </p:cNvSpPr>
              <p:nvPr/>
            </p:nvSpPr>
            <p:spPr bwMode="auto">
              <a:xfrm>
                <a:off x="4320" y="33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4" name="Freeform 1166"/>
              <p:cNvSpPr>
                <a:spLocks/>
              </p:cNvSpPr>
              <p:nvPr/>
            </p:nvSpPr>
            <p:spPr bwMode="auto">
              <a:xfrm>
                <a:off x="4561" y="31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5" name="Freeform 1167"/>
              <p:cNvSpPr>
                <a:spLocks/>
              </p:cNvSpPr>
              <p:nvPr/>
            </p:nvSpPr>
            <p:spPr bwMode="auto">
              <a:xfrm>
                <a:off x="4320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6" name="Rectangle 1168"/>
              <p:cNvSpPr>
                <a:spLocks noChangeArrowheads="1"/>
              </p:cNvSpPr>
              <p:nvPr/>
            </p:nvSpPr>
            <p:spPr bwMode="auto">
              <a:xfrm>
                <a:off x="3693" y="34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67" name="Rectangle 1169"/>
              <p:cNvSpPr>
                <a:spLocks noChangeArrowheads="1"/>
              </p:cNvSpPr>
              <p:nvPr/>
            </p:nvSpPr>
            <p:spPr bwMode="auto">
              <a:xfrm>
                <a:off x="3693" y="33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68" name="Rectangle 1170"/>
              <p:cNvSpPr>
                <a:spLocks noChangeArrowheads="1"/>
              </p:cNvSpPr>
              <p:nvPr/>
            </p:nvSpPr>
            <p:spPr bwMode="auto">
              <a:xfrm>
                <a:off x="3693" y="33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2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69" name="Rectangle 1171"/>
              <p:cNvSpPr>
                <a:spLocks noChangeArrowheads="1"/>
              </p:cNvSpPr>
              <p:nvPr/>
            </p:nvSpPr>
            <p:spPr bwMode="auto">
              <a:xfrm>
                <a:off x="3693" y="32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3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0" name="Rectangle 1172"/>
              <p:cNvSpPr>
                <a:spLocks noChangeArrowheads="1"/>
              </p:cNvSpPr>
              <p:nvPr/>
            </p:nvSpPr>
            <p:spPr bwMode="auto">
              <a:xfrm>
                <a:off x="3693" y="31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4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1" name="Rectangle 1173"/>
              <p:cNvSpPr>
                <a:spLocks noChangeArrowheads="1"/>
              </p:cNvSpPr>
              <p:nvPr/>
            </p:nvSpPr>
            <p:spPr bwMode="auto">
              <a:xfrm>
                <a:off x="3693" y="30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5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2" name="Rectangle 1174"/>
              <p:cNvSpPr>
                <a:spLocks noChangeArrowheads="1"/>
              </p:cNvSpPr>
              <p:nvPr/>
            </p:nvSpPr>
            <p:spPr bwMode="auto">
              <a:xfrm>
                <a:off x="3693" y="29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6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3" name="Rectangle 1175"/>
              <p:cNvSpPr>
                <a:spLocks noChangeArrowheads="1"/>
              </p:cNvSpPr>
              <p:nvPr/>
            </p:nvSpPr>
            <p:spPr bwMode="auto">
              <a:xfrm>
                <a:off x="3693" y="28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7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4" name="Rectangle 1176"/>
              <p:cNvSpPr>
                <a:spLocks noChangeArrowheads="1"/>
              </p:cNvSpPr>
              <p:nvPr/>
            </p:nvSpPr>
            <p:spPr bwMode="auto">
              <a:xfrm>
                <a:off x="3693" y="27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8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5" name="Rectangle 1177"/>
              <p:cNvSpPr>
                <a:spLocks noChangeArrowheads="1"/>
              </p:cNvSpPr>
              <p:nvPr/>
            </p:nvSpPr>
            <p:spPr bwMode="auto">
              <a:xfrm>
                <a:off x="3693" y="26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9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6" name="Rectangle 1178"/>
              <p:cNvSpPr>
                <a:spLocks noChangeArrowheads="1"/>
              </p:cNvSpPr>
              <p:nvPr/>
            </p:nvSpPr>
            <p:spPr bwMode="auto">
              <a:xfrm>
                <a:off x="3667" y="25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7" name="Rectangle 1179"/>
              <p:cNvSpPr>
                <a:spLocks noChangeArrowheads="1"/>
              </p:cNvSpPr>
              <p:nvPr/>
            </p:nvSpPr>
            <p:spPr bwMode="auto">
              <a:xfrm>
                <a:off x="373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8" name="Rectangle 1180"/>
              <p:cNvSpPr>
                <a:spLocks noChangeArrowheads="1"/>
              </p:cNvSpPr>
              <p:nvPr/>
            </p:nvSpPr>
            <p:spPr bwMode="auto">
              <a:xfrm>
                <a:off x="385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79" name="Rectangle 1181"/>
              <p:cNvSpPr>
                <a:spLocks noChangeArrowheads="1"/>
              </p:cNvSpPr>
              <p:nvPr/>
            </p:nvSpPr>
            <p:spPr bwMode="auto">
              <a:xfrm>
                <a:off x="3978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2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0" name="Rectangle 1182"/>
              <p:cNvSpPr>
                <a:spLocks noChangeArrowheads="1"/>
              </p:cNvSpPr>
              <p:nvPr/>
            </p:nvSpPr>
            <p:spPr bwMode="auto">
              <a:xfrm>
                <a:off x="409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3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1" name="Rectangle 1183"/>
              <p:cNvSpPr>
                <a:spLocks noChangeArrowheads="1"/>
              </p:cNvSpPr>
              <p:nvPr/>
            </p:nvSpPr>
            <p:spPr bwMode="auto">
              <a:xfrm>
                <a:off x="421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4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2" name="Rectangle 1184"/>
              <p:cNvSpPr>
                <a:spLocks noChangeArrowheads="1"/>
              </p:cNvSpPr>
              <p:nvPr/>
            </p:nvSpPr>
            <p:spPr bwMode="auto">
              <a:xfrm>
                <a:off x="433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5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3" name="Rectangle 1185"/>
              <p:cNvSpPr>
                <a:spLocks noChangeArrowheads="1"/>
              </p:cNvSpPr>
              <p:nvPr/>
            </p:nvSpPr>
            <p:spPr bwMode="auto">
              <a:xfrm>
                <a:off x="445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6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4" name="Rectangle 1186"/>
              <p:cNvSpPr>
                <a:spLocks noChangeArrowheads="1"/>
              </p:cNvSpPr>
              <p:nvPr/>
            </p:nvSpPr>
            <p:spPr bwMode="auto">
              <a:xfrm>
                <a:off x="457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7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5" name="Rectangle 1187"/>
              <p:cNvSpPr>
                <a:spLocks noChangeArrowheads="1"/>
              </p:cNvSpPr>
              <p:nvPr/>
            </p:nvSpPr>
            <p:spPr bwMode="auto">
              <a:xfrm>
                <a:off x="469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8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6" name="Rectangle 1188"/>
              <p:cNvSpPr>
                <a:spLocks noChangeArrowheads="1"/>
              </p:cNvSpPr>
              <p:nvPr/>
            </p:nvSpPr>
            <p:spPr bwMode="auto">
              <a:xfrm>
                <a:off x="481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9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7" name="Rectangle 1189"/>
              <p:cNvSpPr>
                <a:spLocks noChangeArrowheads="1"/>
              </p:cNvSpPr>
              <p:nvPr/>
            </p:nvSpPr>
            <p:spPr bwMode="auto">
              <a:xfrm>
                <a:off x="4923" y="3562"/>
                <a:ext cx="6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r>
                  <a:rPr lang="ko-KR" altLang="en-US" sz="600">
                    <a:solidFill>
                      <a:srgbClr val="000000"/>
                    </a:solidFill>
                    <a:latin typeface="Arial" panose="020B0604020202020204" pitchFamily="34" charset="0"/>
                    <a:ea typeface="Gulim" panose="020B0600000101010101" pitchFamily="34" charset="-127"/>
                  </a:rPr>
                  <a:t>10</a:t>
                </a:r>
                <a:endParaRPr lang="ko-KR" altLang="en-US">
                  <a:ea typeface="Gulim" panose="020B0600000101010101" pitchFamily="34" charset="-127"/>
                </a:endParaRPr>
              </a:p>
            </p:txBody>
          </p:sp>
          <p:sp>
            <p:nvSpPr>
              <p:cNvPr id="88" name="Rectangle 1190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89" name="Freeform 1191"/>
              <p:cNvSpPr>
                <a:spLocks/>
              </p:cNvSpPr>
              <p:nvPr/>
            </p:nvSpPr>
            <p:spPr bwMode="auto">
              <a:xfrm>
                <a:off x="3955" y="2658"/>
                <a:ext cx="488" cy="597"/>
              </a:xfrm>
              <a:custGeom>
                <a:avLst/>
                <a:gdLst>
                  <a:gd name="T0" fmla="*/ 1 w 728"/>
                  <a:gd name="T1" fmla="*/ 1 h 896"/>
                  <a:gd name="T2" fmla="*/ 1 w 728"/>
                  <a:gd name="T3" fmla="*/ 1 h 896"/>
                  <a:gd name="T4" fmla="*/ 1 w 728"/>
                  <a:gd name="T5" fmla="*/ 1 h 896"/>
                  <a:gd name="T6" fmla="*/ 1 w 728"/>
                  <a:gd name="T7" fmla="*/ 1 h 896"/>
                  <a:gd name="T8" fmla="*/ 1 w 728"/>
                  <a:gd name="T9" fmla="*/ 1 h 896"/>
                  <a:gd name="T10" fmla="*/ 1 w 728"/>
                  <a:gd name="T11" fmla="*/ 1 h 896"/>
                  <a:gd name="T12" fmla="*/ 1 w 728"/>
                  <a:gd name="T13" fmla="*/ 1 h 896"/>
                  <a:gd name="T14" fmla="*/ 1 w 728"/>
                  <a:gd name="T15" fmla="*/ 1 h 896"/>
                  <a:gd name="T16" fmla="*/ 1 w 728"/>
                  <a:gd name="T17" fmla="*/ 1 h 896"/>
                  <a:gd name="T18" fmla="*/ 1 w 728"/>
                  <a:gd name="T19" fmla="*/ 1 h 896"/>
                  <a:gd name="T20" fmla="*/ 1 w 728"/>
                  <a:gd name="T21" fmla="*/ 1 h 896"/>
                  <a:gd name="T22" fmla="*/ 1 w 728"/>
                  <a:gd name="T23" fmla="*/ 1 h 896"/>
                  <a:gd name="T24" fmla="*/ 1 w 728"/>
                  <a:gd name="T25" fmla="*/ 1 h 896"/>
                  <a:gd name="T26" fmla="*/ 1 w 728"/>
                  <a:gd name="T27" fmla="*/ 1 h 896"/>
                  <a:gd name="T28" fmla="*/ 1 w 728"/>
                  <a:gd name="T29" fmla="*/ 1 h 896"/>
                  <a:gd name="T30" fmla="*/ 1 w 728"/>
                  <a:gd name="T31" fmla="*/ 1 h 896"/>
                  <a:gd name="T32" fmla="*/ 1 w 728"/>
                  <a:gd name="T33" fmla="*/ 1 h 896"/>
                  <a:gd name="T34" fmla="*/ 1 w 728"/>
                  <a:gd name="T35" fmla="*/ 0 h 896"/>
                  <a:gd name="T36" fmla="*/ 1 w 728"/>
                  <a:gd name="T37" fmla="*/ 1 h 896"/>
                  <a:gd name="T38" fmla="*/ 1 w 728"/>
                  <a:gd name="T39" fmla="*/ 1 h 896"/>
                  <a:gd name="T40" fmla="*/ 1 w 728"/>
                  <a:gd name="T41" fmla="*/ 1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28"/>
                  <a:gd name="T64" fmla="*/ 0 h 896"/>
                  <a:gd name="T65" fmla="*/ 728 w 728"/>
                  <a:gd name="T66" fmla="*/ 896 h 89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id-ID"/>
              </a:p>
            </p:txBody>
          </p:sp>
          <p:sp>
            <p:nvSpPr>
              <p:cNvPr id="90" name="Freeform 1192"/>
              <p:cNvSpPr>
                <a:spLocks/>
              </p:cNvSpPr>
              <p:nvPr/>
            </p:nvSpPr>
            <p:spPr bwMode="auto">
              <a:xfrm>
                <a:off x="4258" y="2900"/>
                <a:ext cx="538" cy="593"/>
              </a:xfrm>
              <a:custGeom>
                <a:avLst/>
                <a:gdLst>
                  <a:gd name="T0" fmla="*/ 1 w 802"/>
                  <a:gd name="T1" fmla="*/ 1 h 889"/>
                  <a:gd name="T2" fmla="*/ 1 w 802"/>
                  <a:gd name="T3" fmla="*/ 1 h 889"/>
                  <a:gd name="T4" fmla="*/ 1 w 802"/>
                  <a:gd name="T5" fmla="*/ 1 h 889"/>
                  <a:gd name="T6" fmla="*/ 1 w 802"/>
                  <a:gd name="T7" fmla="*/ 1 h 889"/>
                  <a:gd name="T8" fmla="*/ 1 w 802"/>
                  <a:gd name="T9" fmla="*/ 1 h 889"/>
                  <a:gd name="T10" fmla="*/ 1 w 802"/>
                  <a:gd name="T11" fmla="*/ 1 h 889"/>
                  <a:gd name="T12" fmla="*/ 1 w 802"/>
                  <a:gd name="T13" fmla="*/ 1 h 889"/>
                  <a:gd name="T14" fmla="*/ 1 w 802"/>
                  <a:gd name="T15" fmla="*/ 1 h 889"/>
                  <a:gd name="T16" fmla="*/ 1 w 802"/>
                  <a:gd name="T17" fmla="*/ 1 h 889"/>
                  <a:gd name="T18" fmla="*/ 1 w 802"/>
                  <a:gd name="T19" fmla="*/ 1 h 889"/>
                  <a:gd name="T20" fmla="*/ 1 w 802"/>
                  <a:gd name="T21" fmla="*/ 1 h 889"/>
                  <a:gd name="T22" fmla="*/ 1 w 802"/>
                  <a:gd name="T23" fmla="*/ 1 h 889"/>
                  <a:gd name="T24" fmla="*/ 1 w 802"/>
                  <a:gd name="T25" fmla="*/ 1 h 889"/>
                  <a:gd name="T26" fmla="*/ 1 w 802"/>
                  <a:gd name="T27" fmla="*/ 1 h 889"/>
                  <a:gd name="T28" fmla="*/ 1 w 802"/>
                  <a:gd name="T29" fmla="*/ 1 h 889"/>
                  <a:gd name="T30" fmla="*/ 1 w 802"/>
                  <a:gd name="T31" fmla="*/ 1 h 889"/>
                  <a:gd name="T32" fmla="*/ 1 w 802"/>
                  <a:gd name="T33" fmla="*/ 1 h 889"/>
                  <a:gd name="T34" fmla="*/ 1 w 802"/>
                  <a:gd name="T35" fmla="*/ 1 h 889"/>
                  <a:gd name="T36" fmla="*/ 1 w 802"/>
                  <a:gd name="T37" fmla="*/ 1 h 889"/>
                  <a:gd name="T38" fmla="*/ 1 w 802"/>
                  <a:gd name="T39" fmla="*/ 1 h 889"/>
                  <a:gd name="T40" fmla="*/ 1 w 802"/>
                  <a:gd name="T41" fmla="*/ 1 h 889"/>
                  <a:gd name="T42" fmla="*/ 1 w 802"/>
                  <a:gd name="T43" fmla="*/ 1 h 889"/>
                  <a:gd name="T44" fmla="*/ 1 w 802"/>
                  <a:gd name="T45" fmla="*/ 1 h 889"/>
                  <a:gd name="T46" fmla="*/ 1 w 802"/>
                  <a:gd name="T47" fmla="*/ 0 h 889"/>
                  <a:gd name="T48" fmla="*/ 1 w 802"/>
                  <a:gd name="T49" fmla="*/ 1 h 889"/>
                  <a:gd name="T50" fmla="*/ 1 w 802"/>
                  <a:gd name="T51" fmla="*/ 1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02"/>
                  <a:gd name="T79" fmla="*/ 0 h 889"/>
                  <a:gd name="T80" fmla="*/ 802 w 802"/>
                  <a:gd name="T81" fmla="*/ 889 h 8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id-ID"/>
              </a:p>
            </p:txBody>
          </p:sp>
          <p:sp>
            <p:nvSpPr>
              <p:cNvPr id="91" name="AutoShape 1193"/>
              <p:cNvSpPr>
                <a:spLocks noChangeArrowheads="1"/>
              </p:cNvSpPr>
              <p:nvPr/>
            </p:nvSpPr>
            <p:spPr bwMode="auto">
              <a:xfrm>
                <a:off x="4080" y="2880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  <p:sp>
            <p:nvSpPr>
              <p:cNvPr id="92" name="AutoShape 1194"/>
              <p:cNvSpPr>
                <a:spLocks noChangeArrowheads="1"/>
              </p:cNvSpPr>
              <p:nvPr/>
            </p:nvSpPr>
            <p:spPr bwMode="auto">
              <a:xfrm>
                <a:off x="4560" y="3168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zh-CN"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8" name="Line 1195"/>
            <p:cNvSpPr>
              <a:spLocks noChangeShapeType="1"/>
            </p:cNvSpPr>
            <p:nvPr/>
          </p:nvSpPr>
          <p:spPr bwMode="auto">
            <a:xfrm>
              <a:off x="2784" y="36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422527227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db2004169gl">
  <a:themeElements>
    <a:clrScheme name="Office Theme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cdb2004169gl</Template>
  <TotalTime>940</TotalTime>
  <Words>2150</Words>
  <Application>Microsoft Office PowerPoint</Application>
  <PresentationFormat>On-screen Show (4:3)</PresentationFormat>
  <Paragraphs>497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宋体</vt:lpstr>
      <vt:lpstr>宋体</vt:lpstr>
      <vt:lpstr>Arial</vt:lpstr>
      <vt:lpstr>Calibri</vt:lpstr>
      <vt:lpstr>Gulim</vt:lpstr>
      <vt:lpstr>Symbol</vt:lpstr>
      <vt:lpstr>Tahoma</vt:lpstr>
      <vt:lpstr>Wingdings</vt:lpstr>
      <vt:lpstr>cdb2004169gl</vt:lpstr>
      <vt:lpstr>Equation</vt:lpstr>
      <vt:lpstr>SmartDraw</vt:lpstr>
      <vt:lpstr>What is Cluster Analysis?</vt:lpstr>
      <vt:lpstr>What is Cluster Analysis?</vt:lpstr>
      <vt:lpstr>What is Cluster Analysis?</vt:lpstr>
      <vt:lpstr>What is Cluster Analysis?</vt:lpstr>
      <vt:lpstr>What is Cluster Analysis?</vt:lpstr>
      <vt:lpstr>Applications of Cluster Analysis</vt:lpstr>
      <vt:lpstr>Clustering: Application Examples</vt:lpstr>
      <vt:lpstr>Earthquakes</vt:lpstr>
      <vt:lpstr>Image Segmentation</vt:lpstr>
      <vt:lpstr>Basic Steps to Develop a Clustering Task</vt:lpstr>
      <vt:lpstr>Quality: What Is Good Clustering?</vt:lpstr>
      <vt:lpstr>Measure the Quality of Clustering</vt:lpstr>
      <vt:lpstr>Considerations for Cluster Analysis</vt:lpstr>
      <vt:lpstr>Requirements and Challenges</vt:lpstr>
      <vt:lpstr>Major Clustering Approaches 1</vt:lpstr>
      <vt:lpstr>Major Clustering Approaches 2</vt:lpstr>
      <vt:lpstr>Partitioning Algorithms: Basic Concept</vt:lpstr>
      <vt:lpstr>The K-Means Clustering Method </vt:lpstr>
      <vt:lpstr>An Example of K-Means Clustering</vt:lpstr>
      <vt:lpstr>k-Means Algorithms steps</vt:lpstr>
      <vt:lpstr>Exercise – Iteration 1</vt:lpstr>
      <vt:lpstr>Exercise – Iteration 1</vt:lpstr>
      <vt:lpstr>Exercise – Iteration 2</vt:lpstr>
      <vt:lpstr>Exercise – Iteration 2</vt:lpstr>
      <vt:lpstr>Exercise – Iteration 3</vt:lpstr>
      <vt:lpstr>Exercise – Iteration 3</vt:lpstr>
      <vt:lpstr>Final Result</vt:lpstr>
      <vt:lpstr>Comments on the K-Means Method</vt:lpstr>
      <vt:lpstr>Variations of the K-Means Method</vt:lpstr>
      <vt:lpstr>What Is the Problem of the K-Means Method?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Anaum Hamid</dc:creator>
  <cp:lastModifiedBy>Anum Hamid</cp:lastModifiedBy>
  <cp:revision>267</cp:revision>
  <dcterms:created xsi:type="dcterms:W3CDTF">2015-07-25T19:05:48Z</dcterms:created>
  <dcterms:modified xsi:type="dcterms:W3CDTF">2025-05-07T05:14:04Z</dcterms:modified>
</cp:coreProperties>
</file>