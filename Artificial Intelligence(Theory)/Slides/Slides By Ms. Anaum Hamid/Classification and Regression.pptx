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657" r:id="rId2"/>
    <p:sldId id="282" r:id="rId3"/>
    <p:sldId id="361" r:id="rId4"/>
    <p:sldId id="649" r:id="rId5"/>
    <p:sldId id="566" r:id="rId6"/>
    <p:sldId id="650" r:id="rId7"/>
    <p:sldId id="567" r:id="rId8"/>
    <p:sldId id="568" r:id="rId9"/>
    <p:sldId id="569" r:id="rId10"/>
    <p:sldId id="653" r:id="rId11"/>
    <p:sldId id="570" r:id="rId12"/>
    <p:sldId id="656" r:id="rId13"/>
    <p:sldId id="571" r:id="rId14"/>
    <p:sldId id="572" r:id="rId15"/>
    <p:sldId id="573" r:id="rId16"/>
    <p:sldId id="574" r:id="rId17"/>
    <p:sldId id="624" r:id="rId18"/>
    <p:sldId id="576" r:id="rId19"/>
    <p:sldId id="577" r:id="rId20"/>
    <p:sldId id="619" r:id="rId21"/>
    <p:sldId id="620" r:id="rId22"/>
    <p:sldId id="621" r:id="rId23"/>
    <p:sldId id="622" r:id="rId24"/>
    <p:sldId id="623" r:id="rId25"/>
    <p:sldId id="626" r:id="rId26"/>
    <p:sldId id="625" r:id="rId27"/>
    <p:sldId id="637" r:id="rId28"/>
    <p:sldId id="636" r:id="rId29"/>
    <p:sldId id="586" r:id="rId30"/>
    <p:sldId id="587" r:id="rId31"/>
    <p:sldId id="588" r:id="rId32"/>
    <p:sldId id="589" r:id="rId33"/>
    <p:sldId id="590" r:id="rId34"/>
    <p:sldId id="651" r:id="rId35"/>
    <p:sldId id="652" r:id="rId36"/>
    <p:sldId id="639" r:id="rId37"/>
    <p:sldId id="644" r:id="rId38"/>
    <p:sldId id="645" r:id="rId39"/>
    <p:sldId id="655" r:id="rId40"/>
    <p:sldId id="601" r:id="rId41"/>
    <p:sldId id="602" r:id="rId42"/>
    <p:sldId id="642" r:id="rId43"/>
    <p:sldId id="648" r:id="rId44"/>
    <p:sldId id="275" r:id="rId45"/>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2AA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3" autoAdjust="0"/>
    <p:restoredTop sz="95878" autoAdjust="0"/>
  </p:normalViewPr>
  <p:slideViewPr>
    <p:cSldViewPr>
      <p:cViewPr varScale="1">
        <p:scale>
          <a:sx n="111" d="100"/>
          <a:sy n="111" d="100"/>
        </p:scale>
        <p:origin x="1686" y="96"/>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C96ED-BAD3-46F3-95D2-440E38F15177}" type="doc">
      <dgm:prSet loTypeId="urn:microsoft.com/office/officeart/2008/layout/VerticalCurvedList" loCatId="list" qsTypeId="urn:microsoft.com/office/officeart/2005/8/quickstyle/simple3" qsCatId="simple" csTypeId="urn:microsoft.com/office/officeart/2005/8/colors/colorful1#1" csCatId="colorful" phldr="1"/>
      <dgm:spPr/>
      <dgm:t>
        <a:bodyPr/>
        <a:lstStyle/>
        <a:p>
          <a:endParaRPr lang="id-ID"/>
        </a:p>
      </dgm:t>
    </dgm:pt>
    <dgm:pt modelId="{E8A5C7EF-0A9E-42DE-A83C-3C9C831E03BE}">
      <dgm:prSet phldrT="[Text]"/>
      <dgm:spPr>
        <a:xfrm>
          <a:off x="325737" y="211090"/>
          <a:ext cx="7498973" cy="421995"/>
        </a:xfrm>
        <a:prstGeom prst="rect">
          <a:avLst/>
        </a:prstGeom>
        <a:gradFill rotWithShape="0">
          <a:gsLst>
            <a:gs pos="0">
              <a:srgbClr val="ED7D31">
                <a:hueOff val="0"/>
                <a:satOff val="0"/>
                <a:lumOff val="0"/>
                <a:alphaOff val="0"/>
                <a:lumMod val="110000"/>
                <a:satMod val="105000"/>
                <a:tint val="67000"/>
              </a:srgbClr>
            </a:gs>
            <a:gs pos="50000">
              <a:srgbClr val="ED7D31">
                <a:hueOff val="0"/>
                <a:satOff val="0"/>
                <a:lumOff val="0"/>
                <a:alphaOff val="0"/>
                <a:lumMod val="105000"/>
                <a:satMod val="103000"/>
                <a:tint val="73000"/>
              </a:srgbClr>
            </a:gs>
            <a:gs pos="100000">
              <a:srgbClr val="ED7D31">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id-ID" dirty="0">
              <a:solidFill>
                <a:sysClr val="windowText" lastClr="000000"/>
              </a:solidFill>
              <a:latin typeface="Calibri"/>
              <a:ea typeface="+mn-ea"/>
              <a:cs typeface="+mn-cs"/>
            </a:rPr>
            <a:t>1. </a:t>
          </a:r>
          <a:r>
            <a:rPr lang="en-US" dirty="0">
              <a:solidFill>
                <a:sysClr val="windowText" lastClr="000000"/>
              </a:solidFill>
              <a:latin typeface="Calibri"/>
              <a:ea typeface="+mn-ea"/>
              <a:cs typeface="+mn-cs"/>
            </a:rPr>
            <a:t>Classification Vs. Prediction</a:t>
          </a:r>
          <a:endParaRPr lang="id-ID" dirty="0">
            <a:solidFill>
              <a:sysClr val="windowText" lastClr="000000"/>
            </a:solidFill>
            <a:latin typeface="Calibri"/>
            <a:ea typeface="+mn-ea"/>
            <a:cs typeface="+mn-cs"/>
          </a:endParaRPr>
        </a:p>
      </dgm:t>
    </dgm:pt>
    <dgm:pt modelId="{8F91E072-D972-4094-8F08-F1EDAD19D4F8}" type="parTrans" cxnId="{DB5FDBC7-6985-47AB-B116-0C76DD7A6A3F}">
      <dgm:prSet/>
      <dgm:spPr/>
      <dgm:t>
        <a:bodyPr/>
        <a:lstStyle/>
        <a:p>
          <a:endParaRPr lang="id-ID"/>
        </a:p>
      </dgm:t>
    </dgm:pt>
    <dgm:pt modelId="{003C4003-59C0-401F-BA1B-4A1CCAFFF152}" type="sibTrans" cxnId="{DB5FDBC7-6985-47AB-B116-0C76DD7A6A3F}">
      <dgm:prSet/>
      <dgm:spPr>
        <a:xfrm>
          <a:off x="-5247551" y="-804071"/>
          <a:ext cx="6251579" cy="6251579"/>
        </a:xfrm>
        <a:prstGeom prst="blockArc">
          <a:avLst>
            <a:gd name="adj1" fmla="val 18900000"/>
            <a:gd name="adj2" fmla="val 2700000"/>
            <a:gd name="adj3" fmla="val 346"/>
          </a:avLst>
        </a:prstGeom>
        <a:noFill/>
        <a:ln w="12700" cap="flat" cmpd="sng" algn="ctr">
          <a:solidFill>
            <a:srgbClr val="ED7D31">
              <a:hueOff val="0"/>
              <a:satOff val="0"/>
              <a:lumOff val="0"/>
              <a:alphaOff val="0"/>
            </a:srgbClr>
          </a:solidFill>
          <a:prstDash val="solid"/>
          <a:miter lim="800000"/>
        </a:ln>
        <a:effectLst/>
      </dgm:spPr>
      <dgm:t>
        <a:bodyPr/>
        <a:lstStyle/>
        <a:p>
          <a:endParaRPr lang="id-ID"/>
        </a:p>
      </dgm:t>
    </dgm:pt>
    <dgm:pt modelId="{3908B85F-A099-4E2E-AFBC-9B6745AB3627}">
      <dgm:prSet phldrT="[Text]"/>
      <dgm:spPr>
        <a:xfrm>
          <a:off x="917310" y="1477355"/>
          <a:ext cx="6907399" cy="421995"/>
        </a:xfrm>
        <a:prstGeom prst="rect">
          <a:avLst/>
        </a:prstGeom>
        <a:gradFill rotWithShape="0">
          <a:gsLst>
            <a:gs pos="0">
              <a:srgbClr val="FFC000">
                <a:hueOff val="0"/>
                <a:satOff val="0"/>
                <a:lumOff val="0"/>
                <a:alphaOff val="0"/>
                <a:lumMod val="110000"/>
                <a:satMod val="105000"/>
                <a:tint val="67000"/>
              </a:srgbClr>
            </a:gs>
            <a:gs pos="50000">
              <a:srgbClr val="FFC000">
                <a:hueOff val="0"/>
                <a:satOff val="0"/>
                <a:lumOff val="0"/>
                <a:alphaOff val="0"/>
                <a:lumMod val="105000"/>
                <a:satMod val="103000"/>
                <a:tint val="73000"/>
              </a:srgbClr>
            </a:gs>
            <a:gs pos="100000">
              <a:srgbClr val="FFC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b="0" dirty="0">
              <a:solidFill>
                <a:sysClr val="windowText" lastClr="000000"/>
              </a:solidFill>
              <a:latin typeface="Calibri"/>
              <a:ea typeface="+mn-ea"/>
              <a:cs typeface="+mn-cs"/>
            </a:rPr>
            <a:t>3. </a:t>
          </a:r>
          <a:r>
            <a:rPr lang="en-GB" b="0" dirty="0">
              <a:solidFill>
                <a:sysClr val="windowText" lastClr="000000"/>
              </a:solidFill>
              <a:latin typeface="Calibri"/>
              <a:ea typeface="+mn-ea"/>
              <a:cs typeface="+mn-cs"/>
            </a:rPr>
            <a:t>Bayesian Classification</a:t>
          </a:r>
          <a:endParaRPr lang="id-ID" b="0" dirty="0">
            <a:solidFill>
              <a:sysClr val="windowText" lastClr="000000"/>
            </a:solidFill>
            <a:latin typeface="Calibri"/>
            <a:ea typeface="+mn-ea"/>
            <a:cs typeface="+mn-cs"/>
          </a:endParaRPr>
        </a:p>
      </dgm:t>
    </dgm:pt>
    <dgm:pt modelId="{D3AF622D-96DB-414C-B450-856776290412}" type="parTrans" cxnId="{385A9F33-C660-4FB2-80D2-1DB127BAC681}">
      <dgm:prSet/>
      <dgm:spPr/>
      <dgm:t>
        <a:bodyPr/>
        <a:lstStyle/>
        <a:p>
          <a:endParaRPr lang="id-ID"/>
        </a:p>
      </dgm:t>
    </dgm:pt>
    <dgm:pt modelId="{A851BDDE-FCFF-42DD-9D8D-9C38879F31AD}" type="sibTrans" cxnId="{385A9F33-C660-4FB2-80D2-1DB127BAC681}">
      <dgm:prSet/>
      <dgm:spPr/>
      <dgm:t>
        <a:bodyPr/>
        <a:lstStyle/>
        <a:p>
          <a:endParaRPr lang="id-ID"/>
        </a:p>
      </dgm:t>
    </dgm:pt>
    <dgm:pt modelId="{60C747CA-134E-41D9-91D0-E56F3F5A021E}">
      <dgm:prSet phldrT="[Text]"/>
      <dgm:spPr>
        <a:xfrm>
          <a:off x="984176" y="2110720"/>
          <a:ext cx="6840533" cy="421995"/>
        </a:xfrm>
        <a:gradFill rotWithShape="0">
          <a:gsLst>
            <a:gs pos="0">
              <a:srgbClr val="4472C4">
                <a:hueOff val="0"/>
                <a:satOff val="0"/>
                <a:lumOff val="0"/>
                <a:alphaOff val="0"/>
                <a:lumMod val="110000"/>
                <a:satMod val="105000"/>
                <a:tint val="67000"/>
              </a:srgbClr>
            </a:gs>
            <a:gs pos="50000">
              <a:srgbClr val="4472C4">
                <a:hueOff val="0"/>
                <a:satOff val="0"/>
                <a:lumOff val="0"/>
                <a:alphaOff val="0"/>
                <a:lumMod val="105000"/>
                <a:satMod val="103000"/>
                <a:tint val="73000"/>
              </a:srgbClr>
            </a:gs>
            <a:gs pos="100000">
              <a:srgbClr val="4472C4">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dirty="0">
              <a:solidFill>
                <a:sysClr val="windowText" lastClr="000000"/>
              </a:solidFill>
              <a:latin typeface="Calibri"/>
              <a:ea typeface="+mn-ea"/>
              <a:cs typeface="+mn-cs"/>
            </a:rPr>
            <a:t>5. </a:t>
          </a:r>
          <a:r>
            <a:rPr lang="en-GB" dirty="0">
              <a:solidFill>
                <a:sysClr val="windowText" lastClr="000000"/>
              </a:solidFill>
              <a:latin typeface="Calibri"/>
              <a:ea typeface="+mn-ea"/>
              <a:cs typeface="+mn-cs"/>
            </a:rPr>
            <a:t>Using IF-THEN Rules</a:t>
          </a:r>
          <a:endParaRPr lang="id-ID" dirty="0">
            <a:solidFill>
              <a:sysClr val="windowText" lastClr="000000"/>
            </a:solidFill>
            <a:latin typeface="Calibri"/>
            <a:ea typeface="+mn-ea"/>
            <a:cs typeface="+mn-cs"/>
          </a:endParaRPr>
        </a:p>
      </dgm:t>
    </dgm:pt>
    <dgm:pt modelId="{CC6CE861-4F7A-49B8-95BE-6A6DB329F872}" type="parTrans" cxnId="{A2BCE18E-F86F-445D-981B-81CEFBB5B2F7}">
      <dgm:prSet/>
      <dgm:spPr/>
      <dgm:t>
        <a:bodyPr/>
        <a:lstStyle/>
        <a:p>
          <a:endParaRPr lang="id-ID"/>
        </a:p>
      </dgm:t>
    </dgm:pt>
    <dgm:pt modelId="{AFC74817-E7CD-472E-961B-40BEE3F307FD}" type="sibTrans" cxnId="{A2BCE18E-F86F-445D-981B-81CEFBB5B2F7}">
      <dgm:prSet/>
      <dgm:spPr/>
      <dgm:t>
        <a:bodyPr/>
        <a:lstStyle/>
        <a:p>
          <a:endParaRPr lang="id-ID"/>
        </a:p>
      </dgm:t>
    </dgm:pt>
    <dgm:pt modelId="{943306AB-DB85-41FB-94DC-F164D5C72878}">
      <dgm:prSet/>
      <dgm:spPr>
        <a:xfrm>
          <a:off x="707891" y="844455"/>
          <a:ext cx="7116818" cy="421995"/>
        </a:xfrm>
        <a:prstGeom prst="rect">
          <a:avLst/>
        </a:prstGeom>
        <a:gradFill rotWithShape="0">
          <a:gsLst>
            <a:gs pos="0">
              <a:srgbClr val="A5A5A5">
                <a:hueOff val="0"/>
                <a:satOff val="0"/>
                <a:lumOff val="0"/>
                <a:alphaOff val="0"/>
                <a:lumMod val="110000"/>
                <a:satMod val="105000"/>
                <a:tint val="67000"/>
              </a:srgbClr>
            </a:gs>
            <a:gs pos="50000">
              <a:srgbClr val="A5A5A5">
                <a:hueOff val="0"/>
                <a:satOff val="0"/>
                <a:lumOff val="0"/>
                <a:alphaOff val="0"/>
                <a:lumMod val="105000"/>
                <a:satMod val="103000"/>
                <a:tint val="73000"/>
              </a:srgbClr>
            </a:gs>
            <a:gs pos="100000">
              <a:srgbClr val="A5A5A5">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dirty="0">
              <a:solidFill>
                <a:sysClr val="windowText" lastClr="000000"/>
              </a:solidFill>
              <a:latin typeface="Calibri"/>
              <a:ea typeface="+mn-ea"/>
              <a:cs typeface="+mn-cs"/>
            </a:rPr>
            <a:t>2. </a:t>
          </a:r>
          <a:r>
            <a:rPr lang="en-GB" dirty="0">
              <a:solidFill>
                <a:sysClr val="windowText" lastClr="000000"/>
              </a:solidFill>
              <a:latin typeface="Calibri"/>
              <a:ea typeface="+mn-ea"/>
              <a:cs typeface="+mn-cs"/>
            </a:rPr>
            <a:t>Decision Tree Induction</a:t>
          </a:r>
          <a:endParaRPr lang="id-ID" dirty="0">
            <a:solidFill>
              <a:sysClr val="windowText" lastClr="000000"/>
            </a:solidFill>
            <a:latin typeface="Calibri"/>
            <a:ea typeface="+mn-ea"/>
            <a:cs typeface="+mn-cs"/>
          </a:endParaRPr>
        </a:p>
      </dgm:t>
    </dgm:pt>
    <dgm:pt modelId="{2E74471C-3D0F-4562-9246-AFA51D5D59D6}" type="parTrans" cxnId="{EE7E2004-9FF8-41D9-BFC7-6F4829CA7383}">
      <dgm:prSet/>
      <dgm:spPr/>
      <dgm:t>
        <a:bodyPr/>
        <a:lstStyle/>
        <a:p>
          <a:endParaRPr lang="id-ID"/>
        </a:p>
      </dgm:t>
    </dgm:pt>
    <dgm:pt modelId="{423FDC63-B425-4AA8-ADAF-9B59D89324E1}" type="sibTrans" cxnId="{EE7E2004-9FF8-41D9-BFC7-6F4829CA7383}">
      <dgm:prSet/>
      <dgm:spPr/>
      <dgm:t>
        <a:bodyPr/>
        <a:lstStyle/>
        <a:p>
          <a:endParaRPr lang="id-ID"/>
        </a:p>
      </dgm:t>
    </dgm:pt>
    <dgm:pt modelId="{086DB8FF-3EB2-41BB-9EE2-9F7AD45F544E}">
      <dgm:prSet phldrT="[Text]"/>
      <dgm:spPr>
        <a:xfrm>
          <a:off x="917310" y="2744085"/>
          <a:ext cx="6907399" cy="421995"/>
        </a:xfrm>
        <a:gradFill rotWithShape="0">
          <a:gsLst>
            <a:gs pos="0">
              <a:srgbClr val="70AD47">
                <a:hueOff val="0"/>
                <a:satOff val="0"/>
                <a:lumOff val="0"/>
                <a:alphaOff val="0"/>
                <a:lumMod val="110000"/>
                <a:satMod val="105000"/>
                <a:tint val="67000"/>
              </a:srgbClr>
            </a:gs>
            <a:gs pos="50000">
              <a:srgbClr val="70AD47">
                <a:hueOff val="0"/>
                <a:satOff val="0"/>
                <a:lumOff val="0"/>
                <a:alphaOff val="0"/>
                <a:lumMod val="105000"/>
                <a:satMod val="103000"/>
                <a:tint val="73000"/>
              </a:srgbClr>
            </a:gs>
            <a:gs pos="100000">
              <a:srgbClr val="70AD47">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dirty="0">
              <a:solidFill>
                <a:sysClr val="windowText" lastClr="000000"/>
              </a:solidFill>
              <a:latin typeface="Calibri"/>
              <a:ea typeface="+mn-ea"/>
              <a:cs typeface="+mn-cs"/>
            </a:rPr>
            <a:t>6. </a:t>
          </a:r>
          <a:r>
            <a:rPr lang="en-GB" dirty="0">
              <a:solidFill>
                <a:sysClr val="windowText" lastClr="000000"/>
              </a:solidFill>
              <a:latin typeface="Calibri"/>
              <a:ea typeface="+mn-ea"/>
              <a:cs typeface="+mn-cs"/>
            </a:rPr>
            <a:t>Prediction</a:t>
          </a:r>
          <a:endParaRPr lang="id-ID" dirty="0">
            <a:solidFill>
              <a:sysClr val="windowText" lastClr="000000"/>
            </a:solidFill>
            <a:latin typeface="Calibri"/>
            <a:ea typeface="+mn-ea"/>
            <a:cs typeface="+mn-cs"/>
          </a:endParaRPr>
        </a:p>
      </dgm:t>
    </dgm:pt>
    <dgm:pt modelId="{AB724DD3-D8E8-4D97-B0E6-374BC3C05C62}" type="parTrans" cxnId="{AC8394CF-3F7F-48AE-AE14-3E4F2531CCA3}">
      <dgm:prSet/>
      <dgm:spPr/>
      <dgm:t>
        <a:bodyPr/>
        <a:lstStyle/>
        <a:p>
          <a:endParaRPr lang="id-ID"/>
        </a:p>
      </dgm:t>
    </dgm:pt>
    <dgm:pt modelId="{53B4CEEA-B82C-4E41-9D39-2046F0108A15}" type="sibTrans" cxnId="{AC8394CF-3F7F-48AE-AE14-3E4F2531CCA3}">
      <dgm:prSet/>
      <dgm:spPr/>
      <dgm:t>
        <a:bodyPr/>
        <a:lstStyle/>
        <a:p>
          <a:endParaRPr lang="id-ID"/>
        </a:p>
      </dgm:t>
    </dgm:pt>
    <dgm:pt modelId="{0DE119A1-F24E-474D-8E6C-6510557195AD}">
      <dgm:prSet phldrT="[Text]"/>
      <dgm:spPr>
        <a:xfrm>
          <a:off x="325737" y="4010350"/>
          <a:ext cx="7498973" cy="421995"/>
        </a:xfrm>
        <a:prstGeom prst="rect">
          <a:avLst/>
        </a:prstGeom>
        <a:gradFill rotWithShape="0">
          <a:gsLst>
            <a:gs pos="0">
              <a:srgbClr val="A5A5A5">
                <a:hueOff val="0"/>
                <a:satOff val="0"/>
                <a:lumOff val="0"/>
                <a:alphaOff val="0"/>
                <a:lumMod val="110000"/>
                <a:satMod val="105000"/>
                <a:tint val="67000"/>
              </a:srgbClr>
            </a:gs>
            <a:gs pos="50000">
              <a:srgbClr val="A5A5A5">
                <a:hueOff val="0"/>
                <a:satOff val="0"/>
                <a:lumOff val="0"/>
                <a:alphaOff val="0"/>
                <a:lumMod val="105000"/>
                <a:satMod val="103000"/>
                <a:tint val="73000"/>
              </a:srgbClr>
            </a:gs>
            <a:gs pos="100000">
              <a:srgbClr val="A5A5A5">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endParaRPr lang="en-US"/>
        </a:p>
      </dgm:t>
    </dgm:pt>
    <dgm:pt modelId="{D7A17B3D-6CA6-4703-AC07-CE9273F373FA}" type="parTrans" cxnId="{24A64B4C-A754-4C83-B3B1-A531066EC976}">
      <dgm:prSet/>
      <dgm:spPr/>
      <dgm:t>
        <a:bodyPr/>
        <a:lstStyle/>
        <a:p>
          <a:endParaRPr lang="id-ID"/>
        </a:p>
      </dgm:t>
    </dgm:pt>
    <dgm:pt modelId="{CD8E78A8-A9FD-4E52-9509-3D0C3F2141AB}" type="sibTrans" cxnId="{24A64B4C-A754-4C83-B3B1-A531066EC976}">
      <dgm:prSet/>
      <dgm:spPr/>
      <dgm:t>
        <a:bodyPr/>
        <a:lstStyle/>
        <a:p>
          <a:endParaRPr lang="id-ID"/>
        </a:p>
      </dgm:t>
    </dgm:pt>
    <dgm:pt modelId="{473F475D-4517-47E1-9774-607701B39E63}">
      <dgm:prSet phldrT="[Text]"/>
      <dgm:spPr>
        <a:xfrm>
          <a:off x="707891" y="3376985"/>
          <a:ext cx="7116818" cy="421995"/>
        </a:xfrm>
        <a:gradFill rotWithShape="0">
          <a:gsLst>
            <a:gs pos="0">
              <a:srgbClr val="ED7D31">
                <a:hueOff val="0"/>
                <a:satOff val="0"/>
                <a:lumOff val="0"/>
                <a:alphaOff val="0"/>
                <a:lumMod val="110000"/>
                <a:satMod val="105000"/>
                <a:tint val="67000"/>
              </a:srgbClr>
            </a:gs>
            <a:gs pos="50000">
              <a:srgbClr val="ED7D31">
                <a:hueOff val="0"/>
                <a:satOff val="0"/>
                <a:lumOff val="0"/>
                <a:alphaOff val="0"/>
                <a:lumMod val="105000"/>
                <a:satMod val="103000"/>
                <a:tint val="73000"/>
              </a:srgbClr>
            </a:gs>
            <a:gs pos="100000">
              <a:srgbClr val="ED7D31">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a:solidFill>
                <a:sysClr val="windowText" lastClr="000000"/>
              </a:solidFill>
              <a:latin typeface="Calibri"/>
              <a:ea typeface="+mn-ea"/>
              <a:cs typeface="+mn-cs"/>
            </a:rPr>
            <a:t>7. </a:t>
          </a:r>
          <a:r>
            <a:rPr lang="en-GB" dirty="0">
              <a:solidFill>
                <a:sysClr val="windowText" lastClr="000000"/>
              </a:solidFill>
              <a:latin typeface="Calibri"/>
              <a:ea typeface="+mn-ea"/>
              <a:cs typeface="+mn-cs"/>
            </a:rPr>
            <a:t>Classifier Accuracy</a:t>
          </a:r>
          <a:endParaRPr lang="id-ID" dirty="0">
            <a:solidFill>
              <a:sysClr val="windowText" lastClr="000000"/>
            </a:solidFill>
            <a:latin typeface="Calibri"/>
            <a:ea typeface="+mn-ea"/>
            <a:cs typeface="+mn-cs"/>
          </a:endParaRPr>
        </a:p>
      </dgm:t>
    </dgm:pt>
    <dgm:pt modelId="{ADDA4094-2EC4-4036-881E-DE6759866920}" type="parTrans" cxnId="{6460BC6A-A85E-4EA9-A1F6-278D8BFC59EF}">
      <dgm:prSet/>
      <dgm:spPr/>
      <dgm:t>
        <a:bodyPr/>
        <a:lstStyle/>
        <a:p>
          <a:endParaRPr lang="en-US"/>
        </a:p>
      </dgm:t>
    </dgm:pt>
    <dgm:pt modelId="{343F6F9E-E1F0-42D7-98A5-B971944E2B7F}" type="sibTrans" cxnId="{6460BC6A-A85E-4EA9-A1F6-278D8BFC59EF}">
      <dgm:prSet/>
      <dgm:spPr/>
      <dgm:t>
        <a:bodyPr/>
        <a:lstStyle/>
        <a:p>
          <a:endParaRPr lang="en-US"/>
        </a:p>
      </dgm:t>
    </dgm:pt>
    <dgm:pt modelId="{09138433-7E8E-4A8E-93D0-E810D97E319E}">
      <dgm:prSet phldrT="[Text]"/>
      <dgm:spPr>
        <a:xfrm>
          <a:off x="917310" y="1477355"/>
          <a:ext cx="6907399" cy="421995"/>
        </a:xfrm>
        <a:gradFill rotWithShape="0">
          <a:gsLst>
            <a:gs pos="0">
              <a:srgbClr val="FFC000">
                <a:hueOff val="0"/>
                <a:satOff val="0"/>
                <a:lumOff val="0"/>
                <a:alphaOff val="0"/>
                <a:lumMod val="110000"/>
                <a:satMod val="105000"/>
                <a:tint val="67000"/>
              </a:srgbClr>
            </a:gs>
            <a:gs pos="50000">
              <a:srgbClr val="FFC000">
                <a:hueOff val="0"/>
                <a:satOff val="0"/>
                <a:lumOff val="0"/>
                <a:alphaOff val="0"/>
                <a:lumMod val="105000"/>
                <a:satMod val="103000"/>
                <a:tint val="73000"/>
              </a:srgbClr>
            </a:gs>
            <a:gs pos="100000">
              <a:srgbClr val="FFC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r>
            <a:rPr lang="en-US" b="0" dirty="0">
              <a:solidFill>
                <a:sysClr val="windowText" lastClr="000000"/>
              </a:solidFill>
              <a:latin typeface="Calibri"/>
              <a:ea typeface="+mn-ea"/>
              <a:cs typeface="+mn-cs"/>
            </a:rPr>
            <a:t>4. K-Nearest </a:t>
          </a:r>
          <a:r>
            <a:rPr lang="en-US" b="0" dirty="0" err="1">
              <a:solidFill>
                <a:sysClr val="windowText" lastClr="000000"/>
              </a:solidFill>
              <a:latin typeface="Calibri"/>
              <a:ea typeface="+mn-ea"/>
              <a:cs typeface="+mn-cs"/>
            </a:rPr>
            <a:t>Neighbourhood</a:t>
          </a:r>
          <a:endParaRPr lang="id-ID" b="0" dirty="0">
            <a:solidFill>
              <a:sysClr val="windowText" lastClr="000000"/>
            </a:solidFill>
            <a:latin typeface="Calibri"/>
            <a:ea typeface="+mn-ea"/>
            <a:cs typeface="+mn-cs"/>
          </a:endParaRPr>
        </a:p>
      </dgm:t>
    </dgm:pt>
    <dgm:pt modelId="{1A822D61-3CCE-40F9-940D-110FB22F1BCF}" type="parTrans" cxnId="{BCCD9F17-BE83-4C65-918C-A2120C9CF8A7}">
      <dgm:prSet/>
      <dgm:spPr/>
      <dgm:t>
        <a:bodyPr/>
        <a:lstStyle/>
        <a:p>
          <a:endParaRPr lang="en-US"/>
        </a:p>
      </dgm:t>
    </dgm:pt>
    <dgm:pt modelId="{3A7F207D-39A0-445C-9C25-7713269CF01D}" type="sibTrans" cxnId="{BCCD9F17-BE83-4C65-918C-A2120C9CF8A7}">
      <dgm:prSet/>
      <dgm:spPr/>
      <dgm:t>
        <a:bodyPr/>
        <a:lstStyle/>
        <a:p>
          <a:endParaRPr lang="en-US"/>
        </a:p>
      </dgm:t>
    </dgm:pt>
    <dgm:pt modelId="{2A527F5A-66C9-4C36-AE75-5837B13D2786}" type="pres">
      <dgm:prSet presAssocID="{374C96ED-BAD3-46F3-95D2-440E38F15177}" presName="Name0" presStyleCnt="0">
        <dgm:presLayoutVars>
          <dgm:chMax val="7"/>
          <dgm:chPref val="7"/>
          <dgm:dir/>
        </dgm:presLayoutVars>
      </dgm:prSet>
      <dgm:spPr/>
      <dgm:t>
        <a:bodyPr/>
        <a:lstStyle/>
        <a:p>
          <a:endParaRPr lang="en-US"/>
        </a:p>
      </dgm:t>
    </dgm:pt>
    <dgm:pt modelId="{F43A784C-4F6A-4513-A0B6-BEC1E56F7F02}" type="pres">
      <dgm:prSet presAssocID="{374C96ED-BAD3-46F3-95D2-440E38F15177}" presName="Name1" presStyleCnt="0"/>
      <dgm:spPr/>
    </dgm:pt>
    <dgm:pt modelId="{523DDA46-6875-484F-B99B-49ABAB93EF7B}" type="pres">
      <dgm:prSet presAssocID="{374C96ED-BAD3-46F3-95D2-440E38F15177}" presName="cycle" presStyleCnt="0"/>
      <dgm:spPr/>
    </dgm:pt>
    <dgm:pt modelId="{BEE169C3-FC3B-4ED0-BB66-CC1BF82B1333}" type="pres">
      <dgm:prSet presAssocID="{374C96ED-BAD3-46F3-95D2-440E38F15177}" presName="srcNode" presStyleLbl="node1" presStyleIdx="0" presStyleCnt="7"/>
      <dgm:spPr/>
    </dgm:pt>
    <dgm:pt modelId="{3FB60D6B-89EF-4799-8C67-702ECEAA6A79}" type="pres">
      <dgm:prSet presAssocID="{374C96ED-BAD3-46F3-95D2-440E38F15177}" presName="conn" presStyleLbl="parChTrans1D2" presStyleIdx="0" presStyleCnt="1"/>
      <dgm:spPr/>
      <dgm:t>
        <a:bodyPr/>
        <a:lstStyle/>
        <a:p>
          <a:endParaRPr lang="en-US"/>
        </a:p>
      </dgm:t>
    </dgm:pt>
    <dgm:pt modelId="{DBB3ED6D-18A8-48B3-96F9-FF1BCC8E1E42}" type="pres">
      <dgm:prSet presAssocID="{374C96ED-BAD3-46F3-95D2-440E38F15177}" presName="extraNode" presStyleLbl="node1" presStyleIdx="0" presStyleCnt="7"/>
      <dgm:spPr/>
    </dgm:pt>
    <dgm:pt modelId="{F6FAE6D7-D153-4F76-ACF2-3E9EE9B2A835}" type="pres">
      <dgm:prSet presAssocID="{374C96ED-BAD3-46F3-95D2-440E38F15177}" presName="dstNode" presStyleLbl="node1" presStyleIdx="0" presStyleCnt="7"/>
      <dgm:spPr/>
    </dgm:pt>
    <dgm:pt modelId="{DA6D0782-E66B-4B95-B131-725F3D394D63}" type="pres">
      <dgm:prSet presAssocID="{E8A5C7EF-0A9E-42DE-A83C-3C9C831E03BE}" presName="text_1" presStyleLbl="node1" presStyleIdx="0" presStyleCnt="7">
        <dgm:presLayoutVars>
          <dgm:bulletEnabled val="1"/>
        </dgm:presLayoutVars>
      </dgm:prSet>
      <dgm:spPr/>
      <dgm:t>
        <a:bodyPr/>
        <a:lstStyle/>
        <a:p>
          <a:endParaRPr lang="en-US"/>
        </a:p>
      </dgm:t>
    </dgm:pt>
    <dgm:pt modelId="{B74B7995-7F39-4FD2-A949-A5938681B2A2}" type="pres">
      <dgm:prSet presAssocID="{E8A5C7EF-0A9E-42DE-A83C-3C9C831E03BE}" presName="accent_1" presStyleCnt="0"/>
      <dgm:spPr/>
    </dgm:pt>
    <dgm:pt modelId="{7FF07FF5-8F94-489B-8DBE-3709C45E72BE}" type="pres">
      <dgm:prSet presAssocID="{E8A5C7EF-0A9E-42DE-A83C-3C9C831E03BE}" presName="accentRepeatNode" presStyleLbl="solidFgAcc1" presStyleIdx="0" presStyleCnt="7"/>
      <dgm:spPr>
        <a:xfrm>
          <a:off x="61989" y="158341"/>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ED7D31">
              <a:hueOff val="0"/>
              <a:satOff val="0"/>
              <a:lumOff val="0"/>
              <a:alphaOff val="0"/>
            </a:srgbClr>
          </a:solidFill>
          <a:prstDash val="solid"/>
          <a:miter lim="800000"/>
        </a:ln>
        <a:effectLst/>
      </dgm:spPr>
    </dgm:pt>
    <dgm:pt modelId="{F2B831F9-3A91-4A3E-A94B-8C5A29CCC0E6}" type="pres">
      <dgm:prSet presAssocID="{943306AB-DB85-41FB-94DC-F164D5C72878}" presName="text_2" presStyleLbl="node1" presStyleIdx="1" presStyleCnt="7">
        <dgm:presLayoutVars>
          <dgm:bulletEnabled val="1"/>
        </dgm:presLayoutVars>
      </dgm:prSet>
      <dgm:spPr/>
      <dgm:t>
        <a:bodyPr/>
        <a:lstStyle/>
        <a:p>
          <a:endParaRPr lang="en-US"/>
        </a:p>
      </dgm:t>
    </dgm:pt>
    <dgm:pt modelId="{2ABB71C9-1A92-45CA-A90F-BD404EFCA9D3}" type="pres">
      <dgm:prSet presAssocID="{943306AB-DB85-41FB-94DC-F164D5C72878}" presName="accent_2" presStyleCnt="0"/>
      <dgm:spPr/>
    </dgm:pt>
    <dgm:pt modelId="{3803CB00-50DE-4F50-961A-C7BFA56BA28A}" type="pres">
      <dgm:prSet presAssocID="{943306AB-DB85-41FB-94DC-F164D5C72878}" presName="accentRepeatNode" presStyleLbl="solidFgAcc1" presStyleIdx="1" presStyleCnt="7"/>
      <dgm:spPr>
        <a:xfrm>
          <a:off x="444144" y="79170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A5A5A5">
              <a:hueOff val="0"/>
              <a:satOff val="0"/>
              <a:lumOff val="0"/>
              <a:alphaOff val="0"/>
            </a:srgbClr>
          </a:solidFill>
          <a:prstDash val="solid"/>
          <a:miter lim="800000"/>
        </a:ln>
        <a:effectLst/>
      </dgm:spPr>
    </dgm:pt>
    <dgm:pt modelId="{97BB894D-31E6-4E8C-B84E-BDD469187349}" type="pres">
      <dgm:prSet presAssocID="{3908B85F-A099-4E2E-AFBC-9B6745AB3627}" presName="text_3" presStyleLbl="node1" presStyleIdx="2" presStyleCnt="7">
        <dgm:presLayoutVars>
          <dgm:bulletEnabled val="1"/>
        </dgm:presLayoutVars>
      </dgm:prSet>
      <dgm:spPr/>
      <dgm:t>
        <a:bodyPr/>
        <a:lstStyle/>
        <a:p>
          <a:endParaRPr lang="en-US"/>
        </a:p>
      </dgm:t>
    </dgm:pt>
    <dgm:pt modelId="{D4B2E07E-040D-4427-BF61-C8D6505DDF26}" type="pres">
      <dgm:prSet presAssocID="{3908B85F-A099-4E2E-AFBC-9B6745AB3627}" presName="accent_3" presStyleCnt="0"/>
      <dgm:spPr/>
    </dgm:pt>
    <dgm:pt modelId="{DAF29A68-601F-41D8-9BE6-F47E2F0D4663}" type="pres">
      <dgm:prSet presAssocID="{3908B85F-A099-4E2E-AFBC-9B6745AB3627}" presName="accentRepeatNode" presStyleLbl="solidFgAcc1" presStyleIdx="2" presStyleCnt="7"/>
      <dgm:spPr>
        <a:xfrm>
          <a:off x="653563" y="142460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FFC000">
              <a:hueOff val="0"/>
              <a:satOff val="0"/>
              <a:lumOff val="0"/>
              <a:alphaOff val="0"/>
            </a:srgbClr>
          </a:solidFill>
          <a:prstDash val="solid"/>
          <a:miter lim="800000"/>
        </a:ln>
        <a:effectLst/>
      </dgm:spPr>
    </dgm:pt>
    <dgm:pt modelId="{3AA0A578-AD74-440B-8023-1E85DA9E5712}" type="pres">
      <dgm:prSet presAssocID="{09138433-7E8E-4A8E-93D0-E810D97E319E}" presName="text_4" presStyleLbl="node1" presStyleIdx="3" presStyleCnt="7">
        <dgm:presLayoutVars>
          <dgm:bulletEnabled val="1"/>
        </dgm:presLayoutVars>
      </dgm:prSet>
      <dgm:spPr>
        <a:prstGeom prst="rect">
          <a:avLst/>
        </a:prstGeom>
      </dgm:spPr>
      <dgm:t>
        <a:bodyPr/>
        <a:lstStyle/>
        <a:p>
          <a:endParaRPr lang="en-US"/>
        </a:p>
      </dgm:t>
    </dgm:pt>
    <dgm:pt modelId="{FC2E42A5-B235-4E84-BDA1-89AED64645F8}" type="pres">
      <dgm:prSet presAssocID="{09138433-7E8E-4A8E-93D0-E810D97E319E}" presName="accent_4" presStyleCnt="0"/>
      <dgm:spPr/>
    </dgm:pt>
    <dgm:pt modelId="{8B211F4F-E87D-4B09-AADB-8021AC2D6F97}" type="pres">
      <dgm:prSet presAssocID="{09138433-7E8E-4A8E-93D0-E810D97E319E}" presName="accentRepeatNode" presStyleLbl="solidFgAcc1" presStyleIdx="3" presStyleCnt="7"/>
      <dgm:spPr/>
    </dgm:pt>
    <dgm:pt modelId="{0510381E-38E8-4CAC-96FE-D4FA618FBDF1}" type="pres">
      <dgm:prSet presAssocID="{60C747CA-134E-41D9-91D0-E56F3F5A021E}" presName="text_5" presStyleLbl="node1" presStyleIdx="4" presStyleCnt="7">
        <dgm:presLayoutVars>
          <dgm:bulletEnabled val="1"/>
        </dgm:presLayoutVars>
      </dgm:prSet>
      <dgm:spPr>
        <a:prstGeom prst="rect">
          <a:avLst/>
        </a:prstGeom>
      </dgm:spPr>
      <dgm:t>
        <a:bodyPr/>
        <a:lstStyle/>
        <a:p>
          <a:endParaRPr lang="en-US"/>
        </a:p>
      </dgm:t>
    </dgm:pt>
    <dgm:pt modelId="{3E41BBDC-D9C5-4679-8024-8CD1FE3762B8}" type="pres">
      <dgm:prSet presAssocID="{60C747CA-134E-41D9-91D0-E56F3F5A021E}" presName="accent_5" presStyleCnt="0"/>
      <dgm:spPr/>
    </dgm:pt>
    <dgm:pt modelId="{C8E599DD-1504-404D-A589-37389B6FD185}" type="pres">
      <dgm:prSet presAssocID="{60C747CA-134E-41D9-91D0-E56F3F5A021E}" presName="accentRepeatNode" presStyleLbl="solidFgAcc1" presStyleIdx="4" presStyleCnt="7"/>
      <dgm:spPr>
        <a:xfrm>
          <a:off x="720429" y="2057971"/>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4472C4">
              <a:hueOff val="0"/>
              <a:satOff val="0"/>
              <a:lumOff val="0"/>
              <a:alphaOff val="0"/>
            </a:srgbClr>
          </a:solidFill>
          <a:prstDash val="solid"/>
          <a:miter lim="800000"/>
        </a:ln>
        <a:effectLst/>
      </dgm:spPr>
    </dgm:pt>
    <dgm:pt modelId="{A2F8731C-9F2E-489B-9C99-11A319A0135B}" type="pres">
      <dgm:prSet presAssocID="{086DB8FF-3EB2-41BB-9EE2-9F7AD45F544E}" presName="text_6" presStyleLbl="node1" presStyleIdx="5" presStyleCnt="7">
        <dgm:presLayoutVars>
          <dgm:bulletEnabled val="1"/>
        </dgm:presLayoutVars>
      </dgm:prSet>
      <dgm:spPr>
        <a:prstGeom prst="rect">
          <a:avLst/>
        </a:prstGeom>
      </dgm:spPr>
      <dgm:t>
        <a:bodyPr/>
        <a:lstStyle/>
        <a:p>
          <a:endParaRPr lang="en-US"/>
        </a:p>
      </dgm:t>
    </dgm:pt>
    <dgm:pt modelId="{923ACF0B-F2A4-4E1D-AA10-6E80AC5246F9}" type="pres">
      <dgm:prSet presAssocID="{086DB8FF-3EB2-41BB-9EE2-9F7AD45F544E}" presName="accent_6" presStyleCnt="0"/>
      <dgm:spPr/>
    </dgm:pt>
    <dgm:pt modelId="{CC3223EB-5DCC-4E6D-9498-D37F3E191DD1}" type="pres">
      <dgm:prSet presAssocID="{086DB8FF-3EB2-41BB-9EE2-9F7AD45F544E}" presName="accentRepeatNode" presStyleLbl="solidFgAcc1" presStyleIdx="5" presStyleCnt="7"/>
      <dgm:spPr>
        <a:xfrm>
          <a:off x="653563" y="269133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70AD47">
              <a:hueOff val="0"/>
              <a:satOff val="0"/>
              <a:lumOff val="0"/>
              <a:alphaOff val="0"/>
            </a:srgbClr>
          </a:solidFill>
          <a:prstDash val="solid"/>
          <a:miter lim="800000"/>
        </a:ln>
        <a:effectLst/>
      </dgm:spPr>
    </dgm:pt>
    <dgm:pt modelId="{44F919DE-973E-4B79-AEEF-312C4163EF9C}" type="pres">
      <dgm:prSet presAssocID="{473F475D-4517-47E1-9774-607701B39E63}" presName="text_7" presStyleLbl="node1" presStyleIdx="6" presStyleCnt="7">
        <dgm:presLayoutVars>
          <dgm:bulletEnabled val="1"/>
        </dgm:presLayoutVars>
      </dgm:prSet>
      <dgm:spPr>
        <a:prstGeom prst="rect">
          <a:avLst/>
        </a:prstGeom>
      </dgm:spPr>
      <dgm:t>
        <a:bodyPr/>
        <a:lstStyle/>
        <a:p>
          <a:endParaRPr lang="en-US"/>
        </a:p>
      </dgm:t>
    </dgm:pt>
    <dgm:pt modelId="{CE84FB09-2BC5-4B71-AF47-CF23641CD1EC}" type="pres">
      <dgm:prSet presAssocID="{473F475D-4517-47E1-9774-607701B39E63}" presName="accent_7" presStyleCnt="0"/>
      <dgm:spPr/>
    </dgm:pt>
    <dgm:pt modelId="{4B9615BF-778D-4E5C-81F1-EE6E716652B6}" type="pres">
      <dgm:prSet presAssocID="{473F475D-4517-47E1-9774-607701B39E63}" presName="accentRepeatNode" presStyleLbl="solidFgAcc1" presStyleIdx="6" presStyleCnt="7"/>
      <dgm:spPr>
        <a:xfrm>
          <a:off x="444144" y="332423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ED7D31">
              <a:hueOff val="0"/>
              <a:satOff val="0"/>
              <a:lumOff val="0"/>
              <a:alphaOff val="0"/>
            </a:srgbClr>
          </a:solidFill>
          <a:prstDash val="solid"/>
          <a:miter lim="800000"/>
        </a:ln>
        <a:effectLst/>
      </dgm:spPr>
    </dgm:pt>
  </dgm:ptLst>
  <dgm:cxnLst>
    <dgm:cxn modelId="{70F4AA58-14DD-42E9-8233-3452F6D2D627}" type="presOf" srcId="{3908B85F-A099-4E2E-AFBC-9B6745AB3627}" destId="{97BB894D-31E6-4E8C-B84E-BDD469187349}" srcOrd="0" destOrd="0" presId="urn:microsoft.com/office/officeart/2008/layout/VerticalCurvedList"/>
    <dgm:cxn modelId="{CCEB07EA-45AF-4F2C-806B-E8ECD8E35CD6}" type="presOf" srcId="{086DB8FF-3EB2-41BB-9EE2-9F7AD45F544E}" destId="{A2F8731C-9F2E-489B-9C99-11A319A0135B}" srcOrd="0" destOrd="0" presId="urn:microsoft.com/office/officeart/2008/layout/VerticalCurvedList"/>
    <dgm:cxn modelId="{24A64B4C-A754-4C83-B3B1-A531066EC976}" srcId="{374C96ED-BAD3-46F3-95D2-440E38F15177}" destId="{0DE119A1-F24E-474D-8E6C-6510557195AD}" srcOrd="7" destOrd="0" parTransId="{D7A17B3D-6CA6-4703-AC07-CE9273F373FA}" sibTransId="{CD8E78A8-A9FD-4E52-9509-3D0C3F2141AB}"/>
    <dgm:cxn modelId="{EE7E2004-9FF8-41D9-BFC7-6F4829CA7383}" srcId="{374C96ED-BAD3-46F3-95D2-440E38F15177}" destId="{943306AB-DB85-41FB-94DC-F164D5C72878}" srcOrd="1" destOrd="0" parTransId="{2E74471C-3D0F-4562-9246-AFA51D5D59D6}" sibTransId="{423FDC63-B425-4AA8-ADAF-9B59D89324E1}"/>
    <dgm:cxn modelId="{6460BC6A-A85E-4EA9-A1F6-278D8BFC59EF}" srcId="{374C96ED-BAD3-46F3-95D2-440E38F15177}" destId="{473F475D-4517-47E1-9774-607701B39E63}" srcOrd="6" destOrd="0" parTransId="{ADDA4094-2EC4-4036-881E-DE6759866920}" sibTransId="{343F6F9E-E1F0-42D7-98A5-B971944E2B7F}"/>
    <dgm:cxn modelId="{AC8394CF-3F7F-48AE-AE14-3E4F2531CCA3}" srcId="{374C96ED-BAD3-46F3-95D2-440E38F15177}" destId="{086DB8FF-3EB2-41BB-9EE2-9F7AD45F544E}" srcOrd="5" destOrd="0" parTransId="{AB724DD3-D8E8-4D97-B0E6-374BC3C05C62}" sibTransId="{53B4CEEA-B82C-4E41-9D39-2046F0108A15}"/>
    <dgm:cxn modelId="{A2BCE18E-F86F-445D-981B-81CEFBB5B2F7}" srcId="{374C96ED-BAD3-46F3-95D2-440E38F15177}" destId="{60C747CA-134E-41D9-91D0-E56F3F5A021E}" srcOrd="4" destOrd="0" parTransId="{CC6CE861-4F7A-49B8-95BE-6A6DB329F872}" sibTransId="{AFC74817-E7CD-472E-961B-40BEE3F307FD}"/>
    <dgm:cxn modelId="{5428FBA3-E39B-4B73-858A-B10CCE72BEE2}" type="presOf" srcId="{09138433-7E8E-4A8E-93D0-E810D97E319E}" destId="{3AA0A578-AD74-440B-8023-1E85DA9E5712}" srcOrd="0" destOrd="0" presId="urn:microsoft.com/office/officeart/2008/layout/VerticalCurvedList"/>
    <dgm:cxn modelId="{BCCD9F17-BE83-4C65-918C-A2120C9CF8A7}" srcId="{374C96ED-BAD3-46F3-95D2-440E38F15177}" destId="{09138433-7E8E-4A8E-93D0-E810D97E319E}" srcOrd="3" destOrd="0" parTransId="{1A822D61-3CCE-40F9-940D-110FB22F1BCF}" sibTransId="{3A7F207D-39A0-445C-9C25-7713269CF01D}"/>
    <dgm:cxn modelId="{9B40AAB2-15F5-462B-BEF3-D495E888D72E}" type="presOf" srcId="{943306AB-DB85-41FB-94DC-F164D5C72878}" destId="{F2B831F9-3A91-4A3E-A94B-8C5A29CCC0E6}" srcOrd="0" destOrd="0" presId="urn:microsoft.com/office/officeart/2008/layout/VerticalCurvedList"/>
    <dgm:cxn modelId="{DB5FDBC7-6985-47AB-B116-0C76DD7A6A3F}" srcId="{374C96ED-BAD3-46F3-95D2-440E38F15177}" destId="{E8A5C7EF-0A9E-42DE-A83C-3C9C831E03BE}" srcOrd="0" destOrd="0" parTransId="{8F91E072-D972-4094-8F08-F1EDAD19D4F8}" sibTransId="{003C4003-59C0-401F-BA1B-4A1CCAFFF152}"/>
    <dgm:cxn modelId="{5F7A4CE8-E00C-47F5-AA9F-B6853561885C}" type="presOf" srcId="{374C96ED-BAD3-46F3-95D2-440E38F15177}" destId="{2A527F5A-66C9-4C36-AE75-5837B13D2786}" srcOrd="0" destOrd="0" presId="urn:microsoft.com/office/officeart/2008/layout/VerticalCurvedList"/>
    <dgm:cxn modelId="{E0D9524F-AF91-4203-AE29-04294E0564F4}" type="presOf" srcId="{473F475D-4517-47E1-9774-607701B39E63}" destId="{44F919DE-973E-4B79-AEEF-312C4163EF9C}" srcOrd="0" destOrd="0" presId="urn:microsoft.com/office/officeart/2008/layout/VerticalCurvedList"/>
    <dgm:cxn modelId="{2584A020-CA57-4DF0-B1E5-848416F28BB4}" type="presOf" srcId="{003C4003-59C0-401F-BA1B-4A1CCAFFF152}" destId="{3FB60D6B-89EF-4799-8C67-702ECEAA6A79}" srcOrd="0" destOrd="0" presId="urn:microsoft.com/office/officeart/2008/layout/VerticalCurvedList"/>
    <dgm:cxn modelId="{385A9F33-C660-4FB2-80D2-1DB127BAC681}" srcId="{374C96ED-BAD3-46F3-95D2-440E38F15177}" destId="{3908B85F-A099-4E2E-AFBC-9B6745AB3627}" srcOrd="2" destOrd="0" parTransId="{D3AF622D-96DB-414C-B450-856776290412}" sibTransId="{A851BDDE-FCFF-42DD-9D8D-9C38879F31AD}"/>
    <dgm:cxn modelId="{1105F47B-17CC-42F5-81DC-ABFB67962A5A}" type="presOf" srcId="{60C747CA-134E-41D9-91D0-E56F3F5A021E}" destId="{0510381E-38E8-4CAC-96FE-D4FA618FBDF1}" srcOrd="0" destOrd="0" presId="urn:microsoft.com/office/officeart/2008/layout/VerticalCurvedList"/>
    <dgm:cxn modelId="{07F3E2B1-1704-4DD6-BFE8-BA98BE200108}" type="presOf" srcId="{E8A5C7EF-0A9E-42DE-A83C-3C9C831E03BE}" destId="{DA6D0782-E66B-4B95-B131-725F3D394D63}" srcOrd="0" destOrd="0" presId="urn:microsoft.com/office/officeart/2008/layout/VerticalCurvedList"/>
    <dgm:cxn modelId="{8F4F3E3B-F2D6-4BA1-BF19-80005A9A46CE}" type="presParOf" srcId="{2A527F5A-66C9-4C36-AE75-5837B13D2786}" destId="{F43A784C-4F6A-4513-A0B6-BEC1E56F7F02}" srcOrd="0" destOrd="0" presId="urn:microsoft.com/office/officeart/2008/layout/VerticalCurvedList"/>
    <dgm:cxn modelId="{8FE06715-FD79-4ECD-A281-28AB587D0442}" type="presParOf" srcId="{F43A784C-4F6A-4513-A0B6-BEC1E56F7F02}" destId="{523DDA46-6875-484F-B99B-49ABAB93EF7B}" srcOrd="0" destOrd="0" presId="urn:microsoft.com/office/officeart/2008/layout/VerticalCurvedList"/>
    <dgm:cxn modelId="{5CD7FF0E-C752-46EF-8657-6E2D35D5A5FD}" type="presParOf" srcId="{523DDA46-6875-484F-B99B-49ABAB93EF7B}" destId="{BEE169C3-FC3B-4ED0-BB66-CC1BF82B1333}" srcOrd="0" destOrd="0" presId="urn:microsoft.com/office/officeart/2008/layout/VerticalCurvedList"/>
    <dgm:cxn modelId="{49F741D3-005E-4B70-A172-3FF255EE3E71}" type="presParOf" srcId="{523DDA46-6875-484F-B99B-49ABAB93EF7B}" destId="{3FB60D6B-89EF-4799-8C67-702ECEAA6A79}" srcOrd="1" destOrd="0" presId="urn:microsoft.com/office/officeart/2008/layout/VerticalCurvedList"/>
    <dgm:cxn modelId="{1D89B3EE-8618-4103-94A1-A70C10543204}" type="presParOf" srcId="{523DDA46-6875-484F-B99B-49ABAB93EF7B}" destId="{DBB3ED6D-18A8-48B3-96F9-FF1BCC8E1E42}" srcOrd="2" destOrd="0" presId="urn:microsoft.com/office/officeart/2008/layout/VerticalCurvedList"/>
    <dgm:cxn modelId="{974C7CA9-7D7B-4E91-8660-ED11628556C0}" type="presParOf" srcId="{523DDA46-6875-484F-B99B-49ABAB93EF7B}" destId="{F6FAE6D7-D153-4F76-ACF2-3E9EE9B2A835}" srcOrd="3" destOrd="0" presId="urn:microsoft.com/office/officeart/2008/layout/VerticalCurvedList"/>
    <dgm:cxn modelId="{CE1221B9-DFCD-454E-B206-4D6C19FC752E}" type="presParOf" srcId="{F43A784C-4F6A-4513-A0B6-BEC1E56F7F02}" destId="{DA6D0782-E66B-4B95-B131-725F3D394D63}" srcOrd="1" destOrd="0" presId="urn:microsoft.com/office/officeart/2008/layout/VerticalCurvedList"/>
    <dgm:cxn modelId="{24724570-A9D8-43C4-A45C-319583E954FA}" type="presParOf" srcId="{F43A784C-4F6A-4513-A0B6-BEC1E56F7F02}" destId="{B74B7995-7F39-4FD2-A949-A5938681B2A2}" srcOrd="2" destOrd="0" presId="urn:microsoft.com/office/officeart/2008/layout/VerticalCurvedList"/>
    <dgm:cxn modelId="{91F70E8C-2F39-47D1-B754-501AC53F0272}" type="presParOf" srcId="{B74B7995-7F39-4FD2-A949-A5938681B2A2}" destId="{7FF07FF5-8F94-489B-8DBE-3709C45E72BE}" srcOrd="0" destOrd="0" presId="urn:microsoft.com/office/officeart/2008/layout/VerticalCurvedList"/>
    <dgm:cxn modelId="{C29DF1E0-0AE7-49BD-A97E-2C737DE5B736}" type="presParOf" srcId="{F43A784C-4F6A-4513-A0B6-BEC1E56F7F02}" destId="{F2B831F9-3A91-4A3E-A94B-8C5A29CCC0E6}" srcOrd="3" destOrd="0" presId="urn:microsoft.com/office/officeart/2008/layout/VerticalCurvedList"/>
    <dgm:cxn modelId="{60ACF51D-7AE5-4095-81B0-F27D22C2FD55}" type="presParOf" srcId="{F43A784C-4F6A-4513-A0B6-BEC1E56F7F02}" destId="{2ABB71C9-1A92-45CA-A90F-BD404EFCA9D3}" srcOrd="4" destOrd="0" presId="urn:microsoft.com/office/officeart/2008/layout/VerticalCurvedList"/>
    <dgm:cxn modelId="{B2F5AD7C-9755-4D86-85DE-FD862CC65735}" type="presParOf" srcId="{2ABB71C9-1A92-45CA-A90F-BD404EFCA9D3}" destId="{3803CB00-50DE-4F50-961A-C7BFA56BA28A}" srcOrd="0" destOrd="0" presId="urn:microsoft.com/office/officeart/2008/layout/VerticalCurvedList"/>
    <dgm:cxn modelId="{DCED7E73-F3F4-4AEF-9BC4-59F90DAE04D6}" type="presParOf" srcId="{F43A784C-4F6A-4513-A0B6-BEC1E56F7F02}" destId="{97BB894D-31E6-4E8C-B84E-BDD469187349}" srcOrd="5" destOrd="0" presId="urn:microsoft.com/office/officeart/2008/layout/VerticalCurvedList"/>
    <dgm:cxn modelId="{E07D946C-700D-4B8F-9721-BE699432FCDD}" type="presParOf" srcId="{F43A784C-4F6A-4513-A0B6-BEC1E56F7F02}" destId="{D4B2E07E-040D-4427-BF61-C8D6505DDF26}" srcOrd="6" destOrd="0" presId="urn:microsoft.com/office/officeart/2008/layout/VerticalCurvedList"/>
    <dgm:cxn modelId="{A92AD113-6729-4516-8E0A-59595CDBCBEB}" type="presParOf" srcId="{D4B2E07E-040D-4427-BF61-C8D6505DDF26}" destId="{DAF29A68-601F-41D8-9BE6-F47E2F0D4663}" srcOrd="0" destOrd="0" presId="urn:microsoft.com/office/officeart/2008/layout/VerticalCurvedList"/>
    <dgm:cxn modelId="{E777E247-F184-4484-8E13-3578B2ED104E}" type="presParOf" srcId="{F43A784C-4F6A-4513-A0B6-BEC1E56F7F02}" destId="{3AA0A578-AD74-440B-8023-1E85DA9E5712}" srcOrd="7" destOrd="0" presId="urn:microsoft.com/office/officeart/2008/layout/VerticalCurvedList"/>
    <dgm:cxn modelId="{0CE431A4-B7D6-4E2B-8219-A91333732B4F}" type="presParOf" srcId="{F43A784C-4F6A-4513-A0B6-BEC1E56F7F02}" destId="{FC2E42A5-B235-4E84-BDA1-89AED64645F8}" srcOrd="8" destOrd="0" presId="urn:microsoft.com/office/officeart/2008/layout/VerticalCurvedList"/>
    <dgm:cxn modelId="{303F2DC6-4CA6-4A98-AD38-5464B8C5938E}" type="presParOf" srcId="{FC2E42A5-B235-4E84-BDA1-89AED64645F8}" destId="{8B211F4F-E87D-4B09-AADB-8021AC2D6F97}" srcOrd="0" destOrd="0" presId="urn:microsoft.com/office/officeart/2008/layout/VerticalCurvedList"/>
    <dgm:cxn modelId="{9C1DBBE5-F200-4BA6-A039-362F54FB89C7}" type="presParOf" srcId="{F43A784C-4F6A-4513-A0B6-BEC1E56F7F02}" destId="{0510381E-38E8-4CAC-96FE-D4FA618FBDF1}" srcOrd="9" destOrd="0" presId="urn:microsoft.com/office/officeart/2008/layout/VerticalCurvedList"/>
    <dgm:cxn modelId="{8982A834-77D2-4A4D-A66F-B2E7846383A5}" type="presParOf" srcId="{F43A784C-4F6A-4513-A0B6-BEC1E56F7F02}" destId="{3E41BBDC-D9C5-4679-8024-8CD1FE3762B8}" srcOrd="10" destOrd="0" presId="urn:microsoft.com/office/officeart/2008/layout/VerticalCurvedList"/>
    <dgm:cxn modelId="{0B9F824D-D57C-4BC8-AF7D-53F1C0A2D122}" type="presParOf" srcId="{3E41BBDC-D9C5-4679-8024-8CD1FE3762B8}" destId="{C8E599DD-1504-404D-A589-37389B6FD185}" srcOrd="0" destOrd="0" presId="urn:microsoft.com/office/officeart/2008/layout/VerticalCurvedList"/>
    <dgm:cxn modelId="{00E8C30D-A3CC-463D-8328-E3597CCC8EF6}" type="presParOf" srcId="{F43A784C-4F6A-4513-A0B6-BEC1E56F7F02}" destId="{A2F8731C-9F2E-489B-9C99-11A319A0135B}" srcOrd="11" destOrd="0" presId="urn:microsoft.com/office/officeart/2008/layout/VerticalCurvedList"/>
    <dgm:cxn modelId="{0522CAE5-1379-476C-85F1-8E4CAEE03703}" type="presParOf" srcId="{F43A784C-4F6A-4513-A0B6-BEC1E56F7F02}" destId="{923ACF0B-F2A4-4E1D-AA10-6E80AC5246F9}" srcOrd="12" destOrd="0" presId="urn:microsoft.com/office/officeart/2008/layout/VerticalCurvedList"/>
    <dgm:cxn modelId="{3D953FB7-B91E-4B4A-B48D-56DADA6E370D}" type="presParOf" srcId="{923ACF0B-F2A4-4E1D-AA10-6E80AC5246F9}" destId="{CC3223EB-5DCC-4E6D-9498-D37F3E191DD1}" srcOrd="0" destOrd="0" presId="urn:microsoft.com/office/officeart/2008/layout/VerticalCurvedList"/>
    <dgm:cxn modelId="{CC42510F-18A9-45C4-B684-CACD49C1FBCE}" type="presParOf" srcId="{F43A784C-4F6A-4513-A0B6-BEC1E56F7F02}" destId="{44F919DE-973E-4B79-AEEF-312C4163EF9C}" srcOrd="13" destOrd="0" presId="urn:microsoft.com/office/officeart/2008/layout/VerticalCurvedList"/>
    <dgm:cxn modelId="{B606E622-E327-44DD-BE39-216CD4B7DE81}" type="presParOf" srcId="{F43A784C-4F6A-4513-A0B6-BEC1E56F7F02}" destId="{CE84FB09-2BC5-4B71-AF47-CF23641CD1EC}" srcOrd="14" destOrd="0" presId="urn:microsoft.com/office/officeart/2008/layout/VerticalCurvedList"/>
    <dgm:cxn modelId="{8B3F5F97-96AA-4CB4-9860-23B01DBABAAC}" type="presParOf" srcId="{CE84FB09-2BC5-4B71-AF47-CF23641CD1EC}" destId="{4B9615BF-778D-4E5C-81F1-EE6E716652B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60D6B-89EF-4799-8C67-702ECEAA6A79}">
      <dsp:nvSpPr>
        <dsp:cNvPr id="0" name=""/>
        <dsp:cNvSpPr/>
      </dsp:nvSpPr>
      <dsp:spPr>
        <a:xfrm>
          <a:off x="-5247551" y="-804071"/>
          <a:ext cx="6251579" cy="6251579"/>
        </a:xfrm>
        <a:prstGeom prst="blockArc">
          <a:avLst>
            <a:gd name="adj1" fmla="val 18900000"/>
            <a:gd name="adj2" fmla="val 2700000"/>
            <a:gd name="adj3" fmla="val 346"/>
          </a:avLst>
        </a:prstGeom>
        <a:noFill/>
        <a:ln w="12700" cap="flat" cmpd="sng" algn="ctr">
          <a:solidFill>
            <a:srgbClr val="ED7D31">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A6D0782-E66B-4B95-B131-725F3D394D63}">
      <dsp:nvSpPr>
        <dsp:cNvPr id="0" name=""/>
        <dsp:cNvSpPr/>
      </dsp:nvSpPr>
      <dsp:spPr>
        <a:xfrm>
          <a:off x="325737" y="211090"/>
          <a:ext cx="7498973" cy="421995"/>
        </a:xfrm>
        <a:prstGeom prst="rect">
          <a:avLst/>
        </a:prstGeom>
        <a:gradFill rotWithShape="0">
          <a:gsLst>
            <a:gs pos="0">
              <a:srgbClr val="ED7D31">
                <a:hueOff val="0"/>
                <a:satOff val="0"/>
                <a:lumOff val="0"/>
                <a:alphaOff val="0"/>
                <a:lumMod val="110000"/>
                <a:satMod val="105000"/>
                <a:tint val="67000"/>
              </a:srgbClr>
            </a:gs>
            <a:gs pos="50000">
              <a:srgbClr val="ED7D31">
                <a:hueOff val="0"/>
                <a:satOff val="0"/>
                <a:lumOff val="0"/>
                <a:alphaOff val="0"/>
                <a:lumMod val="105000"/>
                <a:satMod val="103000"/>
                <a:tint val="73000"/>
              </a:srgbClr>
            </a:gs>
            <a:gs pos="100000">
              <a:srgbClr val="ED7D31">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id-ID" sz="2200" kern="1200" dirty="0">
              <a:solidFill>
                <a:sysClr val="windowText" lastClr="000000"/>
              </a:solidFill>
              <a:latin typeface="Calibri"/>
              <a:ea typeface="+mn-ea"/>
              <a:cs typeface="+mn-cs"/>
            </a:rPr>
            <a:t>1. </a:t>
          </a:r>
          <a:r>
            <a:rPr lang="en-US" sz="2200" kern="1200" dirty="0">
              <a:solidFill>
                <a:sysClr val="windowText" lastClr="000000"/>
              </a:solidFill>
              <a:latin typeface="Calibri"/>
              <a:ea typeface="+mn-ea"/>
              <a:cs typeface="+mn-cs"/>
            </a:rPr>
            <a:t>Classification Vs. Prediction</a:t>
          </a:r>
          <a:endParaRPr lang="id-ID" sz="2200" kern="1200" dirty="0">
            <a:solidFill>
              <a:sysClr val="windowText" lastClr="000000"/>
            </a:solidFill>
            <a:latin typeface="Calibri"/>
            <a:ea typeface="+mn-ea"/>
            <a:cs typeface="+mn-cs"/>
          </a:endParaRPr>
        </a:p>
      </dsp:txBody>
      <dsp:txXfrm>
        <a:off x="325737" y="211090"/>
        <a:ext cx="7498973" cy="421995"/>
      </dsp:txXfrm>
    </dsp:sp>
    <dsp:sp modelId="{7FF07FF5-8F94-489B-8DBE-3709C45E72BE}">
      <dsp:nvSpPr>
        <dsp:cNvPr id="0" name=""/>
        <dsp:cNvSpPr/>
      </dsp:nvSpPr>
      <dsp:spPr>
        <a:xfrm>
          <a:off x="61989" y="158341"/>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ED7D31">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 modelId="{F2B831F9-3A91-4A3E-A94B-8C5A29CCC0E6}">
      <dsp:nvSpPr>
        <dsp:cNvPr id="0" name=""/>
        <dsp:cNvSpPr/>
      </dsp:nvSpPr>
      <dsp:spPr>
        <a:xfrm>
          <a:off x="707891" y="844455"/>
          <a:ext cx="7116818" cy="421995"/>
        </a:xfrm>
        <a:prstGeom prst="rect">
          <a:avLst/>
        </a:prstGeom>
        <a:gradFill rotWithShape="0">
          <a:gsLst>
            <a:gs pos="0">
              <a:srgbClr val="A5A5A5">
                <a:hueOff val="0"/>
                <a:satOff val="0"/>
                <a:lumOff val="0"/>
                <a:alphaOff val="0"/>
                <a:lumMod val="110000"/>
                <a:satMod val="105000"/>
                <a:tint val="67000"/>
              </a:srgbClr>
            </a:gs>
            <a:gs pos="50000">
              <a:srgbClr val="A5A5A5">
                <a:hueOff val="0"/>
                <a:satOff val="0"/>
                <a:lumOff val="0"/>
                <a:alphaOff val="0"/>
                <a:lumMod val="105000"/>
                <a:satMod val="103000"/>
                <a:tint val="73000"/>
              </a:srgbClr>
            </a:gs>
            <a:gs pos="100000">
              <a:srgbClr val="A5A5A5">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kern="1200" dirty="0">
              <a:solidFill>
                <a:sysClr val="windowText" lastClr="000000"/>
              </a:solidFill>
              <a:latin typeface="Calibri"/>
              <a:ea typeface="+mn-ea"/>
              <a:cs typeface="+mn-cs"/>
            </a:rPr>
            <a:t>2. </a:t>
          </a:r>
          <a:r>
            <a:rPr lang="en-GB" sz="2200" kern="1200" dirty="0">
              <a:solidFill>
                <a:sysClr val="windowText" lastClr="000000"/>
              </a:solidFill>
              <a:latin typeface="Calibri"/>
              <a:ea typeface="+mn-ea"/>
              <a:cs typeface="+mn-cs"/>
            </a:rPr>
            <a:t>Decision Tree Induction</a:t>
          </a:r>
          <a:endParaRPr lang="id-ID" sz="2200" kern="1200" dirty="0">
            <a:solidFill>
              <a:sysClr val="windowText" lastClr="000000"/>
            </a:solidFill>
            <a:latin typeface="Calibri"/>
            <a:ea typeface="+mn-ea"/>
            <a:cs typeface="+mn-cs"/>
          </a:endParaRPr>
        </a:p>
      </dsp:txBody>
      <dsp:txXfrm>
        <a:off x="707891" y="844455"/>
        <a:ext cx="7116818" cy="421995"/>
      </dsp:txXfrm>
    </dsp:sp>
    <dsp:sp modelId="{3803CB00-50DE-4F50-961A-C7BFA56BA28A}">
      <dsp:nvSpPr>
        <dsp:cNvPr id="0" name=""/>
        <dsp:cNvSpPr/>
      </dsp:nvSpPr>
      <dsp:spPr>
        <a:xfrm>
          <a:off x="444144" y="79170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A5A5A5">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 modelId="{97BB894D-31E6-4E8C-B84E-BDD469187349}">
      <dsp:nvSpPr>
        <dsp:cNvPr id="0" name=""/>
        <dsp:cNvSpPr/>
      </dsp:nvSpPr>
      <dsp:spPr>
        <a:xfrm>
          <a:off x="917310" y="1477355"/>
          <a:ext cx="6907399" cy="421995"/>
        </a:xfrm>
        <a:prstGeom prst="rect">
          <a:avLst/>
        </a:prstGeom>
        <a:gradFill rotWithShape="0">
          <a:gsLst>
            <a:gs pos="0">
              <a:srgbClr val="FFC000">
                <a:hueOff val="0"/>
                <a:satOff val="0"/>
                <a:lumOff val="0"/>
                <a:alphaOff val="0"/>
                <a:lumMod val="110000"/>
                <a:satMod val="105000"/>
                <a:tint val="67000"/>
              </a:srgbClr>
            </a:gs>
            <a:gs pos="50000">
              <a:srgbClr val="FFC000">
                <a:hueOff val="0"/>
                <a:satOff val="0"/>
                <a:lumOff val="0"/>
                <a:alphaOff val="0"/>
                <a:lumMod val="105000"/>
                <a:satMod val="103000"/>
                <a:tint val="73000"/>
              </a:srgbClr>
            </a:gs>
            <a:gs pos="100000">
              <a:srgbClr val="FFC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b="0" kern="1200" dirty="0">
              <a:solidFill>
                <a:sysClr val="windowText" lastClr="000000"/>
              </a:solidFill>
              <a:latin typeface="Calibri"/>
              <a:ea typeface="+mn-ea"/>
              <a:cs typeface="+mn-cs"/>
            </a:rPr>
            <a:t>3. </a:t>
          </a:r>
          <a:r>
            <a:rPr lang="en-GB" sz="2200" b="0" kern="1200" dirty="0">
              <a:solidFill>
                <a:sysClr val="windowText" lastClr="000000"/>
              </a:solidFill>
              <a:latin typeface="Calibri"/>
              <a:ea typeface="+mn-ea"/>
              <a:cs typeface="+mn-cs"/>
            </a:rPr>
            <a:t>Bayesian Classification</a:t>
          </a:r>
          <a:endParaRPr lang="id-ID" sz="2200" b="0" kern="1200" dirty="0">
            <a:solidFill>
              <a:sysClr val="windowText" lastClr="000000"/>
            </a:solidFill>
            <a:latin typeface="Calibri"/>
            <a:ea typeface="+mn-ea"/>
            <a:cs typeface="+mn-cs"/>
          </a:endParaRPr>
        </a:p>
      </dsp:txBody>
      <dsp:txXfrm>
        <a:off x="917310" y="1477355"/>
        <a:ext cx="6907399" cy="421995"/>
      </dsp:txXfrm>
    </dsp:sp>
    <dsp:sp modelId="{DAF29A68-601F-41D8-9BE6-F47E2F0D4663}">
      <dsp:nvSpPr>
        <dsp:cNvPr id="0" name=""/>
        <dsp:cNvSpPr/>
      </dsp:nvSpPr>
      <dsp:spPr>
        <a:xfrm>
          <a:off x="653563" y="142460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FFC000">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 modelId="{3AA0A578-AD74-440B-8023-1E85DA9E5712}">
      <dsp:nvSpPr>
        <dsp:cNvPr id="0" name=""/>
        <dsp:cNvSpPr/>
      </dsp:nvSpPr>
      <dsp:spPr>
        <a:xfrm>
          <a:off x="984176" y="2110720"/>
          <a:ext cx="6840533" cy="421995"/>
        </a:xfrm>
        <a:prstGeom prst="rect">
          <a:avLst/>
        </a:prstGeom>
        <a:gradFill rotWithShape="0">
          <a:gsLst>
            <a:gs pos="0">
              <a:srgbClr val="FFC000">
                <a:hueOff val="0"/>
                <a:satOff val="0"/>
                <a:lumOff val="0"/>
                <a:alphaOff val="0"/>
                <a:lumMod val="110000"/>
                <a:satMod val="105000"/>
                <a:tint val="67000"/>
              </a:srgbClr>
            </a:gs>
            <a:gs pos="50000">
              <a:srgbClr val="FFC000">
                <a:hueOff val="0"/>
                <a:satOff val="0"/>
                <a:lumOff val="0"/>
                <a:alphaOff val="0"/>
                <a:lumMod val="105000"/>
                <a:satMod val="103000"/>
                <a:tint val="73000"/>
              </a:srgbClr>
            </a:gs>
            <a:gs pos="100000">
              <a:srgbClr val="FFC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b="0" kern="1200" dirty="0">
              <a:solidFill>
                <a:sysClr val="windowText" lastClr="000000"/>
              </a:solidFill>
              <a:latin typeface="Calibri"/>
              <a:ea typeface="+mn-ea"/>
              <a:cs typeface="+mn-cs"/>
            </a:rPr>
            <a:t>4. K-Nearest </a:t>
          </a:r>
          <a:r>
            <a:rPr lang="en-US" sz="2200" b="0" kern="1200" dirty="0" err="1">
              <a:solidFill>
                <a:sysClr val="windowText" lastClr="000000"/>
              </a:solidFill>
              <a:latin typeface="Calibri"/>
              <a:ea typeface="+mn-ea"/>
              <a:cs typeface="+mn-cs"/>
            </a:rPr>
            <a:t>Neighbourhood</a:t>
          </a:r>
          <a:endParaRPr lang="id-ID" sz="2200" b="0" kern="1200" dirty="0">
            <a:solidFill>
              <a:sysClr val="windowText" lastClr="000000"/>
            </a:solidFill>
            <a:latin typeface="Calibri"/>
            <a:ea typeface="+mn-ea"/>
            <a:cs typeface="+mn-cs"/>
          </a:endParaRPr>
        </a:p>
      </dsp:txBody>
      <dsp:txXfrm>
        <a:off x="984176" y="2110720"/>
        <a:ext cx="6840533" cy="421995"/>
      </dsp:txXfrm>
    </dsp:sp>
    <dsp:sp modelId="{8B211F4F-E87D-4B09-AADB-8021AC2D6F97}">
      <dsp:nvSpPr>
        <dsp:cNvPr id="0" name=""/>
        <dsp:cNvSpPr/>
      </dsp:nvSpPr>
      <dsp:spPr>
        <a:xfrm>
          <a:off x="720429" y="2057971"/>
          <a:ext cx="527494" cy="527494"/>
        </a:xfrm>
        <a:prstGeom prst="ellipse">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5">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0510381E-38E8-4CAC-96FE-D4FA618FBDF1}">
      <dsp:nvSpPr>
        <dsp:cNvPr id="0" name=""/>
        <dsp:cNvSpPr/>
      </dsp:nvSpPr>
      <dsp:spPr>
        <a:xfrm>
          <a:off x="917310" y="2744085"/>
          <a:ext cx="6907399" cy="421995"/>
        </a:xfrm>
        <a:prstGeom prst="rect">
          <a:avLst/>
        </a:prstGeom>
        <a:gradFill rotWithShape="0">
          <a:gsLst>
            <a:gs pos="0">
              <a:srgbClr val="4472C4">
                <a:hueOff val="0"/>
                <a:satOff val="0"/>
                <a:lumOff val="0"/>
                <a:alphaOff val="0"/>
                <a:lumMod val="110000"/>
                <a:satMod val="105000"/>
                <a:tint val="67000"/>
              </a:srgbClr>
            </a:gs>
            <a:gs pos="50000">
              <a:srgbClr val="4472C4">
                <a:hueOff val="0"/>
                <a:satOff val="0"/>
                <a:lumOff val="0"/>
                <a:alphaOff val="0"/>
                <a:lumMod val="105000"/>
                <a:satMod val="103000"/>
                <a:tint val="73000"/>
              </a:srgbClr>
            </a:gs>
            <a:gs pos="100000">
              <a:srgbClr val="4472C4">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kern="1200" dirty="0">
              <a:solidFill>
                <a:sysClr val="windowText" lastClr="000000"/>
              </a:solidFill>
              <a:latin typeface="Calibri"/>
              <a:ea typeface="+mn-ea"/>
              <a:cs typeface="+mn-cs"/>
            </a:rPr>
            <a:t>5. </a:t>
          </a:r>
          <a:r>
            <a:rPr lang="en-GB" sz="2200" kern="1200" dirty="0">
              <a:solidFill>
                <a:sysClr val="windowText" lastClr="000000"/>
              </a:solidFill>
              <a:latin typeface="Calibri"/>
              <a:ea typeface="+mn-ea"/>
              <a:cs typeface="+mn-cs"/>
            </a:rPr>
            <a:t>Using IF-THEN Rules</a:t>
          </a:r>
          <a:endParaRPr lang="id-ID" sz="2200" kern="1200" dirty="0">
            <a:solidFill>
              <a:sysClr val="windowText" lastClr="000000"/>
            </a:solidFill>
            <a:latin typeface="Calibri"/>
            <a:ea typeface="+mn-ea"/>
            <a:cs typeface="+mn-cs"/>
          </a:endParaRPr>
        </a:p>
      </dsp:txBody>
      <dsp:txXfrm>
        <a:off x="917310" y="2744085"/>
        <a:ext cx="6907399" cy="421995"/>
      </dsp:txXfrm>
    </dsp:sp>
    <dsp:sp modelId="{C8E599DD-1504-404D-A589-37389B6FD185}">
      <dsp:nvSpPr>
        <dsp:cNvPr id="0" name=""/>
        <dsp:cNvSpPr/>
      </dsp:nvSpPr>
      <dsp:spPr>
        <a:xfrm>
          <a:off x="653563" y="269133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4472C4">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 modelId="{A2F8731C-9F2E-489B-9C99-11A319A0135B}">
      <dsp:nvSpPr>
        <dsp:cNvPr id="0" name=""/>
        <dsp:cNvSpPr/>
      </dsp:nvSpPr>
      <dsp:spPr>
        <a:xfrm>
          <a:off x="707891" y="3376985"/>
          <a:ext cx="7116818" cy="421995"/>
        </a:xfrm>
        <a:prstGeom prst="rect">
          <a:avLst/>
        </a:prstGeom>
        <a:gradFill rotWithShape="0">
          <a:gsLst>
            <a:gs pos="0">
              <a:srgbClr val="70AD47">
                <a:hueOff val="0"/>
                <a:satOff val="0"/>
                <a:lumOff val="0"/>
                <a:alphaOff val="0"/>
                <a:lumMod val="110000"/>
                <a:satMod val="105000"/>
                <a:tint val="67000"/>
              </a:srgbClr>
            </a:gs>
            <a:gs pos="50000">
              <a:srgbClr val="70AD47">
                <a:hueOff val="0"/>
                <a:satOff val="0"/>
                <a:lumOff val="0"/>
                <a:alphaOff val="0"/>
                <a:lumMod val="105000"/>
                <a:satMod val="103000"/>
                <a:tint val="73000"/>
              </a:srgbClr>
            </a:gs>
            <a:gs pos="100000">
              <a:srgbClr val="70AD47">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kern="1200" dirty="0">
              <a:solidFill>
                <a:sysClr val="windowText" lastClr="000000"/>
              </a:solidFill>
              <a:latin typeface="Calibri"/>
              <a:ea typeface="+mn-ea"/>
              <a:cs typeface="+mn-cs"/>
            </a:rPr>
            <a:t>6. </a:t>
          </a:r>
          <a:r>
            <a:rPr lang="en-GB" sz="2200" kern="1200" dirty="0">
              <a:solidFill>
                <a:sysClr val="windowText" lastClr="000000"/>
              </a:solidFill>
              <a:latin typeface="Calibri"/>
              <a:ea typeface="+mn-ea"/>
              <a:cs typeface="+mn-cs"/>
            </a:rPr>
            <a:t>Prediction</a:t>
          </a:r>
          <a:endParaRPr lang="id-ID" sz="2200" kern="1200" dirty="0">
            <a:solidFill>
              <a:sysClr val="windowText" lastClr="000000"/>
            </a:solidFill>
            <a:latin typeface="Calibri"/>
            <a:ea typeface="+mn-ea"/>
            <a:cs typeface="+mn-cs"/>
          </a:endParaRPr>
        </a:p>
      </dsp:txBody>
      <dsp:txXfrm>
        <a:off x="707891" y="3376985"/>
        <a:ext cx="7116818" cy="421995"/>
      </dsp:txXfrm>
    </dsp:sp>
    <dsp:sp modelId="{CC3223EB-5DCC-4E6D-9498-D37F3E191DD1}">
      <dsp:nvSpPr>
        <dsp:cNvPr id="0" name=""/>
        <dsp:cNvSpPr/>
      </dsp:nvSpPr>
      <dsp:spPr>
        <a:xfrm>
          <a:off x="444144" y="3324236"/>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70AD47">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 modelId="{44F919DE-973E-4B79-AEEF-312C4163EF9C}">
      <dsp:nvSpPr>
        <dsp:cNvPr id="0" name=""/>
        <dsp:cNvSpPr/>
      </dsp:nvSpPr>
      <dsp:spPr>
        <a:xfrm>
          <a:off x="325737" y="4010350"/>
          <a:ext cx="7498973" cy="421995"/>
        </a:xfrm>
        <a:prstGeom prst="rect">
          <a:avLst/>
        </a:prstGeom>
        <a:gradFill rotWithShape="0">
          <a:gsLst>
            <a:gs pos="0">
              <a:srgbClr val="ED7D31">
                <a:hueOff val="0"/>
                <a:satOff val="0"/>
                <a:lumOff val="0"/>
                <a:alphaOff val="0"/>
                <a:lumMod val="110000"/>
                <a:satMod val="105000"/>
                <a:tint val="67000"/>
              </a:srgbClr>
            </a:gs>
            <a:gs pos="50000">
              <a:srgbClr val="ED7D31">
                <a:hueOff val="0"/>
                <a:satOff val="0"/>
                <a:lumOff val="0"/>
                <a:alphaOff val="0"/>
                <a:lumMod val="105000"/>
                <a:satMod val="103000"/>
                <a:tint val="73000"/>
              </a:srgbClr>
            </a:gs>
            <a:gs pos="100000">
              <a:srgbClr val="ED7D31">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4959" tIns="55880" rIns="55880" bIns="55880" numCol="1" spcCol="1270" anchor="ctr" anchorCtr="0">
          <a:noAutofit/>
        </a:bodyPr>
        <a:lstStyle/>
        <a:p>
          <a:pPr lvl="0" algn="l" defTabSz="977900">
            <a:lnSpc>
              <a:spcPct val="90000"/>
            </a:lnSpc>
            <a:spcBef>
              <a:spcPct val="0"/>
            </a:spcBef>
            <a:spcAft>
              <a:spcPct val="35000"/>
            </a:spcAft>
          </a:pPr>
          <a:r>
            <a:rPr lang="en-US" sz="2200" kern="1200">
              <a:solidFill>
                <a:sysClr val="windowText" lastClr="000000"/>
              </a:solidFill>
              <a:latin typeface="Calibri"/>
              <a:ea typeface="+mn-ea"/>
              <a:cs typeface="+mn-cs"/>
            </a:rPr>
            <a:t>7. </a:t>
          </a:r>
          <a:r>
            <a:rPr lang="en-GB" sz="2200" kern="1200" dirty="0">
              <a:solidFill>
                <a:sysClr val="windowText" lastClr="000000"/>
              </a:solidFill>
              <a:latin typeface="Calibri"/>
              <a:ea typeface="+mn-ea"/>
              <a:cs typeface="+mn-cs"/>
            </a:rPr>
            <a:t>Classifier Accuracy</a:t>
          </a:r>
          <a:endParaRPr lang="id-ID" sz="2200" kern="1200" dirty="0">
            <a:solidFill>
              <a:sysClr val="windowText" lastClr="000000"/>
            </a:solidFill>
            <a:latin typeface="Calibri"/>
            <a:ea typeface="+mn-ea"/>
            <a:cs typeface="+mn-cs"/>
          </a:endParaRPr>
        </a:p>
      </dsp:txBody>
      <dsp:txXfrm>
        <a:off x="325737" y="4010350"/>
        <a:ext cx="7498973" cy="421995"/>
      </dsp:txXfrm>
    </dsp:sp>
    <dsp:sp modelId="{4B9615BF-778D-4E5C-81F1-EE6E716652B6}">
      <dsp:nvSpPr>
        <dsp:cNvPr id="0" name=""/>
        <dsp:cNvSpPr/>
      </dsp:nvSpPr>
      <dsp:spPr>
        <a:xfrm>
          <a:off x="61989" y="3957601"/>
          <a:ext cx="527494" cy="527494"/>
        </a:xfrm>
        <a:prstGeom prst="ellipse">
          <a:avLst/>
        </a:prstGeom>
        <a:gradFill rotWithShape="0">
          <a:gsLst>
            <a:gs pos="0">
              <a:sysClr val="window" lastClr="FFFFFF">
                <a:hueOff val="0"/>
                <a:satOff val="0"/>
                <a:lumOff val="0"/>
                <a:alphaOff val="0"/>
                <a:lumMod val="110000"/>
                <a:satMod val="105000"/>
                <a:tint val="67000"/>
              </a:sysClr>
            </a:gs>
            <a:gs pos="50000">
              <a:sysClr val="window" lastClr="FFFFFF">
                <a:hueOff val="0"/>
                <a:satOff val="0"/>
                <a:lumOff val="0"/>
                <a:alphaOff val="0"/>
                <a:lumMod val="105000"/>
                <a:satMod val="103000"/>
                <a:tint val="73000"/>
              </a:sysClr>
            </a:gs>
            <a:gs pos="100000">
              <a:sysClr val="window" lastClr="FFFFFF">
                <a:hueOff val="0"/>
                <a:satOff val="0"/>
                <a:lumOff val="0"/>
                <a:alphaOff val="0"/>
                <a:lumMod val="105000"/>
                <a:satMod val="109000"/>
                <a:tint val="81000"/>
              </a:sysClr>
            </a:gs>
          </a:gsLst>
          <a:lin ang="5400000" scaled="0"/>
        </a:gradFill>
        <a:ln w="6350" cap="flat" cmpd="sng" algn="ctr">
          <a:solidFill>
            <a:srgbClr val="ED7D31">
              <a:hueOff val="0"/>
              <a:satOff val="0"/>
              <a:lumOff val="0"/>
              <a:alphaOff val="0"/>
            </a:srgb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emf"/><Relationship Id="rId6" Type="http://schemas.openxmlformats.org/officeDocument/2006/relationships/image" Target="../media/image31.wmf"/><Relationship Id="rId5" Type="http://schemas.openxmlformats.org/officeDocument/2006/relationships/image" Target="../media/image30.emf"/><Relationship Id="rId4"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67587"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6758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67589"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7590"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67591"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69B556C9-C570-4C97-BFA5-E6F260753867}" type="slidenum">
              <a:rPr lang="en-US"/>
              <a:pPr/>
              <a:t>‹#›</a:t>
            </a:fld>
            <a:endParaRPr lang="en-US"/>
          </a:p>
        </p:txBody>
      </p:sp>
    </p:spTree>
    <p:extLst>
      <p:ext uri="{BB962C8B-B14F-4D97-AF65-F5344CB8AC3E}">
        <p14:creationId xmlns:p14="http://schemas.microsoft.com/office/powerpoint/2010/main" val="44755564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9F7C7C13-64E4-4502-B32D-4BE18B97B81F}" type="slidenum">
              <a:rPr lang="en-US"/>
              <a:pPr/>
              <a:t>4</a:t>
            </a:fld>
            <a:endParaRPr lang="en-US"/>
          </a:p>
        </p:txBody>
      </p:sp>
      <p:sp>
        <p:nvSpPr>
          <p:cNvPr id="136195"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6196"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1778238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9F7C7C13-64E4-4502-B32D-4BE18B97B81F}" type="slidenum">
              <a:rPr lang="en-US"/>
              <a:pPr/>
              <a:t>5</a:t>
            </a:fld>
            <a:endParaRPr lang="en-US"/>
          </a:p>
        </p:txBody>
      </p:sp>
      <p:sp>
        <p:nvSpPr>
          <p:cNvPr id="136195"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6196"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3223130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9F7C7C13-64E4-4502-B32D-4BE18B97B81F}" type="slidenum">
              <a:rPr lang="en-US"/>
              <a:pPr/>
              <a:t>6</a:t>
            </a:fld>
            <a:endParaRPr lang="en-US"/>
          </a:p>
        </p:txBody>
      </p:sp>
      <p:sp>
        <p:nvSpPr>
          <p:cNvPr id="136195"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6196"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3778149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016E47A2-6D25-448B-BBFB-CA6CB918621B}" type="slidenum">
              <a:rPr lang="en-US"/>
              <a:pPr/>
              <a:t>11</a:t>
            </a:fld>
            <a:endParaRPr lang="en-US"/>
          </a:p>
        </p:txBody>
      </p:sp>
      <p:sp>
        <p:nvSpPr>
          <p:cNvPr id="137219"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7220"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414044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CCB554A0-A03F-40A0-9101-7086AE37F357}" type="slidenum">
              <a:rPr lang="en-US"/>
              <a:pPr/>
              <a:t>13</a:t>
            </a:fld>
            <a:endParaRPr lang="en-US"/>
          </a:p>
        </p:txBody>
      </p:sp>
      <p:sp>
        <p:nvSpPr>
          <p:cNvPr id="138243"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8244"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1881636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E68047E5-782C-45F7-A19B-927971FD6219}" type="slidenum">
              <a:rPr lang="en-US"/>
              <a:pPr/>
              <a:t>14</a:t>
            </a:fld>
            <a:endParaRPr lang="en-US"/>
          </a:p>
        </p:txBody>
      </p:sp>
      <p:sp>
        <p:nvSpPr>
          <p:cNvPr id="139267" name="Rectangle 2"/>
          <p:cNvSpPr>
            <a:spLocks noGrp="1" noRot="1" noChangeAspect="1" noChangeArrowheads="1" noTextEdit="1"/>
          </p:cNvSpPr>
          <p:nvPr>
            <p:ph type="sldImg"/>
          </p:nvPr>
        </p:nvSpPr>
        <p:spPr>
          <a:xfrm>
            <a:off x="1268413" y="727075"/>
            <a:ext cx="4783137" cy="3586163"/>
          </a:xfrm>
          <a:ln w="12700" cap="flat">
            <a:solidFill>
              <a:schemeClr val="tx1"/>
            </a:solidFill>
          </a:ln>
        </p:spPr>
      </p:sp>
      <p:sp>
        <p:nvSpPr>
          <p:cNvPr id="139268" name="Rectangle 3"/>
          <p:cNvSpPr>
            <a:spLocks noGrp="1" noChangeArrowheads="1"/>
          </p:cNvSpPr>
          <p:nvPr>
            <p:ph type="body" idx="1"/>
          </p:nvPr>
        </p:nvSpPr>
        <p:spPr>
          <a:xfrm>
            <a:off x="975360" y="4561227"/>
            <a:ext cx="5364480" cy="4321851"/>
          </a:xfrm>
          <a:noFill/>
          <a:ln/>
        </p:spPr>
        <p:txBody>
          <a:bodyPr lIns="92336" tIns="46167" rIns="92336" bIns="46167"/>
          <a:lstStyle/>
          <a:p>
            <a:endParaRPr lang="en-US"/>
          </a:p>
        </p:txBody>
      </p:sp>
    </p:spTree>
    <p:extLst>
      <p:ext uri="{BB962C8B-B14F-4D97-AF65-F5344CB8AC3E}">
        <p14:creationId xmlns:p14="http://schemas.microsoft.com/office/powerpoint/2010/main" val="1018955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72E96FBE-4B1F-4182-A9AC-FBB9735A5552}" type="slidenum">
              <a:rPr lang="en-US"/>
              <a:pPr/>
              <a:t>18</a:t>
            </a:fld>
            <a:endParaRPr 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r>
              <a:rPr lang="en-US" dirty="0"/>
              <a:t>I : the expected information needed to classify a given sample</a:t>
            </a:r>
          </a:p>
          <a:p>
            <a:r>
              <a:rPr lang="en-US" dirty="0"/>
              <a:t>E (entropy) : expected information based on the partitioning into subsets by A</a:t>
            </a:r>
          </a:p>
          <a:p>
            <a:r>
              <a:rPr lang="en-US" dirty="0"/>
              <a:t> </a:t>
            </a:r>
          </a:p>
        </p:txBody>
      </p:sp>
    </p:spTree>
    <p:extLst>
      <p:ext uri="{BB962C8B-B14F-4D97-AF65-F5344CB8AC3E}">
        <p14:creationId xmlns:p14="http://schemas.microsoft.com/office/powerpoint/2010/main" val="2999256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4/22/2025 11:33 AM</a:t>
            </a:fld>
            <a:endParaRPr lang="en-US"/>
          </a:p>
        </p:txBody>
      </p:sp>
      <p:sp>
        <p:nvSpPr>
          <p:cNvPr id="6" name="Footer Placeholder 5"/>
          <p:cNvSpPr>
            <a:spLocks noGrp="1"/>
          </p:cNvSpPr>
          <p:nvPr>
            <p:ph type="ftr" sz="quarter" idx="12"/>
          </p:nvPr>
        </p:nvSpPr>
        <p:spPr/>
        <p:txBody>
          <a:bodyPr/>
          <a:lstStyle/>
          <a:p>
            <a:r>
              <a:rPr lang="en-US">
                <a:solidFill>
                  <a:srgbClr val="000000"/>
                </a:solidFill>
              </a:rPr>
              <a:t>© 2007 Microsoft Corporation. All rights reserved. Microsoft, Windows, Windows Vista and other product names are or may be registered trademarks and/or trademarks in the U.S. and/or other countries.</a:t>
            </a:r>
          </a:p>
          <a:p>
            <a:r>
              <a:rPr lang="en-US">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rPr>
            </a:br>
            <a:r>
              <a:rPr lang="en-US">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20</a:t>
            </a:fld>
            <a:endParaRPr lang="en-US" dirty="0"/>
          </a:p>
        </p:txBody>
      </p:sp>
    </p:spTree>
    <p:extLst>
      <p:ext uri="{BB962C8B-B14F-4D97-AF65-F5344CB8AC3E}">
        <p14:creationId xmlns:p14="http://schemas.microsoft.com/office/powerpoint/2010/main" val="3577381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4/22/2025 11:33 AM</a:t>
            </a:fld>
            <a:endParaRPr lang="en-US"/>
          </a:p>
        </p:txBody>
      </p:sp>
      <p:sp>
        <p:nvSpPr>
          <p:cNvPr id="6" name="Footer Placeholder 5"/>
          <p:cNvSpPr>
            <a:spLocks noGrp="1"/>
          </p:cNvSpPr>
          <p:nvPr>
            <p:ph type="ftr" sz="quarter" idx="12"/>
          </p:nvPr>
        </p:nvSpPr>
        <p:spPr/>
        <p:txBody>
          <a:bodyPr/>
          <a:lstStyle/>
          <a:p>
            <a:r>
              <a:rPr lang="en-US">
                <a:solidFill>
                  <a:srgbClr val="000000"/>
                </a:solidFill>
              </a:rPr>
              <a:t>© 2007 Microsoft Corporation. All rights reserved. Microsoft, Windows, Windows Vista and other product names are or may be registered trademarks and/or trademarks in the U.S. and/or other countries.</a:t>
            </a:r>
          </a:p>
          <a:p>
            <a:r>
              <a:rPr lang="en-US">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rPr>
            </a:br>
            <a:r>
              <a:rPr lang="en-US">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21</a:t>
            </a:fld>
            <a:endParaRPr lang="en-US" dirty="0"/>
          </a:p>
        </p:txBody>
      </p:sp>
    </p:spTree>
    <p:extLst>
      <p:ext uri="{BB962C8B-B14F-4D97-AF65-F5344CB8AC3E}">
        <p14:creationId xmlns:p14="http://schemas.microsoft.com/office/powerpoint/2010/main" val="4133354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4/22/2025 11:33 AM</a:t>
            </a:fld>
            <a:endParaRPr lang="en-US"/>
          </a:p>
        </p:txBody>
      </p:sp>
      <p:sp>
        <p:nvSpPr>
          <p:cNvPr id="6" name="Footer Placeholder 5"/>
          <p:cNvSpPr>
            <a:spLocks noGrp="1"/>
          </p:cNvSpPr>
          <p:nvPr>
            <p:ph type="ftr" sz="quarter" idx="12"/>
          </p:nvPr>
        </p:nvSpPr>
        <p:spPr/>
        <p:txBody>
          <a:bodyPr/>
          <a:lstStyle/>
          <a:p>
            <a:r>
              <a:rPr lang="en-US">
                <a:solidFill>
                  <a:srgbClr val="000000"/>
                </a:solidFill>
              </a:rPr>
              <a:t>© 2007 Microsoft Corporation. All rights reserved. Microsoft, Windows, Windows Vista and other product names are or may be registered trademarks and/or trademarks in the U.S. and/or other countries.</a:t>
            </a:r>
          </a:p>
          <a:p>
            <a:r>
              <a:rPr lang="en-US">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rPr>
            </a:br>
            <a:r>
              <a:rPr lang="en-US">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22</a:t>
            </a:fld>
            <a:endParaRPr lang="en-US" dirty="0"/>
          </a:p>
        </p:txBody>
      </p:sp>
    </p:spTree>
    <p:extLst>
      <p:ext uri="{BB962C8B-B14F-4D97-AF65-F5344CB8AC3E}">
        <p14:creationId xmlns:p14="http://schemas.microsoft.com/office/powerpoint/2010/main" val="3433410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4/22/2025 11:33 AM</a:t>
            </a:fld>
            <a:endParaRPr lang="en-US"/>
          </a:p>
        </p:txBody>
      </p:sp>
      <p:sp>
        <p:nvSpPr>
          <p:cNvPr id="6" name="Footer Placeholder 5"/>
          <p:cNvSpPr>
            <a:spLocks noGrp="1"/>
          </p:cNvSpPr>
          <p:nvPr>
            <p:ph type="ftr" sz="quarter" idx="12"/>
          </p:nvPr>
        </p:nvSpPr>
        <p:spPr/>
        <p:txBody>
          <a:bodyPr/>
          <a:lstStyle/>
          <a:p>
            <a:r>
              <a:rPr lang="en-US">
                <a:solidFill>
                  <a:srgbClr val="000000"/>
                </a:solidFill>
              </a:rPr>
              <a:t>© 2007 Microsoft Corporation. All rights reserved. Microsoft, Windows, Windows Vista and other product names are or may be registered trademarks and/or trademarks in the U.S. and/or other countries.</a:t>
            </a:r>
          </a:p>
          <a:p>
            <a:r>
              <a:rPr lang="en-US">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rPr>
            </a:br>
            <a:r>
              <a:rPr lang="en-US">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23</a:t>
            </a:fld>
            <a:endParaRPr lang="en-US" dirty="0"/>
          </a:p>
        </p:txBody>
      </p:sp>
    </p:spTree>
    <p:extLst>
      <p:ext uri="{BB962C8B-B14F-4D97-AF65-F5344CB8AC3E}">
        <p14:creationId xmlns:p14="http://schemas.microsoft.com/office/powerpoint/2010/main" val="2164283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4/22/2025 11:33 AM</a:t>
            </a:fld>
            <a:endParaRPr lang="en-US"/>
          </a:p>
        </p:txBody>
      </p:sp>
      <p:sp>
        <p:nvSpPr>
          <p:cNvPr id="6" name="Footer Placeholder 5"/>
          <p:cNvSpPr>
            <a:spLocks noGrp="1"/>
          </p:cNvSpPr>
          <p:nvPr>
            <p:ph type="ftr" sz="quarter" idx="12"/>
          </p:nvPr>
        </p:nvSpPr>
        <p:spPr/>
        <p:txBody>
          <a:bodyPr/>
          <a:lstStyle/>
          <a:p>
            <a:r>
              <a:rPr lang="en-US">
                <a:solidFill>
                  <a:srgbClr val="000000"/>
                </a:solidFill>
              </a:rPr>
              <a:t>© 2007 Microsoft Corporation. All rights reserved. Microsoft, Windows, Windows Vista and other product names are or may be registered trademarks and/or trademarks in the U.S. and/or other countries.</a:t>
            </a:r>
          </a:p>
          <a:p>
            <a:r>
              <a:rPr lang="en-US">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rPr>
            </a:br>
            <a:r>
              <a:rPr lang="en-US">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24</a:t>
            </a:fld>
            <a:endParaRPr lang="en-US" dirty="0"/>
          </a:p>
        </p:txBody>
      </p:sp>
    </p:spTree>
    <p:extLst>
      <p:ext uri="{BB962C8B-B14F-4D97-AF65-F5344CB8AC3E}">
        <p14:creationId xmlns:p14="http://schemas.microsoft.com/office/powerpoint/2010/main" val="128339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mn-ea"/>
                <a:cs typeface="+mn-cs"/>
              </a:rPr>
              <a:t>P(H) : Prior probability of hypothesis H</a:t>
            </a:r>
          </a:p>
          <a:p>
            <a:r>
              <a:rPr lang="en-US" sz="1200" kern="1200" baseline="0" dirty="0">
                <a:solidFill>
                  <a:schemeClr val="tx1"/>
                </a:solidFill>
                <a:latin typeface="Arial" charset="0"/>
                <a:ea typeface="+mn-ea"/>
                <a:cs typeface="+mn-cs"/>
              </a:rPr>
              <a:t>P(X) : Prior probability of training data X</a:t>
            </a:r>
          </a:p>
          <a:p>
            <a:r>
              <a:rPr lang="en-US" sz="1200" kern="1200" baseline="0" dirty="0">
                <a:solidFill>
                  <a:schemeClr val="tx1"/>
                </a:solidFill>
                <a:latin typeface="Arial" charset="0"/>
                <a:ea typeface="+mn-ea"/>
                <a:cs typeface="+mn-cs"/>
              </a:rPr>
              <a:t>P(H/X) : Probability of H given X</a:t>
            </a:r>
          </a:p>
          <a:p>
            <a:r>
              <a:rPr lang="en-US" sz="1200" kern="1200" baseline="0" dirty="0">
                <a:solidFill>
                  <a:schemeClr val="tx1"/>
                </a:solidFill>
                <a:latin typeface="Arial" charset="0"/>
                <a:ea typeface="+mn-ea"/>
                <a:cs typeface="+mn-cs"/>
              </a:rPr>
              <a:t>P(X/H) : Probability </a:t>
            </a:r>
            <a:r>
              <a:rPr lang="en-US" sz="1200" kern="1200" baseline="0">
                <a:solidFill>
                  <a:schemeClr val="tx1"/>
                </a:solidFill>
                <a:latin typeface="Arial" charset="0"/>
                <a:ea typeface="+mn-ea"/>
                <a:cs typeface="+mn-cs"/>
              </a:rPr>
              <a:t>of X given H</a:t>
            </a:r>
            <a:endParaRPr lang="en-US" dirty="0"/>
          </a:p>
        </p:txBody>
      </p:sp>
      <p:sp>
        <p:nvSpPr>
          <p:cNvPr id="4" name="Slide Number Placeholder 3"/>
          <p:cNvSpPr>
            <a:spLocks noGrp="1"/>
          </p:cNvSpPr>
          <p:nvPr>
            <p:ph type="sldNum" sz="quarter" idx="10"/>
          </p:nvPr>
        </p:nvSpPr>
        <p:spPr/>
        <p:txBody>
          <a:bodyPr/>
          <a:lstStyle/>
          <a:p>
            <a:fld id="{69B556C9-C570-4C97-BFA5-E6F260753867}" type="slidenum">
              <a:rPr lang="en-US" smtClean="0"/>
              <a:pPr/>
              <a:t>30</a:t>
            </a:fld>
            <a:endParaRPr lang="en-US"/>
          </a:p>
        </p:txBody>
      </p:sp>
    </p:spTree>
    <p:extLst>
      <p:ext uri="{BB962C8B-B14F-4D97-AF65-F5344CB8AC3E}">
        <p14:creationId xmlns:p14="http://schemas.microsoft.com/office/powerpoint/2010/main" val="2026857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AD344D52-71CD-4A63-93D6-51BE77AD8B5F}" type="slidenum">
              <a:rPr lang="en-US"/>
              <a:pPr/>
              <a:t>41</a:t>
            </a:fld>
            <a:endParaRPr lang="en-US"/>
          </a:p>
        </p:txBody>
      </p:sp>
    </p:spTree>
    <p:extLst>
      <p:ext uri="{BB962C8B-B14F-4D97-AF65-F5344CB8AC3E}">
        <p14:creationId xmlns:p14="http://schemas.microsoft.com/office/powerpoint/2010/main" val="19741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Abs(Y-</a:t>
            </a:r>
            <a:r>
              <a:rPr lang="en-US" dirty="0" err="1"/>
              <a:t>Yp</a:t>
            </a:r>
            <a:r>
              <a:rPr lang="en-US" dirty="0"/>
              <a:t>) = abs(30-34.1</a:t>
            </a:r>
            <a:r>
              <a:rPr lang="en-US" baseline="0" dirty="0"/>
              <a:t>) = 4.1</a:t>
            </a:r>
          </a:p>
          <a:p>
            <a:endParaRPr lang="en-US" baseline="0" dirty="0"/>
          </a:p>
          <a:p>
            <a:r>
              <a:rPr lang="en-US" baseline="0" dirty="0" err="1"/>
              <a:t>Sqr</a:t>
            </a:r>
            <a:r>
              <a:rPr lang="en-US" baseline="0" dirty="0"/>
              <a:t>(Y-</a:t>
            </a:r>
            <a:r>
              <a:rPr lang="en-US" baseline="0" dirty="0" err="1"/>
              <a:t>Yp</a:t>
            </a:r>
            <a:r>
              <a:rPr lang="en-US" baseline="0"/>
              <a:t>) = (30-34.1)*(30-34.1) = (-4.1)(-4.1) = 16.81</a:t>
            </a: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DC22B723-4480-414C-A3F8-C429B0226413}" type="slidenum">
              <a:rPr lang="en-US" smtClean="0"/>
              <a:pPr/>
              <a:t>43</a:t>
            </a:fld>
            <a:endParaRPr lang="en-US"/>
          </a:p>
        </p:txBody>
      </p:sp>
    </p:spTree>
    <p:extLst>
      <p:ext uri="{BB962C8B-B14F-4D97-AF65-F5344CB8AC3E}">
        <p14:creationId xmlns:p14="http://schemas.microsoft.com/office/powerpoint/2010/main" val="41656377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89" name="Freeform 17"/>
          <p:cNvSpPr>
            <a:spLocks/>
          </p:cNvSpPr>
          <p:nvPr/>
        </p:nvSpPr>
        <p:spPr bwMode="gray">
          <a:xfrm>
            <a:off x="-9525" y="1447800"/>
            <a:ext cx="9164638" cy="3832225"/>
          </a:xfrm>
          <a:custGeom>
            <a:avLst/>
            <a:gdLst/>
            <a:ahLst/>
            <a:cxnLst>
              <a:cxn ang="0">
                <a:pos x="12" y="124"/>
              </a:cxn>
              <a:cxn ang="0">
                <a:pos x="1381" y="12"/>
              </a:cxn>
              <a:cxn ang="0">
                <a:pos x="4064" y="581"/>
              </a:cxn>
              <a:cxn ang="0">
                <a:pos x="5773" y="118"/>
              </a:cxn>
              <a:cxn ang="0">
                <a:pos x="5766" y="2151"/>
              </a:cxn>
              <a:cxn ang="0">
                <a:pos x="3966" y="2263"/>
              </a:cxn>
              <a:cxn ang="0">
                <a:pos x="1963" y="1897"/>
              </a:cxn>
              <a:cxn ang="0">
                <a:pos x="6" y="2407"/>
              </a:cxn>
              <a:cxn ang="0">
                <a:pos x="12" y="124"/>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000"/>
            </a:schemeClr>
          </a:solidFill>
          <a:ln w="9525">
            <a:noFill/>
            <a:round/>
            <a:headEnd/>
            <a:tailEnd/>
          </a:ln>
          <a:effectLst/>
        </p:spPr>
        <p:txBody>
          <a:bodyPr/>
          <a:lstStyle/>
          <a:p>
            <a:endParaRPr lang="en-US"/>
          </a:p>
        </p:txBody>
      </p:sp>
      <p:sp>
        <p:nvSpPr>
          <p:cNvPr id="3090" name="Freeform 18"/>
          <p:cNvSpPr>
            <a:spLocks/>
          </p:cNvSpPr>
          <p:nvPr/>
        </p:nvSpPr>
        <p:spPr bwMode="gray">
          <a:xfrm>
            <a:off x="-9525" y="1730375"/>
            <a:ext cx="9150350" cy="3265488"/>
          </a:xfrm>
          <a:custGeom>
            <a:avLst/>
            <a:gdLst/>
            <a:ahLst/>
            <a:cxnLst>
              <a:cxn ang="0">
                <a:pos x="6" y="272"/>
              </a:cxn>
              <a:cxn ang="0">
                <a:pos x="1453" y="10"/>
              </a:cxn>
              <a:cxn ang="0">
                <a:pos x="4182" y="482"/>
              </a:cxn>
              <a:cxn ang="0">
                <a:pos x="5764" y="154"/>
              </a:cxn>
              <a:cxn ang="0">
                <a:pos x="5764" y="1806"/>
              </a:cxn>
              <a:cxn ang="0">
                <a:pos x="4005" y="1994"/>
              </a:cxn>
              <a:cxn ang="0">
                <a:pos x="1891" y="1522"/>
              </a:cxn>
              <a:cxn ang="0">
                <a:pos x="6" y="1967"/>
              </a:cxn>
              <a:cxn ang="0">
                <a:pos x="6" y="272"/>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w="9525">
            <a:noFill/>
            <a:round/>
            <a:headEnd/>
            <a:tailEnd/>
          </a:ln>
          <a:effectLst/>
        </p:spPr>
        <p:txBody>
          <a:bodyPr/>
          <a:lstStyle/>
          <a:p>
            <a:endParaRPr lang="en-US"/>
          </a:p>
        </p:txBody>
      </p:sp>
      <p:grpSp>
        <p:nvGrpSpPr>
          <p:cNvPr id="3097" name="Group 25"/>
          <p:cNvGrpSpPr>
            <a:grpSpLocks/>
          </p:cNvGrpSpPr>
          <p:nvPr/>
        </p:nvGrpSpPr>
        <p:grpSpPr bwMode="auto">
          <a:xfrm>
            <a:off x="304800" y="3429000"/>
            <a:ext cx="1295400" cy="1371600"/>
            <a:chOff x="4992" y="816"/>
            <a:chExt cx="576" cy="576"/>
          </a:xfrm>
        </p:grpSpPr>
        <p:sp>
          <p:nvSpPr>
            <p:cNvPr id="3098" name="Oval 26"/>
            <p:cNvSpPr>
              <a:spLocks noChangeArrowheads="1"/>
            </p:cNvSpPr>
            <p:nvPr userDrawn="1"/>
          </p:nvSpPr>
          <p:spPr bwMode="gray">
            <a:xfrm>
              <a:off x="4992" y="816"/>
              <a:ext cx="576" cy="576"/>
            </a:xfrm>
            <a:prstGeom prst="ellipse">
              <a:avLst/>
            </a:prstGeom>
            <a:solidFill>
              <a:schemeClr val="tx2">
                <a:alpha val="53000"/>
              </a:schemeClr>
            </a:solidFill>
            <a:ln w="9525">
              <a:noFill/>
              <a:round/>
              <a:headEnd/>
              <a:tailEnd/>
            </a:ln>
            <a:effectLst/>
          </p:spPr>
          <p:txBody>
            <a:bodyPr wrap="none" anchor="ctr"/>
            <a:lstStyle/>
            <a:p>
              <a:endParaRPr lang="en-US"/>
            </a:p>
          </p:txBody>
        </p:sp>
        <p:sp>
          <p:nvSpPr>
            <p:cNvPr id="3099" name="Oval 27"/>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headEnd/>
              <a:tailEnd/>
            </a:ln>
            <a:effectLst/>
          </p:spPr>
          <p:txBody>
            <a:bodyPr wrap="none" anchor="ctr"/>
            <a:lstStyle/>
            <a:p>
              <a:endParaRPr lang="en-US"/>
            </a:p>
          </p:txBody>
        </p:sp>
      </p:grpSp>
      <p:sp>
        <p:nvSpPr>
          <p:cNvPr id="3076" name="Rectangle 4"/>
          <p:cNvSpPr>
            <a:spLocks noGrp="1" noChangeArrowheads="1"/>
          </p:cNvSpPr>
          <p:nvPr>
            <p:ph type="dt" sz="half" idx="2"/>
          </p:nvPr>
        </p:nvSpPr>
        <p:spPr>
          <a:xfrm>
            <a:off x="457200" y="6477000"/>
            <a:ext cx="2133600" cy="244475"/>
          </a:xfrm>
        </p:spPr>
        <p:txBody>
          <a:bodyPr/>
          <a:lstStyle>
            <a:lvl1pPr>
              <a:defRPr sz="1200"/>
            </a:lvl1pPr>
          </a:lstStyle>
          <a:p>
            <a:endParaRPr lang="en-US"/>
          </a:p>
        </p:txBody>
      </p:sp>
      <p:sp>
        <p:nvSpPr>
          <p:cNvPr id="3077" name="Rectangle 5"/>
          <p:cNvSpPr>
            <a:spLocks noGrp="1" noChangeArrowheads="1"/>
          </p:cNvSpPr>
          <p:nvPr>
            <p:ph type="ftr" sz="quarter" idx="3"/>
          </p:nvPr>
        </p:nvSpPr>
        <p:spPr>
          <a:xfrm>
            <a:off x="3124200" y="6477000"/>
            <a:ext cx="2895600" cy="244475"/>
          </a:xfrm>
        </p:spPr>
        <p:txBody>
          <a:bodyPr/>
          <a:lstStyle>
            <a:lvl1pPr>
              <a:defRPr sz="1200"/>
            </a:lvl1pPr>
          </a:lstStyle>
          <a:p>
            <a:endParaRPr lang="en-US"/>
          </a:p>
        </p:txBody>
      </p:sp>
      <p:sp>
        <p:nvSpPr>
          <p:cNvPr id="3078" name="Rectangle 6"/>
          <p:cNvSpPr>
            <a:spLocks noGrp="1" noChangeArrowheads="1"/>
          </p:cNvSpPr>
          <p:nvPr>
            <p:ph type="sldNum" sz="quarter" idx="4"/>
          </p:nvPr>
        </p:nvSpPr>
        <p:spPr>
          <a:xfrm>
            <a:off x="6553200" y="6477000"/>
            <a:ext cx="2133600" cy="244475"/>
          </a:xfrm>
        </p:spPr>
        <p:txBody>
          <a:bodyPr/>
          <a:lstStyle>
            <a:lvl1pPr>
              <a:defRPr sz="1200"/>
            </a:lvl1pPr>
          </a:lstStyle>
          <a:p>
            <a:fld id="{9A5A4A9D-D66E-4573-B3EF-442AA627B81B}" type="slidenum">
              <a:rPr lang="en-US"/>
              <a:pPr/>
              <a:t>‹#›</a:t>
            </a:fld>
            <a:endParaRPr lang="en-US"/>
          </a:p>
        </p:txBody>
      </p:sp>
      <p:sp>
        <p:nvSpPr>
          <p:cNvPr id="3074" name="Rectangle 2"/>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solidFill>
                  <a:schemeClr val="bg1"/>
                </a:solidFill>
              </a:defRPr>
            </a:lvl1pPr>
          </a:lstStyle>
          <a:p>
            <a:r>
              <a:rPr lang="en-US" dirty="0"/>
              <a:t>Click to edit Master title style</a:t>
            </a:r>
          </a:p>
        </p:txBody>
      </p:sp>
      <p:sp>
        <p:nvSpPr>
          <p:cNvPr id="3075" name="Rectangle 3"/>
          <p:cNvSpPr>
            <a:spLocks noGrp="1" noChangeArrowheads="1"/>
          </p:cNvSpPr>
          <p:nvPr>
            <p:ph type="subTitle" idx="1"/>
          </p:nvPr>
        </p:nvSpPr>
        <p:spPr bwMode="white">
          <a:xfrm>
            <a:off x="1295400" y="3581400"/>
            <a:ext cx="6705600" cy="381000"/>
          </a:xfrm>
        </p:spPr>
        <p:txBody>
          <a:bodyPr/>
          <a:lstStyle>
            <a:lvl1pPr marL="0" indent="0" algn="ctr">
              <a:buFont typeface="Wingdings" pitchFamily="2" charset="2"/>
              <a:buNone/>
              <a:defRPr sz="2000"/>
            </a:lvl1pPr>
          </a:lstStyle>
          <a:p>
            <a:r>
              <a:rPr lang="en-US"/>
              <a:t>Click to edit Master subtitle style</a:t>
            </a:r>
          </a:p>
        </p:txBody>
      </p:sp>
      <p:pic>
        <p:nvPicPr>
          <p:cNvPr id="19" name="Picture 4" descr="http://www.krupainfoservices.com/wp-content/uploads/2013/05/data-minin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429250" y="95249"/>
            <a:ext cx="3790950" cy="2876551"/>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13" descr="Bahria Logo new white.png"/>
          <p:cNvPicPr>
            <a:picLocks noChangeAspect="1"/>
          </p:cNvPicPr>
          <p:nvPr userDrawn="1"/>
        </p:nvPicPr>
        <p:blipFill>
          <a:blip r:embed="rId4"/>
          <a:stretch>
            <a:fillRect/>
          </a:stretch>
        </p:blipFill>
        <p:spPr>
          <a:xfrm>
            <a:off x="457200" y="152400"/>
            <a:ext cx="4216933" cy="10972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EC121D7-F84A-4508-92A7-9939F6DECD1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46F6881-EE79-4FA9-8A74-B8377DEE9A0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24CF524-D3B1-43E4-84E2-796C6862C71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FBECC5F1-850A-4535-B011-D0B9054A138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76584446-6D80-42B6-814B-F5A50A354C0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97A4D0FC-6A02-447B-9931-3767B2850C8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D36F896-4EE7-4C99-A984-7C8646211C6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6F702D9-945D-4AD6-953A-36E31114DE42}"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BD96462-7D4A-4B97-9677-F6480506AB7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0"/>
            <a:ext cx="20574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1B8C289-2DB5-4F3E-9967-17D21165119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85800"/>
            <a:ext cx="7391400" cy="563563"/>
          </a:xfrm>
        </p:spPr>
        <p:txBody>
          <a:bodyPr/>
          <a:lstStyle/>
          <a:p>
            <a:r>
              <a:rPr lang="en-US"/>
              <a:t>Click to edit Master title style</a:t>
            </a:r>
          </a:p>
        </p:txBody>
      </p:sp>
      <p:sp>
        <p:nvSpPr>
          <p:cNvPr id="3" name="Table Placeholder 2"/>
          <p:cNvSpPr>
            <a:spLocks noGrp="1"/>
          </p:cNvSpPr>
          <p:nvPr>
            <p:ph type="tbl" idx="1"/>
          </p:nvPr>
        </p:nvSpPr>
        <p:spPr>
          <a:xfrm>
            <a:off x="457200" y="1828800"/>
            <a:ext cx="8229600" cy="4495800"/>
          </a:xfrm>
        </p:spPr>
        <p:txBody>
          <a:bodyPr/>
          <a:lstStyle/>
          <a:p>
            <a:r>
              <a:rPr lang="en-US"/>
              <a:t>Click icon to add table</a:t>
            </a:r>
          </a:p>
        </p:txBody>
      </p:sp>
      <p:sp>
        <p:nvSpPr>
          <p:cNvPr id="4" name="Date Placeholder 3"/>
          <p:cNvSpPr>
            <a:spLocks noGrp="1"/>
          </p:cNvSpPr>
          <p:nvPr>
            <p:ph type="dt" sz="half" idx="10"/>
          </p:nvPr>
        </p:nvSpPr>
        <p:spPr>
          <a:xfrm>
            <a:off x="457200" y="6400800"/>
            <a:ext cx="2133600" cy="320675"/>
          </a:xfr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400800"/>
            <a:ext cx="2133600" cy="320675"/>
          </a:xfrm>
        </p:spPr>
        <p:txBody>
          <a:bodyPr/>
          <a:lstStyle>
            <a:lvl1pPr>
              <a:defRPr/>
            </a:lvl1pPr>
          </a:lstStyle>
          <a:p>
            <a:fld id="{5D264751-2FF5-4412-8B78-977373DBCB34}"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p:cNvSpPr>
            <a:spLocks noGrp="1" noChangeArrowheads="1"/>
          </p:cNvSpPr>
          <p:nvPr>
            <p:ph type="dt" sz="half" idx="10"/>
          </p:nvPr>
        </p:nvSpPr>
        <p:spPr>
          <a:ln/>
        </p:spPr>
        <p:txBody>
          <a:bodyPr/>
          <a:lstStyle>
            <a:lvl1pPr>
              <a:defRPr/>
            </a:lvl1pPr>
          </a:lstStyle>
          <a:p>
            <a:pPr>
              <a:defRPr/>
            </a:pPr>
            <a:fld id="{5BE0BC65-2DA4-4088-965F-F58CC17BD0A2}" type="datetime4">
              <a:rPr lang="en-US"/>
              <a:pPr>
                <a:defRPr/>
              </a:pPr>
              <a:t>April 22, 2025</a:t>
            </a:fld>
            <a:endParaRPr lang="en-US"/>
          </a:p>
        </p:txBody>
      </p:sp>
      <p:sp>
        <p:nvSpPr>
          <p:cNvPr id="7" name="Rectangle 2060"/>
          <p:cNvSpPr>
            <a:spLocks noGrp="1" noChangeArrowheads="1"/>
          </p:cNvSpPr>
          <p:nvPr>
            <p:ph type="ftr" sz="quarter" idx="11"/>
          </p:nvPr>
        </p:nvSpPr>
        <p:spPr>
          <a:ln/>
        </p:spPr>
        <p:txBody>
          <a:bodyPr/>
          <a:lstStyle>
            <a:lvl1pPr>
              <a:defRPr/>
            </a:lvl1pPr>
          </a:lstStyle>
          <a:p>
            <a:pPr>
              <a:defRPr/>
            </a:pPr>
            <a:r>
              <a:rPr lang="en-US"/>
              <a:t>Data Mining: Concepts and Techniques</a:t>
            </a:r>
          </a:p>
        </p:txBody>
      </p:sp>
      <p:sp>
        <p:nvSpPr>
          <p:cNvPr id="8" name="Rectangle 2061"/>
          <p:cNvSpPr>
            <a:spLocks noGrp="1" noChangeArrowheads="1"/>
          </p:cNvSpPr>
          <p:nvPr>
            <p:ph type="sldNum" sz="quarter" idx="12"/>
          </p:nvPr>
        </p:nvSpPr>
        <p:spPr>
          <a:ln/>
        </p:spPr>
        <p:txBody>
          <a:bodyPr/>
          <a:lstStyle>
            <a:lvl1pPr>
              <a:defRPr/>
            </a:lvl1pPr>
          </a:lstStyle>
          <a:p>
            <a:pPr>
              <a:defRPr/>
            </a:pPr>
            <a:fld id="{E72738D8-68C9-452C-B8AF-68E0E621992B}" type="slidenum">
              <a:rPr lang="en-US"/>
              <a:pPr>
                <a:defRPr/>
              </a:pPr>
              <a:t>‹#›</a:t>
            </a:fld>
            <a:endParaRPr lang="en-US"/>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153400" cy="914400"/>
          </a:xfrm>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13"/>
          <p:cNvSpPr>
            <a:spLocks noGrp="1"/>
          </p:cNvSpPr>
          <p:nvPr>
            <p:ph type="dt" sz="half" idx="11"/>
          </p:nvPr>
        </p:nvSpPr>
        <p:spPr>
          <a:xfrm>
            <a:off x="8172400" y="6442770"/>
            <a:ext cx="853480" cy="365125"/>
          </a:xfrm>
          <a:prstGeom prst="rect">
            <a:avLst/>
          </a:prstGeom>
        </p:spPr>
        <p:txBody>
          <a:bodyPr anchor="ctr"/>
          <a:lstStyle>
            <a:lvl1pPr>
              <a:defRPr sz="1200">
                <a:solidFill>
                  <a:schemeClr val="bg1"/>
                </a:solidFill>
              </a:defRPr>
            </a:lvl1pPr>
          </a:lstStyle>
          <a:p>
            <a:fld id="{E9E37DEF-E99B-48E8-9C1E-D5ACA59D1A69}" type="datetime1">
              <a:rPr lang="en-US" smtClean="0"/>
              <a:pPr/>
              <a:t>4/22/2025</a:t>
            </a:fld>
            <a:endParaRPr lang="en-US" dirty="0"/>
          </a:p>
        </p:txBody>
      </p:sp>
      <p:sp>
        <p:nvSpPr>
          <p:cNvPr id="5" name="Slide Number Placeholder 14"/>
          <p:cNvSpPr>
            <a:spLocks noGrp="1"/>
          </p:cNvSpPr>
          <p:nvPr>
            <p:ph type="sldNum" sz="quarter" idx="12"/>
          </p:nvPr>
        </p:nvSpPr>
        <p:spPr>
          <a:xfrm>
            <a:off x="7452320" y="6442770"/>
            <a:ext cx="724704" cy="370606"/>
          </a:xfrm>
          <a:prstGeom prst="rect">
            <a:avLst/>
          </a:prstGeom>
        </p:spPr>
        <p:txBody>
          <a:bodyPr anchor="ctr"/>
          <a:lstStyle>
            <a:lvl1pPr algn="r">
              <a:defRPr sz="1200">
                <a:solidFill>
                  <a:schemeClr val="bg1"/>
                </a:solidFill>
              </a:defRPr>
            </a:lvl1pPr>
          </a:lstStyle>
          <a:p>
            <a:fld id="{5744759D-0EFF-4FB2-9CCE-04E00944F0FE}" type="slidenum">
              <a:rPr lang="en-US" smtClean="0"/>
              <a:pPr/>
              <a:t>‹#›</a:t>
            </a:fld>
            <a:endParaRPr lang="en-US" dirty="0"/>
          </a:p>
        </p:txBody>
      </p:sp>
      <p:sp>
        <p:nvSpPr>
          <p:cNvPr id="7" name="Footer Placeholder 15"/>
          <p:cNvSpPr>
            <a:spLocks noGrp="1"/>
          </p:cNvSpPr>
          <p:nvPr>
            <p:ph type="ftr" sz="quarter" idx="13"/>
          </p:nvPr>
        </p:nvSpPr>
        <p:spPr>
          <a:xfrm>
            <a:off x="2286000" y="6442770"/>
            <a:ext cx="4572000" cy="365125"/>
          </a:xfrm>
          <a:prstGeom prst="rect">
            <a:avLst/>
          </a:prstGeom>
        </p:spPr>
        <p:txBody>
          <a:bodyPr anchor="ctr"/>
          <a:lstStyle>
            <a:lvl1pPr>
              <a:defRPr sz="1200">
                <a:solidFill>
                  <a:schemeClr val="bg1"/>
                </a:solidFill>
              </a:defRPr>
            </a:lvl1pPr>
          </a:lstStyle>
          <a:p>
            <a:r>
              <a:rPr lang="en-US" dirty="0"/>
              <a:t>Data Mining 2013 – Know Your Data</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395288" y="188913"/>
            <a:ext cx="8353425" cy="576262"/>
          </a:xfrm>
        </p:spPr>
        <p:txBody>
          <a:bodyPr/>
          <a:lstStyle/>
          <a:p>
            <a:r>
              <a:rPr lang="en-US"/>
              <a:t>Click to edit Master title style</a:t>
            </a:r>
          </a:p>
        </p:txBody>
      </p:sp>
      <p:sp>
        <p:nvSpPr>
          <p:cNvPr id="3" name="Content Placeholder 2"/>
          <p:cNvSpPr>
            <a:spLocks noGrp="1"/>
          </p:cNvSpPr>
          <p:nvPr>
            <p:ph sz="quarter" idx="1"/>
          </p:nvPr>
        </p:nvSpPr>
        <p:spPr>
          <a:xfrm>
            <a:off x="395288" y="1196975"/>
            <a:ext cx="4100512" cy="2551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95288" y="3900488"/>
            <a:ext cx="4100512" cy="2552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196975"/>
            <a:ext cx="4100513" cy="5256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Freeform 16"/>
          <p:cNvSpPr>
            <a:spLocks/>
          </p:cNvSpPr>
          <p:nvPr/>
        </p:nvSpPr>
        <p:spPr bwMode="gray">
          <a:xfrm>
            <a:off x="-11113" y="0"/>
            <a:ext cx="9155113" cy="1620837"/>
          </a:xfrm>
          <a:custGeom>
            <a:avLst/>
            <a:gdLst/>
            <a:ahLst/>
            <a:cxnLst>
              <a:cxn ang="0">
                <a:pos x="6" y="109"/>
              </a:cxn>
              <a:cxn ang="0">
                <a:pos x="1427" y="46"/>
              </a:cxn>
              <a:cxn ang="0">
                <a:pos x="4032" y="255"/>
              </a:cxn>
              <a:cxn ang="0">
                <a:pos x="5767" y="0"/>
              </a:cxn>
              <a:cxn ang="0">
                <a:pos x="5767" y="776"/>
              </a:cxn>
              <a:cxn ang="0">
                <a:pos x="4065" y="831"/>
              </a:cxn>
              <a:cxn ang="0">
                <a:pos x="1984" y="674"/>
              </a:cxn>
              <a:cxn ang="0">
                <a:pos x="14" y="995"/>
              </a:cxn>
              <a:cxn ang="0">
                <a:pos x="6" y="109"/>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000"/>
            </a:schemeClr>
          </a:solidFill>
          <a:ln w="9525">
            <a:noFill/>
            <a:round/>
            <a:headEnd/>
            <a:tailEnd/>
          </a:ln>
          <a:effectLst/>
        </p:spPr>
        <p:txBody>
          <a:bodyPr/>
          <a:lstStyle/>
          <a:p>
            <a:endParaRPr lang="en-US"/>
          </a:p>
        </p:txBody>
      </p:sp>
      <p:sp>
        <p:nvSpPr>
          <p:cNvPr id="1041" name="Freeform 17"/>
          <p:cNvSpPr>
            <a:spLocks/>
          </p:cNvSpPr>
          <p:nvPr/>
        </p:nvSpPr>
        <p:spPr bwMode="gray">
          <a:xfrm>
            <a:off x="-20638" y="252412"/>
            <a:ext cx="9161463" cy="1006475"/>
          </a:xfrm>
          <a:custGeom>
            <a:avLst/>
            <a:gdLst/>
            <a:ahLst/>
            <a:cxnLst>
              <a:cxn ang="0">
                <a:pos x="20" y="109"/>
              </a:cxn>
              <a:cxn ang="0">
                <a:pos x="1442" y="3"/>
              </a:cxn>
              <a:cxn ang="0">
                <a:pos x="4150" y="148"/>
              </a:cxn>
              <a:cxn ang="0">
                <a:pos x="5771" y="37"/>
              </a:cxn>
              <a:cxn ang="0">
                <a:pos x="5771" y="557"/>
              </a:cxn>
              <a:cxn ang="0">
                <a:pos x="3942" y="592"/>
              </a:cxn>
              <a:cxn ang="0">
                <a:pos x="1839" y="456"/>
              </a:cxn>
              <a:cxn ang="0">
                <a:pos x="6" y="620"/>
              </a:cxn>
              <a:cxn ang="0">
                <a:pos x="20" y="109"/>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round/>
            <a:headEnd/>
            <a:tailEnd/>
          </a:ln>
          <a:effectLst/>
        </p:spPr>
        <p:txBody>
          <a:bodyPr/>
          <a:lstStyle/>
          <a:p>
            <a:endParaRPr lang="en-US"/>
          </a:p>
        </p:txBody>
      </p:sp>
      <p:grpSp>
        <p:nvGrpSpPr>
          <p:cNvPr id="1042" name="Group 18"/>
          <p:cNvGrpSpPr>
            <a:grpSpLocks/>
          </p:cNvGrpSpPr>
          <p:nvPr/>
        </p:nvGrpSpPr>
        <p:grpSpPr bwMode="auto">
          <a:xfrm>
            <a:off x="7740650" y="293688"/>
            <a:ext cx="387350" cy="366712"/>
            <a:chOff x="4752" y="1200"/>
            <a:chExt cx="288" cy="288"/>
          </a:xfrm>
        </p:grpSpPr>
        <p:sp>
          <p:nvSpPr>
            <p:cNvPr id="1043" name="Oval 19"/>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headEnd/>
              <a:tailEnd/>
            </a:ln>
            <a:effectLst/>
          </p:spPr>
          <p:txBody>
            <a:bodyPr wrap="none" anchor="ctr"/>
            <a:lstStyle/>
            <a:p>
              <a:endParaRPr lang="en-US"/>
            </a:p>
          </p:txBody>
        </p:sp>
        <p:sp>
          <p:nvSpPr>
            <p:cNvPr id="1044" name="Oval 20"/>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headEnd/>
              <a:tailEnd/>
            </a:ln>
            <a:effectLst/>
          </p:spPr>
          <p:txBody>
            <a:bodyPr wrap="none" anchor="ctr"/>
            <a:lstStyle/>
            <a:p>
              <a:endParaRPr lang="en-US"/>
            </a:p>
          </p:txBody>
        </p:sp>
      </p:grpSp>
      <p:grpSp>
        <p:nvGrpSpPr>
          <p:cNvPr id="1048" name="Group 24"/>
          <p:cNvGrpSpPr>
            <a:grpSpLocks/>
          </p:cNvGrpSpPr>
          <p:nvPr/>
        </p:nvGrpSpPr>
        <p:grpSpPr bwMode="auto">
          <a:xfrm>
            <a:off x="171450" y="538162"/>
            <a:ext cx="720725" cy="762000"/>
            <a:chOff x="4992" y="816"/>
            <a:chExt cx="576" cy="576"/>
          </a:xfrm>
        </p:grpSpPr>
        <p:sp>
          <p:nvSpPr>
            <p:cNvPr id="1049" name="Oval 25"/>
            <p:cNvSpPr>
              <a:spLocks noChangeArrowheads="1"/>
            </p:cNvSpPr>
            <p:nvPr userDrawn="1"/>
          </p:nvSpPr>
          <p:spPr bwMode="gray">
            <a:xfrm>
              <a:off x="4992" y="816"/>
              <a:ext cx="576" cy="576"/>
            </a:xfrm>
            <a:prstGeom prst="ellipse">
              <a:avLst/>
            </a:prstGeom>
            <a:solidFill>
              <a:schemeClr val="tx2">
                <a:alpha val="53000"/>
              </a:schemeClr>
            </a:solidFill>
            <a:ln w="9525">
              <a:noFill/>
              <a:round/>
              <a:headEnd/>
              <a:tailEnd/>
            </a:ln>
            <a:effectLst/>
          </p:spPr>
          <p:txBody>
            <a:bodyPr wrap="none" anchor="ctr"/>
            <a:lstStyle/>
            <a:p>
              <a:endParaRPr lang="en-US"/>
            </a:p>
          </p:txBody>
        </p:sp>
        <p:sp>
          <p:nvSpPr>
            <p:cNvPr id="1050" name="Oval 26"/>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headEnd/>
              <a:tailEnd/>
            </a:ln>
            <a:effectLst/>
          </p:spPr>
          <p:txBody>
            <a:bodyPr wrap="none" anchor="ctr"/>
            <a:lstStyle/>
            <a:p>
              <a:endParaRPr lang="en-US"/>
            </a:p>
          </p:txBody>
        </p:sp>
      </p:grpSp>
      <p:sp>
        <p:nvSpPr>
          <p:cNvPr id="1027" name="Rectangle 3"/>
          <p:cNvSpPr>
            <a:spLocks noGrp="1" noChangeArrowheads="1"/>
          </p:cNvSpPr>
          <p:nvPr>
            <p:ph type="body" idx="1"/>
          </p:nvPr>
        </p:nvSpPr>
        <p:spPr bwMode="auto">
          <a:xfrm>
            <a:off x="457200" y="1447800"/>
            <a:ext cx="8229600" cy="487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A53430C-6074-4D29-8B94-F9A125AC8DA3}" type="slidenum">
              <a:rPr lang="en-US"/>
              <a:pPr/>
              <a:t>‹#›</a:t>
            </a:fld>
            <a:endParaRPr lang="en-US"/>
          </a:p>
        </p:txBody>
      </p:sp>
      <p:sp>
        <p:nvSpPr>
          <p:cNvPr id="1026" name="Rectangle 2"/>
          <p:cNvSpPr>
            <a:spLocks noGrp="1" noChangeArrowheads="1"/>
          </p:cNvSpPr>
          <p:nvPr>
            <p:ph type="title"/>
          </p:nvPr>
        </p:nvSpPr>
        <p:spPr bwMode="white">
          <a:xfrm>
            <a:off x="914400" y="404812"/>
            <a:ext cx="73914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grpSp>
        <p:nvGrpSpPr>
          <p:cNvPr id="1045" name="Group 21"/>
          <p:cNvGrpSpPr>
            <a:grpSpLocks/>
          </p:cNvGrpSpPr>
          <p:nvPr/>
        </p:nvGrpSpPr>
        <p:grpSpPr bwMode="auto">
          <a:xfrm>
            <a:off x="8153400" y="0"/>
            <a:ext cx="609600" cy="592138"/>
            <a:chOff x="4992" y="816"/>
            <a:chExt cx="576" cy="576"/>
          </a:xfrm>
        </p:grpSpPr>
        <p:sp>
          <p:nvSpPr>
            <p:cNvPr id="1046" name="Oval 22"/>
            <p:cNvSpPr>
              <a:spLocks noChangeArrowheads="1"/>
            </p:cNvSpPr>
            <p:nvPr userDrawn="1"/>
          </p:nvSpPr>
          <p:spPr bwMode="gray">
            <a:xfrm>
              <a:off x="4992" y="816"/>
              <a:ext cx="576" cy="576"/>
            </a:xfrm>
            <a:prstGeom prst="ellipse">
              <a:avLst/>
            </a:prstGeom>
            <a:solidFill>
              <a:schemeClr val="accent1">
                <a:alpha val="53000"/>
              </a:schemeClr>
            </a:solidFill>
            <a:ln w="9525">
              <a:noFill/>
              <a:round/>
              <a:headEnd/>
              <a:tailEnd/>
            </a:ln>
            <a:effectLst/>
          </p:spPr>
          <p:txBody>
            <a:bodyPr wrap="none" anchor="ctr"/>
            <a:lstStyle/>
            <a:p>
              <a:endParaRPr lang="en-US"/>
            </a:p>
          </p:txBody>
        </p:sp>
        <p:sp>
          <p:nvSpPr>
            <p:cNvPr id="1047" name="Oval 2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headEnd/>
              <a:tailEnd/>
            </a:ln>
            <a:effec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txStyles>
    <p:titleStyle>
      <a:lvl1pPr algn="ctr" rtl="0" eaLnBrk="1" fontAlgn="base" hangingPunct="1">
        <a:spcBef>
          <a:spcPct val="0"/>
        </a:spcBef>
        <a:spcAft>
          <a:spcPct val="0"/>
        </a:spcAft>
        <a:defRPr sz="3600" b="1">
          <a:solidFill>
            <a:schemeClr val="tx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Char char="•"/>
        <a:defRPr sz="22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image" Target="../media/image12.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2.bin"/><Relationship Id="rId4" Type="http://schemas.openxmlformats.org/officeDocument/2006/relationships/image" Target="../media/image17.wmf"/></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7.xml"/><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23.wmf"/><Relationship Id="rId4" Type="http://schemas.openxmlformats.org/officeDocument/2006/relationships/oleObject" Target="../embeddings/oleObject4.bin"/><Relationship Id="rId9" Type="http://schemas.openxmlformats.org/officeDocument/2006/relationships/image" Target="../media/image25.wmf"/></Relationships>
</file>

<file path=ppt/slides/_rels/slide19.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30.emf"/><Relationship Id="rId2" Type="http://schemas.openxmlformats.org/officeDocument/2006/relationships/slideLayout" Target="../slideLayouts/slideLayout4.xml"/><Relationship Id="rId16" Type="http://schemas.openxmlformats.org/officeDocument/2006/relationships/image" Target="../media/image32.wmf"/><Relationship Id="rId1" Type="http://schemas.openxmlformats.org/officeDocument/2006/relationships/vmlDrawing" Target="../drawings/vmlDrawing5.vml"/><Relationship Id="rId6" Type="http://schemas.openxmlformats.org/officeDocument/2006/relationships/image" Target="../media/image27.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29.wmf"/><Relationship Id="rId4" Type="http://schemas.openxmlformats.org/officeDocument/2006/relationships/image" Target="../media/image26.emf"/><Relationship Id="rId9" Type="http://schemas.openxmlformats.org/officeDocument/2006/relationships/oleObject" Target="../embeddings/oleObject10.bin"/><Relationship Id="rId14" Type="http://schemas.openxmlformats.org/officeDocument/2006/relationships/image" Target="../media/image31.wmf"/></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9.wmf"/><Relationship Id="rId4"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image" Target="../media/image51.wmf"/><Relationship Id="rId5" Type="http://schemas.openxmlformats.org/officeDocument/2006/relationships/oleObject" Target="../embeddings/oleObject16.bin"/><Relationship Id="rId4" Type="http://schemas.openxmlformats.org/officeDocument/2006/relationships/image" Target="../media/image50.wmf"/></Relationships>
</file>

<file path=ppt/slides/_rels/slide32.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53.wmf"/><Relationship Id="rId5" Type="http://schemas.openxmlformats.org/officeDocument/2006/relationships/oleObject" Target="../embeddings/oleObject18.bin"/><Relationship Id="rId4" Type="http://schemas.openxmlformats.org/officeDocument/2006/relationships/image" Target="../media/image5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5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57.emf"/><Relationship Id="rId5" Type="http://schemas.openxmlformats.org/officeDocument/2006/relationships/oleObject" Target="../embeddings/oleObject22.bin"/><Relationship Id="rId4" Type="http://schemas.openxmlformats.org/officeDocument/2006/relationships/image" Target="../media/image56.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58.wmf"/></Relationships>
</file>

<file path=ppt/slides/_rels/slide3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61.wmf"/><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oleObject" Target="../embeddings/oleObject25.bin"/><Relationship Id="rId5" Type="http://schemas.openxmlformats.org/officeDocument/2006/relationships/image" Target="../media/image60.wmf"/><Relationship Id="rId4"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5.xml"/><Relationship Id="rId1" Type="http://schemas.openxmlformats.org/officeDocument/2006/relationships/vmlDrawing" Target="../drawings/vmlDrawing13.vml"/><Relationship Id="rId5" Type="http://schemas.openxmlformats.org/officeDocument/2006/relationships/image" Target="../media/image63.png"/><Relationship Id="rId4" Type="http://schemas.openxmlformats.org/officeDocument/2006/relationships/image" Target="../media/image62.wmf"/></Relationships>
</file>

<file path=ppt/slides/_rels/slide4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65.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0">
            <a:extLst>
              <a:ext uri="{FF2B5EF4-FFF2-40B4-BE49-F238E27FC236}">
                <a16:creationId xmlns:a16="http://schemas.microsoft.com/office/drawing/2014/main" id="{ACEF263A-664A-4F43-9D15-9F8A8309C725}"/>
              </a:ext>
            </a:extLst>
          </p:cNvPr>
          <p:cNvSpPr txBox="1">
            <a:spLocks/>
          </p:cNvSpPr>
          <p:nvPr/>
        </p:nvSpPr>
        <p:spPr>
          <a:xfrm>
            <a:off x="1085850" y="2985136"/>
            <a:ext cx="6553200" cy="471924"/>
          </a:xfrm>
          <a:prstGeom prst="rect">
            <a:avLst/>
          </a:prstGeom>
        </p:spPr>
        <p:txBody>
          <a:bodyPr vert="horz" wrap="square" lIns="0" tIns="6096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01090" marR="3810" indent="-1092041" algn="ctr">
              <a:lnSpc>
                <a:spcPts val="3240"/>
              </a:lnSpc>
              <a:spcBef>
                <a:spcPts val="480"/>
              </a:spcBef>
            </a:pPr>
            <a:r>
              <a:rPr lang="en-US" sz="3000" b="1" spc="-4" dirty="0">
                <a:solidFill>
                  <a:srgbClr val="FFC000"/>
                </a:solidFill>
                <a:latin typeface="Gothic Uralic"/>
                <a:cs typeface="Gothic Uralic"/>
              </a:rPr>
              <a:t>Artificial</a:t>
            </a:r>
            <a:r>
              <a:rPr lang="en-US" sz="3000" b="1" spc="-41" dirty="0">
                <a:solidFill>
                  <a:srgbClr val="FFC000"/>
                </a:solidFill>
                <a:latin typeface="Gothic Uralic"/>
                <a:cs typeface="Gothic Uralic"/>
              </a:rPr>
              <a:t> </a:t>
            </a:r>
            <a:r>
              <a:rPr lang="en-US" sz="3000" b="1" spc="-4">
                <a:solidFill>
                  <a:srgbClr val="FFC000"/>
                </a:solidFill>
                <a:latin typeface="Gothic Uralic"/>
                <a:cs typeface="Gothic Uralic"/>
              </a:rPr>
              <a:t>Intelligence  </a:t>
            </a:r>
            <a:r>
              <a:rPr lang="en-US" sz="3000" b="1" spc="-8">
                <a:solidFill>
                  <a:srgbClr val="FFC000"/>
                </a:solidFill>
                <a:latin typeface="Gothic Uralic"/>
                <a:cs typeface="Gothic Uralic"/>
              </a:rPr>
              <a:t>(AI-2002</a:t>
            </a:r>
            <a:r>
              <a:rPr lang="en-US" sz="3000" b="1" spc="-8" dirty="0">
                <a:solidFill>
                  <a:srgbClr val="FFC000"/>
                </a:solidFill>
                <a:latin typeface="Gothic Uralic"/>
                <a:cs typeface="Gothic Uralic"/>
              </a:rPr>
              <a:t>)</a:t>
            </a:r>
            <a:endParaRPr lang="en-US" sz="3000" dirty="0">
              <a:latin typeface="Gothic Uralic"/>
              <a:cs typeface="Gothic Uralic"/>
            </a:endParaRPr>
          </a:p>
        </p:txBody>
      </p:sp>
      <p:sp>
        <p:nvSpPr>
          <p:cNvPr id="4" name="Rectangle 3">
            <a:extLst>
              <a:ext uri="{FF2B5EF4-FFF2-40B4-BE49-F238E27FC236}">
                <a16:creationId xmlns:a16="http://schemas.microsoft.com/office/drawing/2014/main" id="{0B6F2385-A693-486C-AF3F-3B8F37F07F92}"/>
              </a:ext>
            </a:extLst>
          </p:cNvPr>
          <p:cNvSpPr/>
          <p:nvPr/>
        </p:nvSpPr>
        <p:spPr>
          <a:xfrm>
            <a:off x="838200" y="4191000"/>
            <a:ext cx="6629400" cy="425758"/>
          </a:xfrm>
          <a:prstGeom prst="rect">
            <a:avLst/>
          </a:prstGeom>
        </p:spPr>
        <p:txBody>
          <a:bodyPr wrap="square">
            <a:spAutoFit/>
          </a:bodyPr>
          <a:lstStyle/>
          <a:p>
            <a:pPr marL="9525" marR="3810" indent="1017270" algn="ctr">
              <a:lnSpc>
                <a:spcPts val="2595"/>
              </a:lnSpc>
              <a:spcBef>
                <a:spcPts val="401"/>
              </a:spcBef>
            </a:pPr>
            <a:r>
              <a:rPr lang="en-US" sz="2400" b="1" spc="-4" dirty="0" smtClean="0">
                <a:solidFill>
                  <a:schemeClr val="tx2"/>
                </a:solidFill>
                <a:latin typeface="Arial Rounded MT Bold" panose="020F0704030504030204" pitchFamily="34" charset="0"/>
                <a:cs typeface="Gothic Uralic"/>
              </a:rPr>
              <a:t>ML- Classification and Regression</a:t>
            </a:r>
            <a:endParaRPr lang="en-US" sz="2400" b="1" dirty="0">
              <a:solidFill>
                <a:schemeClr val="tx2"/>
              </a:solidFill>
              <a:latin typeface="Arial Rounded MT Bold" panose="020F0704030504030204" pitchFamily="34" charset="0"/>
              <a:cs typeface="Gothic Uralic"/>
            </a:endParaRPr>
          </a:p>
        </p:txBody>
      </p:sp>
      <p:sp>
        <p:nvSpPr>
          <p:cNvPr id="5" name="Subtitle 2"/>
          <p:cNvSpPr txBox="1">
            <a:spLocks/>
          </p:cNvSpPr>
          <p:nvPr/>
        </p:nvSpPr>
        <p:spPr bwMode="white">
          <a:xfrm>
            <a:off x="1905000" y="3495485"/>
            <a:ext cx="51816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defRPr/>
            </a:pPr>
            <a:r>
              <a:rPr lang="en-US" sz="2800" kern="0" dirty="0">
                <a:latin typeface="+mn-lt"/>
              </a:rPr>
              <a:t>Anaum Hamid</a:t>
            </a:r>
            <a:endParaRPr kumimoji="0" lang="en-US" sz="2800" b="0" i="0" u="none" strike="noStrike" kern="0" cap="none" spc="0" normalizeH="0" baseline="0" noProof="0" dirty="0">
              <a:ln>
                <a:noFill/>
              </a:ln>
              <a:effectLst/>
              <a:uLnTx/>
              <a:uFillTx/>
              <a:latin typeface="+mn-lt"/>
              <a:ea typeface="+mn-ea"/>
              <a:cs typeface="+mn-cs"/>
            </a:endParaRPr>
          </a:p>
        </p:txBody>
      </p:sp>
      <p:pic>
        <p:nvPicPr>
          <p:cNvPr id="6" name="Picture 4" descr="http://www.krupainfoservices.com/wp-content/uploads/2013/05/data-mi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95249"/>
            <a:ext cx="3790950" cy="28765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295223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525963"/>
          </a:xfrm>
        </p:spPr>
        <p:txBody>
          <a:bodyPr/>
          <a:lstStyle/>
          <a:p>
            <a:pPr>
              <a:buNone/>
            </a:pPr>
            <a:endParaRPr lang="en-US" b="1" i="1" dirty="0"/>
          </a:p>
          <a:p>
            <a:pPr algn="ctr">
              <a:buNone/>
            </a:pPr>
            <a:r>
              <a:rPr lang="en-US" b="1" i="1" dirty="0"/>
              <a:t>“Switch Off” your Mobile Phone Or Switch Mobile Phone to “Silent Mode”</a:t>
            </a:r>
            <a:endParaRPr lang="en-US" dirty="0"/>
          </a:p>
        </p:txBody>
      </p:sp>
      <p:pic>
        <p:nvPicPr>
          <p:cNvPr id="46083" name="Picture 3" descr="http://www.jana.com/assets/mobile-phone-technology.jpg"/>
          <p:cNvPicPr>
            <a:picLocks noChangeAspect="1" noChangeArrowheads="1"/>
          </p:cNvPicPr>
          <p:nvPr/>
        </p:nvPicPr>
        <p:blipFill>
          <a:blip r:embed="rId2" cstate="print"/>
          <a:srcRect/>
          <a:stretch>
            <a:fillRect/>
          </a:stretch>
        </p:blipFill>
        <p:spPr bwMode="auto">
          <a:xfrm>
            <a:off x="2209800" y="3962400"/>
            <a:ext cx="4648200" cy="1901950"/>
          </a:xfrm>
          <a:prstGeom prst="rect">
            <a:avLst/>
          </a:prstGeom>
          <a:noFill/>
        </p:spPr>
      </p:pic>
      <p:sp>
        <p:nvSpPr>
          <p:cNvPr id="9" name="AutoShape 7"/>
          <p:cNvSpPr>
            <a:spLocks noChangeArrowheads="1"/>
          </p:cNvSpPr>
          <p:nvPr/>
        </p:nvSpPr>
        <p:spPr bwMode="auto">
          <a:xfrm>
            <a:off x="3352800" y="3733800"/>
            <a:ext cx="2359152" cy="2362200"/>
          </a:xfrm>
          <a:custGeom>
            <a:avLst/>
            <a:gdLst>
              <a:gd name="G0" fmla="+- 1253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979" y="17093"/>
                </a:moveTo>
                <a:cubicBezTo>
                  <a:pt x="19505" y="15351"/>
                  <a:pt x="20347" y="13115"/>
                  <a:pt x="20347" y="10800"/>
                </a:cubicBezTo>
                <a:cubicBezTo>
                  <a:pt x="20347" y="5527"/>
                  <a:pt x="16072" y="1253"/>
                  <a:pt x="10800" y="1253"/>
                </a:cubicBezTo>
                <a:cubicBezTo>
                  <a:pt x="8484" y="1252"/>
                  <a:pt x="6248" y="2094"/>
                  <a:pt x="4506" y="3620"/>
                </a:cubicBezTo>
                <a:close/>
                <a:moveTo>
                  <a:pt x="3620" y="4506"/>
                </a:moveTo>
                <a:cubicBezTo>
                  <a:pt x="2094" y="6248"/>
                  <a:pt x="1253" y="8484"/>
                  <a:pt x="1253" y="10799"/>
                </a:cubicBezTo>
                <a:cubicBezTo>
                  <a:pt x="1253" y="16072"/>
                  <a:pt x="5527" y="20347"/>
                  <a:pt x="10800" y="20347"/>
                </a:cubicBezTo>
                <a:cubicBezTo>
                  <a:pt x="13115" y="20347"/>
                  <a:pt x="15351" y="19505"/>
                  <a:pt x="17093" y="17979"/>
                </a:cubicBezTo>
                <a:close/>
              </a:path>
            </a:pathLst>
          </a:custGeom>
          <a:solidFill>
            <a:srgbClr val="FF0000"/>
          </a:solidFill>
          <a:ln w="9525">
            <a:solidFill>
              <a:schemeClr val="tx1"/>
            </a:solidFill>
            <a:miter lim="800000"/>
            <a:headEnd/>
            <a:tailEnd/>
          </a:ln>
          <a:effectLst/>
        </p:spPr>
        <p:txBody>
          <a:bodyPr wrap="none" anchor="ctr"/>
          <a:lstStyle/>
          <a:p>
            <a:endParaRPr lang="en-US"/>
          </a:p>
        </p:txBody>
      </p:sp>
      <p:sp>
        <p:nvSpPr>
          <p:cNvPr id="6" name="Title 5"/>
          <p:cNvSpPr>
            <a:spLocks noGrp="1"/>
          </p:cNvSpPr>
          <p:nvPr>
            <p:ph type="title"/>
          </p:nvPr>
        </p:nvSpPr>
        <p:spPr/>
        <p:txBody>
          <a:bodyPr/>
          <a:lstStyle/>
          <a:p>
            <a:r>
              <a:rPr lang="en-US" dirty="0"/>
              <a:t>Gentle Reminder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sz="4000" dirty="0"/>
              <a:t>Contents</a:t>
            </a:r>
            <a:endParaRPr lang="en-US" sz="2400" dirty="0">
              <a:solidFill>
                <a:schemeClr val="accent1"/>
              </a:solidFill>
            </a:endParaRPr>
          </a:p>
        </p:txBody>
      </p:sp>
      <p:graphicFrame>
        <p:nvGraphicFramePr>
          <p:cNvPr id="61" name="Content Placeholder 5"/>
          <p:cNvGraphicFramePr>
            <a:graphicFrameLocks noGrp="1"/>
          </p:cNvGraphicFramePr>
          <p:nvPr>
            <p:ph idx="1"/>
            <p:extLst>
              <p:ext uri="{D42A27DB-BD31-4B8C-83A1-F6EECF244321}">
                <p14:modId xmlns:p14="http://schemas.microsoft.com/office/powerpoint/2010/main" val="3367496504"/>
              </p:ext>
            </p:extLst>
          </p:nvPr>
        </p:nvGraphicFramePr>
        <p:xfrm>
          <a:off x="628650" y="1528763"/>
          <a:ext cx="7886700" cy="4643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body" idx="1"/>
          </p:nvPr>
        </p:nvSpPr>
        <p:spPr>
          <a:xfrm>
            <a:off x="381000" y="1447800"/>
            <a:ext cx="8305800" cy="5181600"/>
          </a:xfrm>
          <a:noFill/>
        </p:spPr>
        <p:txBody>
          <a:bodyPr lIns="92075" tIns="46038" rIns="92075" bIns="46038">
            <a:normAutofit fontScale="85000" lnSpcReduction="20000"/>
          </a:bodyPr>
          <a:lstStyle/>
          <a:p>
            <a:r>
              <a:rPr lang="en-US" sz="2400" dirty="0"/>
              <a:t>Classification is also called </a:t>
            </a:r>
            <a:r>
              <a:rPr lang="en-US" sz="2400" b="1" dirty="0"/>
              <a:t>Supervised Learning</a:t>
            </a:r>
          </a:p>
          <a:p>
            <a:r>
              <a:rPr lang="en-US" sz="2400" b="1" dirty="0"/>
              <a:t>Supervision</a:t>
            </a:r>
          </a:p>
          <a:p>
            <a:pPr lvl="1"/>
            <a:r>
              <a:rPr lang="en-US" sz="2000" dirty="0"/>
              <a:t>The training data (observations, measurements, etc) are used to learn a classifier</a:t>
            </a:r>
          </a:p>
          <a:p>
            <a:pPr lvl="1"/>
            <a:r>
              <a:rPr lang="en-US" sz="2000" dirty="0"/>
              <a:t>The training data are </a:t>
            </a:r>
            <a:r>
              <a:rPr lang="en-US" sz="2000" b="1" dirty="0"/>
              <a:t>labeled data</a:t>
            </a:r>
          </a:p>
          <a:p>
            <a:pPr lvl="1"/>
            <a:r>
              <a:rPr lang="en-US" sz="2000" dirty="0"/>
              <a:t>New data (</a:t>
            </a:r>
            <a:r>
              <a:rPr lang="en-US" sz="2000" b="1" dirty="0"/>
              <a:t>unlabeled) are classified </a:t>
            </a:r>
            <a:r>
              <a:rPr lang="en-US" sz="2000" dirty="0"/>
              <a:t>Using the training data</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t>Principle</a:t>
            </a:r>
          </a:p>
          <a:p>
            <a:pPr lvl="1"/>
            <a:r>
              <a:rPr lang="en-US" sz="2000" dirty="0"/>
              <a:t>Construct models (functions) based on some training examples</a:t>
            </a:r>
          </a:p>
          <a:p>
            <a:pPr lvl="1"/>
            <a:r>
              <a:rPr lang="en-US" sz="2000" dirty="0"/>
              <a:t>Describe and distinguish classes or concepts for future prediction</a:t>
            </a:r>
          </a:p>
          <a:p>
            <a:pPr lvl="1"/>
            <a:r>
              <a:rPr lang="en-US" sz="2000" dirty="0"/>
              <a:t>Predict some unknown class labels</a:t>
            </a:r>
          </a:p>
        </p:txBody>
      </p:sp>
      <p:sp>
        <p:nvSpPr>
          <p:cNvPr id="32774" name="Rectangle 3"/>
          <p:cNvSpPr>
            <a:spLocks noGrp="1" noChangeArrowheads="1"/>
          </p:cNvSpPr>
          <p:nvPr>
            <p:ph type="title"/>
          </p:nvPr>
        </p:nvSpPr>
        <p:spPr>
          <a:xfrm>
            <a:off x="381000" y="381000"/>
            <a:ext cx="8305800" cy="685800"/>
          </a:xfrm>
          <a:noFill/>
        </p:spPr>
        <p:txBody>
          <a:bodyPr lIns="92075" tIns="46038" rIns="92075" bIns="46038" anchor="ctr"/>
          <a:lstStyle/>
          <a:p>
            <a:pPr eaLnBrk="1" hangingPunct="1"/>
            <a:r>
              <a:rPr lang="en-US" dirty="0"/>
              <a:t>Definition</a:t>
            </a:r>
          </a:p>
        </p:txBody>
      </p:sp>
      <p:pic>
        <p:nvPicPr>
          <p:cNvPr id="491522" name="Picture 2"/>
          <p:cNvPicPr>
            <a:picLocks noChangeAspect="1" noChangeArrowheads="1"/>
          </p:cNvPicPr>
          <p:nvPr/>
        </p:nvPicPr>
        <p:blipFill>
          <a:blip r:embed="rId3"/>
          <a:srcRect l="1897" r="1355" b="3226"/>
          <a:stretch>
            <a:fillRect/>
          </a:stretch>
        </p:blipFill>
        <p:spPr bwMode="auto">
          <a:xfrm>
            <a:off x="762000" y="3124200"/>
            <a:ext cx="7772400" cy="2286000"/>
          </a:xfrm>
          <a:prstGeom prst="rect">
            <a:avLst/>
          </a:prstGeom>
          <a:noFill/>
          <a:ln w="9525">
            <a:noFill/>
            <a:miter lim="800000"/>
            <a:headEnd/>
            <a:tailEnd/>
          </a:ln>
          <a:effec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body" idx="1"/>
          </p:nvPr>
        </p:nvSpPr>
        <p:spPr>
          <a:xfrm>
            <a:off x="381000" y="1295400"/>
            <a:ext cx="4114800" cy="5181600"/>
          </a:xfrm>
          <a:noFill/>
        </p:spPr>
        <p:txBody>
          <a:bodyPr lIns="92075" tIns="46038" rIns="92075" bIns="46038">
            <a:normAutofit fontScale="92500" lnSpcReduction="10000"/>
          </a:bodyPr>
          <a:lstStyle/>
          <a:p>
            <a:r>
              <a:rPr lang="en-US" sz="2400" b="1" dirty="0"/>
              <a:t>Classification</a:t>
            </a:r>
          </a:p>
          <a:p>
            <a:pPr lvl="1"/>
            <a:r>
              <a:rPr lang="en-US" sz="2000" dirty="0"/>
              <a:t>Predicts categorical class labels (discrete or nominal)</a:t>
            </a:r>
          </a:p>
          <a:p>
            <a:pPr lvl="1"/>
            <a:r>
              <a:rPr lang="en-US" sz="2000" dirty="0"/>
              <a:t>Use labels of the training data to classify new data</a:t>
            </a:r>
          </a:p>
          <a:p>
            <a:r>
              <a:rPr lang="en-US" sz="2400" b="1" dirty="0"/>
              <a:t>Example</a:t>
            </a:r>
          </a:p>
          <a:p>
            <a:endParaRPr lang="en-US" sz="2400" b="1" dirty="0"/>
          </a:p>
          <a:p>
            <a:endParaRPr lang="en-US" sz="2400" b="1" dirty="0"/>
          </a:p>
          <a:p>
            <a:endParaRPr lang="en-US" sz="2400" b="1" dirty="0"/>
          </a:p>
          <a:p>
            <a:endParaRPr lang="en-US" sz="2400" b="1" dirty="0"/>
          </a:p>
          <a:p>
            <a:pPr lvl="1"/>
            <a:r>
              <a:rPr lang="en-US" sz="2000" dirty="0"/>
              <a:t>A model or classifier is constructed to predict </a:t>
            </a:r>
            <a:r>
              <a:rPr lang="en-US" sz="2000" b="1" dirty="0"/>
              <a:t>categorical labels such as </a:t>
            </a:r>
            <a:r>
              <a:rPr lang="en-US" sz="2000" dirty="0"/>
              <a:t>“safe” or “risky” for a loan application data.</a:t>
            </a:r>
          </a:p>
        </p:txBody>
      </p:sp>
      <p:sp>
        <p:nvSpPr>
          <p:cNvPr id="32774" name="Rectangle 3"/>
          <p:cNvSpPr>
            <a:spLocks noGrp="1" noChangeArrowheads="1"/>
          </p:cNvSpPr>
          <p:nvPr>
            <p:ph type="title"/>
          </p:nvPr>
        </p:nvSpPr>
        <p:spPr>
          <a:xfrm>
            <a:off x="381000" y="381000"/>
            <a:ext cx="8305800" cy="685800"/>
          </a:xfrm>
          <a:noFill/>
        </p:spPr>
        <p:txBody>
          <a:bodyPr lIns="92075" tIns="46038" rIns="92075" bIns="46038" anchor="ctr"/>
          <a:lstStyle/>
          <a:p>
            <a:pPr eaLnBrk="1" hangingPunct="1"/>
            <a:r>
              <a:rPr lang="en-US" dirty="0"/>
              <a:t>Classification vs. Prediction</a:t>
            </a:r>
          </a:p>
        </p:txBody>
      </p:sp>
      <p:sp>
        <p:nvSpPr>
          <p:cNvPr id="4" name="Rectangle 2"/>
          <p:cNvSpPr txBox="1">
            <a:spLocks noChangeArrowheads="1"/>
          </p:cNvSpPr>
          <p:nvPr/>
        </p:nvSpPr>
        <p:spPr bwMode="auto">
          <a:xfrm>
            <a:off x="4724400" y="1295400"/>
            <a:ext cx="4267200" cy="5257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noAutofit/>
          </a:bodyPr>
          <a:lstStyle/>
          <a:p>
            <a:pPr>
              <a:buFont typeface="Wingdings" pitchFamily="2" charset="2"/>
              <a:buChar char="v"/>
            </a:pPr>
            <a:r>
              <a:rPr lang="en-US" sz="2200" b="1" dirty="0">
                <a:latin typeface="+mn-lt"/>
              </a:rPr>
              <a:t>Prediction</a:t>
            </a:r>
          </a:p>
          <a:p>
            <a:pPr lvl="1">
              <a:buFont typeface="Wingdings" pitchFamily="2" charset="2"/>
              <a:buChar char="v"/>
            </a:pPr>
            <a:r>
              <a:rPr lang="en-US" dirty="0">
                <a:latin typeface="+mn-lt"/>
              </a:rPr>
              <a:t>Models continuous-valued functions, i.e., predicts unknown or missing values</a:t>
            </a:r>
          </a:p>
          <a:p>
            <a:pPr>
              <a:buFont typeface="Wingdings" pitchFamily="2" charset="2"/>
              <a:buChar char="v"/>
            </a:pPr>
            <a:r>
              <a:rPr lang="en-US" sz="2200" b="1" dirty="0">
                <a:latin typeface="+mn-lt"/>
              </a:rPr>
              <a:t>Example</a:t>
            </a:r>
          </a:p>
          <a:p>
            <a:pPr lvl="1">
              <a:buFont typeface="Wingdings" pitchFamily="2" charset="2"/>
              <a:buChar char="v"/>
            </a:pPr>
            <a:r>
              <a:rPr lang="en-US" dirty="0">
                <a:latin typeface="+mn-lt"/>
              </a:rPr>
              <a:t>A marketing manager would like to predict how much a given costumer will spend during a sale</a:t>
            </a:r>
          </a:p>
          <a:p>
            <a:pPr>
              <a:buFont typeface="Wingdings" pitchFamily="2" charset="2"/>
              <a:buChar char="v"/>
            </a:pPr>
            <a:endParaRPr lang="en-US" sz="2200" dirty="0">
              <a:latin typeface="+mn-lt"/>
            </a:endParaRPr>
          </a:p>
          <a:p>
            <a:pPr>
              <a:buFont typeface="Wingdings" pitchFamily="2" charset="2"/>
              <a:buChar char="v"/>
            </a:pPr>
            <a:endParaRPr lang="en-US" sz="2200" dirty="0">
              <a:latin typeface="+mn-lt"/>
            </a:endParaRPr>
          </a:p>
          <a:p>
            <a:pPr>
              <a:buFont typeface="Wingdings" pitchFamily="2" charset="2"/>
              <a:buChar char="v"/>
            </a:pPr>
            <a:endParaRPr lang="en-US" sz="2200" dirty="0">
              <a:latin typeface="+mn-lt"/>
            </a:endParaRPr>
          </a:p>
          <a:p>
            <a:pPr lvl="1">
              <a:buFont typeface="Wingdings" pitchFamily="2" charset="2"/>
              <a:buChar char="v"/>
            </a:pPr>
            <a:r>
              <a:rPr lang="en-US" dirty="0">
                <a:latin typeface="+mn-lt"/>
              </a:rPr>
              <a:t>Unlike classification, it provides ordered values</a:t>
            </a:r>
          </a:p>
          <a:p>
            <a:pPr lvl="1">
              <a:buFont typeface="Wingdings" pitchFamily="2" charset="2"/>
              <a:buChar char="v"/>
            </a:pPr>
            <a:r>
              <a:rPr lang="en-US" sz="2000" b="1" dirty="0">
                <a:latin typeface="+mn-lt"/>
              </a:rPr>
              <a:t>Regression analysis is used for </a:t>
            </a:r>
            <a:r>
              <a:rPr lang="en-US" sz="2000" dirty="0">
                <a:latin typeface="+mn-lt"/>
              </a:rPr>
              <a:t>prediction</a:t>
            </a:r>
          </a:p>
          <a:p>
            <a:pPr lvl="1">
              <a:buFont typeface="Wingdings" pitchFamily="2" charset="2"/>
              <a:buChar char="v"/>
            </a:pPr>
            <a:r>
              <a:rPr lang="en-US" sz="2000" dirty="0">
                <a:latin typeface="+mn-lt"/>
              </a:rPr>
              <a:t>Prediction is a short name for</a:t>
            </a:r>
          </a:p>
          <a:p>
            <a:pPr lvl="1">
              <a:buFont typeface="Wingdings" pitchFamily="2" charset="2"/>
              <a:buChar char="v"/>
            </a:pPr>
            <a:r>
              <a:rPr lang="en-US" sz="2000" b="1" dirty="0">
                <a:latin typeface="+mn-lt"/>
              </a:rPr>
              <a:t>numeric prediction</a:t>
            </a:r>
            <a:endParaRPr kumimoji="0" lang="en-US" sz="2000" b="0" i="0" u="none" strike="noStrike" kern="0" cap="none" spc="0" normalizeH="0" baseline="0" noProof="0" dirty="0">
              <a:ln>
                <a:noFill/>
              </a:ln>
              <a:effectLst/>
              <a:uLnTx/>
              <a:uFillTx/>
              <a:latin typeface="+mn-lt"/>
              <a:ea typeface="+mn-ea"/>
              <a:cs typeface="+mn-cs"/>
            </a:endParaRPr>
          </a:p>
        </p:txBody>
      </p:sp>
      <p:sp>
        <p:nvSpPr>
          <p:cNvPr id="7" name="object 19"/>
          <p:cNvSpPr/>
          <p:nvPr/>
        </p:nvSpPr>
        <p:spPr>
          <a:xfrm>
            <a:off x="5542064" y="3810000"/>
            <a:ext cx="642936" cy="642937"/>
          </a:xfrm>
          <a:prstGeom prst="rect">
            <a:avLst/>
          </a:prstGeom>
          <a:blipFill>
            <a:blip r:embed="rId3" cstate="print"/>
            <a:stretch>
              <a:fillRect/>
            </a:stretch>
          </a:blipFill>
        </p:spPr>
        <p:txBody>
          <a:bodyPr wrap="square" lIns="0" tIns="0" rIns="0" bIns="0" rtlCol="0"/>
          <a:lstStyle/>
          <a:p>
            <a:endParaRPr/>
          </a:p>
        </p:txBody>
      </p:sp>
      <p:sp>
        <p:nvSpPr>
          <p:cNvPr id="8" name="object 20"/>
          <p:cNvSpPr txBox="1"/>
          <p:nvPr/>
        </p:nvSpPr>
        <p:spPr>
          <a:xfrm>
            <a:off x="4800600" y="3933509"/>
            <a:ext cx="735965" cy="386080"/>
          </a:xfrm>
          <a:prstGeom prst="rect">
            <a:avLst/>
          </a:prstGeom>
        </p:spPr>
        <p:txBody>
          <a:bodyPr vert="horz" wrap="square" lIns="0" tIns="22860" rIns="0" bIns="0" rtlCol="0">
            <a:spAutoFit/>
          </a:bodyPr>
          <a:lstStyle/>
          <a:p>
            <a:pPr marL="169545" marR="5080" indent="-157480">
              <a:lnSpc>
                <a:spcPts val="1400"/>
              </a:lnSpc>
              <a:spcBef>
                <a:spcPts val="180"/>
              </a:spcBef>
            </a:pPr>
            <a:r>
              <a:rPr sz="1200" b="1" dirty="0">
                <a:latin typeface="Century Gothic"/>
                <a:cs typeface="Century Gothic"/>
              </a:rPr>
              <a:t>Customer  </a:t>
            </a:r>
            <a:r>
              <a:rPr sz="1200" b="1" spc="-5" dirty="0">
                <a:latin typeface="Century Gothic"/>
                <a:cs typeface="Century Gothic"/>
              </a:rPr>
              <a:t>profile</a:t>
            </a:r>
            <a:endParaRPr sz="1200">
              <a:latin typeface="Century Gothic"/>
              <a:cs typeface="Century Gothic"/>
            </a:endParaRPr>
          </a:p>
        </p:txBody>
      </p:sp>
      <p:sp>
        <p:nvSpPr>
          <p:cNvPr id="9" name="object 21"/>
          <p:cNvSpPr/>
          <p:nvPr/>
        </p:nvSpPr>
        <p:spPr>
          <a:xfrm>
            <a:off x="6485039" y="3843339"/>
            <a:ext cx="1323975" cy="571500"/>
          </a:xfrm>
          <a:custGeom>
            <a:avLst/>
            <a:gdLst/>
            <a:ahLst/>
            <a:cxnLst/>
            <a:rect l="l" t="t" r="r" b="b"/>
            <a:pathLst>
              <a:path w="1323975" h="571500">
                <a:moveTo>
                  <a:pt x="0" y="571499"/>
                </a:moveTo>
                <a:lnTo>
                  <a:pt x="1323975" y="571499"/>
                </a:lnTo>
                <a:lnTo>
                  <a:pt x="1323975" y="0"/>
                </a:lnTo>
                <a:lnTo>
                  <a:pt x="0" y="0"/>
                </a:lnTo>
                <a:lnTo>
                  <a:pt x="0" y="571499"/>
                </a:lnTo>
                <a:close/>
              </a:path>
            </a:pathLst>
          </a:custGeom>
          <a:solidFill>
            <a:srgbClr val="8590B2"/>
          </a:solidFill>
        </p:spPr>
        <p:txBody>
          <a:bodyPr wrap="square" lIns="0" tIns="0" rIns="0" bIns="0" rtlCol="0"/>
          <a:lstStyle/>
          <a:p>
            <a:endParaRPr/>
          </a:p>
        </p:txBody>
      </p:sp>
      <p:sp>
        <p:nvSpPr>
          <p:cNvPr id="10" name="object 22"/>
          <p:cNvSpPr/>
          <p:nvPr/>
        </p:nvSpPr>
        <p:spPr>
          <a:xfrm>
            <a:off x="6485039" y="3843339"/>
            <a:ext cx="1323975" cy="571500"/>
          </a:xfrm>
          <a:custGeom>
            <a:avLst/>
            <a:gdLst/>
            <a:ahLst/>
            <a:cxnLst/>
            <a:rect l="l" t="t" r="r" b="b"/>
            <a:pathLst>
              <a:path w="1323975" h="571500">
                <a:moveTo>
                  <a:pt x="0" y="0"/>
                </a:moveTo>
                <a:lnTo>
                  <a:pt x="1323974" y="0"/>
                </a:lnTo>
                <a:lnTo>
                  <a:pt x="1323974" y="571499"/>
                </a:lnTo>
                <a:lnTo>
                  <a:pt x="0" y="571499"/>
                </a:lnTo>
                <a:lnTo>
                  <a:pt x="0" y="0"/>
                </a:lnTo>
                <a:close/>
              </a:path>
            </a:pathLst>
          </a:custGeom>
          <a:ln w="19049">
            <a:solidFill>
              <a:srgbClr val="656D8A"/>
            </a:solidFill>
          </a:ln>
        </p:spPr>
        <p:txBody>
          <a:bodyPr wrap="square" lIns="0" tIns="0" rIns="0" bIns="0" rtlCol="0"/>
          <a:lstStyle/>
          <a:p>
            <a:endParaRPr/>
          </a:p>
        </p:txBody>
      </p:sp>
      <p:sp>
        <p:nvSpPr>
          <p:cNvPr id="11" name="object 23"/>
          <p:cNvSpPr txBox="1"/>
          <p:nvPr/>
        </p:nvSpPr>
        <p:spPr>
          <a:xfrm>
            <a:off x="6583226" y="3842069"/>
            <a:ext cx="1132840" cy="566420"/>
          </a:xfrm>
          <a:prstGeom prst="rect">
            <a:avLst/>
          </a:prstGeom>
        </p:spPr>
        <p:txBody>
          <a:bodyPr vert="horz" wrap="square" lIns="0" tIns="27940" rIns="0" bIns="0" rtlCol="0">
            <a:spAutoFit/>
          </a:bodyPr>
          <a:lstStyle/>
          <a:p>
            <a:pPr marL="12700" marR="5080" indent="78105">
              <a:lnSpc>
                <a:spcPts val="2100"/>
              </a:lnSpc>
              <a:spcBef>
                <a:spcPts val="220"/>
              </a:spcBef>
            </a:pPr>
            <a:r>
              <a:rPr sz="1800" b="1" spc="-5" dirty="0">
                <a:solidFill>
                  <a:srgbClr val="FFFFFF"/>
                </a:solidFill>
                <a:latin typeface="Gill Sans MT"/>
                <a:cs typeface="Gill Sans MT"/>
              </a:rPr>
              <a:t>Numeric  </a:t>
            </a:r>
            <a:r>
              <a:rPr sz="1800" b="1" dirty="0">
                <a:solidFill>
                  <a:srgbClr val="FFFFFF"/>
                </a:solidFill>
                <a:latin typeface="Gill Sans MT"/>
                <a:cs typeface="Gill Sans MT"/>
              </a:rPr>
              <a:t>P</a:t>
            </a:r>
            <a:r>
              <a:rPr sz="1800" b="1" spc="-40" dirty="0">
                <a:solidFill>
                  <a:srgbClr val="FFFFFF"/>
                </a:solidFill>
                <a:latin typeface="Gill Sans MT"/>
                <a:cs typeface="Gill Sans MT"/>
              </a:rPr>
              <a:t>r</a:t>
            </a:r>
            <a:r>
              <a:rPr sz="1800" b="1" dirty="0">
                <a:solidFill>
                  <a:srgbClr val="FFFFFF"/>
                </a:solidFill>
                <a:latin typeface="Gill Sans MT"/>
                <a:cs typeface="Gill Sans MT"/>
              </a:rPr>
              <a:t>e</a:t>
            </a:r>
            <a:r>
              <a:rPr sz="1800" b="1" spc="-5" dirty="0">
                <a:solidFill>
                  <a:srgbClr val="FFFFFF"/>
                </a:solidFill>
                <a:latin typeface="Gill Sans MT"/>
                <a:cs typeface="Gill Sans MT"/>
              </a:rPr>
              <a:t>dict</a:t>
            </a:r>
            <a:r>
              <a:rPr sz="1800" b="1" dirty="0">
                <a:solidFill>
                  <a:srgbClr val="FFFFFF"/>
                </a:solidFill>
                <a:latin typeface="Gill Sans MT"/>
                <a:cs typeface="Gill Sans MT"/>
              </a:rPr>
              <a:t>ion</a:t>
            </a:r>
            <a:endParaRPr sz="1800">
              <a:latin typeface="Gill Sans MT"/>
              <a:cs typeface="Gill Sans MT"/>
            </a:endParaRPr>
          </a:p>
        </p:txBody>
      </p:sp>
      <p:sp>
        <p:nvSpPr>
          <p:cNvPr id="12" name="object 24"/>
          <p:cNvSpPr/>
          <p:nvPr/>
        </p:nvSpPr>
        <p:spPr>
          <a:xfrm>
            <a:off x="6122137" y="4008986"/>
            <a:ext cx="523701" cy="324196"/>
          </a:xfrm>
          <a:prstGeom prst="rect">
            <a:avLst/>
          </a:prstGeom>
          <a:blipFill>
            <a:blip r:embed="rId4" cstate="print"/>
            <a:stretch>
              <a:fillRect/>
            </a:stretch>
          </a:blipFill>
        </p:spPr>
        <p:txBody>
          <a:bodyPr wrap="square" lIns="0" tIns="0" rIns="0" bIns="0" rtlCol="0"/>
          <a:lstStyle/>
          <a:p>
            <a:endParaRPr/>
          </a:p>
        </p:txBody>
      </p:sp>
      <p:sp>
        <p:nvSpPr>
          <p:cNvPr id="13" name="object 25"/>
          <p:cNvSpPr txBox="1"/>
          <p:nvPr/>
        </p:nvSpPr>
        <p:spPr>
          <a:xfrm>
            <a:off x="8192554" y="4008120"/>
            <a:ext cx="7442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entury Gothic"/>
                <a:cs typeface="Century Gothic"/>
              </a:rPr>
              <a:t>150</a:t>
            </a:r>
            <a:r>
              <a:rPr sz="1400" b="1" spc="-70" dirty="0">
                <a:latin typeface="Century Gothic"/>
                <a:cs typeface="Century Gothic"/>
              </a:rPr>
              <a:t> </a:t>
            </a:r>
            <a:r>
              <a:rPr sz="1400" b="1" spc="-5" dirty="0">
                <a:latin typeface="Century Gothic"/>
                <a:cs typeface="Century Gothic"/>
              </a:rPr>
              <a:t>Euro</a:t>
            </a:r>
            <a:endParaRPr sz="1400">
              <a:latin typeface="Century Gothic"/>
              <a:cs typeface="Century Gothic"/>
            </a:endParaRPr>
          </a:p>
        </p:txBody>
      </p:sp>
      <p:sp>
        <p:nvSpPr>
          <p:cNvPr id="14" name="object 26"/>
          <p:cNvSpPr/>
          <p:nvPr/>
        </p:nvSpPr>
        <p:spPr>
          <a:xfrm>
            <a:off x="7747274" y="4008986"/>
            <a:ext cx="527858" cy="324196"/>
          </a:xfrm>
          <a:prstGeom prst="rect">
            <a:avLst/>
          </a:prstGeom>
          <a:blipFill>
            <a:blip r:embed="rId5" cstate="print"/>
            <a:stretch>
              <a:fillRect/>
            </a:stretch>
          </a:blipFill>
        </p:spPr>
        <p:txBody>
          <a:bodyPr wrap="square" lIns="0" tIns="0" rIns="0" bIns="0" rtlCol="0"/>
          <a:lstStyle/>
          <a:p>
            <a:endParaRPr/>
          </a:p>
        </p:txBody>
      </p:sp>
      <p:sp>
        <p:nvSpPr>
          <p:cNvPr id="24" name="object 9"/>
          <p:cNvSpPr/>
          <p:nvPr/>
        </p:nvSpPr>
        <p:spPr>
          <a:xfrm>
            <a:off x="838200" y="3395663"/>
            <a:ext cx="642936" cy="642936"/>
          </a:xfrm>
          <a:prstGeom prst="rect">
            <a:avLst/>
          </a:prstGeom>
          <a:blipFill>
            <a:blip r:embed="rId3" cstate="print"/>
            <a:stretch>
              <a:fillRect/>
            </a:stretch>
          </a:blipFill>
        </p:spPr>
        <p:txBody>
          <a:bodyPr wrap="square" lIns="0" tIns="0" rIns="0" bIns="0" rtlCol="0"/>
          <a:lstStyle/>
          <a:p>
            <a:endParaRPr/>
          </a:p>
        </p:txBody>
      </p:sp>
      <p:sp>
        <p:nvSpPr>
          <p:cNvPr id="25" name="object 10"/>
          <p:cNvSpPr txBox="1"/>
          <p:nvPr/>
        </p:nvSpPr>
        <p:spPr>
          <a:xfrm>
            <a:off x="849211" y="4033520"/>
            <a:ext cx="735965" cy="386080"/>
          </a:xfrm>
          <a:prstGeom prst="rect">
            <a:avLst/>
          </a:prstGeom>
        </p:spPr>
        <p:txBody>
          <a:bodyPr vert="horz" wrap="square" lIns="0" tIns="22860" rIns="0" bIns="0" rtlCol="0">
            <a:spAutoFit/>
          </a:bodyPr>
          <a:lstStyle/>
          <a:p>
            <a:pPr marL="169545" marR="5080" indent="-157480">
              <a:lnSpc>
                <a:spcPts val="1400"/>
              </a:lnSpc>
              <a:spcBef>
                <a:spcPts val="180"/>
              </a:spcBef>
            </a:pPr>
            <a:r>
              <a:rPr sz="1200" b="1" dirty="0">
                <a:latin typeface="Century Gothic"/>
                <a:cs typeface="Century Gothic"/>
              </a:rPr>
              <a:t>Customer  </a:t>
            </a:r>
            <a:r>
              <a:rPr sz="1200" b="1" spc="-5" dirty="0">
                <a:latin typeface="Century Gothic"/>
                <a:cs typeface="Century Gothic"/>
              </a:rPr>
              <a:t>profile</a:t>
            </a:r>
            <a:endParaRPr sz="1200">
              <a:latin typeface="Century Gothic"/>
              <a:cs typeface="Century Gothic"/>
            </a:endParaRPr>
          </a:p>
        </p:txBody>
      </p:sp>
      <p:sp>
        <p:nvSpPr>
          <p:cNvPr id="26" name="object 11"/>
          <p:cNvSpPr/>
          <p:nvPr/>
        </p:nvSpPr>
        <p:spPr>
          <a:xfrm>
            <a:off x="1733549" y="3465513"/>
            <a:ext cx="1268730" cy="500380"/>
          </a:xfrm>
          <a:custGeom>
            <a:avLst/>
            <a:gdLst/>
            <a:ahLst/>
            <a:cxnLst/>
            <a:rect l="l" t="t" r="r" b="b"/>
            <a:pathLst>
              <a:path w="1268729" h="500379">
                <a:moveTo>
                  <a:pt x="0" y="500061"/>
                </a:moveTo>
                <a:lnTo>
                  <a:pt x="1268411" y="500061"/>
                </a:lnTo>
                <a:lnTo>
                  <a:pt x="1268411" y="0"/>
                </a:lnTo>
                <a:lnTo>
                  <a:pt x="0" y="0"/>
                </a:lnTo>
                <a:lnTo>
                  <a:pt x="0" y="500061"/>
                </a:lnTo>
                <a:close/>
              </a:path>
            </a:pathLst>
          </a:custGeom>
          <a:solidFill>
            <a:srgbClr val="8590B2"/>
          </a:solidFill>
        </p:spPr>
        <p:txBody>
          <a:bodyPr wrap="square" lIns="0" tIns="0" rIns="0" bIns="0" rtlCol="0"/>
          <a:lstStyle/>
          <a:p>
            <a:endParaRPr/>
          </a:p>
        </p:txBody>
      </p:sp>
      <p:sp>
        <p:nvSpPr>
          <p:cNvPr id="27" name="object 12"/>
          <p:cNvSpPr/>
          <p:nvPr/>
        </p:nvSpPr>
        <p:spPr>
          <a:xfrm>
            <a:off x="1733549" y="3465514"/>
            <a:ext cx="1268730" cy="500380"/>
          </a:xfrm>
          <a:custGeom>
            <a:avLst/>
            <a:gdLst/>
            <a:ahLst/>
            <a:cxnLst/>
            <a:rect l="l" t="t" r="r" b="b"/>
            <a:pathLst>
              <a:path w="1268729" h="500379">
                <a:moveTo>
                  <a:pt x="0" y="0"/>
                </a:moveTo>
                <a:lnTo>
                  <a:pt x="1268411" y="0"/>
                </a:lnTo>
                <a:lnTo>
                  <a:pt x="1268411" y="500061"/>
                </a:lnTo>
                <a:lnTo>
                  <a:pt x="0" y="500061"/>
                </a:lnTo>
                <a:lnTo>
                  <a:pt x="0" y="0"/>
                </a:lnTo>
                <a:close/>
              </a:path>
            </a:pathLst>
          </a:custGeom>
          <a:ln w="19049">
            <a:solidFill>
              <a:srgbClr val="656D8A"/>
            </a:solidFill>
          </a:ln>
        </p:spPr>
        <p:txBody>
          <a:bodyPr wrap="square" lIns="0" tIns="0" rIns="0" bIns="0" rtlCol="0"/>
          <a:lstStyle/>
          <a:p>
            <a:endParaRPr/>
          </a:p>
        </p:txBody>
      </p:sp>
      <p:sp>
        <p:nvSpPr>
          <p:cNvPr id="28" name="object 13"/>
          <p:cNvSpPr txBox="1"/>
          <p:nvPr/>
        </p:nvSpPr>
        <p:spPr>
          <a:xfrm>
            <a:off x="1869533" y="3565684"/>
            <a:ext cx="100203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Gill Sans MT"/>
                <a:cs typeface="Gill Sans MT"/>
              </a:rPr>
              <a:t>Classifier</a:t>
            </a:r>
            <a:endParaRPr sz="1800">
              <a:latin typeface="Gill Sans MT"/>
              <a:cs typeface="Gill Sans MT"/>
            </a:endParaRPr>
          </a:p>
        </p:txBody>
      </p:sp>
      <p:sp>
        <p:nvSpPr>
          <p:cNvPr id="29" name="object 14"/>
          <p:cNvSpPr/>
          <p:nvPr/>
        </p:nvSpPr>
        <p:spPr>
          <a:xfrm>
            <a:off x="1310091" y="3596640"/>
            <a:ext cx="573578" cy="324196"/>
          </a:xfrm>
          <a:prstGeom prst="rect">
            <a:avLst/>
          </a:prstGeom>
          <a:blipFill>
            <a:blip r:embed="rId6" cstate="print"/>
            <a:stretch>
              <a:fillRect/>
            </a:stretch>
          </a:blipFill>
        </p:spPr>
        <p:txBody>
          <a:bodyPr wrap="square" lIns="0" tIns="0" rIns="0" bIns="0" rtlCol="0"/>
          <a:lstStyle/>
          <a:p>
            <a:endParaRPr/>
          </a:p>
        </p:txBody>
      </p:sp>
      <p:sp>
        <p:nvSpPr>
          <p:cNvPr id="30" name="object 15"/>
          <p:cNvSpPr txBox="1"/>
          <p:nvPr/>
        </p:nvSpPr>
        <p:spPr>
          <a:xfrm>
            <a:off x="3326766" y="3333434"/>
            <a:ext cx="150304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660066"/>
                </a:solidFill>
                <a:latin typeface="Century Gothic"/>
                <a:cs typeface="Century Gothic"/>
              </a:rPr>
              <a:t>Will </a:t>
            </a:r>
            <a:r>
              <a:rPr sz="1200" b="1" spc="-5" dirty="0">
                <a:solidFill>
                  <a:srgbClr val="660066"/>
                </a:solidFill>
                <a:latin typeface="Century Gothic"/>
                <a:cs typeface="Century Gothic"/>
              </a:rPr>
              <a:t>buy </a:t>
            </a:r>
            <a:r>
              <a:rPr sz="1200" b="1" dirty="0">
                <a:solidFill>
                  <a:srgbClr val="660066"/>
                </a:solidFill>
                <a:latin typeface="Century Gothic"/>
                <a:cs typeface="Century Gothic"/>
              </a:rPr>
              <a:t>a</a:t>
            </a:r>
            <a:r>
              <a:rPr sz="1200" b="1" spc="-90" dirty="0">
                <a:solidFill>
                  <a:srgbClr val="660066"/>
                </a:solidFill>
                <a:latin typeface="Century Gothic"/>
                <a:cs typeface="Century Gothic"/>
              </a:rPr>
              <a:t> </a:t>
            </a:r>
            <a:r>
              <a:rPr sz="1200" b="1" spc="-5" dirty="0">
                <a:solidFill>
                  <a:srgbClr val="660066"/>
                </a:solidFill>
                <a:latin typeface="Century Gothic"/>
                <a:cs typeface="Century Gothic"/>
              </a:rPr>
              <a:t>computer</a:t>
            </a:r>
            <a:endParaRPr sz="1200">
              <a:latin typeface="Century Gothic"/>
              <a:cs typeface="Century Gothic"/>
            </a:endParaRPr>
          </a:p>
        </p:txBody>
      </p:sp>
      <p:sp>
        <p:nvSpPr>
          <p:cNvPr id="31" name="object 16"/>
          <p:cNvSpPr txBox="1"/>
          <p:nvPr/>
        </p:nvSpPr>
        <p:spPr>
          <a:xfrm>
            <a:off x="3326766" y="3912870"/>
            <a:ext cx="54991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660066"/>
                </a:solidFill>
                <a:latin typeface="Century Gothic"/>
                <a:cs typeface="Century Gothic"/>
              </a:rPr>
              <a:t>Will</a:t>
            </a:r>
            <a:r>
              <a:rPr sz="1200" b="1" spc="-75" dirty="0">
                <a:solidFill>
                  <a:srgbClr val="660066"/>
                </a:solidFill>
                <a:latin typeface="Century Gothic"/>
                <a:cs typeface="Century Gothic"/>
              </a:rPr>
              <a:t> </a:t>
            </a:r>
            <a:r>
              <a:rPr sz="1200" b="1" spc="-5" dirty="0">
                <a:solidFill>
                  <a:srgbClr val="660066"/>
                </a:solidFill>
                <a:latin typeface="Century Gothic"/>
                <a:cs typeface="Century Gothic"/>
              </a:rPr>
              <a:t>not</a:t>
            </a:r>
            <a:endParaRPr sz="1200">
              <a:latin typeface="Century Gothic"/>
              <a:cs typeface="Century Gothic"/>
            </a:endParaRPr>
          </a:p>
        </p:txBody>
      </p:sp>
      <p:sp>
        <p:nvSpPr>
          <p:cNvPr id="32" name="object 17"/>
          <p:cNvSpPr/>
          <p:nvPr/>
        </p:nvSpPr>
        <p:spPr>
          <a:xfrm>
            <a:off x="2931073" y="3318164"/>
            <a:ext cx="477981" cy="511232"/>
          </a:xfrm>
          <a:prstGeom prst="rect">
            <a:avLst/>
          </a:prstGeom>
          <a:blipFill>
            <a:blip r:embed="rId7" cstate="print"/>
            <a:stretch>
              <a:fillRect/>
            </a:stretch>
          </a:blipFill>
        </p:spPr>
        <p:txBody>
          <a:bodyPr wrap="square" lIns="0" tIns="0" rIns="0" bIns="0" rtlCol="0"/>
          <a:lstStyle/>
          <a:p>
            <a:endParaRPr/>
          </a:p>
        </p:txBody>
      </p:sp>
      <p:sp>
        <p:nvSpPr>
          <p:cNvPr id="33" name="object 18"/>
          <p:cNvSpPr/>
          <p:nvPr/>
        </p:nvSpPr>
        <p:spPr>
          <a:xfrm>
            <a:off x="2931073" y="3688080"/>
            <a:ext cx="477981" cy="536170"/>
          </a:xfrm>
          <a:prstGeom prst="rect">
            <a:avLst/>
          </a:prstGeom>
          <a:blipFill>
            <a:blip r:embed="rId8" cstate="print"/>
            <a:stretch>
              <a:fillRect/>
            </a:stretch>
          </a:blipFill>
        </p:spPr>
        <p:txBody>
          <a:bodyPr wrap="square" lIns="0" tIns="0" rIns="0" bIns="0" rtlCol="0"/>
          <a:lstStyle/>
          <a:p>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body" idx="1"/>
          </p:nvPr>
        </p:nvSpPr>
        <p:spPr>
          <a:xfrm>
            <a:off x="381000" y="1447800"/>
            <a:ext cx="8305800" cy="5029200"/>
          </a:xfrm>
          <a:noFill/>
        </p:spPr>
        <p:txBody>
          <a:bodyPr lIns="92075" tIns="46038" rIns="92075" bIns="46038"/>
          <a:lstStyle/>
          <a:p>
            <a:pPr eaLnBrk="1" hangingPunct="1">
              <a:lnSpc>
                <a:spcPct val="90000"/>
              </a:lnSpc>
            </a:pPr>
            <a:r>
              <a:rPr lang="en-US" sz="2400" dirty="0"/>
              <a:t>Typical applications</a:t>
            </a:r>
          </a:p>
          <a:p>
            <a:pPr eaLnBrk="1" hangingPunct="1">
              <a:lnSpc>
                <a:spcPct val="90000"/>
              </a:lnSpc>
            </a:pPr>
            <a:endParaRPr lang="en-US" sz="2400" dirty="0"/>
          </a:p>
          <a:p>
            <a:pPr lvl="1" eaLnBrk="1" hangingPunct="1">
              <a:lnSpc>
                <a:spcPct val="90000"/>
              </a:lnSpc>
              <a:buClr>
                <a:srgbClr val="0000CC"/>
              </a:buClr>
            </a:pPr>
            <a:r>
              <a:rPr lang="en-US" sz="2400" dirty="0"/>
              <a:t>Credit approval</a:t>
            </a:r>
          </a:p>
          <a:p>
            <a:pPr lvl="1" eaLnBrk="1" hangingPunct="1">
              <a:lnSpc>
                <a:spcPct val="90000"/>
              </a:lnSpc>
              <a:buClr>
                <a:srgbClr val="0000CC"/>
              </a:buClr>
            </a:pPr>
            <a:r>
              <a:rPr lang="en-US" sz="2400" dirty="0"/>
              <a:t>Target marketing</a:t>
            </a:r>
          </a:p>
          <a:p>
            <a:pPr lvl="1" eaLnBrk="1" hangingPunct="1">
              <a:lnSpc>
                <a:spcPct val="90000"/>
              </a:lnSpc>
              <a:buClr>
                <a:srgbClr val="0000CC"/>
              </a:buClr>
            </a:pPr>
            <a:r>
              <a:rPr lang="en-US" sz="2400" dirty="0"/>
              <a:t>Medical diagnosis</a:t>
            </a:r>
          </a:p>
          <a:p>
            <a:pPr lvl="1">
              <a:lnSpc>
                <a:spcPct val="90000"/>
              </a:lnSpc>
              <a:buClr>
                <a:srgbClr val="0000CC"/>
              </a:buClr>
            </a:pPr>
            <a:r>
              <a:rPr lang="en-US" dirty="0"/>
              <a:t>Treatment effectiveness analysis</a:t>
            </a:r>
          </a:p>
          <a:p>
            <a:pPr lvl="1" eaLnBrk="1" hangingPunct="1">
              <a:lnSpc>
                <a:spcPct val="90000"/>
              </a:lnSpc>
              <a:buClr>
                <a:srgbClr val="0000CC"/>
              </a:buClr>
            </a:pPr>
            <a:r>
              <a:rPr lang="en-US" sz="2400" dirty="0"/>
              <a:t>Fraud detection</a:t>
            </a:r>
          </a:p>
          <a:p>
            <a:pPr lvl="1">
              <a:lnSpc>
                <a:spcPct val="90000"/>
              </a:lnSpc>
              <a:buClr>
                <a:srgbClr val="0000CC"/>
              </a:buClr>
            </a:pPr>
            <a:r>
              <a:rPr lang="en-US" dirty="0"/>
              <a:t>Defective parts identification in manufacturing</a:t>
            </a:r>
          </a:p>
          <a:p>
            <a:pPr lvl="1">
              <a:lnSpc>
                <a:spcPct val="90000"/>
              </a:lnSpc>
              <a:buClr>
                <a:srgbClr val="0000CC"/>
              </a:buClr>
            </a:pPr>
            <a:r>
              <a:rPr lang="en-US" dirty="0"/>
              <a:t>Crime zoning</a:t>
            </a:r>
          </a:p>
        </p:txBody>
      </p:sp>
      <p:sp>
        <p:nvSpPr>
          <p:cNvPr id="32774" name="Rectangle 3"/>
          <p:cNvSpPr>
            <a:spLocks noGrp="1" noChangeArrowheads="1"/>
          </p:cNvSpPr>
          <p:nvPr>
            <p:ph type="title"/>
          </p:nvPr>
        </p:nvSpPr>
        <p:spPr>
          <a:xfrm>
            <a:off x="381000" y="381000"/>
            <a:ext cx="8305800" cy="685800"/>
          </a:xfrm>
          <a:noFill/>
        </p:spPr>
        <p:txBody>
          <a:bodyPr lIns="92075" tIns="46038" rIns="92075" bIns="46038" anchor="ctr"/>
          <a:lstStyle/>
          <a:p>
            <a:pPr eaLnBrk="1" hangingPunct="1"/>
            <a:r>
              <a:rPr lang="en-US" dirty="0"/>
              <a:t>Applications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a:xfrm>
            <a:off x="533400" y="304800"/>
            <a:ext cx="8001000" cy="762000"/>
          </a:xfrm>
        </p:spPr>
        <p:txBody>
          <a:bodyPr/>
          <a:lstStyle/>
          <a:p>
            <a:pPr eaLnBrk="1" hangingPunct="1"/>
            <a:r>
              <a:rPr lang="en-US" sz="3200" dirty="0"/>
              <a:t>Classification—A Three-Step Process</a:t>
            </a:r>
            <a:r>
              <a:rPr lang="en-US" sz="2800" dirty="0"/>
              <a:t> </a:t>
            </a:r>
            <a:endParaRPr lang="en-US" sz="3200" dirty="0"/>
          </a:p>
        </p:txBody>
      </p:sp>
      <p:sp>
        <p:nvSpPr>
          <p:cNvPr id="33798" name="Rectangle 3"/>
          <p:cNvSpPr>
            <a:spLocks noGrp="1" noChangeArrowheads="1"/>
          </p:cNvSpPr>
          <p:nvPr>
            <p:ph type="body" idx="1"/>
          </p:nvPr>
        </p:nvSpPr>
        <p:spPr>
          <a:xfrm>
            <a:off x="457200" y="1371600"/>
            <a:ext cx="8305800" cy="5257800"/>
          </a:xfrm>
        </p:spPr>
        <p:txBody>
          <a:bodyPr/>
          <a:lstStyle/>
          <a:p>
            <a:pPr eaLnBrk="1" hangingPunct="1">
              <a:lnSpc>
                <a:spcPct val="90000"/>
              </a:lnSpc>
            </a:pPr>
            <a:r>
              <a:rPr lang="en-US" sz="2000" dirty="0">
                <a:solidFill>
                  <a:schemeClr val="tx2"/>
                </a:solidFill>
              </a:rPr>
              <a:t>Model construction</a:t>
            </a:r>
            <a:r>
              <a:rPr lang="en-US" sz="2000" dirty="0"/>
              <a:t>: describing a set of predetermined classes</a:t>
            </a:r>
          </a:p>
          <a:p>
            <a:pPr lvl="1" eaLnBrk="1" hangingPunct="1">
              <a:lnSpc>
                <a:spcPct val="90000"/>
              </a:lnSpc>
            </a:pPr>
            <a:r>
              <a:rPr lang="en-US" sz="2000" dirty="0"/>
              <a:t>Each </a:t>
            </a:r>
            <a:r>
              <a:rPr lang="en-US" sz="2000" dirty="0" err="1"/>
              <a:t>tuple</a:t>
            </a:r>
            <a:r>
              <a:rPr lang="en-US" sz="2000" dirty="0"/>
              <a:t>/sample is assumed to belong to a predefined class, as determined by the </a:t>
            </a:r>
            <a:r>
              <a:rPr lang="en-US" sz="2000" dirty="0">
                <a:solidFill>
                  <a:schemeClr val="tx2"/>
                </a:solidFill>
              </a:rPr>
              <a:t>class label attribute</a:t>
            </a:r>
          </a:p>
          <a:p>
            <a:pPr lvl="1" eaLnBrk="1" hangingPunct="1">
              <a:lnSpc>
                <a:spcPct val="90000"/>
              </a:lnSpc>
            </a:pPr>
            <a:r>
              <a:rPr lang="en-US" sz="2000" dirty="0"/>
              <a:t>The set of </a:t>
            </a:r>
            <a:r>
              <a:rPr lang="en-US" sz="2000" dirty="0" err="1"/>
              <a:t>tuples</a:t>
            </a:r>
            <a:r>
              <a:rPr lang="en-US" sz="2000" dirty="0"/>
              <a:t> used for model construction is </a:t>
            </a:r>
            <a:r>
              <a:rPr lang="en-US" sz="2000" dirty="0">
                <a:solidFill>
                  <a:schemeClr val="tx2"/>
                </a:solidFill>
              </a:rPr>
              <a:t>training set</a:t>
            </a:r>
          </a:p>
          <a:p>
            <a:pPr lvl="1" eaLnBrk="1" hangingPunct="1">
              <a:lnSpc>
                <a:spcPct val="90000"/>
              </a:lnSpc>
            </a:pPr>
            <a:r>
              <a:rPr lang="en-US" sz="2000" dirty="0"/>
              <a:t>The model is represented as classification rules, decision trees, or mathematical formulae</a:t>
            </a:r>
          </a:p>
          <a:p>
            <a:pPr>
              <a:lnSpc>
                <a:spcPct val="90000"/>
              </a:lnSpc>
            </a:pPr>
            <a:r>
              <a:rPr lang="en-US" sz="2000" dirty="0">
                <a:solidFill>
                  <a:schemeClr val="tx2"/>
                </a:solidFill>
              </a:rPr>
              <a:t>Test Classifier (Estimate accuracy of the model)</a:t>
            </a:r>
          </a:p>
          <a:p>
            <a:pPr lvl="1">
              <a:lnSpc>
                <a:spcPct val="90000"/>
              </a:lnSpc>
            </a:pPr>
            <a:r>
              <a:rPr lang="en-US" sz="2000" dirty="0"/>
              <a:t>The known label of </a:t>
            </a:r>
            <a:r>
              <a:rPr lang="en-US" sz="2000" dirty="0">
                <a:solidFill>
                  <a:schemeClr val="tx2"/>
                </a:solidFill>
              </a:rPr>
              <a:t>test sample </a:t>
            </a:r>
            <a:r>
              <a:rPr lang="en-US" sz="2000" dirty="0"/>
              <a:t>is compared with the classified result from the model</a:t>
            </a:r>
          </a:p>
          <a:p>
            <a:pPr lvl="1">
              <a:lnSpc>
                <a:spcPct val="90000"/>
              </a:lnSpc>
            </a:pPr>
            <a:r>
              <a:rPr lang="en-US" sz="2000" dirty="0"/>
              <a:t>Accuracy rate is the </a:t>
            </a:r>
            <a:r>
              <a:rPr lang="en-US" sz="2000" dirty="0">
                <a:solidFill>
                  <a:srgbClr val="7030A0"/>
                </a:solidFill>
              </a:rPr>
              <a:t>percentage</a:t>
            </a:r>
            <a:r>
              <a:rPr lang="en-US" sz="2000" dirty="0"/>
              <a:t> of test set samples that are correctly classified by the model</a:t>
            </a:r>
          </a:p>
          <a:p>
            <a:pPr lvl="1">
              <a:lnSpc>
                <a:spcPct val="90000"/>
              </a:lnSpc>
            </a:pPr>
            <a:r>
              <a:rPr lang="en-US" sz="2000" dirty="0"/>
              <a:t>Test set is </a:t>
            </a:r>
            <a:r>
              <a:rPr lang="en-US" sz="2000" dirty="0">
                <a:solidFill>
                  <a:srgbClr val="7030A0"/>
                </a:solidFill>
              </a:rPr>
              <a:t>independent</a:t>
            </a:r>
            <a:r>
              <a:rPr lang="en-US" sz="2000" dirty="0"/>
              <a:t> of training set, otherwise </a:t>
            </a:r>
            <a:r>
              <a:rPr lang="en-US" sz="2000" dirty="0">
                <a:solidFill>
                  <a:srgbClr val="C00000"/>
                </a:solidFill>
              </a:rPr>
              <a:t>over-fitting</a:t>
            </a:r>
            <a:r>
              <a:rPr lang="en-US" sz="2000" dirty="0"/>
              <a:t> will occur</a:t>
            </a:r>
          </a:p>
          <a:p>
            <a:pPr eaLnBrk="1" hangingPunct="1">
              <a:lnSpc>
                <a:spcPct val="90000"/>
              </a:lnSpc>
            </a:pPr>
            <a:r>
              <a:rPr lang="en-US" sz="2000" dirty="0">
                <a:solidFill>
                  <a:schemeClr val="tx2"/>
                </a:solidFill>
              </a:rPr>
              <a:t>Model usage</a:t>
            </a:r>
            <a:r>
              <a:rPr lang="en-US" sz="2000" dirty="0"/>
              <a:t>: for classifying future or unknown objects</a:t>
            </a:r>
          </a:p>
          <a:p>
            <a:pPr lvl="1" eaLnBrk="1" hangingPunct="1">
              <a:lnSpc>
                <a:spcPct val="90000"/>
              </a:lnSpc>
            </a:pPr>
            <a:r>
              <a:rPr lang="en-US" sz="2000" dirty="0"/>
              <a:t>If the accuracy is acceptable, use the model to </a:t>
            </a:r>
            <a:r>
              <a:rPr lang="en-US" sz="2000" dirty="0">
                <a:solidFill>
                  <a:schemeClr val="tx2"/>
                </a:solidFill>
              </a:rPr>
              <a:t>classify data </a:t>
            </a:r>
            <a:r>
              <a:rPr lang="en-US" sz="2000" dirty="0" err="1"/>
              <a:t>tuples</a:t>
            </a:r>
            <a:r>
              <a:rPr lang="en-US" sz="2000" dirty="0"/>
              <a:t> whose class labels are not known</a:t>
            </a:r>
            <a:endParaRPr lang="en-US" sz="24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a:xfrm>
            <a:off x="457200" y="228600"/>
            <a:ext cx="8077200" cy="762000"/>
          </a:xfrm>
          <a:noFill/>
        </p:spPr>
        <p:txBody>
          <a:bodyPr lIns="92075" tIns="46038" rIns="92075" bIns="46038"/>
          <a:lstStyle/>
          <a:p>
            <a:pPr eaLnBrk="1" hangingPunct="1"/>
            <a:r>
              <a:rPr lang="en-US" dirty="0"/>
              <a:t>Process (1): Model Construction</a:t>
            </a:r>
          </a:p>
        </p:txBody>
      </p:sp>
      <p:grpSp>
        <p:nvGrpSpPr>
          <p:cNvPr id="2" name="Group 3"/>
          <p:cNvGrpSpPr>
            <a:grpSpLocks/>
          </p:cNvGrpSpPr>
          <p:nvPr/>
        </p:nvGrpSpPr>
        <p:grpSpPr bwMode="auto">
          <a:xfrm>
            <a:off x="2036763" y="1774825"/>
            <a:ext cx="1698625" cy="1506538"/>
            <a:chOff x="1283" y="1118"/>
            <a:chExt cx="1070" cy="949"/>
          </a:xfrm>
        </p:grpSpPr>
        <p:pic>
          <p:nvPicPr>
            <p:cNvPr id="1043" name="Picture 4"/>
            <p:cNvPicPr>
              <a:picLocks noChangeArrowheads="1"/>
            </p:cNvPicPr>
            <p:nvPr/>
          </p:nvPicPr>
          <p:blipFill>
            <a:blip r:embed="rId3"/>
            <a:srcRect/>
            <a:stretch>
              <a:fillRect/>
            </a:stretch>
          </p:blipFill>
          <p:spPr bwMode="auto">
            <a:xfrm>
              <a:off x="1283" y="1118"/>
              <a:ext cx="1070" cy="949"/>
            </a:xfrm>
            <a:prstGeom prst="rect">
              <a:avLst/>
            </a:prstGeom>
            <a:noFill/>
            <a:ln w="9525">
              <a:noFill/>
              <a:miter lim="800000"/>
              <a:headEnd/>
              <a:tailEnd/>
            </a:ln>
          </p:spPr>
        </p:pic>
        <p:sp>
          <p:nvSpPr>
            <p:cNvPr id="1044" name="Rectangle 5"/>
            <p:cNvSpPr>
              <a:spLocks noChangeArrowheads="1"/>
            </p:cNvSpPr>
            <p:nvPr/>
          </p:nvSpPr>
          <p:spPr bwMode="auto">
            <a:xfrm>
              <a:off x="1347" y="1427"/>
              <a:ext cx="934" cy="460"/>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Training</a:t>
              </a:r>
            </a:p>
            <a:p>
              <a:pPr algn="ctr" eaLnBrk="0" hangingPunct="0"/>
              <a:r>
                <a:rPr lang="en-US" sz="2400">
                  <a:latin typeface="Times New Roman" pitchFamily="18" charset="0"/>
                </a:rPr>
                <a:t>Data</a:t>
              </a:r>
            </a:p>
          </p:txBody>
        </p:sp>
      </p:grpSp>
      <p:graphicFrame>
        <p:nvGraphicFramePr>
          <p:cNvPr id="1026" name="Object 1024"/>
          <p:cNvGraphicFramePr>
            <a:graphicFrameLocks/>
          </p:cNvGraphicFramePr>
          <p:nvPr/>
        </p:nvGraphicFramePr>
        <p:xfrm>
          <a:off x="288925" y="3825875"/>
          <a:ext cx="5437188" cy="2495550"/>
        </p:xfrm>
        <a:graphic>
          <a:graphicData uri="http://schemas.openxmlformats.org/presentationml/2006/ole">
            <mc:AlternateContent xmlns:mc="http://schemas.openxmlformats.org/markup-compatibility/2006">
              <mc:Choice xmlns:v="urn:schemas-microsoft-com:vml" Requires="v">
                <p:oleObj spid="_x0000_s287758" name="Worksheet" r:id="rId4" imgW="5437188" imgH="2495550" progId="Excel.Sheet.8">
                  <p:embed/>
                </p:oleObj>
              </mc:Choice>
              <mc:Fallback>
                <p:oleObj name="Worksheet" r:id="rId4" imgW="5437188" imgH="2495550" progId="Excel.Sheet.8">
                  <p:embed/>
                  <p:pic>
                    <p:nvPicPr>
                      <p:cNvPr id="0" name="Picture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25" y="3825875"/>
                        <a:ext cx="5437188" cy="2495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032" name="Line 7"/>
          <p:cNvSpPr>
            <a:spLocks noChangeShapeType="1"/>
          </p:cNvSpPr>
          <p:nvPr/>
        </p:nvSpPr>
        <p:spPr bwMode="auto">
          <a:xfrm flipH="1">
            <a:off x="306388" y="3111500"/>
            <a:ext cx="1644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3" name="Line 8"/>
          <p:cNvSpPr>
            <a:spLocks noChangeShapeType="1"/>
          </p:cNvSpPr>
          <p:nvPr/>
        </p:nvSpPr>
        <p:spPr bwMode="auto">
          <a:xfrm>
            <a:off x="3736975" y="3111500"/>
            <a:ext cx="2025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4" name="Rectangle 9"/>
          <p:cNvSpPr>
            <a:spLocks noChangeArrowheads="1"/>
          </p:cNvSpPr>
          <p:nvPr/>
        </p:nvSpPr>
        <p:spPr bwMode="auto">
          <a:xfrm>
            <a:off x="6481763" y="1622425"/>
            <a:ext cx="1870075" cy="835025"/>
          </a:xfrm>
          <a:prstGeom prst="rect">
            <a:avLst/>
          </a:prstGeom>
          <a:solidFill>
            <a:srgbClr val="CCFFFF"/>
          </a:solidFill>
          <a:ln w="12700">
            <a:solidFill>
              <a:schemeClr val="tx1"/>
            </a:solid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Classification</a:t>
            </a:r>
          </a:p>
          <a:p>
            <a:pPr algn="ctr" eaLnBrk="0" hangingPunct="0"/>
            <a:r>
              <a:rPr lang="en-US" sz="2400">
                <a:latin typeface="Times New Roman" pitchFamily="18" charset="0"/>
              </a:rPr>
              <a:t>Algorithms</a:t>
            </a:r>
          </a:p>
        </p:txBody>
      </p:sp>
      <p:sp>
        <p:nvSpPr>
          <p:cNvPr id="1035" name="AutoShape 10"/>
          <p:cNvSpPr>
            <a:spLocks noChangeArrowheads="1"/>
          </p:cNvSpPr>
          <p:nvPr/>
        </p:nvSpPr>
        <p:spPr bwMode="auto">
          <a:xfrm rot="-1140000">
            <a:off x="4235450" y="2074863"/>
            <a:ext cx="1657350" cy="484187"/>
          </a:xfrm>
          <a:prstGeom prst="rightArrow">
            <a:avLst>
              <a:gd name="adj1" fmla="val 50000"/>
              <a:gd name="adj2" fmla="val 85606"/>
            </a:avLst>
          </a:prstGeom>
          <a:solidFill>
            <a:srgbClr val="2597B8"/>
          </a:solidFill>
          <a:ln w="12700">
            <a:solidFill>
              <a:srgbClr val="000000"/>
            </a:solidFill>
            <a:miter lim="800000"/>
            <a:headEnd/>
            <a:tailEnd/>
          </a:ln>
        </p:spPr>
        <p:txBody>
          <a:bodyPr wrap="none" anchor="ctr"/>
          <a:lstStyle/>
          <a:p>
            <a:endParaRPr lang="en-US"/>
          </a:p>
        </p:txBody>
      </p:sp>
      <p:sp>
        <p:nvSpPr>
          <p:cNvPr id="1036" name="Rectangle 11"/>
          <p:cNvSpPr>
            <a:spLocks noChangeArrowheads="1"/>
          </p:cNvSpPr>
          <p:nvPr/>
        </p:nvSpPr>
        <p:spPr bwMode="auto">
          <a:xfrm>
            <a:off x="5948363" y="5311775"/>
            <a:ext cx="3008312" cy="1200150"/>
          </a:xfrm>
          <a:prstGeom prst="rect">
            <a:avLst/>
          </a:prstGeom>
          <a:solidFill>
            <a:srgbClr val="CCFFCC"/>
          </a:solidFill>
          <a:ln w="12700">
            <a:solidFill>
              <a:schemeClr val="tx1"/>
            </a:solidFill>
            <a:miter lim="800000"/>
            <a:headEnd/>
            <a:tailEnd/>
          </a:ln>
        </p:spPr>
        <p:txBody>
          <a:bodyPr wrap="none" lIns="92075" tIns="46038" rIns="92075" bIns="46038" anchor="ctr">
            <a:spAutoFit/>
          </a:bodyPr>
          <a:lstStyle/>
          <a:p>
            <a:pPr eaLnBrk="0" hangingPunct="0"/>
            <a:r>
              <a:rPr lang="en-US" sz="2400">
                <a:latin typeface="Times New Roman" pitchFamily="18" charset="0"/>
              </a:rPr>
              <a:t>IF rank = ‘professor’</a:t>
            </a:r>
          </a:p>
          <a:p>
            <a:pPr eaLnBrk="0" hangingPunct="0"/>
            <a:r>
              <a:rPr lang="en-US" sz="2400">
                <a:latin typeface="Times New Roman" pitchFamily="18" charset="0"/>
              </a:rPr>
              <a:t>OR years &gt; 6</a:t>
            </a:r>
          </a:p>
          <a:p>
            <a:pPr eaLnBrk="0" hangingPunct="0"/>
            <a:r>
              <a:rPr lang="en-US" sz="2400">
                <a:latin typeface="Times New Roman" pitchFamily="18" charset="0"/>
              </a:rPr>
              <a:t>THEN tenured = ‘yes’ </a:t>
            </a:r>
          </a:p>
        </p:txBody>
      </p:sp>
      <p:grpSp>
        <p:nvGrpSpPr>
          <p:cNvPr id="3" name="Group 12"/>
          <p:cNvGrpSpPr>
            <a:grpSpLocks/>
          </p:cNvGrpSpPr>
          <p:nvPr/>
        </p:nvGrpSpPr>
        <p:grpSpPr bwMode="auto">
          <a:xfrm>
            <a:off x="6478588" y="3216275"/>
            <a:ext cx="1889125" cy="1506538"/>
            <a:chOff x="4081" y="2026"/>
            <a:chExt cx="1190" cy="949"/>
          </a:xfrm>
        </p:grpSpPr>
        <p:pic>
          <p:nvPicPr>
            <p:cNvPr id="1041" name="Picture 13"/>
            <p:cNvPicPr>
              <a:picLocks noChangeArrowheads="1"/>
            </p:cNvPicPr>
            <p:nvPr/>
          </p:nvPicPr>
          <p:blipFill>
            <a:blip r:embed="rId6"/>
            <a:srcRect/>
            <a:stretch>
              <a:fillRect/>
            </a:stretch>
          </p:blipFill>
          <p:spPr bwMode="auto">
            <a:xfrm>
              <a:off x="4081" y="2026"/>
              <a:ext cx="1190" cy="949"/>
            </a:xfrm>
            <a:prstGeom prst="rect">
              <a:avLst/>
            </a:prstGeom>
            <a:noFill/>
            <a:ln w="9525">
              <a:noFill/>
              <a:miter lim="800000"/>
              <a:headEnd/>
              <a:tailEnd/>
            </a:ln>
          </p:spPr>
        </p:pic>
        <p:sp>
          <p:nvSpPr>
            <p:cNvPr id="1042" name="Rectangle 14"/>
            <p:cNvSpPr>
              <a:spLocks noChangeArrowheads="1"/>
            </p:cNvSpPr>
            <p:nvPr/>
          </p:nvSpPr>
          <p:spPr bwMode="auto">
            <a:xfrm>
              <a:off x="4245" y="2306"/>
              <a:ext cx="851" cy="51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a:p>
              <a:pPr algn="ctr" eaLnBrk="0" hangingPunct="0"/>
              <a:r>
                <a:rPr lang="en-US" sz="2400">
                  <a:latin typeface="Times New Roman" pitchFamily="18" charset="0"/>
                </a:rPr>
                <a:t>(Model)</a:t>
              </a:r>
            </a:p>
          </p:txBody>
        </p:sp>
      </p:grpSp>
      <p:sp>
        <p:nvSpPr>
          <p:cNvPr id="1038" name="Line 15"/>
          <p:cNvSpPr>
            <a:spLocks noChangeShapeType="1"/>
          </p:cNvSpPr>
          <p:nvPr/>
        </p:nvSpPr>
        <p:spPr bwMode="auto">
          <a:xfrm flipH="1">
            <a:off x="5946775" y="4621213"/>
            <a:ext cx="531813" cy="7143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9" name="Line 16"/>
          <p:cNvSpPr>
            <a:spLocks noChangeShapeType="1"/>
          </p:cNvSpPr>
          <p:nvPr/>
        </p:nvSpPr>
        <p:spPr bwMode="auto">
          <a:xfrm>
            <a:off x="8369300" y="4543425"/>
            <a:ext cx="577850" cy="7905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40" name="AutoShape 17"/>
          <p:cNvSpPr>
            <a:spLocks noChangeArrowheads="1"/>
          </p:cNvSpPr>
          <p:nvPr/>
        </p:nvSpPr>
        <p:spPr bwMode="auto">
          <a:xfrm>
            <a:off x="7143750" y="2576513"/>
            <a:ext cx="546100" cy="592137"/>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p:cNvSpPr>
            <a:spLocks noGrp="1" noChangeArrowheads="1"/>
          </p:cNvSpPr>
          <p:nvPr>
            <p:ph type="title"/>
          </p:nvPr>
        </p:nvSpPr>
        <p:spPr>
          <a:xfrm>
            <a:off x="0" y="228600"/>
            <a:ext cx="9144000" cy="838200"/>
          </a:xfrm>
          <a:noFill/>
        </p:spPr>
        <p:txBody>
          <a:bodyPr lIns="92075" tIns="46038" rIns="92075" bIns="46038"/>
          <a:lstStyle/>
          <a:p>
            <a:pPr eaLnBrk="1" hangingPunct="1"/>
            <a:r>
              <a:rPr lang="en-US" sz="3200" dirty="0"/>
              <a:t>Process (2&amp;3): Test and Using the Model in Prediction </a:t>
            </a:r>
          </a:p>
        </p:txBody>
      </p:sp>
      <p:grpSp>
        <p:nvGrpSpPr>
          <p:cNvPr id="2" name="Group 3"/>
          <p:cNvGrpSpPr>
            <a:grpSpLocks/>
          </p:cNvGrpSpPr>
          <p:nvPr/>
        </p:nvGrpSpPr>
        <p:grpSpPr bwMode="auto">
          <a:xfrm>
            <a:off x="4445000" y="1570038"/>
            <a:ext cx="1889125" cy="1506537"/>
            <a:chOff x="2800" y="989"/>
            <a:chExt cx="1190" cy="949"/>
          </a:xfrm>
        </p:grpSpPr>
        <p:pic>
          <p:nvPicPr>
            <p:cNvPr id="2072" name="Picture 4"/>
            <p:cNvPicPr>
              <a:picLocks noChangeArrowheads="1"/>
            </p:cNvPicPr>
            <p:nvPr/>
          </p:nvPicPr>
          <p:blipFill>
            <a:blip r:embed="rId3"/>
            <a:srcRect/>
            <a:stretch>
              <a:fillRect/>
            </a:stretch>
          </p:blipFill>
          <p:spPr bwMode="auto">
            <a:xfrm>
              <a:off x="2800" y="989"/>
              <a:ext cx="1190" cy="949"/>
            </a:xfrm>
            <a:prstGeom prst="rect">
              <a:avLst/>
            </a:prstGeom>
            <a:noFill/>
            <a:ln w="9525">
              <a:noFill/>
              <a:miter lim="800000"/>
              <a:headEnd/>
              <a:tailEnd/>
            </a:ln>
          </p:spPr>
        </p:pic>
        <p:sp>
          <p:nvSpPr>
            <p:cNvPr id="2073" name="Rectangle 5"/>
            <p:cNvSpPr>
              <a:spLocks noChangeArrowheads="1"/>
            </p:cNvSpPr>
            <p:nvPr/>
          </p:nvSpPr>
          <p:spPr bwMode="auto">
            <a:xfrm>
              <a:off x="2964" y="1384"/>
              <a:ext cx="851" cy="28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p:txBody>
        </p:sp>
      </p:grpSp>
      <p:grpSp>
        <p:nvGrpSpPr>
          <p:cNvPr id="3" name="Group 6"/>
          <p:cNvGrpSpPr>
            <a:grpSpLocks/>
          </p:cNvGrpSpPr>
          <p:nvPr/>
        </p:nvGrpSpPr>
        <p:grpSpPr bwMode="auto">
          <a:xfrm>
            <a:off x="2157413" y="2735263"/>
            <a:ext cx="1698625" cy="1506537"/>
            <a:chOff x="1359" y="1723"/>
            <a:chExt cx="1070" cy="949"/>
          </a:xfrm>
        </p:grpSpPr>
        <p:pic>
          <p:nvPicPr>
            <p:cNvPr id="2070" name="Picture 7"/>
            <p:cNvPicPr>
              <a:picLocks noChangeArrowheads="1"/>
            </p:cNvPicPr>
            <p:nvPr/>
          </p:nvPicPr>
          <p:blipFill>
            <a:blip r:embed="rId4"/>
            <a:srcRect/>
            <a:stretch>
              <a:fillRect/>
            </a:stretch>
          </p:blipFill>
          <p:spPr bwMode="auto">
            <a:xfrm>
              <a:off x="1359" y="1723"/>
              <a:ext cx="1070" cy="949"/>
            </a:xfrm>
            <a:prstGeom prst="rect">
              <a:avLst/>
            </a:prstGeom>
            <a:noFill/>
            <a:ln w="9525">
              <a:noFill/>
              <a:miter lim="800000"/>
              <a:headEnd/>
              <a:tailEnd/>
            </a:ln>
          </p:spPr>
        </p:pic>
        <p:sp>
          <p:nvSpPr>
            <p:cNvPr id="2071" name="Rectangle 8"/>
            <p:cNvSpPr>
              <a:spLocks noChangeArrowheads="1"/>
            </p:cNvSpPr>
            <p:nvPr/>
          </p:nvSpPr>
          <p:spPr bwMode="auto">
            <a:xfrm>
              <a:off x="1423" y="2032"/>
              <a:ext cx="934" cy="460"/>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Testing</a:t>
              </a:r>
            </a:p>
            <a:p>
              <a:pPr algn="ctr" eaLnBrk="0" hangingPunct="0"/>
              <a:r>
                <a:rPr lang="en-US" sz="2400">
                  <a:latin typeface="Times New Roman" pitchFamily="18" charset="0"/>
                </a:rPr>
                <a:t>Data</a:t>
              </a:r>
            </a:p>
          </p:txBody>
        </p:sp>
      </p:grpSp>
      <p:graphicFrame>
        <p:nvGraphicFramePr>
          <p:cNvPr id="2050" name="Object 1024"/>
          <p:cNvGraphicFramePr>
            <a:graphicFrameLocks/>
          </p:cNvGraphicFramePr>
          <p:nvPr/>
        </p:nvGraphicFramePr>
        <p:xfrm>
          <a:off x="457200" y="4800600"/>
          <a:ext cx="5438775" cy="1765300"/>
        </p:xfrm>
        <a:graphic>
          <a:graphicData uri="http://schemas.openxmlformats.org/presentationml/2006/ole">
            <mc:AlternateContent xmlns:mc="http://schemas.openxmlformats.org/markup-compatibility/2006">
              <mc:Choice xmlns:v="urn:schemas-microsoft-com:vml" Requires="v">
                <p:oleObj spid="_x0000_s288782" name="Worksheet" r:id="rId5" imgW="5438775" imgH="1765300" progId="Excel.Sheet.8">
                  <p:embed/>
                </p:oleObj>
              </mc:Choice>
              <mc:Fallback>
                <p:oleObj name="Worksheet" r:id="rId5" imgW="5438775" imgH="1765300" progId="Excel.Sheet.8">
                  <p:embed/>
                  <p:pic>
                    <p:nvPicPr>
                      <p:cNvPr id="0" name="Picture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4800600"/>
                        <a:ext cx="5438775" cy="1765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2057" name="Line 10"/>
          <p:cNvSpPr>
            <a:spLocks noChangeShapeType="1"/>
          </p:cNvSpPr>
          <p:nvPr/>
        </p:nvSpPr>
        <p:spPr bwMode="auto">
          <a:xfrm flipH="1">
            <a:off x="427038" y="4071938"/>
            <a:ext cx="1644650" cy="70008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58" name="Line 11"/>
          <p:cNvSpPr>
            <a:spLocks noChangeShapeType="1"/>
          </p:cNvSpPr>
          <p:nvPr/>
        </p:nvSpPr>
        <p:spPr bwMode="auto">
          <a:xfrm>
            <a:off x="3857625" y="4071938"/>
            <a:ext cx="2025650" cy="70008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59" name="AutoShape 12"/>
          <p:cNvSpPr>
            <a:spLocks noChangeArrowheads="1"/>
          </p:cNvSpPr>
          <p:nvPr/>
        </p:nvSpPr>
        <p:spPr bwMode="auto">
          <a:xfrm>
            <a:off x="7793038" y="5000625"/>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
        <p:nvSpPr>
          <p:cNvPr id="2060" name="Freeform 13"/>
          <p:cNvSpPr>
            <a:spLocks/>
          </p:cNvSpPr>
          <p:nvPr/>
        </p:nvSpPr>
        <p:spPr bwMode="auto">
          <a:xfrm>
            <a:off x="6523038" y="2173288"/>
            <a:ext cx="941387" cy="766762"/>
          </a:xfrm>
          <a:custGeom>
            <a:avLst/>
            <a:gdLst>
              <a:gd name="T0" fmla="*/ 0 w 593"/>
              <a:gd name="T1" fmla="*/ 34 h 483"/>
              <a:gd name="T2" fmla="*/ 200 w 593"/>
              <a:gd name="T3" fmla="*/ 0 h 483"/>
              <a:gd name="T4" fmla="*/ 159 w 593"/>
              <a:gd name="T5" fmla="*/ 58 h 483"/>
              <a:gd name="T6" fmla="*/ 515 w 593"/>
              <a:gd name="T7" fmla="*/ 306 h 483"/>
              <a:gd name="T8" fmla="*/ 555 w 593"/>
              <a:gd name="T9" fmla="*/ 248 h 483"/>
              <a:gd name="T10" fmla="*/ 592 w 593"/>
              <a:gd name="T11" fmla="*/ 448 h 483"/>
              <a:gd name="T12" fmla="*/ 392 w 593"/>
              <a:gd name="T13" fmla="*/ 482 h 483"/>
              <a:gd name="T14" fmla="*/ 433 w 593"/>
              <a:gd name="T15" fmla="*/ 424 h 483"/>
              <a:gd name="T16" fmla="*/ 77 w 593"/>
              <a:gd name="T17" fmla="*/ 176 h 483"/>
              <a:gd name="T18" fmla="*/ 37 w 593"/>
              <a:gd name="T19" fmla="*/ 234 h 483"/>
              <a:gd name="T20" fmla="*/ 0 w 593"/>
              <a:gd name="T21" fmla="*/ 34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4" name="Group 14"/>
          <p:cNvGrpSpPr>
            <a:grpSpLocks/>
          </p:cNvGrpSpPr>
          <p:nvPr/>
        </p:nvGrpSpPr>
        <p:grpSpPr bwMode="auto">
          <a:xfrm>
            <a:off x="6646863" y="3187700"/>
            <a:ext cx="1781175" cy="815975"/>
            <a:chOff x="4187" y="2008"/>
            <a:chExt cx="1122" cy="514"/>
          </a:xfrm>
        </p:grpSpPr>
        <p:pic>
          <p:nvPicPr>
            <p:cNvPr id="2068" name="Picture 15"/>
            <p:cNvPicPr>
              <a:picLocks noChangeArrowheads="1"/>
            </p:cNvPicPr>
            <p:nvPr/>
          </p:nvPicPr>
          <p:blipFill>
            <a:blip r:embed="rId7"/>
            <a:srcRect/>
            <a:stretch>
              <a:fillRect/>
            </a:stretch>
          </p:blipFill>
          <p:spPr bwMode="auto">
            <a:xfrm>
              <a:off x="4187" y="2008"/>
              <a:ext cx="1122" cy="514"/>
            </a:xfrm>
            <a:prstGeom prst="rect">
              <a:avLst/>
            </a:prstGeom>
            <a:noFill/>
            <a:ln w="9525">
              <a:noFill/>
              <a:miter lim="800000"/>
              <a:headEnd/>
              <a:tailEnd/>
            </a:ln>
          </p:spPr>
        </p:pic>
        <p:sp>
          <p:nvSpPr>
            <p:cNvPr id="2069" name="Rectangle 16"/>
            <p:cNvSpPr>
              <a:spLocks noChangeArrowheads="1"/>
            </p:cNvSpPr>
            <p:nvPr/>
          </p:nvSpPr>
          <p:spPr bwMode="auto">
            <a:xfrm>
              <a:off x="4251" y="2180"/>
              <a:ext cx="986" cy="230"/>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Unseen Data</a:t>
              </a:r>
            </a:p>
          </p:txBody>
        </p:sp>
      </p:grpSp>
      <p:sp>
        <p:nvSpPr>
          <p:cNvPr id="2062" name="Rectangle 17"/>
          <p:cNvSpPr>
            <a:spLocks noChangeArrowheads="1"/>
          </p:cNvSpPr>
          <p:nvPr/>
        </p:nvSpPr>
        <p:spPr bwMode="auto">
          <a:xfrm>
            <a:off x="6305550" y="4262438"/>
            <a:ext cx="2454275" cy="457200"/>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(Jeff, Professor, 4)</a:t>
            </a:r>
          </a:p>
        </p:txBody>
      </p:sp>
      <p:sp>
        <p:nvSpPr>
          <p:cNvPr id="2063" name="Line 18"/>
          <p:cNvSpPr>
            <a:spLocks noChangeShapeType="1"/>
          </p:cNvSpPr>
          <p:nvPr/>
        </p:nvSpPr>
        <p:spPr bwMode="auto">
          <a:xfrm flipH="1">
            <a:off x="6167438" y="3903663"/>
            <a:ext cx="471487" cy="3937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64" name="Line 19"/>
          <p:cNvSpPr>
            <a:spLocks noChangeShapeType="1"/>
          </p:cNvSpPr>
          <p:nvPr/>
        </p:nvSpPr>
        <p:spPr bwMode="auto">
          <a:xfrm>
            <a:off x="8448675" y="3903663"/>
            <a:ext cx="363538" cy="34925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65" name="Freeform 20"/>
          <p:cNvSpPr>
            <a:spLocks/>
          </p:cNvSpPr>
          <p:nvPr/>
        </p:nvSpPr>
        <p:spPr bwMode="auto">
          <a:xfrm>
            <a:off x="3360738" y="2032000"/>
            <a:ext cx="901700" cy="593725"/>
          </a:xfrm>
          <a:custGeom>
            <a:avLst/>
            <a:gdLst>
              <a:gd name="T0" fmla="*/ 567 w 568"/>
              <a:gd name="T1" fmla="*/ 59 h 374"/>
              <a:gd name="T2" fmla="*/ 503 w 568"/>
              <a:gd name="T3" fmla="*/ 220 h 374"/>
              <a:gd name="T4" fmla="*/ 478 w 568"/>
              <a:gd name="T5" fmla="*/ 165 h 374"/>
              <a:gd name="T6" fmla="*/ 138 w 568"/>
              <a:gd name="T7" fmla="*/ 318 h 374"/>
              <a:gd name="T8" fmla="*/ 163 w 568"/>
              <a:gd name="T9" fmla="*/ 373 h 374"/>
              <a:gd name="T10" fmla="*/ 0 w 568"/>
              <a:gd name="T11" fmla="*/ 314 h 374"/>
              <a:gd name="T12" fmla="*/ 64 w 568"/>
              <a:gd name="T13" fmla="*/ 153 h 374"/>
              <a:gd name="T14" fmla="*/ 89 w 568"/>
              <a:gd name="T15" fmla="*/ 208 h 374"/>
              <a:gd name="T16" fmla="*/ 429 w 568"/>
              <a:gd name="T17" fmla="*/ 55 h 374"/>
              <a:gd name="T18" fmla="*/ 404 w 568"/>
              <a:gd name="T19" fmla="*/ 0 h 374"/>
              <a:gd name="T20" fmla="*/ 567 w 568"/>
              <a:gd name="T21" fmla="*/ 59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pic>
        <p:nvPicPr>
          <p:cNvPr id="2066" name="Picture 21"/>
          <p:cNvPicPr>
            <a:picLocks noChangeArrowheads="1"/>
          </p:cNvPicPr>
          <p:nvPr/>
        </p:nvPicPr>
        <p:blipFill>
          <a:blip r:embed="rId8"/>
          <a:srcRect/>
          <a:stretch>
            <a:fillRect/>
          </a:stretch>
        </p:blipFill>
        <p:spPr bwMode="auto">
          <a:xfrm>
            <a:off x="7720013" y="5738813"/>
            <a:ext cx="720725" cy="628650"/>
          </a:xfrm>
          <a:prstGeom prst="rect">
            <a:avLst/>
          </a:prstGeom>
          <a:noFill/>
          <a:ln w="9525">
            <a:noFill/>
            <a:miter lim="800000"/>
            <a:headEnd/>
            <a:tailEnd/>
          </a:ln>
        </p:spPr>
      </p:pic>
      <p:sp>
        <p:nvSpPr>
          <p:cNvPr id="2067" name="Rectangle 22"/>
          <p:cNvSpPr>
            <a:spLocks noChangeArrowheads="1"/>
          </p:cNvSpPr>
          <p:nvPr/>
        </p:nvSpPr>
        <p:spPr bwMode="auto">
          <a:xfrm>
            <a:off x="6221413" y="4959350"/>
            <a:ext cx="1525587" cy="519113"/>
          </a:xfrm>
          <a:prstGeom prst="rect">
            <a:avLst/>
          </a:prstGeom>
          <a:noFill/>
          <a:ln w="9525">
            <a:noFill/>
            <a:miter lim="800000"/>
            <a:headEnd/>
            <a:tailEnd/>
          </a:ln>
        </p:spPr>
        <p:txBody>
          <a:bodyPr wrap="none" lIns="92075" tIns="46038" rIns="92075" bIns="46038">
            <a:spAutoFit/>
          </a:bodyPr>
          <a:lstStyle/>
          <a:p>
            <a:pPr algn="ctr" eaLnBrk="0" hangingPunct="0"/>
            <a:r>
              <a:rPr lang="en-US" sz="2800">
                <a:latin typeface="Times New Roman" pitchFamily="18" charset="0"/>
              </a:rPr>
              <a:t>Tenured?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a:xfrm>
            <a:off x="533400" y="304800"/>
            <a:ext cx="8001000" cy="762000"/>
          </a:xfrm>
        </p:spPr>
        <p:txBody>
          <a:bodyPr/>
          <a:lstStyle/>
          <a:p>
            <a:pPr eaLnBrk="1" hangingPunct="1"/>
            <a:r>
              <a:rPr lang="en-US" sz="3200" dirty="0"/>
              <a:t>Classification—A Three-Step Process</a:t>
            </a:r>
            <a:r>
              <a:rPr lang="en-US" sz="2800" dirty="0"/>
              <a:t> </a:t>
            </a:r>
            <a:endParaRPr lang="en-US" sz="3200" dirty="0"/>
          </a:p>
        </p:txBody>
      </p:sp>
      <p:pic>
        <p:nvPicPr>
          <p:cNvPr id="537602" name="Picture 2"/>
          <p:cNvPicPr>
            <a:picLocks noChangeAspect="1" noChangeArrowheads="1"/>
          </p:cNvPicPr>
          <p:nvPr/>
        </p:nvPicPr>
        <p:blipFill>
          <a:blip r:embed="rId2"/>
          <a:srcRect/>
          <a:stretch>
            <a:fillRect/>
          </a:stretch>
        </p:blipFill>
        <p:spPr bwMode="auto">
          <a:xfrm>
            <a:off x="357188" y="1847850"/>
            <a:ext cx="8429625" cy="4552950"/>
          </a:xfrm>
          <a:prstGeom prst="rect">
            <a:avLst/>
          </a:prstGeom>
          <a:noFill/>
          <a:ln w="9525">
            <a:noFill/>
            <a:miter lim="800000"/>
            <a:headEnd/>
            <a:tailEnd/>
          </a:ln>
          <a:effec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a:xfrm>
            <a:off x="152400" y="228600"/>
            <a:ext cx="8783638" cy="762000"/>
          </a:xfrm>
          <a:noFill/>
        </p:spPr>
        <p:txBody>
          <a:bodyPr lIns="92075" tIns="46038" rIns="92075" bIns="46038"/>
          <a:lstStyle/>
          <a:p>
            <a:pPr eaLnBrk="1" hangingPunct="1"/>
            <a:r>
              <a:rPr lang="en-US" sz="3200"/>
              <a:t>Supervised vs. Unsupervised Learning</a:t>
            </a:r>
          </a:p>
        </p:txBody>
      </p:sp>
      <p:sp>
        <p:nvSpPr>
          <p:cNvPr id="34822" name="Rectangle 3"/>
          <p:cNvSpPr>
            <a:spLocks noGrp="1" noChangeArrowheads="1"/>
          </p:cNvSpPr>
          <p:nvPr>
            <p:ph type="body" idx="1"/>
          </p:nvPr>
        </p:nvSpPr>
        <p:spPr>
          <a:xfrm>
            <a:off x="609600" y="1524000"/>
            <a:ext cx="8153400" cy="4876800"/>
          </a:xfrm>
          <a:noFill/>
        </p:spPr>
        <p:txBody>
          <a:bodyPr lIns="92075" tIns="46038" rIns="92075" bIns="46038"/>
          <a:lstStyle/>
          <a:p>
            <a:pPr eaLnBrk="1" hangingPunct="1">
              <a:lnSpc>
                <a:spcPct val="120000"/>
              </a:lnSpc>
            </a:pPr>
            <a:r>
              <a:rPr lang="en-US" dirty="0">
                <a:solidFill>
                  <a:srgbClr val="C00000"/>
                </a:solidFill>
              </a:rPr>
              <a:t>Supervised learning (classification)</a:t>
            </a:r>
          </a:p>
          <a:p>
            <a:pPr lvl="1" eaLnBrk="1" hangingPunct="1">
              <a:lnSpc>
                <a:spcPct val="120000"/>
              </a:lnSpc>
            </a:pPr>
            <a:r>
              <a:rPr lang="en-US" sz="2400" dirty="0"/>
              <a:t>Supervision: The training data (observations, measurements, etc.) are accompanied by labels indicating the class of the observations</a:t>
            </a:r>
          </a:p>
          <a:p>
            <a:pPr lvl="1" eaLnBrk="1" hangingPunct="1">
              <a:lnSpc>
                <a:spcPct val="120000"/>
              </a:lnSpc>
            </a:pPr>
            <a:r>
              <a:rPr lang="en-US" sz="2400" dirty="0"/>
              <a:t>New data is classified based on the training set</a:t>
            </a:r>
          </a:p>
          <a:p>
            <a:pPr eaLnBrk="1" hangingPunct="1">
              <a:lnSpc>
                <a:spcPct val="120000"/>
              </a:lnSpc>
            </a:pPr>
            <a:r>
              <a:rPr lang="en-US" dirty="0">
                <a:solidFill>
                  <a:srgbClr val="C00000"/>
                </a:solidFill>
              </a:rPr>
              <a:t>Unsupervised learning (clustering)</a:t>
            </a:r>
          </a:p>
          <a:p>
            <a:pPr lvl="1" eaLnBrk="1" hangingPunct="1">
              <a:lnSpc>
                <a:spcPct val="120000"/>
              </a:lnSpc>
            </a:pPr>
            <a:r>
              <a:rPr lang="en-US" sz="2400" dirty="0"/>
              <a:t>The class labels of training data is unknown</a:t>
            </a:r>
          </a:p>
          <a:p>
            <a:pPr lvl="1" eaLnBrk="1" hangingPunct="1">
              <a:lnSpc>
                <a:spcPct val="120000"/>
              </a:lnSpc>
            </a:pPr>
            <a:r>
              <a:rPr lang="en-US" sz="2400" dirty="0"/>
              <a:t>Given a set of measurements, observations, etc. with the aim of establishing the existence of classes or clusters in the data</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Grp="1"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371600" y="762000"/>
            <a:ext cx="6303818" cy="5943599"/>
          </a:xfrm>
          <a:prstGeom prst="rect">
            <a:avLst/>
          </a:prstGeom>
        </p:spPr>
      </p:pic>
    </p:spTree>
    <p:extLst>
      <p:ext uri="{BB962C8B-B14F-4D97-AF65-F5344CB8AC3E}">
        <p14:creationId xmlns:p14="http://schemas.microsoft.com/office/powerpoint/2010/main" val="4047106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a:xfrm>
            <a:off x="0" y="381000"/>
            <a:ext cx="8991600" cy="685800"/>
          </a:xfrm>
          <a:noFill/>
        </p:spPr>
        <p:txBody>
          <a:bodyPr lIns="92075" tIns="46038" rIns="92075" bIns="46038"/>
          <a:lstStyle/>
          <a:p>
            <a:pPr eaLnBrk="1" hangingPunct="1"/>
            <a:r>
              <a:rPr lang="en-US" dirty="0"/>
              <a:t>Issues: Data Preparation</a:t>
            </a:r>
          </a:p>
        </p:txBody>
      </p:sp>
      <p:sp>
        <p:nvSpPr>
          <p:cNvPr id="36870" name="Rectangle 3"/>
          <p:cNvSpPr>
            <a:spLocks noGrp="1" noChangeArrowheads="1"/>
          </p:cNvSpPr>
          <p:nvPr>
            <p:ph type="body" idx="1"/>
          </p:nvPr>
        </p:nvSpPr>
        <p:spPr>
          <a:xfrm>
            <a:off x="457200" y="1676400"/>
            <a:ext cx="8229600" cy="4267200"/>
          </a:xfrm>
          <a:noFill/>
        </p:spPr>
        <p:txBody>
          <a:bodyPr lIns="92075" tIns="46038" rIns="92075" bIns="46038"/>
          <a:lstStyle/>
          <a:p>
            <a:pPr eaLnBrk="1" hangingPunct="1">
              <a:lnSpc>
                <a:spcPct val="110000"/>
              </a:lnSpc>
            </a:pPr>
            <a:r>
              <a:rPr lang="en-US" sz="2400" dirty="0"/>
              <a:t>Data cleaning</a:t>
            </a:r>
          </a:p>
          <a:p>
            <a:pPr lvl="1" eaLnBrk="1" hangingPunct="1">
              <a:lnSpc>
                <a:spcPct val="110000"/>
              </a:lnSpc>
            </a:pPr>
            <a:r>
              <a:rPr lang="en-US" sz="2400" dirty="0"/>
              <a:t>Preprocess data in order to reduce noise and handle missing values</a:t>
            </a:r>
          </a:p>
          <a:p>
            <a:pPr eaLnBrk="1" hangingPunct="1">
              <a:lnSpc>
                <a:spcPct val="110000"/>
              </a:lnSpc>
            </a:pPr>
            <a:r>
              <a:rPr lang="en-US" sz="2400" dirty="0"/>
              <a:t>Relevance analysis (feature selection)</a:t>
            </a:r>
          </a:p>
          <a:p>
            <a:pPr lvl="1" eaLnBrk="1" hangingPunct="1">
              <a:lnSpc>
                <a:spcPct val="110000"/>
              </a:lnSpc>
            </a:pPr>
            <a:r>
              <a:rPr lang="en-US" sz="2400" dirty="0"/>
              <a:t>Remove the irrelevant or redundant attributes</a:t>
            </a:r>
          </a:p>
          <a:p>
            <a:pPr eaLnBrk="1" hangingPunct="1">
              <a:lnSpc>
                <a:spcPct val="110000"/>
              </a:lnSpc>
            </a:pPr>
            <a:r>
              <a:rPr lang="en-US" sz="2400" dirty="0"/>
              <a:t>Data transformation</a:t>
            </a:r>
          </a:p>
          <a:p>
            <a:pPr lvl="1" eaLnBrk="1" hangingPunct="1">
              <a:lnSpc>
                <a:spcPct val="110000"/>
              </a:lnSpc>
            </a:pPr>
            <a:r>
              <a:rPr lang="en-US" sz="2400" dirty="0"/>
              <a:t>Generalize and/or normalize data</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a:xfrm>
            <a:off x="457200" y="381000"/>
            <a:ext cx="8305800" cy="609600"/>
          </a:xfrm>
          <a:noFill/>
        </p:spPr>
        <p:txBody>
          <a:bodyPr lIns="92075" tIns="46038" rIns="92075" bIns="46038"/>
          <a:lstStyle/>
          <a:p>
            <a:pPr eaLnBrk="1" hangingPunct="1">
              <a:lnSpc>
                <a:spcPct val="110000"/>
              </a:lnSpc>
            </a:pPr>
            <a:r>
              <a:rPr lang="en-US" sz="3200" dirty="0"/>
              <a:t>Issues: Evaluating Classification Methods</a:t>
            </a:r>
          </a:p>
        </p:txBody>
      </p:sp>
      <p:sp>
        <p:nvSpPr>
          <p:cNvPr id="37894" name="Rectangle 3"/>
          <p:cNvSpPr>
            <a:spLocks noGrp="1" noChangeArrowheads="1"/>
          </p:cNvSpPr>
          <p:nvPr>
            <p:ph type="body" idx="1"/>
          </p:nvPr>
        </p:nvSpPr>
        <p:spPr>
          <a:xfrm>
            <a:off x="536575" y="1371600"/>
            <a:ext cx="8378825" cy="5257800"/>
          </a:xfrm>
          <a:noFill/>
        </p:spPr>
        <p:txBody>
          <a:bodyPr lIns="92075" tIns="46038" rIns="92075" bIns="46038"/>
          <a:lstStyle/>
          <a:p>
            <a:pPr eaLnBrk="1" hangingPunct="1">
              <a:lnSpc>
                <a:spcPct val="90000"/>
              </a:lnSpc>
            </a:pPr>
            <a:r>
              <a:rPr lang="en-US" sz="2400" dirty="0"/>
              <a:t>Accuracy</a:t>
            </a:r>
          </a:p>
          <a:p>
            <a:pPr lvl="1" eaLnBrk="1" hangingPunct="1">
              <a:lnSpc>
                <a:spcPct val="90000"/>
              </a:lnSpc>
            </a:pPr>
            <a:r>
              <a:rPr lang="en-US" sz="2400" dirty="0"/>
              <a:t>classifier accuracy: predicting class label</a:t>
            </a:r>
          </a:p>
          <a:p>
            <a:pPr lvl="1" eaLnBrk="1" hangingPunct="1">
              <a:lnSpc>
                <a:spcPct val="90000"/>
              </a:lnSpc>
            </a:pPr>
            <a:r>
              <a:rPr lang="en-US" sz="2400" dirty="0"/>
              <a:t>predictor accuracy: guessing value of predicted attributes</a:t>
            </a:r>
          </a:p>
          <a:p>
            <a:pPr eaLnBrk="1" hangingPunct="1">
              <a:lnSpc>
                <a:spcPct val="90000"/>
              </a:lnSpc>
            </a:pPr>
            <a:r>
              <a:rPr lang="en-US" sz="2400" dirty="0"/>
              <a:t>Speed</a:t>
            </a:r>
          </a:p>
          <a:p>
            <a:pPr lvl="1" eaLnBrk="1" hangingPunct="1">
              <a:lnSpc>
                <a:spcPct val="90000"/>
              </a:lnSpc>
            </a:pPr>
            <a:r>
              <a:rPr lang="en-US" sz="2400" dirty="0"/>
              <a:t>time to construct the model (training time)</a:t>
            </a:r>
          </a:p>
          <a:p>
            <a:pPr lvl="1" eaLnBrk="1" hangingPunct="1">
              <a:lnSpc>
                <a:spcPct val="90000"/>
              </a:lnSpc>
            </a:pPr>
            <a:r>
              <a:rPr lang="en-US" sz="2400" dirty="0"/>
              <a:t>time to use the model (classification/prediction time)</a:t>
            </a:r>
          </a:p>
          <a:p>
            <a:pPr eaLnBrk="1" hangingPunct="1">
              <a:lnSpc>
                <a:spcPct val="90000"/>
              </a:lnSpc>
            </a:pPr>
            <a:r>
              <a:rPr lang="en-US" sz="2400" dirty="0"/>
              <a:t>Robustness: handling noise and missing values</a:t>
            </a:r>
          </a:p>
          <a:p>
            <a:pPr eaLnBrk="1" hangingPunct="1">
              <a:lnSpc>
                <a:spcPct val="90000"/>
              </a:lnSpc>
            </a:pPr>
            <a:r>
              <a:rPr lang="en-US" sz="2400" dirty="0"/>
              <a:t>Scalability: efficiency in disk-resident databases </a:t>
            </a:r>
          </a:p>
          <a:p>
            <a:pPr eaLnBrk="1" hangingPunct="1">
              <a:lnSpc>
                <a:spcPct val="90000"/>
              </a:lnSpc>
            </a:pPr>
            <a:r>
              <a:rPr lang="en-US" sz="2400" dirty="0"/>
              <a:t>Interpretability</a:t>
            </a:r>
          </a:p>
          <a:p>
            <a:pPr lvl="1" eaLnBrk="1" hangingPunct="1">
              <a:lnSpc>
                <a:spcPct val="90000"/>
              </a:lnSpc>
            </a:pPr>
            <a:r>
              <a:rPr lang="en-US" sz="2400" dirty="0"/>
              <a:t>understanding and insight provided by the model</a:t>
            </a:r>
          </a:p>
          <a:p>
            <a:pPr eaLnBrk="1" hangingPunct="1">
              <a:lnSpc>
                <a:spcPct val="90000"/>
              </a:lnSpc>
            </a:pPr>
            <a:r>
              <a:rPr lang="en-US" sz="2400" dirty="0"/>
              <a:t>Other measures, e.g., goodness of rules, such as decision tree size or compactness of classification rules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a:xfrm>
            <a:off x="0" y="381000"/>
            <a:ext cx="9144000" cy="609600"/>
          </a:xfrm>
        </p:spPr>
        <p:txBody>
          <a:bodyPr/>
          <a:lstStyle/>
          <a:p>
            <a:pPr eaLnBrk="1" hangingPunct="1"/>
            <a:r>
              <a:rPr lang="en-US" sz="3200" dirty="0"/>
              <a:t>Decision Tree Induction: Training Dataset</a:t>
            </a:r>
          </a:p>
        </p:txBody>
      </p:sp>
      <p:graphicFrame>
        <p:nvGraphicFramePr>
          <p:cNvPr id="3074" name="Object 1024"/>
          <p:cNvGraphicFramePr>
            <a:graphicFrameLocks noGrp="1"/>
          </p:cNvGraphicFramePr>
          <p:nvPr>
            <p:ph type="body" idx="1"/>
          </p:nvPr>
        </p:nvGraphicFramePr>
        <p:xfrm>
          <a:off x="2133600" y="1524000"/>
          <a:ext cx="6577013" cy="4829175"/>
        </p:xfrm>
        <a:graphic>
          <a:graphicData uri="http://schemas.openxmlformats.org/presentationml/2006/ole">
            <mc:AlternateContent xmlns:mc="http://schemas.openxmlformats.org/markup-compatibility/2006">
              <mc:Choice xmlns:v="urn:schemas-microsoft-com:vml" Requires="v">
                <p:oleObj spid="_x0000_s289806" name="Worksheet" r:id="rId3" imgW="6114971" imgH="4457683" progId="Excel.Sheet.8">
                  <p:embed/>
                </p:oleObj>
              </mc:Choice>
              <mc:Fallback>
                <p:oleObj name="Worksheet" r:id="rId3" imgW="6114971" imgH="4457683" progId="Excel.Sheet.8">
                  <p:embed/>
                  <p:pic>
                    <p:nvPicPr>
                      <p:cNvPr id="0" name="Picture 3"/>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524000"/>
                        <a:ext cx="6577013" cy="482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3079" name="Text Box 4"/>
          <p:cNvSpPr txBox="1">
            <a:spLocks noChangeArrowheads="1"/>
          </p:cNvSpPr>
          <p:nvPr/>
        </p:nvSpPr>
        <p:spPr bwMode="auto">
          <a:xfrm>
            <a:off x="228600" y="2133600"/>
            <a:ext cx="1905000" cy="2246769"/>
          </a:xfrm>
          <a:prstGeom prst="rect">
            <a:avLst/>
          </a:prstGeom>
          <a:noFill/>
          <a:ln w="9525">
            <a:noFill/>
            <a:miter lim="800000"/>
            <a:headEnd/>
            <a:tailEnd/>
          </a:ln>
        </p:spPr>
        <p:txBody>
          <a:bodyPr>
            <a:spAutoFit/>
          </a:bodyPr>
          <a:lstStyle/>
          <a:p>
            <a:pPr eaLnBrk="0" hangingPunct="0">
              <a:buClr>
                <a:srgbClr val="170981"/>
              </a:buClr>
              <a:buSzPct val="75000"/>
              <a:buFont typeface="Wingdings" pitchFamily="2" charset="2"/>
              <a:buNone/>
            </a:pPr>
            <a:r>
              <a:rPr lang="en-US" sz="2800" dirty="0"/>
              <a:t>This follows an  example of (Buy Computer)</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304800" y="457200"/>
            <a:ext cx="8610600" cy="609600"/>
          </a:xfrm>
          <a:noFill/>
        </p:spPr>
        <p:txBody>
          <a:bodyPr lIns="92075" tIns="46038" rIns="92075" bIns="46038"/>
          <a:lstStyle/>
          <a:p>
            <a:pPr eaLnBrk="1" hangingPunct="1"/>
            <a:r>
              <a:rPr lang="en-US" sz="2800" dirty="0"/>
              <a:t>Output: A Decision Tree for “</a:t>
            </a:r>
            <a:r>
              <a:rPr lang="en-US" sz="2800" i="1" dirty="0" err="1"/>
              <a:t>buys_computer</a:t>
            </a:r>
            <a:r>
              <a:rPr lang="en-US" sz="2800" i="1" dirty="0"/>
              <a:t>”</a:t>
            </a:r>
          </a:p>
        </p:txBody>
      </p:sp>
      <p:grpSp>
        <p:nvGrpSpPr>
          <p:cNvPr id="2" name="Group 63"/>
          <p:cNvGrpSpPr>
            <a:grpSpLocks/>
          </p:cNvGrpSpPr>
          <p:nvPr/>
        </p:nvGrpSpPr>
        <p:grpSpPr bwMode="auto">
          <a:xfrm>
            <a:off x="1219200" y="1828800"/>
            <a:ext cx="6305550" cy="3810000"/>
            <a:chOff x="768" y="1152"/>
            <a:chExt cx="3972" cy="2400"/>
          </a:xfrm>
        </p:grpSpPr>
        <p:sp>
          <p:nvSpPr>
            <p:cNvPr id="39943"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age?</a:t>
              </a:r>
            </a:p>
          </p:txBody>
        </p:sp>
        <p:sp>
          <p:nvSpPr>
            <p:cNvPr id="39945" name="Rectangle 5"/>
            <p:cNvSpPr>
              <a:spLocks noChangeArrowheads="1"/>
            </p:cNvSpPr>
            <p:nvPr/>
          </p:nvSpPr>
          <p:spPr bwMode="auto">
            <a:xfrm>
              <a:off x="1229" y="2342"/>
              <a:ext cx="763" cy="296"/>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student?</a:t>
              </a:r>
            </a:p>
          </p:txBody>
        </p:sp>
        <p:sp>
          <p:nvSpPr>
            <p:cNvPr id="39946" name="Rectangle 6"/>
            <p:cNvSpPr>
              <a:spLocks noChangeArrowheads="1"/>
            </p:cNvSpPr>
            <p:nvPr/>
          </p:nvSpPr>
          <p:spPr bwMode="auto">
            <a:xfrm>
              <a:off x="3432" y="2342"/>
              <a:ext cx="1140" cy="296"/>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credit rating?</a:t>
              </a:r>
            </a:p>
          </p:txBody>
        </p:sp>
        <p:sp>
          <p:nvSpPr>
            <p:cNvPr id="39947"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48"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49"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0"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dirty="0">
                  <a:latin typeface="Times New Roman" pitchFamily="18" charset="0"/>
                </a:rPr>
                <a:t>&lt;=30</a:t>
              </a:r>
              <a:endParaRPr lang="en-US" sz="2400" dirty="0">
                <a:latin typeface="Times New Roman" pitchFamily="18" charset="0"/>
              </a:endParaRPr>
            </a:p>
          </p:txBody>
        </p:sp>
        <p:sp>
          <p:nvSpPr>
            <p:cNvPr id="39951" name="Rectangle 15"/>
            <p:cNvSpPr>
              <a:spLocks noChangeArrowheads="1"/>
            </p:cNvSpPr>
            <p:nvPr/>
          </p:nvSpPr>
          <p:spPr bwMode="auto">
            <a:xfrm>
              <a:off x="3364" y="1804"/>
              <a:ext cx="41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&gt;40</a:t>
              </a:r>
              <a:endParaRPr lang="en-US" sz="2400">
                <a:latin typeface="Times New Roman" pitchFamily="18" charset="0"/>
              </a:endParaRPr>
            </a:p>
          </p:txBody>
        </p:sp>
        <p:sp>
          <p:nvSpPr>
            <p:cNvPr id="39952"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3"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4"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5"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6"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9957" name="Rectangle 25"/>
            <p:cNvSpPr>
              <a:spLocks noChangeArrowheads="1"/>
            </p:cNvSpPr>
            <p:nvPr/>
          </p:nvSpPr>
          <p:spPr bwMode="auto">
            <a:xfrm>
              <a:off x="768" y="3264"/>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39958" name="Rectangle 27"/>
            <p:cNvSpPr>
              <a:spLocks noChangeArrowheads="1"/>
            </p:cNvSpPr>
            <p:nvPr/>
          </p:nvSpPr>
          <p:spPr bwMode="auto">
            <a:xfrm>
              <a:off x="2028" y="3264"/>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9959" name="Rectangle 28"/>
            <p:cNvSpPr>
              <a:spLocks noChangeArrowheads="1"/>
            </p:cNvSpPr>
            <p:nvPr/>
          </p:nvSpPr>
          <p:spPr bwMode="auto">
            <a:xfrm>
              <a:off x="4368" y="3216"/>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9960" name="Rectangle 29"/>
            <p:cNvSpPr>
              <a:spLocks noChangeArrowheads="1"/>
            </p:cNvSpPr>
            <p:nvPr/>
          </p:nvSpPr>
          <p:spPr bwMode="auto">
            <a:xfrm>
              <a:off x="2437" y="2344"/>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9961" name="Rectangle 30"/>
            <p:cNvSpPr>
              <a:spLocks noChangeArrowheads="1"/>
            </p:cNvSpPr>
            <p:nvPr/>
          </p:nvSpPr>
          <p:spPr bwMode="auto">
            <a:xfrm>
              <a:off x="2304" y="1824"/>
              <a:ext cx="672" cy="192"/>
            </a:xfrm>
            <a:prstGeom prst="rect">
              <a:avLst/>
            </a:prstGeom>
            <a:solidFill>
              <a:srgbClr val="FFFF00"/>
            </a:solidFill>
            <a:ln w="12700">
              <a:noFill/>
              <a:miter lim="800000"/>
              <a:headEnd type="none" w="sm" len="sm"/>
              <a:tailEnd type="none" w="sm" len="sm"/>
            </a:ln>
          </p:spPr>
          <p:txBody>
            <a:bodyPr wrap="none" anchor="ctr"/>
            <a:lstStyle/>
            <a:p>
              <a:pPr algn="ctr" eaLnBrk="0" hangingPunct="0"/>
              <a:r>
                <a:rPr lang="en-US" sz="2000" b="1" dirty="0">
                  <a:latin typeface="Times New Roman" pitchFamily="18" charset="0"/>
                </a:rPr>
                <a:t>31..40</a:t>
              </a:r>
              <a:endParaRPr lang="en-US" dirty="0">
                <a:latin typeface="Times New Roman" pitchFamily="18" charset="0"/>
              </a:endParaRPr>
            </a:p>
          </p:txBody>
        </p:sp>
        <p:sp>
          <p:nvSpPr>
            <p:cNvPr id="39962" name="Rectangle 62"/>
            <p:cNvSpPr>
              <a:spLocks noChangeArrowheads="1"/>
            </p:cNvSpPr>
            <p:nvPr/>
          </p:nvSpPr>
          <p:spPr bwMode="auto">
            <a:xfrm rot="-143156">
              <a:off x="3168" y="3216"/>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39963" name="Rectangle 9"/>
            <p:cNvSpPr>
              <a:spLocks noChangeArrowheads="1"/>
            </p:cNvSpPr>
            <p:nvPr/>
          </p:nvSpPr>
          <p:spPr bwMode="auto">
            <a:xfrm>
              <a:off x="4176" y="2784"/>
              <a:ext cx="38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fair</a:t>
              </a:r>
            </a:p>
          </p:txBody>
        </p:sp>
        <p:sp>
          <p:nvSpPr>
            <p:cNvPr id="39964" name="Rectangle 10"/>
            <p:cNvSpPr>
              <a:spLocks noChangeArrowheads="1"/>
            </p:cNvSpPr>
            <p:nvPr/>
          </p:nvSpPr>
          <p:spPr bwMode="auto">
            <a:xfrm>
              <a:off x="3072" y="2784"/>
              <a:ext cx="80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excellent</a:t>
              </a:r>
            </a:p>
          </p:txBody>
        </p:sp>
        <p:sp>
          <p:nvSpPr>
            <p:cNvPr id="39965" name="Rectangle 8"/>
            <p:cNvSpPr>
              <a:spLocks noChangeArrowheads="1"/>
            </p:cNvSpPr>
            <p:nvPr/>
          </p:nvSpPr>
          <p:spPr bwMode="auto">
            <a:xfrm>
              <a:off x="1872" y="2832"/>
              <a:ext cx="37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9966" name="Rectangle 7"/>
            <p:cNvSpPr>
              <a:spLocks noChangeArrowheads="1"/>
            </p:cNvSpPr>
            <p:nvPr/>
          </p:nvSpPr>
          <p:spPr bwMode="auto">
            <a:xfrm>
              <a:off x="960" y="2832"/>
              <a:ext cx="432" cy="288"/>
            </a:xfrm>
            <a:prstGeom prst="rect">
              <a:avLst/>
            </a:prstGeom>
            <a:solidFill>
              <a:srgbClr val="FFFF00"/>
            </a:solidFill>
            <a:ln w="9525">
              <a:noFill/>
              <a:miter lim="800000"/>
              <a:headEnd/>
              <a:tailEnd/>
            </a:ln>
          </p:spPr>
          <p:txBody>
            <a:bodyPr lIns="92075" tIns="46038" rIns="92075" bIns="46038">
              <a:spAutoFit/>
            </a:bodyPr>
            <a:lstStyle/>
            <a:p>
              <a:pPr algn="ctr" eaLnBrk="0" hangingPunct="0"/>
              <a:r>
                <a:rPr lang="en-US" sz="2400">
                  <a:latin typeface="Times New Roman" pitchFamily="18" charset="0"/>
                </a:rPr>
                <a:t>no</a:t>
              </a:r>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812"/>
            <a:ext cx="7924800" cy="563563"/>
          </a:xfrm>
        </p:spPr>
        <p:txBody>
          <a:bodyPr>
            <a:normAutofit fontScale="90000"/>
          </a:bodyPr>
          <a:lstStyle/>
          <a:p>
            <a:r>
              <a:rPr lang="en-US" dirty="0"/>
              <a:t>Algorithm for Decision Tree Induction</a:t>
            </a:r>
            <a:endParaRPr lang="id-ID" dirty="0"/>
          </a:p>
        </p:txBody>
      </p:sp>
      <p:sp>
        <p:nvSpPr>
          <p:cNvPr id="3" name="Content Placeholder 2"/>
          <p:cNvSpPr>
            <a:spLocks noGrp="1"/>
          </p:cNvSpPr>
          <p:nvPr>
            <p:ph idx="1"/>
          </p:nvPr>
        </p:nvSpPr>
        <p:spPr>
          <a:xfrm>
            <a:off x="628650" y="1143000"/>
            <a:ext cx="7886700" cy="5486400"/>
          </a:xfrm>
        </p:spPr>
        <p:txBody>
          <a:bodyPr>
            <a:normAutofit lnSpcReduction="10000"/>
          </a:bodyPr>
          <a:lstStyle/>
          <a:p>
            <a:pPr>
              <a:spcBef>
                <a:spcPct val="0"/>
              </a:spcBef>
            </a:pPr>
            <a:r>
              <a:rPr lang="en-US" dirty="0">
                <a:solidFill>
                  <a:srgbClr val="C00000"/>
                </a:solidFill>
              </a:rPr>
              <a:t>Basic algorithm </a:t>
            </a:r>
            <a:r>
              <a:rPr lang="en-US" dirty="0"/>
              <a:t>(a greedy algorithm)</a:t>
            </a:r>
          </a:p>
          <a:p>
            <a:pPr marL="914400" lvl="1" indent="-457200">
              <a:spcBef>
                <a:spcPct val="0"/>
              </a:spcBef>
              <a:buFont typeface="+mj-lt"/>
              <a:buAutoNum type="arabicPeriod"/>
            </a:pPr>
            <a:r>
              <a:rPr lang="en-US" sz="2200" dirty="0"/>
              <a:t>Tree is constructed in a </a:t>
            </a:r>
            <a:r>
              <a:rPr lang="en-US" sz="2200" dirty="0">
                <a:solidFill>
                  <a:schemeClr val="hlink"/>
                </a:solidFill>
              </a:rPr>
              <a:t>top-down recursive divide-and-conquer manner</a:t>
            </a:r>
          </a:p>
          <a:p>
            <a:pPr marL="914400" lvl="1" indent="-457200">
              <a:spcBef>
                <a:spcPct val="0"/>
              </a:spcBef>
              <a:buFont typeface="+mj-lt"/>
              <a:buAutoNum type="arabicPeriod"/>
            </a:pPr>
            <a:r>
              <a:rPr lang="en-US" sz="2200" dirty="0"/>
              <a:t>At start, all the training examples are at the root</a:t>
            </a:r>
          </a:p>
          <a:p>
            <a:pPr marL="914400" lvl="1" indent="-457200">
              <a:spcBef>
                <a:spcPct val="0"/>
              </a:spcBef>
              <a:buFont typeface="+mj-lt"/>
              <a:buAutoNum type="arabicPeriod"/>
            </a:pPr>
            <a:r>
              <a:rPr lang="en-US" sz="2200" dirty="0">
                <a:solidFill>
                  <a:srgbClr val="0070C0"/>
                </a:solidFill>
              </a:rPr>
              <a:t>Attributes are categorical </a:t>
            </a:r>
            <a:r>
              <a:rPr lang="en-US" sz="2200" dirty="0"/>
              <a:t>(if continuous-valued, they are </a:t>
            </a:r>
            <a:r>
              <a:rPr lang="en-US" sz="2200" dirty="0">
                <a:solidFill>
                  <a:srgbClr val="00B050"/>
                </a:solidFill>
              </a:rPr>
              <a:t>discretized in advance</a:t>
            </a:r>
            <a:r>
              <a:rPr lang="en-US" sz="2200" dirty="0"/>
              <a:t>)</a:t>
            </a:r>
          </a:p>
          <a:p>
            <a:pPr marL="914400" lvl="1" indent="-457200">
              <a:spcBef>
                <a:spcPct val="0"/>
              </a:spcBef>
              <a:buFont typeface="+mj-lt"/>
              <a:buAutoNum type="arabicPeriod"/>
            </a:pPr>
            <a:r>
              <a:rPr lang="en-US" sz="2200" dirty="0"/>
              <a:t>Examples are partitioned recursively based on selected attributes</a:t>
            </a:r>
          </a:p>
          <a:p>
            <a:pPr marL="914400" lvl="1" indent="-457200">
              <a:spcBef>
                <a:spcPct val="0"/>
              </a:spcBef>
              <a:buFont typeface="+mj-lt"/>
              <a:buAutoNum type="arabicPeriod"/>
            </a:pPr>
            <a:r>
              <a:rPr lang="en-US" sz="2200" dirty="0"/>
              <a:t>Test attributes are sele</a:t>
            </a:r>
            <a:r>
              <a:rPr lang="en-US" sz="2200" dirty="0">
                <a:solidFill>
                  <a:srgbClr val="0070C0"/>
                </a:solidFill>
              </a:rPr>
              <a:t>cted on the basis of a heuristic or statistical measure</a:t>
            </a:r>
            <a:r>
              <a:rPr lang="en-US" sz="2200" dirty="0"/>
              <a:t> (e.g., </a:t>
            </a:r>
            <a:r>
              <a:rPr lang="en-US" sz="2200" dirty="0">
                <a:solidFill>
                  <a:srgbClr val="00B050"/>
                </a:solidFill>
              </a:rPr>
              <a:t>information gain, gain ratio, </a:t>
            </a:r>
            <a:r>
              <a:rPr lang="en-US" sz="2200" dirty="0" err="1">
                <a:solidFill>
                  <a:srgbClr val="00B050"/>
                </a:solidFill>
              </a:rPr>
              <a:t>gini</a:t>
            </a:r>
            <a:r>
              <a:rPr lang="en-US" sz="2200" dirty="0">
                <a:solidFill>
                  <a:srgbClr val="00B050"/>
                </a:solidFill>
              </a:rPr>
              <a:t> index</a:t>
            </a:r>
            <a:r>
              <a:rPr lang="en-US" sz="2200" dirty="0"/>
              <a:t>)</a:t>
            </a:r>
          </a:p>
          <a:p>
            <a:pPr>
              <a:spcBef>
                <a:spcPct val="0"/>
              </a:spcBef>
            </a:pPr>
            <a:endParaRPr lang="en-US" sz="2400" dirty="0"/>
          </a:p>
          <a:p>
            <a:pPr>
              <a:spcBef>
                <a:spcPct val="0"/>
              </a:spcBef>
            </a:pPr>
            <a:r>
              <a:rPr lang="en-US" dirty="0"/>
              <a:t>Conditions for </a:t>
            </a:r>
            <a:r>
              <a:rPr lang="en-US" dirty="0">
                <a:solidFill>
                  <a:srgbClr val="C00000"/>
                </a:solidFill>
              </a:rPr>
              <a:t>stopping partitioning</a:t>
            </a:r>
          </a:p>
          <a:p>
            <a:pPr lvl="1">
              <a:spcBef>
                <a:spcPct val="0"/>
              </a:spcBef>
            </a:pPr>
            <a:r>
              <a:rPr lang="en-US" sz="2200" dirty="0"/>
              <a:t>All samples for a given node belong to the same class</a:t>
            </a:r>
          </a:p>
          <a:p>
            <a:pPr lvl="1">
              <a:spcBef>
                <a:spcPct val="0"/>
              </a:spcBef>
            </a:pPr>
            <a:r>
              <a:rPr lang="en-US" sz="2200" dirty="0"/>
              <a:t>There are no remaining attributes for further partitioning – </a:t>
            </a:r>
            <a:r>
              <a:rPr lang="en-US" sz="2200" dirty="0">
                <a:solidFill>
                  <a:schemeClr val="hlink"/>
                </a:solidFill>
              </a:rPr>
              <a:t>majority voting</a:t>
            </a:r>
            <a:r>
              <a:rPr lang="en-US" sz="2200" dirty="0"/>
              <a:t> is employed for classifying the leaf</a:t>
            </a:r>
          </a:p>
          <a:p>
            <a:pPr lvl="1">
              <a:spcBef>
                <a:spcPct val="0"/>
              </a:spcBef>
            </a:pPr>
            <a:r>
              <a:rPr lang="en-US" sz="2200" dirty="0"/>
              <a:t>There are no samples left</a:t>
            </a:r>
          </a:p>
          <a:p>
            <a:endParaRPr lang="id-ID" dirty="0"/>
          </a:p>
        </p:txBody>
      </p:sp>
      <p:sp>
        <p:nvSpPr>
          <p:cNvPr id="5" name="Slide Number Placeholder 4"/>
          <p:cNvSpPr>
            <a:spLocks noGrp="1"/>
          </p:cNvSpPr>
          <p:nvPr>
            <p:ph type="sldNum" sz="quarter" idx="12"/>
          </p:nvPr>
        </p:nvSpPr>
        <p:spPr/>
        <p:txBody>
          <a:bodyPr/>
          <a:lstStyle/>
          <a:p>
            <a:fld id="{C546E0E4-908A-4724-B308-E4F6AE4FA0DD}" type="slidenum">
              <a:rPr lang="en-US" smtClean="0">
                <a:solidFill>
                  <a:prstClr val="black">
                    <a:tint val="75000"/>
                  </a:prstClr>
                </a:solidFill>
              </a:rPr>
              <a:pPr/>
              <a:t>17</a:t>
            </a:fld>
            <a:endParaRPr lang="en-US" dirty="0">
              <a:solidFill>
                <a:prstClr val="black">
                  <a:tint val="75000"/>
                </a:prstClr>
              </a:solidFill>
            </a:endParaRPr>
          </a:p>
        </p:txBody>
      </p:sp>
    </p:spTree>
    <p:extLst>
      <p:ext uri="{BB962C8B-B14F-4D97-AF65-F5344CB8AC3E}">
        <p14:creationId xmlns:p14="http://schemas.microsoft.com/office/powerpoint/2010/main" val="4258958923"/>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Rectangle 2"/>
          <p:cNvSpPr>
            <a:spLocks noChangeArrowheads="1"/>
          </p:cNvSpPr>
          <p:nvPr/>
        </p:nvSpPr>
        <p:spPr bwMode="auto">
          <a:xfrm>
            <a:off x="381000" y="152400"/>
            <a:ext cx="8229600" cy="1066800"/>
          </a:xfrm>
          <a:prstGeom prst="rect">
            <a:avLst/>
          </a:prstGeom>
          <a:noFill/>
          <a:ln w="9525">
            <a:noFill/>
            <a:miter lim="800000"/>
            <a:headEnd/>
            <a:tailEnd/>
          </a:ln>
        </p:spPr>
        <p:txBody>
          <a:bodyPr anchor="b"/>
          <a:lstStyle/>
          <a:p>
            <a:pPr algn="ctr"/>
            <a:r>
              <a:rPr lang="en-US" sz="3200" b="1" dirty="0"/>
              <a:t>Attribute Selection Measure: Information Gain (ID3/C4.5)</a:t>
            </a:r>
          </a:p>
        </p:txBody>
      </p:sp>
      <p:sp>
        <p:nvSpPr>
          <p:cNvPr id="4105" name="Rectangle 3"/>
          <p:cNvSpPr>
            <a:spLocks noChangeArrowheads="1"/>
          </p:cNvSpPr>
          <p:nvPr/>
        </p:nvSpPr>
        <p:spPr bwMode="auto">
          <a:xfrm>
            <a:off x="304800" y="1524000"/>
            <a:ext cx="8458200" cy="4953000"/>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Char char="n"/>
            </a:pPr>
            <a:r>
              <a:rPr lang="en-US" sz="2400" dirty="0"/>
              <a:t>Select the attribute with the </a:t>
            </a:r>
            <a:r>
              <a:rPr lang="en-US" sz="2400" dirty="0">
                <a:solidFill>
                  <a:srgbClr val="C00000"/>
                </a:solidFill>
              </a:rPr>
              <a:t>highest information gain</a:t>
            </a:r>
          </a:p>
          <a:p>
            <a:pPr marL="342900" indent="-342900">
              <a:spcBef>
                <a:spcPct val="20000"/>
              </a:spcBef>
              <a:buClr>
                <a:schemeClr val="folHlink"/>
              </a:buClr>
              <a:buSzPct val="60000"/>
              <a:buFont typeface="Wingdings" pitchFamily="2" charset="2"/>
              <a:buChar char="n"/>
            </a:pPr>
            <a:r>
              <a:rPr lang="en-US" sz="2400" dirty="0"/>
              <a:t>Let </a:t>
            </a:r>
            <a:r>
              <a:rPr lang="en-US" sz="2400" i="1" dirty="0"/>
              <a:t>p</a:t>
            </a:r>
            <a:r>
              <a:rPr lang="en-US" sz="2400" i="1" baseline="-25000" dirty="0"/>
              <a:t>i</a:t>
            </a:r>
            <a:r>
              <a:rPr lang="en-US" sz="2400" dirty="0"/>
              <a:t> be the probability that an arbitrary </a:t>
            </a:r>
            <a:r>
              <a:rPr lang="en-US" sz="2400" dirty="0" err="1"/>
              <a:t>tuple</a:t>
            </a:r>
            <a:r>
              <a:rPr lang="en-US" sz="2400" dirty="0"/>
              <a:t> in D belongs to class </a:t>
            </a:r>
            <a:r>
              <a:rPr lang="en-US" sz="2400" dirty="0" err="1"/>
              <a:t>C</a:t>
            </a:r>
            <a:r>
              <a:rPr lang="en-US" sz="2400" baseline="-25000" dirty="0" err="1"/>
              <a:t>i</a:t>
            </a:r>
            <a:r>
              <a:rPr lang="en-US" sz="2400" dirty="0"/>
              <a:t>, estimated by </a:t>
            </a:r>
            <a:r>
              <a:rPr lang="en-US" sz="2400" dirty="0">
                <a:solidFill>
                  <a:srgbClr val="C00000"/>
                </a:solidFill>
              </a:rPr>
              <a:t>|</a:t>
            </a:r>
            <a:r>
              <a:rPr lang="en-US" sz="2400" dirty="0" err="1">
                <a:solidFill>
                  <a:srgbClr val="C00000"/>
                </a:solidFill>
              </a:rPr>
              <a:t>C</a:t>
            </a:r>
            <a:r>
              <a:rPr lang="en-US" sz="2400" i="1" baseline="-25000" dirty="0" err="1">
                <a:solidFill>
                  <a:srgbClr val="C00000"/>
                </a:solidFill>
              </a:rPr>
              <a:t>i</a:t>
            </a:r>
            <a:r>
              <a:rPr lang="en-US" sz="2400" baseline="-25000" dirty="0">
                <a:solidFill>
                  <a:srgbClr val="C00000"/>
                </a:solidFill>
              </a:rPr>
              <a:t>, D</a:t>
            </a:r>
            <a:r>
              <a:rPr lang="en-US" sz="2400" dirty="0">
                <a:solidFill>
                  <a:srgbClr val="C00000"/>
                </a:solidFill>
              </a:rPr>
              <a:t>|/|D|</a:t>
            </a:r>
          </a:p>
          <a:p>
            <a:pPr marL="342900" indent="-342900">
              <a:spcBef>
                <a:spcPct val="20000"/>
              </a:spcBef>
              <a:buClr>
                <a:schemeClr val="folHlink"/>
              </a:buClr>
              <a:buSzPct val="60000"/>
              <a:buFont typeface="Wingdings" pitchFamily="2" charset="2"/>
              <a:buChar char="n"/>
            </a:pPr>
            <a:r>
              <a:rPr lang="en-US" sz="2400" dirty="0">
                <a:solidFill>
                  <a:schemeClr val="tx2"/>
                </a:solidFill>
              </a:rPr>
              <a:t>Expected information</a:t>
            </a:r>
            <a:r>
              <a:rPr lang="en-US" sz="2400" dirty="0"/>
              <a:t> (entropy) needed to classify a </a:t>
            </a:r>
            <a:r>
              <a:rPr lang="en-US" sz="2400" dirty="0" err="1"/>
              <a:t>tuple</a:t>
            </a:r>
            <a:r>
              <a:rPr lang="en-US" sz="2400" dirty="0"/>
              <a:t> in D:</a:t>
            </a:r>
          </a:p>
          <a:p>
            <a:pPr marL="342900" indent="-342900">
              <a:spcBef>
                <a:spcPct val="20000"/>
              </a:spcBef>
              <a:buClr>
                <a:schemeClr val="folHlink"/>
              </a:buClr>
              <a:buSzPct val="60000"/>
              <a:buFont typeface="Wingdings" pitchFamily="2" charset="2"/>
              <a:buChar char="n"/>
            </a:pPr>
            <a:endParaRPr lang="en-US" sz="2400" dirty="0"/>
          </a:p>
          <a:p>
            <a:pPr marL="342900" indent="-342900">
              <a:spcBef>
                <a:spcPct val="20000"/>
              </a:spcBef>
              <a:buClr>
                <a:schemeClr val="folHlink"/>
              </a:buClr>
              <a:buSzPct val="60000"/>
              <a:buFont typeface="Wingdings" pitchFamily="2" charset="2"/>
              <a:buChar char="n"/>
            </a:pPr>
            <a:r>
              <a:rPr lang="en-US" sz="2400" dirty="0">
                <a:solidFill>
                  <a:schemeClr val="tx2"/>
                </a:solidFill>
              </a:rPr>
              <a:t>Information</a:t>
            </a:r>
            <a:r>
              <a:rPr lang="en-US" sz="2400" dirty="0"/>
              <a:t> needed (after using A to split D into v partitions) to classify D:</a:t>
            </a:r>
          </a:p>
          <a:p>
            <a:pPr marL="342900" indent="-342900">
              <a:spcBef>
                <a:spcPct val="20000"/>
              </a:spcBef>
              <a:buClr>
                <a:schemeClr val="folHlink"/>
              </a:buClr>
              <a:buSzPct val="60000"/>
              <a:buFont typeface="Wingdings" pitchFamily="2" charset="2"/>
              <a:buChar char="n"/>
            </a:pPr>
            <a:endParaRPr lang="en-US" sz="2400" dirty="0"/>
          </a:p>
          <a:p>
            <a:pPr marL="342900" indent="-342900">
              <a:spcBef>
                <a:spcPct val="20000"/>
              </a:spcBef>
              <a:buClr>
                <a:schemeClr val="folHlink"/>
              </a:buClr>
              <a:buSzPct val="60000"/>
              <a:buFont typeface="Wingdings" pitchFamily="2" charset="2"/>
              <a:buChar char="n"/>
            </a:pPr>
            <a:r>
              <a:rPr lang="en-US" sz="2400" dirty="0">
                <a:solidFill>
                  <a:schemeClr val="tx2"/>
                </a:solidFill>
              </a:rPr>
              <a:t>Information gained</a:t>
            </a:r>
            <a:r>
              <a:rPr lang="en-US" sz="2400" dirty="0"/>
              <a:t> by branching on attribute A</a:t>
            </a:r>
          </a:p>
          <a:p>
            <a:pPr marL="342900" indent="-342900">
              <a:spcBef>
                <a:spcPct val="20000"/>
              </a:spcBef>
              <a:buClr>
                <a:schemeClr val="folHlink"/>
              </a:buClr>
              <a:buSzPct val="60000"/>
              <a:buFont typeface="Wingdings" pitchFamily="2" charset="2"/>
              <a:buChar char="n"/>
            </a:pPr>
            <a:endParaRPr lang="en-US" sz="2400" dirty="0"/>
          </a:p>
        </p:txBody>
      </p:sp>
      <p:graphicFrame>
        <p:nvGraphicFramePr>
          <p:cNvPr id="4098" name="Object 4"/>
          <p:cNvGraphicFramePr>
            <a:graphicFrameLocks noChangeAspect="1"/>
          </p:cNvGraphicFramePr>
          <p:nvPr/>
        </p:nvGraphicFramePr>
        <p:xfrm>
          <a:off x="4530725" y="3200400"/>
          <a:ext cx="3317875" cy="850900"/>
        </p:xfrm>
        <a:graphic>
          <a:graphicData uri="http://schemas.openxmlformats.org/presentationml/2006/ole">
            <mc:AlternateContent xmlns:mc="http://schemas.openxmlformats.org/markup-compatibility/2006">
              <mc:Choice xmlns:v="urn:schemas-microsoft-com:vml" Requires="v">
                <p:oleObj spid="_x0000_s290850" name="Equation" r:id="rId4" imgW="1612900" imgH="431800" progId="Equation.3">
                  <p:embed/>
                </p:oleObj>
              </mc:Choice>
              <mc:Fallback>
                <p:oleObj name="Equation" r:id="rId4" imgW="1612900" imgH="43180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0725" y="3200400"/>
                        <a:ext cx="3317875" cy="8509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099" name="Object 5"/>
          <p:cNvGraphicFramePr>
            <a:graphicFrameLocks noChangeAspect="1"/>
          </p:cNvGraphicFramePr>
          <p:nvPr/>
        </p:nvGraphicFramePr>
        <p:xfrm>
          <a:off x="4899025" y="4343400"/>
          <a:ext cx="3178175" cy="949325"/>
        </p:xfrm>
        <a:graphic>
          <a:graphicData uri="http://schemas.openxmlformats.org/presentationml/2006/ole">
            <mc:AlternateContent xmlns:mc="http://schemas.openxmlformats.org/markup-compatibility/2006">
              <mc:Choice xmlns:v="urn:schemas-microsoft-com:vml" Requires="v">
                <p:oleObj spid="_x0000_s290851" name="Equation" r:id="rId6" imgW="1714500" imgH="457200" progId="Equation.3">
                  <p:embed/>
                </p:oleObj>
              </mc:Choice>
              <mc:Fallback>
                <p:oleObj name="Equation" r:id="rId6" imgW="1714500" imgH="45720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9025" y="4343400"/>
                        <a:ext cx="3178175" cy="9493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100" name="Object 6"/>
          <p:cNvGraphicFramePr>
            <a:graphicFrameLocks noChangeAspect="1"/>
          </p:cNvGraphicFramePr>
          <p:nvPr/>
        </p:nvGraphicFramePr>
        <p:xfrm>
          <a:off x="3868738" y="5822950"/>
          <a:ext cx="4138612" cy="536575"/>
        </p:xfrm>
        <a:graphic>
          <a:graphicData uri="http://schemas.openxmlformats.org/presentationml/2006/ole">
            <mc:AlternateContent xmlns:mc="http://schemas.openxmlformats.org/markup-compatibility/2006">
              <mc:Choice xmlns:v="urn:schemas-microsoft-com:vml" Requires="v">
                <p:oleObj spid="_x0000_s290852" name="Equation" r:id="rId8" imgW="1790700" imgH="215900" progId="Equation.3">
                  <p:embed/>
                </p:oleObj>
              </mc:Choice>
              <mc:Fallback>
                <p:oleObj name="Equation" r:id="rId8" imgW="1790700" imgH="215900" progId="Equation.3">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8738" y="5822950"/>
                        <a:ext cx="4138612" cy="5365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2" name="Rectangle 2"/>
          <p:cNvSpPr>
            <a:spLocks noGrp="1" noChangeArrowheads="1"/>
          </p:cNvSpPr>
          <p:nvPr>
            <p:ph type="title"/>
          </p:nvPr>
        </p:nvSpPr>
        <p:spPr>
          <a:xfrm>
            <a:off x="152400" y="304800"/>
            <a:ext cx="8763000" cy="609600"/>
          </a:xfrm>
        </p:spPr>
        <p:txBody>
          <a:bodyPr/>
          <a:lstStyle/>
          <a:p>
            <a:pPr eaLnBrk="1" hangingPunct="1"/>
            <a:r>
              <a:rPr lang="en-US" sz="3200" dirty="0"/>
              <a:t>Attribute Selection: Information Gain</a:t>
            </a:r>
          </a:p>
        </p:txBody>
      </p:sp>
      <p:sp>
        <p:nvSpPr>
          <p:cNvPr id="5133" name="Rectangle 3"/>
          <p:cNvSpPr>
            <a:spLocks noGrp="1" noChangeArrowheads="1"/>
          </p:cNvSpPr>
          <p:nvPr>
            <p:ph type="body" sz="half" idx="1"/>
          </p:nvPr>
        </p:nvSpPr>
        <p:spPr>
          <a:xfrm>
            <a:off x="304800" y="1371600"/>
            <a:ext cx="4152900" cy="1600200"/>
          </a:xfrm>
        </p:spPr>
        <p:txBody>
          <a:bodyPr/>
          <a:lstStyle/>
          <a:p>
            <a:pPr eaLnBrk="1" hangingPunct="1">
              <a:lnSpc>
                <a:spcPct val="80000"/>
              </a:lnSpc>
              <a:spcBef>
                <a:spcPct val="30000"/>
              </a:spcBef>
              <a:buSzPct val="80000"/>
              <a:buFont typeface="Marlett" pitchFamily="2" charset="2"/>
              <a:buChar char="g"/>
            </a:pPr>
            <a:r>
              <a:rPr lang="en-US" sz="2000">
                <a:solidFill>
                  <a:srgbClr val="121328"/>
                </a:solidFill>
              </a:rPr>
              <a:t>Class P: buys_computer = “yes”</a:t>
            </a:r>
          </a:p>
          <a:p>
            <a:pPr eaLnBrk="1" hangingPunct="1">
              <a:lnSpc>
                <a:spcPct val="80000"/>
              </a:lnSpc>
              <a:spcBef>
                <a:spcPct val="30000"/>
              </a:spcBef>
              <a:buSzPct val="80000"/>
              <a:buFont typeface="Marlett" pitchFamily="2" charset="2"/>
              <a:buChar char="g"/>
            </a:pPr>
            <a:r>
              <a:rPr lang="en-US" sz="2000">
                <a:solidFill>
                  <a:srgbClr val="121328"/>
                </a:solidFill>
              </a:rPr>
              <a:t>Class N: buys_computer = “no”</a:t>
            </a:r>
            <a:endParaRPr lang="en-US" sz="2400"/>
          </a:p>
        </p:txBody>
      </p:sp>
      <p:sp>
        <p:nvSpPr>
          <p:cNvPr id="5134" name="Rectangle 4"/>
          <p:cNvSpPr>
            <a:spLocks noGrp="1" noChangeArrowheads="1"/>
          </p:cNvSpPr>
          <p:nvPr>
            <p:ph type="body" sz="half" idx="2"/>
          </p:nvPr>
        </p:nvSpPr>
        <p:spPr>
          <a:xfrm>
            <a:off x="4724400" y="2743200"/>
            <a:ext cx="4152900" cy="2209800"/>
          </a:xfrm>
        </p:spPr>
        <p:txBody>
          <a:bodyPr/>
          <a:lstStyle/>
          <a:p>
            <a:pPr eaLnBrk="1" hangingPunct="1">
              <a:lnSpc>
                <a:spcPct val="130000"/>
              </a:lnSpc>
              <a:buFont typeface="Wingdings" pitchFamily="2" charset="2"/>
              <a:buNone/>
            </a:pPr>
            <a:r>
              <a:rPr lang="en-US" sz="2000">
                <a:solidFill>
                  <a:srgbClr val="121328"/>
                </a:solidFill>
              </a:rPr>
              <a:t>            means “age &lt;=30” has 5 out of 14 samples, with 2 yes’es  and 3 no’s.   Hence</a:t>
            </a:r>
            <a:endParaRPr lang="en-US" sz="2000"/>
          </a:p>
          <a:p>
            <a:pPr eaLnBrk="1" hangingPunct="1">
              <a:lnSpc>
                <a:spcPct val="90000"/>
              </a:lnSpc>
              <a:buClr>
                <a:schemeClr val="accent1"/>
              </a:buClr>
              <a:buFont typeface="Wingdings 2" pitchFamily="18" charset="2"/>
              <a:buNone/>
            </a:pPr>
            <a:endParaRPr lang="en-US" sz="2000"/>
          </a:p>
          <a:p>
            <a:pPr eaLnBrk="1" hangingPunct="1">
              <a:lnSpc>
                <a:spcPct val="90000"/>
              </a:lnSpc>
              <a:buClr>
                <a:schemeClr val="accent1"/>
              </a:buClr>
              <a:buFont typeface="Wingdings 2" pitchFamily="18" charset="2"/>
              <a:buNone/>
            </a:pPr>
            <a:endParaRPr lang="en-US" sz="2000">
              <a:solidFill>
                <a:srgbClr val="121328"/>
              </a:solidFill>
            </a:endParaRPr>
          </a:p>
          <a:p>
            <a:pPr eaLnBrk="1" hangingPunct="1">
              <a:lnSpc>
                <a:spcPct val="90000"/>
              </a:lnSpc>
              <a:buClr>
                <a:schemeClr val="accent1"/>
              </a:buClr>
              <a:buFont typeface="Wingdings 2" pitchFamily="18" charset="2"/>
              <a:buNone/>
            </a:pPr>
            <a:r>
              <a:rPr lang="en-US" sz="2000">
                <a:solidFill>
                  <a:srgbClr val="121328"/>
                </a:solidFill>
              </a:rPr>
              <a:t>Similarly,</a:t>
            </a:r>
          </a:p>
        </p:txBody>
      </p:sp>
      <p:graphicFrame>
        <p:nvGraphicFramePr>
          <p:cNvPr id="5122" name="Object 5"/>
          <p:cNvGraphicFramePr>
            <a:graphicFrameLocks noChangeAspect="1"/>
          </p:cNvGraphicFramePr>
          <p:nvPr/>
        </p:nvGraphicFramePr>
        <p:xfrm>
          <a:off x="762000" y="2667000"/>
          <a:ext cx="3354388" cy="1439863"/>
        </p:xfrm>
        <a:graphic>
          <a:graphicData uri="http://schemas.openxmlformats.org/presentationml/2006/ole">
            <mc:AlternateContent xmlns:mc="http://schemas.openxmlformats.org/markup-compatibility/2006">
              <mc:Choice xmlns:v="urn:schemas-microsoft-com:vml" Requires="v">
                <p:oleObj spid="_x0000_s291914" name="Worksheet" r:id="rId3" imgW="3352800" imgH="1438250" progId="Excel.Sheet.8">
                  <p:embed/>
                </p:oleObj>
              </mc:Choice>
              <mc:Fallback>
                <p:oleObj name="Worksheet" r:id="rId3" imgW="3352800" imgH="1438250" progId="Excel.Sheet.8">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667000"/>
                        <a:ext cx="3354388" cy="14398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5123" name="Object 6"/>
          <p:cNvGraphicFramePr>
            <a:graphicFrameLocks noChangeAspect="1"/>
          </p:cNvGraphicFramePr>
          <p:nvPr/>
        </p:nvGraphicFramePr>
        <p:xfrm>
          <a:off x="4876800" y="1295400"/>
          <a:ext cx="3754438" cy="1371600"/>
        </p:xfrm>
        <a:graphic>
          <a:graphicData uri="http://schemas.openxmlformats.org/presentationml/2006/ole">
            <mc:AlternateContent xmlns:mc="http://schemas.openxmlformats.org/markup-compatibility/2006">
              <mc:Choice xmlns:v="urn:schemas-microsoft-com:vml" Requires="v">
                <p:oleObj spid="_x0000_s291915" name="Equation" r:id="rId5" imgW="2044700" imgH="812800" progId="Equation.3">
                  <p:embed/>
                </p:oleObj>
              </mc:Choice>
              <mc:Fallback>
                <p:oleObj name="Equation" r:id="rId5" imgW="2044700" imgH="812800" progId="Equation.3">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295400"/>
                        <a:ext cx="3754438" cy="13716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4" name="Object 7"/>
          <p:cNvGraphicFramePr>
            <a:graphicFrameLocks noChangeAspect="1"/>
          </p:cNvGraphicFramePr>
          <p:nvPr/>
        </p:nvGraphicFramePr>
        <p:xfrm>
          <a:off x="5029200" y="5257800"/>
          <a:ext cx="3594100" cy="1193800"/>
        </p:xfrm>
        <a:graphic>
          <a:graphicData uri="http://schemas.openxmlformats.org/presentationml/2006/ole">
            <mc:AlternateContent xmlns:mc="http://schemas.openxmlformats.org/markup-compatibility/2006">
              <mc:Choice xmlns:v="urn:schemas-microsoft-com:vml" Requires="v">
                <p:oleObj spid="_x0000_s291916" name="Equation" r:id="rId7" imgW="3594100" imgH="1193800" progId="Equation.3">
                  <p:embed/>
                </p:oleObj>
              </mc:Choice>
              <mc:Fallback>
                <p:oleObj name="Equation" r:id="rId7" imgW="3594100" imgH="1193800" progId="Equation.3">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5257800"/>
                        <a:ext cx="3594100" cy="11938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5" name="Object 8"/>
          <p:cNvGraphicFramePr>
            <a:graphicFrameLocks noChangeAspect="1"/>
          </p:cNvGraphicFramePr>
          <p:nvPr/>
        </p:nvGraphicFramePr>
        <p:xfrm>
          <a:off x="4724400" y="4114800"/>
          <a:ext cx="4271963" cy="388938"/>
        </p:xfrm>
        <a:graphic>
          <a:graphicData uri="http://schemas.openxmlformats.org/presentationml/2006/ole">
            <mc:AlternateContent xmlns:mc="http://schemas.openxmlformats.org/markup-compatibility/2006">
              <mc:Choice xmlns:v="urn:schemas-microsoft-com:vml" Requires="v">
                <p:oleObj spid="_x0000_s291917" name="Equation" r:id="rId9" imgW="2552700" imgH="241300" progId="Equation.3">
                  <p:embed/>
                </p:oleObj>
              </mc:Choice>
              <mc:Fallback>
                <p:oleObj name="Equation" r:id="rId9" imgW="2552700" imgH="241300" progId="Equation.3">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4114800"/>
                        <a:ext cx="4271963" cy="3889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6" name="Object 9"/>
          <p:cNvGraphicFramePr>
            <a:graphicFrameLocks/>
          </p:cNvGraphicFramePr>
          <p:nvPr/>
        </p:nvGraphicFramePr>
        <p:xfrm>
          <a:off x="76200" y="4114800"/>
          <a:ext cx="4419600" cy="2667000"/>
        </p:xfrm>
        <a:graphic>
          <a:graphicData uri="http://schemas.openxmlformats.org/presentationml/2006/ole">
            <mc:AlternateContent xmlns:mc="http://schemas.openxmlformats.org/markup-compatibility/2006">
              <mc:Choice xmlns:v="urn:schemas-microsoft-com:vml" Requires="v">
                <p:oleObj spid="_x0000_s291918" name="Worksheet" r:id="rId11" imgW="5778000" imgH="3948840" progId="Excel.Sheet.8">
                  <p:embed/>
                </p:oleObj>
              </mc:Choice>
              <mc:Fallback>
                <p:oleObj name="Worksheet" r:id="rId11" imgW="5778000" imgH="3948840" progId="Excel.Sheet.8">
                  <p:embed/>
                  <p:pic>
                    <p:nvPicPr>
                      <p:cNvPr id="0" name="Picture 1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 y="4114800"/>
                        <a:ext cx="4419600" cy="2667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5127" name="Object 10"/>
          <p:cNvGraphicFramePr>
            <a:graphicFrameLocks noChangeAspect="1"/>
          </p:cNvGraphicFramePr>
          <p:nvPr/>
        </p:nvGraphicFramePr>
        <p:xfrm>
          <a:off x="4495800" y="2743200"/>
          <a:ext cx="1073150" cy="665163"/>
        </p:xfrm>
        <a:graphic>
          <a:graphicData uri="http://schemas.openxmlformats.org/presentationml/2006/ole">
            <mc:AlternateContent xmlns:mc="http://schemas.openxmlformats.org/markup-compatibility/2006">
              <mc:Choice xmlns:v="urn:schemas-microsoft-com:vml" Requires="v">
                <p:oleObj spid="_x0000_s291919" name="Equation" r:id="rId13" imgW="583947" imgH="393529" progId="Equation.3">
                  <p:embed/>
                </p:oleObj>
              </mc:Choice>
              <mc:Fallback>
                <p:oleObj name="Equation" r:id="rId13" imgW="583947" imgH="393529" progId="Equation.3">
                  <p:embed/>
                  <p:pic>
                    <p:nvPicPr>
                      <p:cNvPr id="0" name="Picture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95800" y="2743200"/>
                        <a:ext cx="1073150" cy="6651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8" name="Object 11"/>
          <p:cNvGraphicFramePr>
            <a:graphicFrameLocks noChangeAspect="1"/>
          </p:cNvGraphicFramePr>
          <p:nvPr/>
        </p:nvGraphicFramePr>
        <p:xfrm>
          <a:off x="76200" y="2057400"/>
          <a:ext cx="4800600" cy="523875"/>
        </p:xfrm>
        <a:graphic>
          <a:graphicData uri="http://schemas.openxmlformats.org/presentationml/2006/ole">
            <mc:AlternateContent xmlns:mc="http://schemas.openxmlformats.org/markup-compatibility/2006">
              <mc:Choice xmlns:v="urn:schemas-microsoft-com:vml" Requires="v">
                <p:oleObj spid="_x0000_s291920" name="Equation" r:id="rId15" imgW="3314700" imgH="393700" progId="Equation.3">
                  <p:embed/>
                </p:oleObj>
              </mc:Choice>
              <mc:Fallback>
                <p:oleObj name="Equation" r:id="rId15" imgW="3314700" imgH="393700" progId="Equation.3">
                  <p:embed/>
                  <p:pic>
                    <p:nvPicPr>
                      <p:cNvPr id="0"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 y="2057400"/>
                        <a:ext cx="4800600" cy="5238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925135379"/>
              </p:ext>
            </p:extLst>
          </p:nvPr>
        </p:nvGraphicFramePr>
        <p:xfrm>
          <a:off x="117987" y="1369256"/>
          <a:ext cx="6225544" cy="4802944"/>
        </p:xfrm>
        <a:graphic>
          <a:graphicData uri="http://schemas.openxmlformats.org/drawingml/2006/table">
            <a:tbl>
              <a:tblPr firstRow="1" bandRow="1">
                <a:tableStyleId>{85BE263C-DBD7-4A20-BB59-AAB30ACAA65A}</a:tableStyleId>
              </a:tblPr>
              <a:tblGrid>
                <a:gridCol w="482918">
                  <a:extLst>
                    <a:ext uri="{9D8B030D-6E8A-4147-A177-3AD203B41FA5}">
                      <a16:colId xmlns:a16="http://schemas.microsoft.com/office/drawing/2014/main" val="20000"/>
                    </a:ext>
                  </a:extLst>
                </a:gridCol>
                <a:gridCol w="77069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923931">
                  <a:extLst>
                    <a:ext uri="{9D8B030D-6E8A-4147-A177-3AD203B41FA5}">
                      <a16:colId xmlns:a16="http://schemas.microsoft.com/office/drawing/2014/main" val="20005"/>
                    </a:ext>
                  </a:extLst>
                </a:gridCol>
              </a:tblGrid>
              <a:tr h="306056">
                <a:tc>
                  <a:txBody>
                    <a:bodyPr/>
                    <a:lstStyle/>
                    <a:p>
                      <a:r>
                        <a:rPr lang="en-CA" sz="1400" dirty="0"/>
                        <a:t>RID</a:t>
                      </a:r>
                      <a:endParaRPr lang="en-US" sz="1400" dirty="0"/>
                    </a:p>
                  </a:txBody>
                  <a:tcPr/>
                </a:tc>
                <a:tc>
                  <a:txBody>
                    <a:bodyPr/>
                    <a:lstStyle/>
                    <a:p>
                      <a:r>
                        <a:rPr lang="en-CA" sz="1400" dirty="0"/>
                        <a:t>age</a:t>
                      </a:r>
                      <a:endParaRPr lang="en-US" sz="1400" dirty="0"/>
                    </a:p>
                  </a:txBody>
                  <a:tcPr/>
                </a:tc>
                <a:tc>
                  <a:txBody>
                    <a:bodyPr/>
                    <a:lstStyle/>
                    <a:p>
                      <a:r>
                        <a:rPr lang="en-CA" sz="1400" dirty="0"/>
                        <a:t>income</a:t>
                      </a:r>
                      <a:endParaRPr lang="en-US" sz="1400" dirty="0"/>
                    </a:p>
                  </a:txBody>
                  <a:tcPr/>
                </a:tc>
                <a:tc>
                  <a:txBody>
                    <a:bodyPr/>
                    <a:lstStyle/>
                    <a:p>
                      <a:r>
                        <a:rPr lang="en-CA" sz="1400" dirty="0"/>
                        <a:t>student</a:t>
                      </a:r>
                      <a:endParaRPr lang="en-US" sz="1400" dirty="0"/>
                    </a:p>
                  </a:txBody>
                  <a:tcPr/>
                </a:tc>
                <a:tc>
                  <a:txBody>
                    <a:bodyPr/>
                    <a:lstStyle/>
                    <a:p>
                      <a:r>
                        <a:rPr lang="en-CA" sz="1400" dirty="0" err="1"/>
                        <a:t>Credit_rating</a:t>
                      </a:r>
                      <a:endParaRPr lang="en-US" sz="1400" dirty="0"/>
                    </a:p>
                  </a:txBody>
                  <a:tcPr/>
                </a:tc>
                <a:tc>
                  <a:txBody>
                    <a:bodyPr/>
                    <a:lstStyle/>
                    <a:p>
                      <a:r>
                        <a:rPr lang="en-CA" sz="1400" dirty="0"/>
                        <a:t>Class: </a:t>
                      </a:r>
                      <a:r>
                        <a:rPr lang="en-CA" sz="1400" dirty="0" err="1"/>
                        <a:t>buys_computer</a:t>
                      </a:r>
                      <a:endParaRPr lang="en-US" sz="1400" dirty="0"/>
                    </a:p>
                  </a:txBody>
                  <a:tcPr/>
                </a:tc>
                <a:extLst>
                  <a:ext uri="{0D108BD9-81ED-4DB2-BD59-A6C34878D82A}">
                    <a16:rowId xmlns:a16="http://schemas.microsoft.com/office/drawing/2014/main" val="10000"/>
                  </a:ext>
                </a:extLst>
              </a:tr>
              <a:tr h="306056">
                <a:tc>
                  <a:txBody>
                    <a:bodyPr/>
                    <a:lstStyle/>
                    <a:p>
                      <a:r>
                        <a:rPr lang="en-CA" sz="1400" dirty="0"/>
                        <a:t>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1"/>
                  </a:ext>
                </a:extLst>
              </a:tr>
              <a:tr h="306056">
                <a:tc>
                  <a:txBody>
                    <a:bodyPr/>
                    <a:lstStyle/>
                    <a:p>
                      <a:r>
                        <a:rPr lang="en-CA" sz="1400" dirty="0"/>
                        <a:t>2</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2"/>
                  </a:ext>
                </a:extLst>
              </a:tr>
              <a:tr h="306056">
                <a:tc>
                  <a:txBody>
                    <a:bodyPr/>
                    <a:lstStyle/>
                    <a:p>
                      <a:r>
                        <a:rPr lang="en-CA" sz="1400" dirty="0"/>
                        <a:t>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3"/>
                  </a:ext>
                </a:extLst>
              </a:tr>
              <a:tr h="306056">
                <a:tc>
                  <a:txBody>
                    <a:bodyPr/>
                    <a:lstStyle/>
                    <a:p>
                      <a:r>
                        <a:rPr lang="en-CA" sz="1400" dirty="0"/>
                        <a:t>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4"/>
                  </a:ext>
                </a:extLst>
              </a:tr>
              <a:tr h="306056">
                <a:tc>
                  <a:txBody>
                    <a:bodyPr/>
                    <a:lstStyle/>
                    <a:p>
                      <a:r>
                        <a:rPr lang="en-CA" sz="1400" dirty="0"/>
                        <a:t>5</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5"/>
                  </a:ext>
                </a:extLst>
              </a:tr>
              <a:tr h="306056">
                <a:tc>
                  <a:txBody>
                    <a:bodyPr/>
                    <a:lstStyle/>
                    <a:p>
                      <a:r>
                        <a:rPr lang="en-CA" sz="1400" dirty="0"/>
                        <a:t>6</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6"/>
                  </a:ext>
                </a:extLst>
              </a:tr>
              <a:tr h="306056">
                <a:tc>
                  <a:txBody>
                    <a:bodyPr/>
                    <a:lstStyle/>
                    <a:p>
                      <a:r>
                        <a:rPr lang="en-CA" sz="1400" dirty="0"/>
                        <a:t>7</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7"/>
                  </a:ext>
                </a:extLst>
              </a:tr>
              <a:tr h="306056">
                <a:tc>
                  <a:txBody>
                    <a:bodyPr/>
                    <a:lstStyle/>
                    <a:p>
                      <a:r>
                        <a:rPr lang="en-CA" sz="1400" dirty="0"/>
                        <a:t>8</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8"/>
                  </a:ext>
                </a:extLst>
              </a:tr>
              <a:tr h="306056">
                <a:tc>
                  <a:txBody>
                    <a:bodyPr/>
                    <a:lstStyle/>
                    <a:p>
                      <a:r>
                        <a:rPr lang="en-CA" sz="1400" dirty="0"/>
                        <a:t>9</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9"/>
                  </a:ext>
                </a:extLst>
              </a:tr>
              <a:tr h="306056">
                <a:tc>
                  <a:txBody>
                    <a:bodyPr/>
                    <a:lstStyle/>
                    <a:p>
                      <a:r>
                        <a:rPr lang="en-CA" sz="1400" dirty="0"/>
                        <a:t>10</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0"/>
                  </a:ext>
                </a:extLst>
              </a:tr>
              <a:tr h="306056">
                <a:tc>
                  <a:txBody>
                    <a:bodyPr/>
                    <a:lstStyle/>
                    <a:p>
                      <a:r>
                        <a:rPr lang="en-CA" sz="1400" dirty="0"/>
                        <a:t>11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1"/>
                  </a:ext>
                </a:extLst>
              </a:tr>
              <a:tr h="306056">
                <a:tc>
                  <a:txBody>
                    <a:bodyPr/>
                    <a:lstStyle/>
                    <a:p>
                      <a:r>
                        <a:rPr lang="en-CA" sz="1400" dirty="0"/>
                        <a:t>12</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2"/>
                  </a:ext>
                </a:extLst>
              </a:tr>
              <a:tr h="306056">
                <a:tc>
                  <a:txBody>
                    <a:bodyPr/>
                    <a:lstStyle/>
                    <a:p>
                      <a:r>
                        <a:rPr lang="en-CA" sz="1400" dirty="0"/>
                        <a:t>13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3"/>
                  </a:ext>
                </a:extLst>
              </a:tr>
              <a:tr h="306056">
                <a:tc>
                  <a:txBody>
                    <a:bodyPr/>
                    <a:lstStyle/>
                    <a:p>
                      <a:r>
                        <a:rPr lang="en-CA" sz="1400" dirty="0"/>
                        <a:t>14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14"/>
                  </a:ext>
                </a:extLst>
              </a:tr>
            </a:tbl>
          </a:graphicData>
        </a:graphic>
      </p:graphicFrame>
      <p:pic>
        <p:nvPicPr>
          <p:cNvPr id="389121" name="Picture 1"/>
          <p:cNvPicPr>
            <a:picLocks noChangeAspect="1" noChangeArrowheads="1"/>
          </p:cNvPicPr>
          <p:nvPr/>
        </p:nvPicPr>
        <p:blipFill>
          <a:blip r:embed="rId3"/>
          <a:srcRect/>
          <a:stretch>
            <a:fillRect/>
          </a:stretch>
        </p:blipFill>
        <p:spPr bwMode="auto">
          <a:xfrm>
            <a:off x="6229350" y="3276600"/>
            <a:ext cx="2914650" cy="2733675"/>
          </a:xfrm>
          <a:prstGeom prst="rect">
            <a:avLst/>
          </a:prstGeom>
          <a:noFill/>
          <a:ln w="9525">
            <a:noFill/>
            <a:miter lim="800000"/>
            <a:headEnd/>
            <a:tailEnd/>
          </a:ln>
          <a:effectLst/>
        </p:spPr>
      </p:pic>
      <p:sp>
        <p:nvSpPr>
          <p:cNvPr id="5" name="TextBox 4"/>
          <p:cNvSpPr txBox="1"/>
          <p:nvPr/>
        </p:nvSpPr>
        <p:spPr>
          <a:xfrm>
            <a:off x="6350272" y="1360314"/>
            <a:ext cx="1406539"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1</a:t>
            </a:r>
            <a:r>
              <a:rPr lang="en-CA" sz="1800" dirty="0"/>
              <a:t> = Yes  = 9</a:t>
            </a:r>
            <a:endParaRPr lang="en-US" sz="1800" dirty="0"/>
          </a:p>
        </p:txBody>
      </p:sp>
      <p:sp>
        <p:nvSpPr>
          <p:cNvPr id="11" name="TextBox 10"/>
          <p:cNvSpPr txBox="1"/>
          <p:nvPr/>
        </p:nvSpPr>
        <p:spPr>
          <a:xfrm>
            <a:off x="7840438" y="1352002"/>
            <a:ext cx="1303562"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2</a:t>
            </a:r>
            <a:r>
              <a:rPr lang="en-CA" sz="1800" dirty="0"/>
              <a:t> = No = 5</a:t>
            </a:r>
            <a:endParaRPr lang="en-US" sz="1800" dirty="0"/>
          </a:p>
        </p:txBody>
      </p:sp>
      <mc:AlternateContent xmlns:mc="http://schemas.openxmlformats.org/markup-compatibility/2006" xmlns:a14="http://schemas.microsoft.com/office/drawing/2010/main">
        <mc:Choice Requires="a14">
          <p:sp>
            <p:nvSpPr>
              <p:cNvPr id="12" name="TextBox 11"/>
              <p:cNvSpPr txBox="1"/>
              <p:nvPr/>
            </p:nvSpPr>
            <p:spPr>
              <a:xfrm>
                <a:off x="6350272" y="1894800"/>
                <a:ext cx="2690417" cy="1231106"/>
              </a:xfrm>
              <a:prstGeom prst="rect">
                <a:avLst/>
              </a:prstGeom>
              <a:solidFill>
                <a:schemeClr val="bg2"/>
              </a:solidFill>
              <a:ln>
                <a:solidFill>
                  <a:srgbClr val="C00000"/>
                </a:solidFill>
              </a:ln>
            </p:spPr>
            <p:txBody>
              <a:bodyPr wrap="none" rtlCol="0">
                <a:spAutoFit/>
              </a:bodyPr>
              <a:lstStyle/>
              <a:p>
                <a:r>
                  <a:rPr lang="en-CA" sz="1600" dirty="0"/>
                  <a:t>1- compute </a:t>
                </a:r>
                <a:r>
                  <a:rPr lang="en-CA" sz="1600" i="1" dirty="0"/>
                  <a:t>info(D)</a:t>
                </a:r>
              </a:p>
              <a:p>
                <a:r>
                  <a:rPr lang="en-CA" sz="1600" dirty="0">
                    <a:sym typeface="Wingdings" pitchFamily="2" charset="2"/>
                  </a:rPr>
                  <a:t>= </a:t>
                </a:r>
                <a14:m>
                  <m:oMath xmlns:m="http://schemas.openxmlformats.org/officeDocument/2006/math">
                    <m:r>
                      <a:rPr lang="en-CA" sz="1600" i="1">
                        <a:latin typeface="Cambria Math"/>
                        <a:sym typeface="Wingdings" pitchFamily="2" charset="2"/>
                      </a:rPr>
                      <m:t>−</m:t>
                    </m:r>
                    <m:nary>
                      <m:naryPr>
                        <m:chr m:val="∑"/>
                        <m:ctrlPr>
                          <a:rPr lang="en-CA" sz="1600" i="1">
                            <a:latin typeface="Cambria Math" panose="02040503050406030204" pitchFamily="18" charset="0"/>
                            <a:sym typeface="Wingdings" pitchFamily="2" charset="2"/>
                          </a:rPr>
                        </m:ctrlPr>
                      </m:naryPr>
                      <m:sub>
                        <m:r>
                          <m:rPr>
                            <m:brk m:alnAt="23"/>
                          </m:rPr>
                          <a:rPr lang="en-CA" sz="1600" i="1">
                            <a:latin typeface="Cambria Math"/>
                            <a:sym typeface="Wingdings" pitchFamily="2" charset="2"/>
                          </a:rPr>
                          <m:t>𝑖</m:t>
                        </m:r>
                        <m:r>
                          <a:rPr lang="en-CA" sz="1600" i="1">
                            <a:latin typeface="Cambria Math"/>
                            <a:sym typeface="Wingdings" pitchFamily="2" charset="2"/>
                          </a:rPr>
                          <m:t>=1</m:t>
                        </m:r>
                      </m:sub>
                      <m:sup>
                        <m:r>
                          <a:rPr lang="en-CA" sz="1600" i="1">
                            <a:latin typeface="Cambria Math"/>
                            <a:sym typeface="Wingdings" pitchFamily="2" charset="2"/>
                          </a:rPr>
                          <m:t>𝑚</m:t>
                        </m:r>
                      </m:sup>
                      <m:e>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func>
                          <m:funcPr>
                            <m:ctrlPr>
                              <a:rPr lang="en-CA" sz="1600" i="1">
                                <a:latin typeface="Cambria Math" panose="02040503050406030204" pitchFamily="18" charset="0"/>
                                <a:sym typeface="Wingdings" pitchFamily="2" charset="2"/>
                              </a:rPr>
                            </m:ctrlPr>
                          </m:funcPr>
                          <m:fName>
                            <m:sSub>
                              <m:sSubPr>
                                <m:ctrlPr>
                                  <a:rPr lang="en-CA" sz="1600" i="1">
                                    <a:latin typeface="Cambria Math" panose="02040503050406030204" pitchFamily="18" charset="0"/>
                                    <a:sym typeface="Wingdings" pitchFamily="2" charset="2"/>
                                  </a:rPr>
                                </m:ctrlPr>
                              </m:sSubPr>
                              <m:e>
                                <m:r>
                                  <m:rPr>
                                    <m:sty m:val="p"/>
                                  </m:rPr>
                                  <a:rPr lang="en-CA" sz="1600">
                                    <a:latin typeface="Cambria Math"/>
                                    <a:sym typeface="Wingdings" pitchFamily="2" charset="2"/>
                                  </a:rPr>
                                  <m:t>log</m:t>
                                </m:r>
                              </m:e>
                              <m:sub>
                                <m:r>
                                  <a:rPr lang="en-CA" sz="1600" i="1">
                                    <a:latin typeface="Cambria Math"/>
                                    <a:sym typeface="Wingdings" pitchFamily="2" charset="2"/>
                                  </a:rPr>
                                  <m:t>2</m:t>
                                </m:r>
                              </m:sub>
                            </m:sSub>
                          </m:fName>
                          <m:e>
                            <m:r>
                              <a:rPr lang="en-CA" sz="1600" i="1">
                                <a:latin typeface="Cambria Math"/>
                                <a:sym typeface="Wingdings" pitchFamily="2" charset="2"/>
                              </a:rPr>
                              <m:t>(</m:t>
                            </m:r>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r>
                              <a:rPr lang="en-CA" sz="1600" i="1">
                                <a:latin typeface="Cambria Math"/>
                                <a:sym typeface="Wingdings" pitchFamily="2" charset="2"/>
                              </a:rPr>
                              <m:t>)</m:t>
                            </m:r>
                          </m:e>
                        </m:func>
                      </m:e>
                    </m:nary>
                  </m:oMath>
                </a14:m>
                <a:endParaRPr lang="en-US" sz="1600" dirty="0"/>
              </a:p>
              <a:p>
                <a:r>
                  <a:rPr lang="en-CA" sz="1600" dirty="0"/>
                  <a:t>=</a:t>
                </a:r>
                <a14:m>
                  <m:oMath xmlns:m="http://schemas.openxmlformats.org/officeDocument/2006/math">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e>
                        </m:d>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e>
                            </m:d>
                          </m:e>
                        </m:func>
                      </m:e>
                    </m:func>
                  </m:oMath>
                </a14:m>
                <a:endParaRPr lang="en-US" sz="1600" dirty="0"/>
              </a:p>
              <a:p>
                <a:r>
                  <a:rPr lang="en-CA" sz="1600" dirty="0"/>
                  <a:t>=0.940 bits</a:t>
                </a:r>
                <a:endParaRPr lang="en-US"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6350272" y="1894800"/>
                <a:ext cx="2690417" cy="1231106"/>
              </a:xfrm>
              <a:prstGeom prst="rect">
                <a:avLst/>
              </a:prstGeom>
              <a:blipFill rotWithShape="1">
                <a:blip r:embed="rId4"/>
                <a:stretch>
                  <a:fillRect l="-1129" t="-9804" b="-2451"/>
                </a:stretch>
              </a:blipFill>
              <a:ln>
                <a:solidFill>
                  <a:srgbClr val="C00000"/>
                </a:solidFill>
              </a:ln>
            </p:spPr>
            <p:txBody>
              <a:bodyPr/>
              <a:lstStyle/>
              <a:p>
                <a:r>
                  <a:rPr lang="en-US">
                    <a:noFill/>
                  </a:rPr>
                  <a:t> </a:t>
                </a:r>
              </a:p>
            </p:txBody>
          </p:sp>
        </mc:Fallback>
      </mc:AlternateContent>
      <p:sp>
        <p:nvSpPr>
          <p:cNvPr id="2" name="Rectangle 1"/>
          <p:cNvSpPr/>
          <p:nvPr/>
        </p:nvSpPr>
        <p:spPr bwMode="auto">
          <a:xfrm>
            <a:off x="6302974" y="4295851"/>
            <a:ext cx="2498760" cy="389223"/>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5" name="Rectangle 14"/>
          <p:cNvSpPr/>
          <p:nvPr/>
        </p:nvSpPr>
        <p:spPr bwMode="auto">
          <a:xfrm>
            <a:off x="533400" y="1905000"/>
            <a:ext cx="4419600" cy="571102"/>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6" name="Rectangle 15"/>
          <p:cNvSpPr/>
          <p:nvPr/>
        </p:nvSpPr>
        <p:spPr bwMode="auto">
          <a:xfrm>
            <a:off x="546536" y="4077098"/>
            <a:ext cx="4419600" cy="571102"/>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7" name="Rectangle 16"/>
          <p:cNvSpPr/>
          <p:nvPr/>
        </p:nvSpPr>
        <p:spPr bwMode="auto">
          <a:xfrm>
            <a:off x="533400" y="4953001"/>
            <a:ext cx="4419600" cy="29868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8" name="Rectangle 17"/>
          <p:cNvSpPr/>
          <p:nvPr/>
        </p:nvSpPr>
        <p:spPr bwMode="auto">
          <a:xfrm>
            <a:off x="4390104" y="1937023"/>
            <a:ext cx="486696" cy="504000"/>
          </a:xfrm>
          <a:prstGeom prst="rect">
            <a:avLst/>
          </a:prstGeom>
          <a:noFill/>
          <a:ln w="5715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9" name="Rectangle 18"/>
          <p:cNvSpPr/>
          <p:nvPr/>
        </p:nvSpPr>
        <p:spPr bwMode="auto">
          <a:xfrm>
            <a:off x="4419600" y="4111929"/>
            <a:ext cx="486696" cy="252000"/>
          </a:xfrm>
          <a:prstGeom prst="rect">
            <a:avLst/>
          </a:prstGeom>
          <a:noFill/>
          <a:ln w="5715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0" name="Rectangle 19"/>
          <p:cNvSpPr/>
          <p:nvPr/>
        </p:nvSpPr>
        <p:spPr bwMode="auto">
          <a:xfrm>
            <a:off x="4419600" y="4432200"/>
            <a:ext cx="486696" cy="216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1" name="Rectangle 20"/>
          <p:cNvSpPr/>
          <p:nvPr/>
        </p:nvSpPr>
        <p:spPr bwMode="auto">
          <a:xfrm>
            <a:off x="4419600" y="4989047"/>
            <a:ext cx="486696" cy="252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3"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spTree>
    <p:extLst>
      <p:ext uri="{BB962C8B-B14F-4D97-AF65-F5344CB8AC3E}">
        <p14:creationId xmlns:p14="http://schemas.microsoft.com/office/powerpoint/2010/main" val="218719260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54552321"/>
              </p:ext>
            </p:extLst>
          </p:nvPr>
        </p:nvGraphicFramePr>
        <p:xfrm>
          <a:off x="117987" y="1369256"/>
          <a:ext cx="6225550" cy="4802944"/>
        </p:xfrm>
        <a:graphic>
          <a:graphicData uri="http://schemas.openxmlformats.org/drawingml/2006/table">
            <a:tbl>
              <a:tblPr firstRow="1" bandRow="1">
                <a:tableStyleId>{85BE263C-DBD7-4A20-BB59-AAB30ACAA65A}</a:tableStyleId>
              </a:tblPr>
              <a:tblGrid>
                <a:gridCol w="482918">
                  <a:extLst>
                    <a:ext uri="{9D8B030D-6E8A-4147-A177-3AD203B41FA5}">
                      <a16:colId xmlns:a16="http://schemas.microsoft.com/office/drawing/2014/main" val="20000"/>
                    </a:ext>
                  </a:extLst>
                </a:gridCol>
                <a:gridCol w="69449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2076337">
                  <a:extLst>
                    <a:ext uri="{9D8B030D-6E8A-4147-A177-3AD203B41FA5}">
                      <a16:colId xmlns:a16="http://schemas.microsoft.com/office/drawing/2014/main" val="20005"/>
                    </a:ext>
                  </a:extLst>
                </a:gridCol>
              </a:tblGrid>
              <a:tr h="306056">
                <a:tc>
                  <a:txBody>
                    <a:bodyPr/>
                    <a:lstStyle/>
                    <a:p>
                      <a:r>
                        <a:rPr lang="en-CA" sz="1400" dirty="0"/>
                        <a:t>RID</a:t>
                      </a:r>
                      <a:endParaRPr lang="en-US" sz="1400" dirty="0"/>
                    </a:p>
                  </a:txBody>
                  <a:tcPr/>
                </a:tc>
                <a:tc>
                  <a:txBody>
                    <a:bodyPr/>
                    <a:lstStyle/>
                    <a:p>
                      <a:r>
                        <a:rPr lang="en-CA" sz="1400" dirty="0"/>
                        <a:t>age</a:t>
                      </a:r>
                      <a:endParaRPr lang="en-US" sz="1400" dirty="0"/>
                    </a:p>
                  </a:txBody>
                  <a:tcPr/>
                </a:tc>
                <a:tc>
                  <a:txBody>
                    <a:bodyPr/>
                    <a:lstStyle/>
                    <a:p>
                      <a:r>
                        <a:rPr lang="en-CA" sz="1400" dirty="0"/>
                        <a:t>income</a:t>
                      </a:r>
                      <a:endParaRPr lang="en-US" sz="1400" dirty="0"/>
                    </a:p>
                  </a:txBody>
                  <a:tcPr/>
                </a:tc>
                <a:tc>
                  <a:txBody>
                    <a:bodyPr/>
                    <a:lstStyle/>
                    <a:p>
                      <a:r>
                        <a:rPr lang="en-CA" sz="1400" dirty="0"/>
                        <a:t>student</a:t>
                      </a:r>
                      <a:endParaRPr lang="en-US" sz="1400" dirty="0"/>
                    </a:p>
                  </a:txBody>
                  <a:tcPr/>
                </a:tc>
                <a:tc>
                  <a:txBody>
                    <a:bodyPr/>
                    <a:lstStyle/>
                    <a:p>
                      <a:r>
                        <a:rPr lang="en-CA" sz="1400" dirty="0" err="1"/>
                        <a:t>Credit_rating</a:t>
                      </a:r>
                      <a:endParaRPr lang="en-US" sz="1400" dirty="0"/>
                    </a:p>
                  </a:txBody>
                  <a:tcPr/>
                </a:tc>
                <a:tc>
                  <a:txBody>
                    <a:bodyPr/>
                    <a:lstStyle/>
                    <a:p>
                      <a:r>
                        <a:rPr lang="en-CA" sz="1400" dirty="0"/>
                        <a:t>Class: </a:t>
                      </a:r>
                      <a:r>
                        <a:rPr lang="en-CA" sz="1400" dirty="0" err="1"/>
                        <a:t>buys_computer</a:t>
                      </a:r>
                      <a:endParaRPr lang="en-US" sz="1400" dirty="0"/>
                    </a:p>
                  </a:txBody>
                  <a:tcPr/>
                </a:tc>
                <a:extLst>
                  <a:ext uri="{0D108BD9-81ED-4DB2-BD59-A6C34878D82A}">
                    <a16:rowId xmlns:a16="http://schemas.microsoft.com/office/drawing/2014/main" val="10000"/>
                  </a:ext>
                </a:extLst>
              </a:tr>
              <a:tr h="306056">
                <a:tc>
                  <a:txBody>
                    <a:bodyPr/>
                    <a:lstStyle/>
                    <a:p>
                      <a:r>
                        <a:rPr lang="en-CA" sz="1400" dirty="0"/>
                        <a:t>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1"/>
                  </a:ext>
                </a:extLst>
              </a:tr>
              <a:tr h="306056">
                <a:tc>
                  <a:txBody>
                    <a:bodyPr/>
                    <a:lstStyle/>
                    <a:p>
                      <a:r>
                        <a:rPr lang="en-CA" sz="1400" dirty="0"/>
                        <a:t>2</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2"/>
                  </a:ext>
                </a:extLst>
              </a:tr>
              <a:tr h="306056">
                <a:tc>
                  <a:txBody>
                    <a:bodyPr/>
                    <a:lstStyle/>
                    <a:p>
                      <a:r>
                        <a:rPr lang="en-CA" sz="1400" dirty="0"/>
                        <a:t>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3"/>
                  </a:ext>
                </a:extLst>
              </a:tr>
              <a:tr h="306056">
                <a:tc>
                  <a:txBody>
                    <a:bodyPr/>
                    <a:lstStyle/>
                    <a:p>
                      <a:r>
                        <a:rPr lang="en-CA" sz="1400" dirty="0"/>
                        <a:t>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4"/>
                  </a:ext>
                </a:extLst>
              </a:tr>
              <a:tr h="306056">
                <a:tc>
                  <a:txBody>
                    <a:bodyPr/>
                    <a:lstStyle/>
                    <a:p>
                      <a:r>
                        <a:rPr lang="en-CA" sz="1400" dirty="0"/>
                        <a:t>5</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5"/>
                  </a:ext>
                </a:extLst>
              </a:tr>
              <a:tr h="306056">
                <a:tc>
                  <a:txBody>
                    <a:bodyPr/>
                    <a:lstStyle/>
                    <a:p>
                      <a:r>
                        <a:rPr lang="en-CA" sz="1400" dirty="0"/>
                        <a:t>6</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6"/>
                  </a:ext>
                </a:extLst>
              </a:tr>
              <a:tr h="306056">
                <a:tc>
                  <a:txBody>
                    <a:bodyPr/>
                    <a:lstStyle/>
                    <a:p>
                      <a:r>
                        <a:rPr lang="en-CA" sz="1400" dirty="0"/>
                        <a:t>7</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7"/>
                  </a:ext>
                </a:extLst>
              </a:tr>
              <a:tr h="306056">
                <a:tc>
                  <a:txBody>
                    <a:bodyPr/>
                    <a:lstStyle/>
                    <a:p>
                      <a:r>
                        <a:rPr lang="en-CA" sz="1400" dirty="0"/>
                        <a:t>8</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8"/>
                  </a:ext>
                </a:extLst>
              </a:tr>
              <a:tr h="306056">
                <a:tc>
                  <a:txBody>
                    <a:bodyPr/>
                    <a:lstStyle/>
                    <a:p>
                      <a:r>
                        <a:rPr lang="en-CA" sz="1400" dirty="0"/>
                        <a:t>9</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9"/>
                  </a:ext>
                </a:extLst>
              </a:tr>
              <a:tr h="306056">
                <a:tc>
                  <a:txBody>
                    <a:bodyPr/>
                    <a:lstStyle/>
                    <a:p>
                      <a:r>
                        <a:rPr lang="en-CA" sz="1400" dirty="0"/>
                        <a:t>10</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0"/>
                  </a:ext>
                </a:extLst>
              </a:tr>
              <a:tr h="306056">
                <a:tc>
                  <a:txBody>
                    <a:bodyPr/>
                    <a:lstStyle/>
                    <a:p>
                      <a:r>
                        <a:rPr lang="en-CA" sz="1400" dirty="0"/>
                        <a:t>11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1"/>
                  </a:ext>
                </a:extLst>
              </a:tr>
              <a:tr h="306056">
                <a:tc>
                  <a:txBody>
                    <a:bodyPr/>
                    <a:lstStyle/>
                    <a:p>
                      <a:r>
                        <a:rPr lang="en-CA" sz="1400" dirty="0"/>
                        <a:t>12</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2"/>
                  </a:ext>
                </a:extLst>
              </a:tr>
              <a:tr h="306056">
                <a:tc>
                  <a:txBody>
                    <a:bodyPr/>
                    <a:lstStyle/>
                    <a:p>
                      <a:r>
                        <a:rPr lang="en-CA" sz="1400" dirty="0"/>
                        <a:t>13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3"/>
                  </a:ext>
                </a:extLst>
              </a:tr>
              <a:tr h="306056">
                <a:tc>
                  <a:txBody>
                    <a:bodyPr/>
                    <a:lstStyle/>
                    <a:p>
                      <a:r>
                        <a:rPr lang="en-CA" sz="1400" dirty="0"/>
                        <a:t>14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14"/>
                  </a:ext>
                </a:extLst>
              </a:tr>
            </a:tbl>
          </a:graphicData>
        </a:graphic>
      </p:graphicFrame>
      <p:pic>
        <p:nvPicPr>
          <p:cNvPr id="19" name="Picture 1"/>
          <p:cNvPicPr>
            <a:picLocks noChangeAspect="1" noChangeArrowheads="1"/>
          </p:cNvPicPr>
          <p:nvPr/>
        </p:nvPicPr>
        <p:blipFill>
          <a:blip r:embed="rId3"/>
          <a:srcRect/>
          <a:stretch>
            <a:fillRect/>
          </a:stretch>
        </p:blipFill>
        <p:spPr bwMode="auto">
          <a:xfrm>
            <a:off x="6229350" y="3276600"/>
            <a:ext cx="2914650" cy="2733675"/>
          </a:xfrm>
          <a:prstGeom prst="rect">
            <a:avLst/>
          </a:prstGeom>
          <a:noFill/>
          <a:ln w="9525">
            <a:noFill/>
            <a:miter lim="800000"/>
            <a:headEnd/>
            <a:tailEnd/>
          </a:ln>
          <a:effectLst/>
        </p:spPr>
      </p:pic>
      <p:sp>
        <p:nvSpPr>
          <p:cNvPr id="4" name="Date Placeholder 3"/>
          <p:cNvSpPr>
            <a:spLocks noGrp="1"/>
          </p:cNvSpPr>
          <p:nvPr>
            <p:ph type="dt" sz="half" idx="11"/>
          </p:nvPr>
        </p:nvSpPr>
        <p:spPr/>
        <p:txBody>
          <a:bodyPr/>
          <a:lstStyle/>
          <a:p>
            <a:fld id="{4895C4E1-5D39-45FA-BDC8-14F0ADA2AE17}" type="datetime1">
              <a:rPr lang="en-US" smtClean="0"/>
              <a:pPr/>
              <a:t>4/22/2025</a:t>
            </a:fld>
            <a:endParaRPr lang="en-US" dirty="0"/>
          </a:p>
        </p:txBody>
      </p:sp>
      <p:sp>
        <p:nvSpPr>
          <p:cNvPr id="6" name="Slide Number Placeholder 5"/>
          <p:cNvSpPr>
            <a:spLocks noGrp="1"/>
          </p:cNvSpPr>
          <p:nvPr>
            <p:ph type="sldNum" sz="quarter" idx="12"/>
          </p:nvPr>
        </p:nvSpPr>
        <p:spPr/>
        <p:txBody>
          <a:bodyPr/>
          <a:lstStyle/>
          <a:p>
            <a:fld id="{5744759D-0EFF-4FB2-9CCE-04E00944F0FE}" type="slidenum">
              <a:rPr lang="en-US" smtClean="0"/>
              <a:pPr/>
              <a:t>21</a:t>
            </a:fld>
            <a:endParaRPr lang="en-US" dirty="0"/>
          </a:p>
        </p:txBody>
      </p:sp>
      <p:sp>
        <p:nvSpPr>
          <p:cNvPr id="5" name="TextBox 4"/>
          <p:cNvSpPr txBox="1"/>
          <p:nvPr/>
        </p:nvSpPr>
        <p:spPr>
          <a:xfrm>
            <a:off x="6350272" y="1360314"/>
            <a:ext cx="1406539"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1</a:t>
            </a:r>
            <a:r>
              <a:rPr lang="en-CA" sz="1800" dirty="0"/>
              <a:t> = Yes  = 9</a:t>
            </a:r>
            <a:endParaRPr lang="en-US" sz="1800" dirty="0"/>
          </a:p>
        </p:txBody>
      </p:sp>
      <p:sp>
        <p:nvSpPr>
          <p:cNvPr id="11" name="TextBox 10"/>
          <p:cNvSpPr txBox="1"/>
          <p:nvPr/>
        </p:nvSpPr>
        <p:spPr>
          <a:xfrm>
            <a:off x="7840438" y="1352002"/>
            <a:ext cx="1303562"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2</a:t>
            </a:r>
            <a:r>
              <a:rPr lang="en-CA" sz="1800" dirty="0"/>
              <a:t> = No = 5</a:t>
            </a:r>
            <a:endParaRPr lang="en-US" sz="1800" dirty="0"/>
          </a:p>
        </p:txBody>
      </p:sp>
      <mc:AlternateContent xmlns:mc="http://schemas.openxmlformats.org/markup-compatibility/2006" xmlns:a14="http://schemas.microsoft.com/office/drawing/2010/main">
        <mc:Choice Requires="a14">
          <p:sp>
            <p:nvSpPr>
              <p:cNvPr id="12" name="TextBox 11"/>
              <p:cNvSpPr txBox="1"/>
              <p:nvPr/>
            </p:nvSpPr>
            <p:spPr>
              <a:xfrm>
                <a:off x="6350272" y="1894800"/>
                <a:ext cx="2690417" cy="1231106"/>
              </a:xfrm>
              <a:prstGeom prst="rect">
                <a:avLst/>
              </a:prstGeom>
              <a:solidFill>
                <a:schemeClr val="bg2"/>
              </a:solidFill>
              <a:ln>
                <a:solidFill>
                  <a:srgbClr val="C00000"/>
                </a:solidFill>
              </a:ln>
            </p:spPr>
            <p:txBody>
              <a:bodyPr wrap="none" rtlCol="0">
                <a:spAutoFit/>
              </a:bodyPr>
              <a:lstStyle/>
              <a:p>
                <a:r>
                  <a:rPr lang="en-CA" sz="1600" dirty="0"/>
                  <a:t>1- compute </a:t>
                </a:r>
                <a:r>
                  <a:rPr lang="en-CA" sz="1600" i="1" dirty="0"/>
                  <a:t>info(D)</a:t>
                </a:r>
              </a:p>
              <a:p>
                <a:r>
                  <a:rPr lang="en-CA" sz="1600" dirty="0">
                    <a:sym typeface="Wingdings" pitchFamily="2" charset="2"/>
                  </a:rPr>
                  <a:t>= </a:t>
                </a:r>
                <a14:m>
                  <m:oMath xmlns:m="http://schemas.openxmlformats.org/officeDocument/2006/math">
                    <m:r>
                      <a:rPr lang="en-CA" sz="1600" i="1">
                        <a:latin typeface="Cambria Math"/>
                        <a:sym typeface="Wingdings" pitchFamily="2" charset="2"/>
                      </a:rPr>
                      <m:t>−</m:t>
                    </m:r>
                    <m:nary>
                      <m:naryPr>
                        <m:chr m:val="∑"/>
                        <m:ctrlPr>
                          <a:rPr lang="en-CA" sz="1600" i="1">
                            <a:latin typeface="Cambria Math" panose="02040503050406030204" pitchFamily="18" charset="0"/>
                            <a:sym typeface="Wingdings" pitchFamily="2" charset="2"/>
                          </a:rPr>
                        </m:ctrlPr>
                      </m:naryPr>
                      <m:sub>
                        <m:r>
                          <m:rPr>
                            <m:brk m:alnAt="23"/>
                          </m:rPr>
                          <a:rPr lang="en-CA" sz="1600" i="1">
                            <a:latin typeface="Cambria Math"/>
                            <a:sym typeface="Wingdings" pitchFamily="2" charset="2"/>
                          </a:rPr>
                          <m:t>𝑖</m:t>
                        </m:r>
                        <m:r>
                          <a:rPr lang="en-CA" sz="1600" i="1">
                            <a:latin typeface="Cambria Math"/>
                            <a:sym typeface="Wingdings" pitchFamily="2" charset="2"/>
                          </a:rPr>
                          <m:t>=1</m:t>
                        </m:r>
                      </m:sub>
                      <m:sup>
                        <m:r>
                          <a:rPr lang="en-CA" sz="1600" i="1">
                            <a:latin typeface="Cambria Math"/>
                            <a:sym typeface="Wingdings" pitchFamily="2" charset="2"/>
                          </a:rPr>
                          <m:t>𝑚</m:t>
                        </m:r>
                      </m:sup>
                      <m:e>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func>
                          <m:funcPr>
                            <m:ctrlPr>
                              <a:rPr lang="en-CA" sz="1600" i="1">
                                <a:latin typeface="Cambria Math" panose="02040503050406030204" pitchFamily="18" charset="0"/>
                                <a:sym typeface="Wingdings" pitchFamily="2" charset="2"/>
                              </a:rPr>
                            </m:ctrlPr>
                          </m:funcPr>
                          <m:fName>
                            <m:sSub>
                              <m:sSubPr>
                                <m:ctrlPr>
                                  <a:rPr lang="en-CA" sz="1600" i="1">
                                    <a:latin typeface="Cambria Math" panose="02040503050406030204" pitchFamily="18" charset="0"/>
                                    <a:sym typeface="Wingdings" pitchFamily="2" charset="2"/>
                                  </a:rPr>
                                </m:ctrlPr>
                              </m:sSubPr>
                              <m:e>
                                <m:r>
                                  <m:rPr>
                                    <m:sty m:val="p"/>
                                  </m:rPr>
                                  <a:rPr lang="en-CA" sz="1600">
                                    <a:latin typeface="Cambria Math"/>
                                    <a:sym typeface="Wingdings" pitchFamily="2" charset="2"/>
                                  </a:rPr>
                                  <m:t>log</m:t>
                                </m:r>
                              </m:e>
                              <m:sub>
                                <m:r>
                                  <a:rPr lang="en-CA" sz="1600" i="1">
                                    <a:latin typeface="Cambria Math"/>
                                    <a:sym typeface="Wingdings" pitchFamily="2" charset="2"/>
                                  </a:rPr>
                                  <m:t>2</m:t>
                                </m:r>
                              </m:sub>
                            </m:sSub>
                          </m:fName>
                          <m:e>
                            <m:r>
                              <a:rPr lang="en-CA" sz="1600" i="1">
                                <a:latin typeface="Cambria Math"/>
                                <a:sym typeface="Wingdings" pitchFamily="2" charset="2"/>
                              </a:rPr>
                              <m:t>(</m:t>
                            </m:r>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r>
                              <a:rPr lang="en-CA" sz="1600" i="1">
                                <a:latin typeface="Cambria Math"/>
                                <a:sym typeface="Wingdings" pitchFamily="2" charset="2"/>
                              </a:rPr>
                              <m:t>)</m:t>
                            </m:r>
                          </m:e>
                        </m:func>
                      </m:e>
                    </m:nary>
                  </m:oMath>
                </a14:m>
                <a:endParaRPr lang="en-US" sz="1600" dirty="0"/>
              </a:p>
              <a:p>
                <a:r>
                  <a:rPr lang="en-CA" sz="1600" dirty="0"/>
                  <a:t>=</a:t>
                </a:r>
                <a14:m>
                  <m:oMath xmlns:m="http://schemas.openxmlformats.org/officeDocument/2006/math">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e>
                        </m:d>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e>
                            </m:d>
                          </m:e>
                        </m:func>
                      </m:e>
                    </m:func>
                  </m:oMath>
                </a14:m>
                <a:endParaRPr lang="en-US" sz="1600" dirty="0"/>
              </a:p>
              <a:p>
                <a:r>
                  <a:rPr lang="en-CA" sz="1600" dirty="0"/>
                  <a:t>=0.940 bits</a:t>
                </a:r>
                <a:endParaRPr lang="en-US"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6350272" y="1894800"/>
                <a:ext cx="2690417" cy="1231106"/>
              </a:xfrm>
              <a:prstGeom prst="rect">
                <a:avLst/>
              </a:prstGeom>
              <a:blipFill rotWithShape="1">
                <a:blip r:embed="rId4"/>
                <a:stretch>
                  <a:fillRect l="-1129" t="-9804" b="-2451"/>
                </a:stretch>
              </a:blipFill>
              <a:ln>
                <a:solidFill>
                  <a:srgbClr val="C00000"/>
                </a:solidFill>
              </a:ln>
            </p:spPr>
            <p:txBody>
              <a:bodyPr/>
              <a:lstStyle/>
              <a:p>
                <a:r>
                  <a:rPr lang="en-US">
                    <a:noFill/>
                  </a:rPr>
                  <a:t> </a:t>
                </a:r>
              </a:p>
            </p:txBody>
          </p:sp>
        </mc:Fallback>
      </mc:AlternateContent>
      <p:sp>
        <p:nvSpPr>
          <p:cNvPr id="15" name="Rectangle 14"/>
          <p:cNvSpPr/>
          <p:nvPr/>
        </p:nvSpPr>
        <p:spPr bwMode="auto">
          <a:xfrm>
            <a:off x="6287208" y="4616234"/>
            <a:ext cx="2498760" cy="50400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6" name="Rectangle 15"/>
          <p:cNvSpPr/>
          <p:nvPr/>
        </p:nvSpPr>
        <p:spPr bwMode="auto">
          <a:xfrm>
            <a:off x="529575" y="2514600"/>
            <a:ext cx="4347226" cy="28800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7" name="Rectangle 16"/>
          <p:cNvSpPr/>
          <p:nvPr/>
        </p:nvSpPr>
        <p:spPr bwMode="auto">
          <a:xfrm>
            <a:off x="529573" y="3733800"/>
            <a:ext cx="4347227" cy="331822"/>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8" name="Rectangle 17"/>
          <p:cNvSpPr/>
          <p:nvPr/>
        </p:nvSpPr>
        <p:spPr bwMode="auto">
          <a:xfrm>
            <a:off x="529573" y="5262723"/>
            <a:ext cx="4347228" cy="625188"/>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0" name="Rectangle 19"/>
          <p:cNvSpPr/>
          <p:nvPr/>
        </p:nvSpPr>
        <p:spPr bwMode="auto">
          <a:xfrm>
            <a:off x="4267200" y="2538871"/>
            <a:ext cx="486696" cy="216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1" name="Rectangle 20"/>
          <p:cNvSpPr/>
          <p:nvPr/>
        </p:nvSpPr>
        <p:spPr bwMode="auto">
          <a:xfrm>
            <a:off x="4267200" y="3769546"/>
            <a:ext cx="486696" cy="252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2" name="Rectangle 21"/>
          <p:cNvSpPr/>
          <p:nvPr/>
        </p:nvSpPr>
        <p:spPr bwMode="auto">
          <a:xfrm>
            <a:off x="4267200" y="5315267"/>
            <a:ext cx="486696" cy="540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4"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spTree>
    <p:extLst>
      <p:ext uri="{BB962C8B-B14F-4D97-AF65-F5344CB8AC3E}">
        <p14:creationId xmlns:p14="http://schemas.microsoft.com/office/powerpoint/2010/main" val="226604373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54552321"/>
              </p:ext>
            </p:extLst>
          </p:nvPr>
        </p:nvGraphicFramePr>
        <p:xfrm>
          <a:off x="117987" y="1369256"/>
          <a:ext cx="6225548" cy="4802944"/>
        </p:xfrm>
        <a:graphic>
          <a:graphicData uri="http://schemas.openxmlformats.org/drawingml/2006/table">
            <a:tbl>
              <a:tblPr firstRow="1" bandRow="1">
                <a:tableStyleId>{85BE263C-DBD7-4A20-BB59-AAB30ACAA65A}</a:tableStyleId>
              </a:tblPr>
              <a:tblGrid>
                <a:gridCol w="482918">
                  <a:extLst>
                    <a:ext uri="{9D8B030D-6E8A-4147-A177-3AD203B41FA5}">
                      <a16:colId xmlns:a16="http://schemas.microsoft.com/office/drawing/2014/main" val="20000"/>
                    </a:ext>
                  </a:extLst>
                </a:gridCol>
                <a:gridCol w="69449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2076335">
                  <a:extLst>
                    <a:ext uri="{9D8B030D-6E8A-4147-A177-3AD203B41FA5}">
                      <a16:colId xmlns:a16="http://schemas.microsoft.com/office/drawing/2014/main" val="20005"/>
                    </a:ext>
                  </a:extLst>
                </a:gridCol>
              </a:tblGrid>
              <a:tr h="306056">
                <a:tc>
                  <a:txBody>
                    <a:bodyPr/>
                    <a:lstStyle/>
                    <a:p>
                      <a:r>
                        <a:rPr lang="en-CA" sz="1400" dirty="0"/>
                        <a:t>RID</a:t>
                      </a:r>
                      <a:endParaRPr lang="en-US" sz="1400" dirty="0"/>
                    </a:p>
                  </a:txBody>
                  <a:tcPr/>
                </a:tc>
                <a:tc>
                  <a:txBody>
                    <a:bodyPr/>
                    <a:lstStyle/>
                    <a:p>
                      <a:r>
                        <a:rPr lang="en-CA" sz="1400" dirty="0"/>
                        <a:t>age</a:t>
                      </a:r>
                      <a:endParaRPr lang="en-US" sz="1400" dirty="0"/>
                    </a:p>
                  </a:txBody>
                  <a:tcPr/>
                </a:tc>
                <a:tc>
                  <a:txBody>
                    <a:bodyPr/>
                    <a:lstStyle/>
                    <a:p>
                      <a:r>
                        <a:rPr lang="en-CA" sz="1400" dirty="0"/>
                        <a:t>income</a:t>
                      </a:r>
                      <a:endParaRPr lang="en-US" sz="1400" dirty="0"/>
                    </a:p>
                  </a:txBody>
                  <a:tcPr/>
                </a:tc>
                <a:tc>
                  <a:txBody>
                    <a:bodyPr/>
                    <a:lstStyle/>
                    <a:p>
                      <a:r>
                        <a:rPr lang="en-CA" sz="1400" dirty="0"/>
                        <a:t>student</a:t>
                      </a:r>
                      <a:endParaRPr lang="en-US" sz="1400" dirty="0"/>
                    </a:p>
                  </a:txBody>
                  <a:tcPr/>
                </a:tc>
                <a:tc>
                  <a:txBody>
                    <a:bodyPr/>
                    <a:lstStyle/>
                    <a:p>
                      <a:r>
                        <a:rPr lang="en-CA" sz="1400" dirty="0" err="1"/>
                        <a:t>Credit_rating</a:t>
                      </a:r>
                      <a:endParaRPr lang="en-US" sz="1400" dirty="0"/>
                    </a:p>
                  </a:txBody>
                  <a:tcPr/>
                </a:tc>
                <a:tc>
                  <a:txBody>
                    <a:bodyPr/>
                    <a:lstStyle/>
                    <a:p>
                      <a:r>
                        <a:rPr lang="en-CA" sz="1400" dirty="0"/>
                        <a:t>Class: </a:t>
                      </a:r>
                      <a:r>
                        <a:rPr lang="en-CA" sz="1400" dirty="0" err="1"/>
                        <a:t>buys_computer</a:t>
                      </a:r>
                      <a:endParaRPr lang="en-US" sz="1400" dirty="0"/>
                    </a:p>
                  </a:txBody>
                  <a:tcPr/>
                </a:tc>
                <a:extLst>
                  <a:ext uri="{0D108BD9-81ED-4DB2-BD59-A6C34878D82A}">
                    <a16:rowId xmlns:a16="http://schemas.microsoft.com/office/drawing/2014/main" val="10000"/>
                  </a:ext>
                </a:extLst>
              </a:tr>
              <a:tr h="306056">
                <a:tc>
                  <a:txBody>
                    <a:bodyPr/>
                    <a:lstStyle/>
                    <a:p>
                      <a:r>
                        <a:rPr lang="en-CA" sz="1400" dirty="0"/>
                        <a:t>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1"/>
                  </a:ext>
                </a:extLst>
              </a:tr>
              <a:tr h="306056">
                <a:tc>
                  <a:txBody>
                    <a:bodyPr/>
                    <a:lstStyle/>
                    <a:p>
                      <a:r>
                        <a:rPr lang="en-CA" sz="1400" dirty="0"/>
                        <a:t>2</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2"/>
                  </a:ext>
                </a:extLst>
              </a:tr>
              <a:tr h="306056">
                <a:tc>
                  <a:txBody>
                    <a:bodyPr/>
                    <a:lstStyle/>
                    <a:p>
                      <a:r>
                        <a:rPr lang="en-CA" sz="1400" dirty="0"/>
                        <a:t>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3"/>
                  </a:ext>
                </a:extLst>
              </a:tr>
              <a:tr h="306056">
                <a:tc>
                  <a:txBody>
                    <a:bodyPr/>
                    <a:lstStyle/>
                    <a:p>
                      <a:r>
                        <a:rPr lang="en-CA" sz="1400" dirty="0"/>
                        <a:t>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4"/>
                  </a:ext>
                </a:extLst>
              </a:tr>
              <a:tr h="306056">
                <a:tc>
                  <a:txBody>
                    <a:bodyPr/>
                    <a:lstStyle/>
                    <a:p>
                      <a:r>
                        <a:rPr lang="en-CA" sz="1400" dirty="0"/>
                        <a:t>5</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5"/>
                  </a:ext>
                </a:extLst>
              </a:tr>
              <a:tr h="306056">
                <a:tc>
                  <a:txBody>
                    <a:bodyPr/>
                    <a:lstStyle/>
                    <a:p>
                      <a:r>
                        <a:rPr lang="en-CA" sz="1400" dirty="0"/>
                        <a:t>6</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6"/>
                  </a:ext>
                </a:extLst>
              </a:tr>
              <a:tr h="306056">
                <a:tc>
                  <a:txBody>
                    <a:bodyPr/>
                    <a:lstStyle/>
                    <a:p>
                      <a:r>
                        <a:rPr lang="en-CA" sz="1400" dirty="0"/>
                        <a:t>7</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7"/>
                  </a:ext>
                </a:extLst>
              </a:tr>
              <a:tr h="306056">
                <a:tc>
                  <a:txBody>
                    <a:bodyPr/>
                    <a:lstStyle/>
                    <a:p>
                      <a:r>
                        <a:rPr lang="en-CA" sz="1400" dirty="0"/>
                        <a:t>8</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8"/>
                  </a:ext>
                </a:extLst>
              </a:tr>
              <a:tr h="306056">
                <a:tc>
                  <a:txBody>
                    <a:bodyPr/>
                    <a:lstStyle/>
                    <a:p>
                      <a:r>
                        <a:rPr lang="en-CA" sz="1400" dirty="0"/>
                        <a:t>9</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9"/>
                  </a:ext>
                </a:extLst>
              </a:tr>
              <a:tr h="306056">
                <a:tc>
                  <a:txBody>
                    <a:bodyPr/>
                    <a:lstStyle/>
                    <a:p>
                      <a:r>
                        <a:rPr lang="en-CA" sz="1400" dirty="0"/>
                        <a:t>10</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0"/>
                  </a:ext>
                </a:extLst>
              </a:tr>
              <a:tr h="306056">
                <a:tc>
                  <a:txBody>
                    <a:bodyPr/>
                    <a:lstStyle/>
                    <a:p>
                      <a:r>
                        <a:rPr lang="en-CA" sz="1400" dirty="0"/>
                        <a:t>11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1"/>
                  </a:ext>
                </a:extLst>
              </a:tr>
              <a:tr h="306056">
                <a:tc>
                  <a:txBody>
                    <a:bodyPr/>
                    <a:lstStyle/>
                    <a:p>
                      <a:r>
                        <a:rPr lang="en-CA" sz="1400" dirty="0"/>
                        <a:t>12</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2"/>
                  </a:ext>
                </a:extLst>
              </a:tr>
              <a:tr h="306056">
                <a:tc>
                  <a:txBody>
                    <a:bodyPr/>
                    <a:lstStyle/>
                    <a:p>
                      <a:r>
                        <a:rPr lang="en-CA" sz="1400" dirty="0"/>
                        <a:t>13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3"/>
                  </a:ext>
                </a:extLst>
              </a:tr>
              <a:tr h="306056">
                <a:tc>
                  <a:txBody>
                    <a:bodyPr/>
                    <a:lstStyle/>
                    <a:p>
                      <a:r>
                        <a:rPr lang="en-CA" sz="1400" dirty="0"/>
                        <a:t>14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14"/>
                  </a:ext>
                </a:extLst>
              </a:tr>
            </a:tbl>
          </a:graphicData>
        </a:graphic>
      </p:graphicFrame>
      <p:sp>
        <p:nvSpPr>
          <p:cNvPr id="5" name="TextBox 4"/>
          <p:cNvSpPr txBox="1"/>
          <p:nvPr/>
        </p:nvSpPr>
        <p:spPr>
          <a:xfrm>
            <a:off x="6350272" y="1360314"/>
            <a:ext cx="1406539"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1</a:t>
            </a:r>
            <a:r>
              <a:rPr lang="en-CA" sz="1800" dirty="0"/>
              <a:t> = Yes  = 9</a:t>
            </a:r>
            <a:endParaRPr lang="en-US" sz="1800" dirty="0"/>
          </a:p>
        </p:txBody>
      </p:sp>
      <p:sp>
        <p:nvSpPr>
          <p:cNvPr id="11" name="TextBox 10"/>
          <p:cNvSpPr txBox="1"/>
          <p:nvPr/>
        </p:nvSpPr>
        <p:spPr>
          <a:xfrm>
            <a:off x="7840438" y="1352002"/>
            <a:ext cx="1303562"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2</a:t>
            </a:r>
            <a:r>
              <a:rPr lang="en-CA" sz="1800" dirty="0"/>
              <a:t> = No = 5</a:t>
            </a:r>
            <a:endParaRPr lang="en-US" sz="1800" dirty="0"/>
          </a:p>
        </p:txBody>
      </p:sp>
      <mc:AlternateContent xmlns:mc="http://schemas.openxmlformats.org/markup-compatibility/2006" xmlns:a14="http://schemas.microsoft.com/office/drawing/2010/main">
        <mc:Choice Requires="a14">
          <p:sp>
            <p:nvSpPr>
              <p:cNvPr id="12" name="TextBox 11"/>
              <p:cNvSpPr txBox="1"/>
              <p:nvPr/>
            </p:nvSpPr>
            <p:spPr>
              <a:xfrm>
                <a:off x="6350272" y="1894800"/>
                <a:ext cx="2690417" cy="1231106"/>
              </a:xfrm>
              <a:prstGeom prst="rect">
                <a:avLst/>
              </a:prstGeom>
              <a:solidFill>
                <a:schemeClr val="bg2"/>
              </a:solidFill>
              <a:ln>
                <a:solidFill>
                  <a:srgbClr val="C00000"/>
                </a:solidFill>
              </a:ln>
            </p:spPr>
            <p:txBody>
              <a:bodyPr wrap="none" rtlCol="0">
                <a:spAutoFit/>
              </a:bodyPr>
              <a:lstStyle/>
              <a:p>
                <a:r>
                  <a:rPr lang="en-CA" sz="1600" dirty="0"/>
                  <a:t>1- compute </a:t>
                </a:r>
                <a:r>
                  <a:rPr lang="en-CA" sz="1600" i="1" dirty="0"/>
                  <a:t>info(D)</a:t>
                </a:r>
              </a:p>
              <a:p>
                <a:r>
                  <a:rPr lang="en-CA" sz="1600" dirty="0">
                    <a:sym typeface="Wingdings" pitchFamily="2" charset="2"/>
                  </a:rPr>
                  <a:t>= </a:t>
                </a:r>
                <a14:m>
                  <m:oMath xmlns:m="http://schemas.openxmlformats.org/officeDocument/2006/math">
                    <m:r>
                      <a:rPr lang="en-CA" sz="1600" i="1">
                        <a:latin typeface="Cambria Math"/>
                        <a:sym typeface="Wingdings" pitchFamily="2" charset="2"/>
                      </a:rPr>
                      <m:t>−</m:t>
                    </m:r>
                    <m:nary>
                      <m:naryPr>
                        <m:chr m:val="∑"/>
                        <m:ctrlPr>
                          <a:rPr lang="en-CA" sz="1600" i="1">
                            <a:latin typeface="Cambria Math" panose="02040503050406030204" pitchFamily="18" charset="0"/>
                            <a:sym typeface="Wingdings" pitchFamily="2" charset="2"/>
                          </a:rPr>
                        </m:ctrlPr>
                      </m:naryPr>
                      <m:sub>
                        <m:r>
                          <m:rPr>
                            <m:brk m:alnAt="23"/>
                          </m:rPr>
                          <a:rPr lang="en-CA" sz="1600" i="1">
                            <a:latin typeface="Cambria Math"/>
                            <a:sym typeface="Wingdings" pitchFamily="2" charset="2"/>
                          </a:rPr>
                          <m:t>𝑖</m:t>
                        </m:r>
                        <m:r>
                          <a:rPr lang="en-CA" sz="1600" i="1">
                            <a:latin typeface="Cambria Math"/>
                            <a:sym typeface="Wingdings" pitchFamily="2" charset="2"/>
                          </a:rPr>
                          <m:t>=1</m:t>
                        </m:r>
                      </m:sub>
                      <m:sup>
                        <m:r>
                          <a:rPr lang="en-CA" sz="1600" i="1">
                            <a:latin typeface="Cambria Math"/>
                            <a:sym typeface="Wingdings" pitchFamily="2" charset="2"/>
                          </a:rPr>
                          <m:t>𝑚</m:t>
                        </m:r>
                      </m:sup>
                      <m:e>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func>
                          <m:funcPr>
                            <m:ctrlPr>
                              <a:rPr lang="en-CA" sz="1600" i="1">
                                <a:latin typeface="Cambria Math" panose="02040503050406030204" pitchFamily="18" charset="0"/>
                                <a:sym typeface="Wingdings" pitchFamily="2" charset="2"/>
                              </a:rPr>
                            </m:ctrlPr>
                          </m:funcPr>
                          <m:fName>
                            <m:sSub>
                              <m:sSubPr>
                                <m:ctrlPr>
                                  <a:rPr lang="en-CA" sz="1600" i="1">
                                    <a:latin typeface="Cambria Math" panose="02040503050406030204" pitchFamily="18" charset="0"/>
                                    <a:sym typeface="Wingdings" pitchFamily="2" charset="2"/>
                                  </a:rPr>
                                </m:ctrlPr>
                              </m:sSubPr>
                              <m:e>
                                <m:r>
                                  <m:rPr>
                                    <m:sty m:val="p"/>
                                  </m:rPr>
                                  <a:rPr lang="en-CA" sz="1600">
                                    <a:latin typeface="Cambria Math"/>
                                    <a:sym typeface="Wingdings" pitchFamily="2" charset="2"/>
                                  </a:rPr>
                                  <m:t>log</m:t>
                                </m:r>
                              </m:e>
                              <m:sub>
                                <m:r>
                                  <a:rPr lang="en-CA" sz="1600" i="1">
                                    <a:latin typeface="Cambria Math"/>
                                    <a:sym typeface="Wingdings" pitchFamily="2" charset="2"/>
                                  </a:rPr>
                                  <m:t>2</m:t>
                                </m:r>
                              </m:sub>
                            </m:sSub>
                          </m:fName>
                          <m:e>
                            <m:r>
                              <a:rPr lang="en-CA" sz="1600" i="1">
                                <a:latin typeface="Cambria Math"/>
                                <a:sym typeface="Wingdings" pitchFamily="2" charset="2"/>
                              </a:rPr>
                              <m:t>(</m:t>
                            </m:r>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r>
                              <a:rPr lang="en-CA" sz="1600" i="1">
                                <a:latin typeface="Cambria Math"/>
                                <a:sym typeface="Wingdings" pitchFamily="2" charset="2"/>
                              </a:rPr>
                              <m:t>)</m:t>
                            </m:r>
                          </m:e>
                        </m:func>
                      </m:e>
                    </m:nary>
                  </m:oMath>
                </a14:m>
                <a:endParaRPr lang="en-US" sz="1600" dirty="0"/>
              </a:p>
              <a:p>
                <a:r>
                  <a:rPr lang="en-CA" sz="1600" dirty="0"/>
                  <a:t>=</a:t>
                </a:r>
                <a14:m>
                  <m:oMath xmlns:m="http://schemas.openxmlformats.org/officeDocument/2006/math">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e>
                        </m:d>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e>
                            </m:d>
                          </m:e>
                        </m:func>
                      </m:e>
                    </m:func>
                  </m:oMath>
                </a14:m>
                <a:endParaRPr lang="en-US" sz="1600" dirty="0"/>
              </a:p>
              <a:p>
                <a:r>
                  <a:rPr lang="en-CA" sz="1600" dirty="0"/>
                  <a:t>=0.940 bits</a:t>
                </a:r>
                <a:endParaRPr lang="en-US"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6350272" y="1894800"/>
                <a:ext cx="2690417" cy="1231106"/>
              </a:xfrm>
              <a:prstGeom prst="rect">
                <a:avLst/>
              </a:prstGeom>
              <a:blipFill rotWithShape="1">
                <a:blip r:embed="rId3"/>
                <a:stretch>
                  <a:fillRect l="-1129" t="-9804" b="-2451"/>
                </a:stretch>
              </a:blipFill>
              <a:ln>
                <a:solidFill>
                  <a:srgbClr val="C00000"/>
                </a:solidFill>
              </a:ln>
            </p:spPr>
            <p:txBody>
              <a:bodyPr/>
              <a:lstStyle/>
              <a:p>
                <a:r>
                  <a:rPr lang="en-US">
                    <a:noFill/>
                  </a:rPr>
                  <a:t> </a:t>
                </a:r>
              </a:p>
            </p:txBody>
          </p:sp>
        </mc:Fallback>
      </mc:AlternateContent>
      <p:sp>
        <p:nvSpPr>
          <p:cNvPr id="16" name="Rectangle 15"/>
          <p:cNvSpPr/>
          <p:nvPr/>
        </p:nvSpPr>
        <p:spPr bwMode="auto">
          <a:xfrm>
            <a:off x="529574" y="2819400"/>
            <a:ext cx="4347226" cy="91440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7" name="Rectangle 16"/>
          <p:cNvSpPr/>
          <p:nvPr/>
        </p:nvSpPr>
        <p:spPr bwMode="auto">
          <a:xfrm>
            <a:off x="529573" y="4648200"/>
            <a:ext cx="4347227" cy="30480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8" name="Rectangle 17"/>
          <p:cNvSpPr/>
          <p:nvPr/>
        </p:nvSpPr>
        <p:spPr bwMode="auto">
          <a:xfrm>
            <a:off x="591027" y="5867400"/>
            <a:ext cx="4285773" cy="304801"/>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0" name="Rectangle 19"/>
          <p:cNvSpPr/>
          <p:nvPr/>
        </p:nvSpPr>
        <p:spPr bwMode="auto">
          <a:xfrm>
            <a:off x="4267200" y="2843670"/>
            <a:ext cx="486696" cy="58533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1" name="Rectangle 20"/>
          <p:cNvSpPr/>
          <p:nvPr/>
        </p:nvSpPr>
        <p:spPr bwMode="auto">
          <a:xfrm>
            <a:off x="4267200" y="4676124"/>
            <a:ext cx="486696" cy="252000"/>
          </a:xfrm>
          <a:prstGeom prst="rect">
            <a:avLst/>
          </a:prstGeom>
          <a:noFill/>
          <a:ln w="57150">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19" name="Rectangle 18"/>
          <p:cNvSpPr/>
          <p:nvPr/>
        </p:nvSpPr>
        <p:spPr bwMode="auto">
          <a:xfrm>
            <a:off x="4267200" y="3441133"/>
            <a:ext cx="486696" cy="292667"/>
          </a:xfrm>
          <a:prstGeom prst="rect">
            <a:avLst/>
          </a:prstGeom>
          <a:noFill/>
          <a:ln w="5715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3" name="Rectangle 22"/>
          <p:cNvSpPr/>
          <p:nvPr/>
        </p:nvSpPr>
        <p:spPr bwMode="auto">
          <a:xfrm>
            <a:off x="4267200" y="5871584"/>
            <a:ext cx="486696" cy="292667"/>
          </a:xfrm>
          <a:prstGeom prst="rect">
            <a:avLst/>
          </a:prstGeom>
          <a:noFill/>
          <a:ln w="5715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
        <p:nvSpPr>
          <p:cNvPr id="25"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pic>
        <p:nvPicPr>
          <p:cNvPr id="22" name="Picture 1"/>
          <p:cNvPicPr>
            <a:picLocks noChangeAspect="1" noChangeArrowheads="1"/>
          </p:cNvPicPr>
          <p:nvPr/>
        </p:nvPicPr>
        <p:blipFill>
          <a:blip r:embed="rId4"/>
          <a:srcRect/>
          <a:stretch>
            <a:fillRect/>
          </a:stretch>
        </p:blipFill>
        <p:spPr bwMode="auto">
          <a:xfrm>
            <a:off x="6229350" y="3276600"/>
            <a:ext cx="2914650" cy="2733675"/>
          </a:xfrm>
          <a:prstGeom prst="rect">
            <a:avLst/>
          </a:prstGeom>
          <a:noFill/>
          <a:ln w="9525">
            <a:noFill/>
            <a:miter lim="800000"/>
            <a:headEnd/>
            <a:tailEnd/>
          </a:ln>
          <a:effectLst/>
        </p:spPr>
      </p:pic>
      <p:sp>
        <p:nvSpPr>
          <p:cNvPr id="15" name="Rectangle 14"/>
          <p:cNvSpPr/>
          <p:nvPr/>
        </p:nvSpPr>
        <p:spPr bwMode="auto">
          <a:xfrm>
            <a:off x="6324600" y="5105400"/>
            <a:ext cx="2667000" cy="504000"/>
          </a:xfrm>
          <a:prstGeom prst="rect">
            <a:avLst/>
          </a:prstGeom>
          <a:noFill/>
          <a:ln>
            <a:solidFill>
              <a:srgbClr val="FF0000"/>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chemeClr val="tx1"/>
              </a:solidFill>
              <a:latin typeface="Segoe" pitchFamily="34" charset="0"/>
            </a:endParaRPr>
          </a:p>
        </p:txBody>
      </p:sp>
    </p:spTree>
    <p:extLst>
      <p:ext uri="{BB962C8B-B14F-4D97-AF65-F5344CB8AC3E}">
        <p14:creationId xmlns:p14="http://schemas.microsoft.com/office/powerpoint/2010/main" val="226604373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589359138"/>
              </p:ext>
            </p:extLst>
          </p:nvPr>
        </p:nvGraphicFramePr>
        <p:xfrm>
          <a:off x="117987" y="1382254"/>
          <a:ext cx="6225546" cy="4802944"/>
        </p:xfrm>
        <a:graphic>
          <a:graphicData uri="http://schemas.openxmlformats.org/drawingml/2006/table">
            <a:tbl>
              <a:tblPr firstRow="1" bandRow="1">
                <a:tableStyleId>{85BE263C-DBD7-4A20-BB59-AAB30ACAA65A}</a:tableStyleId>
              </a:tblPr>
              <a:tblGrid>
                <a:gridCol w="482918">
                  <a:extLst>
                    <a:ext uri="{9D8B030D-6E8A-4147-A177-3AD203B41FA5}">
                      <a16:colId xmlns:a16="http://schemas.microsoft.com/office/drawing/2014/main" val="20000"/>
                    </a:ext>
                  </a:extLst>
                </a:gridCol>
                <a:gridCol w="69449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2000133">
                  <a:extLst>
                    <a:ext uri="{9D8B030D-6E8A-4147-A177-3AD203B41FA5}">
                      <a16:colId xmlns:a16="http://schemas.microsoft.com/office/drawing/2014/main" val="20005"/>
                    </a:ext>
                  </a:extLst>
                </a:gridCol>
              </a:tblGrid>
              <a:tr h="306056">
                <a:tc>
                  <a:txBody>
                    <a:bodyPr/>
                    <a:lstStyle/>
                    <a:p>
                      <a:r>
                        <a:rPr lang="en-CA" sz="1400" dirty="0"/>
                        <a:t>RID</a:t>
                      </a:r>
                      <a:endParaRPr lang="en-US" sz="1400" dirty="0"/>
                    </a:p>
                  </a:txBody>
                  <a:tcPr/>
                </a:tc>
                <a:tc>
                  <a:txBody>
                    <a:bodyPr/>
                    <a:lstStyle/>
                    <a:p>
                      <a:r>
                        <a:rPr lang="en-CA" sz="1400" dirty="0"/>
                        <a:t>age</a:t>
                      </a:r>
                      <a:endParaRPr lang="en-US" sz="1400" dirty="0"/>
                    </a:p>
                  </a:txBody>
                  <a:tcPr/>
                </a:tc>
                <a:tc>
                  <a:txBody>
                    <a:bodyPr/>
                    <a:lstStyle/>
                    <a:p>
                      <a:r>
                        <a:rPr lang="en-CA" sz="1400" dirty="0"/>
                        <a:t>income</a:t>
                      </a:r>
                      <a:endParaRPr lang="en-US" sz="1400" dirty="0"/>
                    </a:p>
                  </a:txBody>
                  <a:tcPr/>
                </a:tc>
                <a:tc>
                  <a:txBody>
                    <a:bodyPr/>
                    <a:lstStyle/>
                    <a:p>
                      <a:r>
                        <a:rPr lang="en-CA" sz="1400" dirty="0"/>
                        <a:t>student</a:t>
                      </a:r>
                      <a:endParaRPr lang="en-US" sz="1400" dirty="0"/>
                    </a:p>
                  </a:txBody>
                  <a:tcPr/>
                </a:tc>
                <a:tc>
                  <a:txBody>
                    <a:bodyPr/>
                    <a:lstStyle/>
                    <a:p>
                      <a:r>
                        <a:rPr lang="en-CA" sz="1400" dirty="0" err="1"/>
                        <a:t>Credit_rating</a:t>
                      </a:r>
                      <a:endParaRPr lang="en-US" sz="1400" dirty="0"/>
                    </a:p>
                  </a:txBody>
                  <a:tcPr/>
                </a:tc>
                <a:tc>
                  <a:txBody>
                    <a:bodyPr/>
                    <a:lstStyle/>
                    <a:p>
                      <a:r>
                        <a:rPr lang="en-CA" sz="1400" dirty="0"/>
                        <a:t>Class: </a:t>
                      </a:r>
                      <a:r>
                        <a:rPr lang="en-CA" sz="1400" dirty="0" err="1"/>
                        <a:t>buys_computer</a:t>
                      </a:r>
                      <a:endParaRPr lang="en-US" sz="1400" dirty="0"/>
                    </a:p>
                  </a:txBody>
                  <a:tcPr/>
                </a:tc>
                <a:extLst>
                  <a:ext uri="{0D108BD9-81ED-4DB2-BD59-A6C34878D82A}">
                    <a16:rowId xmlns:a16="http://schemas.microsoft.com/office/drawing/2014/main" val="10000"/>
                  </a:ext>
                </a:extLst>
              </a:tr>
              <a:tr h="306056">
                <a:tc>
                  <a:txBody>
                    <a:bodyPr/>
                    <a:lstStyle/>
                    <a:p>
                      <a:r>
                        <a:rPr lang="en-CA" sz="1400" dirty="0"/>
                        <a:t>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1"/>
                  </a:ext>
                </a:extLst>
              </a:tr>
              <a:tr h="306056">
                <a:tc>
                  <a:txBody>
                    <a:bodyPr/>
                    <a:lstStyle/>
                    <a:p>
                      <a:r>
                        <a:rPr lang="en-CA" sz="1400" dirty="0"/>
                        <a:t>2</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2"/>
                  </a:ext>
                </a:extLst>
              </a:tr>
              <a:tr h="306056">
                <a:tc>
                  <a:txBody>
                    <a:bodyPr/>
                    <a:lstStyle/>
                    <a:p>
                      <a:r>
                        <a:rPr lang="en-CA" sz="1400" dirty="0"/>
                        <a:t>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3"/>
                  </a:ext>
                </a:extLst>
              </a:tr>
              <a:tr h="306056">
                <a:tc>
                  <a:txBody>
                    <a:bodyPr/>
                    <a:lstStyle/>
                    <a:p>
                      <a:r>
                        <a:rPr lang="en-CA" sz="1400" dirty="0"/>
                        <a:t>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4"/>
                  </a:ext>
                </a:extLst>
              </a:tr>
              <a:tr h="306056">
                <a:tc>
                  <a:txBody>
                    <a:bodyPr/>
                    <a:lstStyle/>
                    <a:p>
                      <a:r>
                        <a:rPr lang="en-CA" sz="1400" dirty="0"/>
                        <a:t>5</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5"/>
                  </a:ext>
                </a:extLst>
              </a:tr>
              <a:tr h="306056">
                <a:tc>
                  <a:txBody>
                    <a:bodyPr/>
                    <a:lstStyle/>
                    <a:p>
                      <a:r>
                        <a:rPr lang="en-CA" sz="1400" dirty="0"/>
                        <a:t>6</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6"/>
                  </a:ext>
                </a:extLst>
              </a:tr>
              <a:tr h="306056">
                <a:tc>
                  <a:txBody>
                    <a:bodyPr/>
                    <a:lstStyle/>
                    <a:p>
                      <a:r>
                        <a:rPr lang="en-CA" sz="1400" dirty="0"/>
                        <a:t>7</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7"/>
                  </a:ext>
                </a:extLst>
              </a:tr>
              <a:tr h="306056">
                <a:tc>
                  <a:txBody>
                    <a:bodyPr/>
                    <a:lstStyle/>
                    <a:p>
                      <a:r>
                        <a:rPr lang="en-CA" sz="1400" dirty="0"/>
                        <a:t>8</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8"/>
                  </a:ext>
                </a:extLst>
              </a:tr>
              <a:tr h="306056">
                <a:tc>
                  <a:txBody>
                    <a:bodyPr/>
                    <a:lstStyle/>
                    <a:p>
                      <a:r>
                        <a:rPr lang="en-CA" sz="1400" dirty="0"/>
                        <a:t>9</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9"/>
                  </a:ext>
                </a:extLst>
              </a:tr>
              <a:tr h="306056">
                <a:tc>
                  <a:txBody>
                    <a:bodyPr/>
                    <a:lstStyle/>
                    <a:p>
                      <a:r>
                        <a:rPr lang="en-CA" sz="1400" dirty="0"/>
                        <a:t>10</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0"/>
                  </a:ext>
                </a:extLst>
              </a:tr>
              <a:tr h="306056">
                <a:tc>
                  <a:txBody>
                    <a:bodyPr/>
                    <a:lstStyle/>
                    <a:p>
                      <a:r>
                        <a:rPr lang="en-CA" sz="1400" dirty="0"/>
                        <a:t>11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1"/>
                  </a:ext>
                </a:extLst>
              </a:tr>
              <a:tr h="306056">
                <a:tc>
                  <a:txBody>
                    <a:bodyPr/>
                    <a:lstStyle/>
                    <a:p>
                      <a:r>
                        <a:rPr lang="en-CA" sz="1400" dirty="0"/>
                        <a:t>12</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2"/>
                  </a:ext>
                </a:extLst>
              </a:tr>
              <a:tr h="306056">
                <a:tc>
                  <a:txBody>
                    <a:bodyPr/>
                    <a:lstStyle/>
                    <a:p>
                      <a:r>
                        <a:rPr lang="en-CA" sz="1400" dirty="0"/>
                        <a:t>13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3"/>
                  </a:ext>
                </a:extLst>
              </a:tr>
              <a:tr h="306056">
                <a:tc>
                  <a:txBody>
                    <a:bodyPr/>
                    <a:lstStyle/>
                    <a:p>
                      <a:r>
                        <a:rPr lang="en-CA" sz="1400" dirty="0"/>
                        <a:t>14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14"/>
                  </a:ext>
                </a:extLst>
              </a:tr>
            </a:tbl>
          </a:graphicData>
        </a:graphic>
      </p:graphicFrame>
      <p:sp>
        <p:nvSpPr>
          <p:cNvPr id="5" name="TextBox 4"/>
          <p:cNvSpPr txBox="1"/>
          <p:nvPr/>
        </p:nvSpPr>
        <p:spPr>
          <a:xfrm>
            <a:off x="6350272" y="1360314"/>
            <a:ext cx="1406539"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1</a:t>
            </a:r>
            <a:r>
              <a:rPr lang="en-CA" sz="1800" dirty="0"/>
              <a:t> = Yes  = 9</a:t>
            </a:r>
            <a:endParaRPr lang="en-US" sz="1800" dirty="0"/>
          </a:p>
        </p:txBody>
      </p:sp>
      <p:sp>
        <p:nvSpPr>
          <p:cNvPr id="11" name="TextBox 10"/>
          <p:cNvSpPr txBox="1"/>
          <p:nvPr/>
        </p:nvSpPr>
        <p:spPr>
          <a:xfrm>
            <a:off x="7840438" y="1352002"/>
            <a:ext cx="1303562" cy="369332"/>
          </a:xfrm>
          <a:prstGeom prst="rect">
            <a:avLst/>
          </a:prstGeom>
          <a:solidFill>
            <a:schemeClr val="bg2"/>
          </a:solidFill>
          <a:ln>
            <a:solidFill>
              <a:srgbClr val="C00000"/>
            </a:solidFill>
          </a:ln>
        </p:spPr>
        <p:txBody>
          <a:bodyPr wrap="none" rtlCol="0">
            <a:spAutoFit/>
          </a:bodyPr>
          <a:lstStyle/>
          <a:p>
            <a:r>
              <a:rPr lang="en-CA" sz="1800" i="1" dirty="0"/>
              <a:t>C</a:t>
            </a:r>
            <a:r>
              <a:rPr lang="en-CA" sz="1800" i="1" baseline="-25000" dirty="0"/>
              <a:t>2</a:t>
            </a:r>
            <a:r>
              <a:rPr lang="en-CA" sz="1800" dirty="0"/>
              <a:t> = No = 5</a:t>
            </a:r>
            <a:endParaRPr lang="en-US" sz="1800" dirty="0"/>
          </a:p>
        </p:txBody>
      </p:sp>
      <mc:AlternateContent xmlns:mc="http://schemas.openxmlformats.org/markup-compatibility/2006" xmlns:a14="http://schemas.microsoft.com/office/drawing/2010/main">
        <mc:Choice Requires="a14">
          <p:sp>
            <p:nvSpPr>
              <p:cNvPr id="12" name="TextBox 11"/>
              <p:cNvSpPr txBox="1"/>
              <p:nvPr/>
            </p:nvSpPr>
            <p:spPr>
              <a:xfrm>
                <a:off x="6350272" y="1894800"/>
                <a:ext cx="2690417" cy="1231106"/>
              </a:xfrm>
              <a:prstGeom prst="rect">
                <a:avLst/>
              </a:prstGeom>
              <a:solidFill>
                <a:schemeClr val="bg2"/>
              </a:solidFill>
              <a:ln>
                <a:solidFill>
                  <a:srgbClr val="C00000"/>
                </a:solidFill>
              </a:ln>
            </p:spPr>
            <p:txBody>
              <a:bodyPr wrap="none" rtlCol="0">
                <a:spAutoFit/>
              </a:bodyPr>
              <a:lstStyle/>
              <a:p>
                <a:r>
                  <a:rPr lang="en-CA" sz="1600" dirty="0"/>
                  <a:t>1- compute </a:t>
                </a:r>
                <a:r>
                  <a:rPr lang="en-CA" sz="1600" i="1" dirty="0"/>
                  <a:t>info(D)</a:t>
                </a:r>
              </a:p>
              <a:p>
                <a:r>
                  <a:rPr lang="en-CA" sz="1600" dirty="0">
                    <a:sym typeface="Wingdings" pitchFamily="2" charset="2"/>
                  </a:rPr>
                  <a:t>= </a:t>
                </a:r>
                <a14:m>
                  <m:oMath xmlns:m="http://schemas.openxmlformats.org/officeDocument/2006/math">
                    <m:r>
                      <a:rPr lang="en-CA" sz="1600" i="1">
                        <a:latin typeface="Cambria Math"/>
                        <a:sym typeface="Wingdings" pitchFamily="2" charset="2"/>
                      </a:rPr>
                      <m:t>−</m:t>
                    </m:r>
                    <m:nary>
                      <m:naryPr>
                        <m:chr m:val="∑"/>
                        <m:ctrlPr>
                          <a:rPr lang="en-CA" sz="1600" i="1">
                            <a:latin typeface="Cambria Math" panose="02040503050406030204" pitchFamily="18" charset="0"/>
                            <a:sym typeface="Wingdings" pitchFamily="2" charset="2"/>
                          </a:rPr>
                        </m:ctrlPr>
                      </m:naryPr>
                      <m:sub>
                        <m:r>
                          <m:rPr>
                            <m:brk m:alnAt="23"/>
                          </m:rPr>
                          <a:rPr lang="en-CA" sz="1600" i="1">
                            <a:latin typeface="Cambria Math"/>
                            <a:sym typeface="Wingdings" pitchFamily="2" charset="2"/>
                          </a:rPr>
                          <m:t>𝑖</m:t>
                        </m:r>
                        <m:r>
                          <a:rPr lang="en-CA" sz="1600" i="1">
                            <a:latin typeface="Cambria Math"/>
                            <a:sym typeface="Wingdings" pitchFamily="2" charset="2"/>
                          </a:rPr>
                          <m:t>=1</m:t>
                        </m:r>
                      </m:sub>
                      <m:sup>
                        <m:r>
                          <a:rPr lang="en-CA" sz="1600" i="1">
                            <a:latin typeface="Cambria Math"/>
                            <a:sym typeface="Wingdings" pitchFamily="2" charset="2"/>
                          </a:rPr>
                          <m:t>𝑚</m:t>
                        </m:r>
                      </m:sup>
                      <m:e>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func>
                          <m:funcPr>
                            <m:ctrlPr>
                              <a:rPr lang="en-CA" sz="1600" i="1">
                                <a:latin typeface="Cambria Math" panose="02040503050406030204" pitchFamily="18" charset="0"/>
                                <a:sym typeface="Wingdings" pitchFamily="2" charset="2"/>
                              </a:rPr>
                            </m:ctrlPr>
                          </m:funcPr>
                          <m:fName>
                            <m:sSub>
                              <m:sSubPr>
                                <m:ctrlPr>
                                  <a:rPr lang="en-CA" sz="1600" i="1">
                                    <a:latin typeface="Cambria Math" panose="02040503050406030204" pitchFamily="18" charset="0"/>
                                    <a:sym typeface="Wingdings" pitchFamily="2" charset="2"/>
                                  </a:rPr>
                                </m:ctrlPr>
                              </m:sSubPr>
                              <m:e>
                                <m:r>
                                  <m:rPr>
                                    <m:sty m:val="p"/>
                                  </m:rPr>
                                  <a:rPr lang="en-CA" sz="1600">
                                    <a:latin typeface="Cambria Math"/>
                                    <a:sym typeface="Wingdings" pitchFamily="2" charset="2"/>
                                  </a:rPr>
                                  <m:t>log</m:t>
                                </m:r>
                              </m:e>
                              <m:sub>
                                <m:r>
                                  <a:rPr lang="en-CA" sz="1600" i="1">
                                    <a:latin typeface="Cambria Math"/>
                                    <a:sym typeface="Wingdings" pitchFamily="2" charset="2"/>
                                  </a:rPr>
                                  <m:t>2</m:t>
                                </m:r>
                              </m:sub>
                            </m:sSub>
                          </m:fName>
                          <m:e>
                            <m:r>
                              <a:rPr lang="en-CA" sz="1600" i="1">
                                <a:latin typeface="Cambria Math"/>
                                <a:sym typeface="Wingdings" pitchFamily="2" charset="2"/>
                              </a:rPr>
                              <m:t>(</m:t>
                            </m:r>
                            <m:sSub>
                              <m:sSubPr>
                                <m:ctrlPr>
                                  <a:rPr lang="en-CA" sz="1600" i="1">
                                    <a:latin typeface="Cambria Math" panose="02040503050406030204" pitchFamily="18" charset="0"/>
                                    <a:sym typeface="Wingdings" pitchFamily="2" charset="2"/>
                                  </a:rPr>
                                </m:ctrlPr>
                              </m:sSubPr>
                              <m:e>
                                <m:r>
                                  <a:rPr lang="en-CA" sz="1600" i="1">
                                    <a:latin typeface="Cambria Math"/>
                                    <a:sym typeface="Wingdings" pitchFamily="2" charset="2"/>
                                  </a:rPr>
                                  <m:t>𝑝</m:t>
                                </m:r>
                              </m:e>
                              <m:sub>
                                <m:r>
                                  <a:rPr lang="en-CA" sz="1600" i="1">
                                    <a:latin typeface="Cambria Math"/>
                                    <a:sym typeface="Wingdings" pitchFamily="2" charset="2"/>
                                  </a:rPr>
                                  <m:t>𝑖</m:t>
                                </m:r>
                              </m:sub>
                            </m:sSub>
                            <m:r>
                              <a:rPr lang="en-CA" sz="1600" i="1">
                                <a:latin typeface="Cambria Math"/>
                                <a:sym typeface="Wingdings" pitchFamily="2" charset="2"/>
                              </a:rPr>
                              <m:t>)</m:t>
                            </m:r>
                          </m:e>
                        </m:func>
                      </m:e>
                    </m:nary>
                  </m:oMath>
                </a14:m>
                <a:endParaRPr lang="en-US" sz="1600" dirty="0"/>
              </a:p>
              <a:p>
                <a:r>
                  <a:rPr lang="en-CA" sz="1600" dirty="0"/>
                  <a:t>=</a:t>
                </a:r>
                <a14:m>
                  <m:oMath xmlns:m="http://schemas.openxmlformats.org/officeDocument/2006/math">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9</m:t>
                                </m:r>
                              </m:num>
                              <m:den>
                                <m:r>
                                  <a:rPr lang="en-CA" sz="1600" b="0" i="1" smtClean="0">
                                    <a:latin typeface="Cambria Math"/>
                                  </a:rPr>
                                  <m:t>14</m:t>
                                </m:r>
                              </m:den>
                            </m:f>
                          </m:e>
                        </m:d>
                        <m:r>
                          <a:rPr lang="en-CA" sz="1600" b="0" i="1" smtClean="0">
                            <a:latin typeface="Cambria Math"/>
                          </a:rPr>
                          <m:t>−</m:t>
                        </m:r>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func>
                          <m:funcPr>
                            <m:ctrlPr>
                              <a:rPr lang="en-CA" sz="1600" b="0" i="1" smtClean="0">
                                <a:latin typeface="Cambria Math" panose="02040503050406030204" pitchFamily="18" charset="0"/>
                              </a:rPr>
                            </m:ctrlPr>
                          </m:funcPr>
                          <m:fName>
                            <m:sSub>
                              <m:sSubPr>
                                <m:ctrlPr>
                                  <a:rPr lang="en-CA" sz="1600" b="0" i="1" smtClean="0">
                                    <a:latin typeface="Cambria Math" panose="02040503050406030204" pitchFamily="18" charset="0"/>
                                  </a:rPr>
                                </m:ctrlPr>
                              </m:sSubPr>
                              <m:e>
                                <m:r>
                                  <m:rPr>
                                    <m:sty m:val="p"/>
                                  </m:rPr>
                                  <a:rPr lang="en-CA" sz="1600" b="0" i="0" smtClean="0">
                                    <a:latin typeface="Cambria Math"/>
                                  </a:rPr>
                                  <m:t>log</m:t>
                                </m:r>
                              </m:e>
                              <m:sub>
                                <m:r>
                                  <a:rPr lang="en-CA" sz="1600" b="0" i="1" smtClean="0">
                                    <a:latin typeface="Cambria Math"/>
                                  </a:rPr>
                                  <m:t>2</m:t>
                                </m:r>
                              </m:sub>
                            </m:sSub>
                          </m:fName>
                          <m:e>
                            <m:d>
                              <m:dPr>
                                <m:ctrlPr>
                                  <a:rPr lang="en-CA" sz="1600" b="0" i="1" smtClean="0">
                                    <a:latin typeface="Cambria Math" panose="02040503050406030204" pitchFamily="18" charset="0"/>
                                  </a:rPr>
                                </m:ctrlPr>
                              </m:dPr>
                              <m:e>
                                <m:f>
                                  <m:fPr>
                                    <m:ctrlPr>
                                      <a:rPr lang="en-CA" sz="1600" b="0" i="1" smtClean="0">
                                        <a:latin typeface="Cambria Math" panose="02040503050406030204" pitchFamily="18" charset="0"/>
                                      </a:rPr>
                                    </m:ctrlPr>
                                  </m:fPr>
                                  <m:num>
                                    <m:r>
                                      <a:rPr lang="en-CA" sz="1600" b="0" i="1" smtClean="0">
                                        <a:latin typeface="Cambria Math"/>
                                      </a:rPr>
                                      <m:t>5</m:t>
                                    </m:r>
                                  </m:num>
                                  <m:den>
                                    <m:r>
                                      <a:rPr lang="en-CA" sz="1600" b="0" i="1" smtClean="0">
                                        <a:latin typeface="Cambria Math"/>
                                      </a:rPr>
                                      <m:t>14</m:t>
                                    </m:r>
                                  </m:den>
                                </m:f>
                              </m:e>
                            </m:d>
                          </m:e>
                        </m:func>
                      </m:e>
                    </m:func>
                  </m:oMath>
                </a14:m>
                <a:endParaRPr lang="en-US" sz="1600" dirty="0"/>
              </a:p>
              <a:p>
                <a:r>
                  <a:rPr lang="en-CA" sz="1600" dirty="0"/>
                  <a:t>=0.940 bits</a:t>
                </a:r>
                <a:endParaRPr lang="en-US"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6350272" y="1894800"/>
                <a:ext cx="2690417" cy="1231106"/>
              </a:xfrm>
              <a:prstGeom prst="rect">
                <a:avLst/>
              </a:prstGeom>
              <a:blipFill rotWithShape="1">
                <a:blip r:embed="rId3"/>
                <a:stretch>
                  <a:fillRect l="-1129" t="-9804" b="-2451"/>
                </a:stretch>
              </a:blipFill>
              <a:ln>
                <a:solidFill>
                  <a:srgbClr val="C00000"/>
                </a:solidFill>
              </a:ln>
            </p:spPr>
            <p:txBody>
              <a:bodyPr/>
              <a:lstStyle/>
              <a:p>
                <a:r>
                  <a:rPr lang="en-US">
                    <a:noFill/>
                  </a:rPr>
                  <a:t> </a:t>
                </a:r>
              </a:p>
            </p:txBody>
          </p:sp>
        </mc:Fallback>
      </mc:AlternateContent>
      <p:sp>
        <p:nvSpPr>
          <p:cNvPr id="14" name="TextBox 13"/>
          <p:cNvSpPr txBox="1"/>
          <p:nvPr/>
        </p:nvSpPr>
        <p:spPr>
          <a:xfrm>
            <a:off x="2286000" y="6248400"/>
            <a:ext cx="6629400" cy="461665"/>
          </a:xfrm>
          <a:prstGeom prst="rect">
            <a:avLst/>
          </a:prstGeom>
          <a:solidFill>
            <a:schemeClr val="bg2"/>
          </a:solidFill>
          <a:ln>
            <a:solidFill>
              <a:srgbClr val="C00000"/>
            </a:solidFill>
          </a:ln>
        </p:spPr>
        <p:txBody>
          <a:bodyPr wrap="square" rtlCol="0">
            <a:spAutoFit/>
          </a:bodyPr>
          <a:lstStyle/>
          <a:p>
            <a:r>
              <a:rPr lang="en-CA" dirty="0"/>
              <a:t>3- compute</a:t>
            </a:r>
            <a:r>
              <a:rPr lang="en-CA" i="1" dirty="0"/>
              <a:t> Gain(age) = 0.94 - 0.694 = 0.246 bits</a:t>
            </a:r>
            <a:endParaRPr lang="en-US" dirty="0"/>
          </a:p>
        </p:txBody>
      </p:sp>
      <p:sp>
        <p:nvSpPr>
          <p:cNvPr id="10"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pic>
        <p:nvPicPr>
          <p:cNvPr id="9" name="Picture 1"/>
          <p:cNvPicPr>
            <a:picLocks noChangeAspect="1" noChangeArrowheads="1"/>
          </p:cNvPicPr>
          <p:nvPr/>
        </p:nvPicPr>
        <p:blipFill>
          <a:blip r:embed="rId4"/>
          <a:srcRect/>
          <a:stretch>
            <a:fillRect/>
          </a:stretch>
        </p:blipFill>
        <p:spPr bwMode="auto">
          <a:xfrm>
            <a:off x="6229350" y="3276600"/>
            <a:ext cx="2914650" cy="2733675"/>
          </a:xfrm>
          <a:prstGeom prst="rect">
            <a:avLst/>
          </a:prstGeom>
          <a:noFill/>
          <a:ln w="9525">
            <a:noFill/>
            <a:miter lim="800000"/>
            <a:headEnd/>
            <a:tailEnd/>
          </a:ln>
          <a:effectLst/>
        </p:spPr>
      </p:pic>
    </p:spTree>
    <p:extLst>
      <p:ext uri="{BB962C8B-B14F-4D97-AF65-F5344CB8AC3E}">
        <p14:creationId xmlns:p14="http://schemas.microsoft.com/office/powerpoint/2010/main" val="212904699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1"/>
          </p:nvPr>
        </p:nvSpPr>
        <p:spPr/>
        <p:txBody>
          <a:bodyPr/>
          <a:lstStyle/>
          <a:p>
            <a:fld id="{4895C4E1-5D39-45FA-BDC8-14F0ADA2AE17}" type="datetime1">
              <a:rPr lang="en-US" smtClean="0"/>
              <a:pPr/>
              <a:t>4/22/2025</a:t>
            </a:fld>
            <a:endParaRPr lang="en-US" dirty="0"/>
          </a:p>
        </p:txBody>
      </p:sp>
      <p:sp>
        <p:nvSpPr>
          <p:cNvPr id="6" name="Slide Number Placeholder 5"/>
          <p:cNvSpPr>
            <a:spLocks noGrp="1"/>
          </p:cNvSpPr>
          <p:nvPr>
            <p:ph type="sldNum" sz="quarter" idx="12"/>
          </p:nvPr>
        </p:nvSpPr>
        <p:spPr/>
        <p:txBody>
          <a:bodyPr/>
          <a:lstStyle/>
          <a:p>
            <a:fld id="{5744759D-0EFF-4FB2-9CCE-04E00944F0FE}" type="slidenum">
              <a:rPr lang="en-US" smtClean="0"/>
              <a:pPr/>
              <a:t>24</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883995358"/>
              </p:ext>
            </p:extLst>
          </p:nvPr>
        </p:nvGraphicFramePr>
        <p:xfrm>
          <a:off x="117987" y="1382254"/>
          <a:ext cx="6225546" cy="4802944"/>
        </p:xfrm>
        <a:graphic>
          <a:graphicData uri="http://schemas.openxmlformats.org/drawingml/2006/table">
            <a:tbl>
              <a:tblPr firstRow="1" bandRow="1">
                <a:tableStyleId>{85BE263C-DBD7-4A20-BB59-AAB30ACAA65A}</a:tableStyleId>
              </a:tblPr>
              <a:tblGrid>
                <a:gridCol w="482918">
                  <a:extLst>
                    <a:ext uri="{9D8B030D-6E8A-4147-A177-3AD203B41FA5}">
                      <a16:colId xmlns:a16="http://schemas.microsoft.com/office/drawing/2014/main" val="20000"/>
                    </a:ext>
                  </a:extLst>
                </a:gridCol>
                <a:gridCol w="694495">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2000133">
                  <a:extLst>
                    <a:ext uri="{9D8B030D-6E8A-4147-A177-3AD203B41FA5}">
                      <a16:colId xmlns:a16="http://schemas.microsoft.com/office/drawing/2014/main" val="20005"/>
                    </a:ext>
                  </a:extLst>
                </a:gridCol>
              </a:tblGrid>
              <a:tr h="306056">
                <a:tc>
                  <a:txBody>
                    <a:bodyPr/>
                    <a:lstStyle/>
                    <a:p>
                      <a:r>
                        <a:rPr lang="en-CA" sz="1400" dirty="0"/>
                        <a:t>RID</a:t>
                      </a:r>
                      <a:endParaRPr lang="en-US" sz="1400" dirty="0"/>
                    </a:p>
                  </a:txBody>
                  <a:tcPr/>
                </a:tc>
                <a:tc>
                  <a:txBody>
                    <a:bodyPr/>
                    <a:lstStyle/>
                    <a:p>
                      <a:r>
                        <a:rPr lang="en-CA" sz="1400" dirty="0"/>
                        <a:t>age</a:t>
                      </a:r>
                      <a:endParaRPr lang="en-US" sz="1400" dirty="0"/>
                    </a:p>
                  </a:txBody>
                  <a:tcPr/>
                </a:tc>
                <a:tc>
                  <a:txBody>
                    <a:bodyPr/>
                    <a:lstStyle/>
                    <a:p>
                      <a:r>
                        <a:rPr lang="en-CA" sz="1400" dirty="0"/>
                        <a:t>income</a:t>
                      </a:r>
                      <a:endParaRPr lang="en-US" sz="1400" dirty="0"/>
                    </a:p>
                  </a:txBody>
                  <a:tcPr/>
                </a:tc>
                <a:tc>
                  <a:txBody>
                    <a:bodyPr/>
                    <a:lstStyle/>
                    <a:p>
                      <a:r>
                        <a:rPr lang="en-CA" sz="1400" dirty="0"/>
                        <a:t>student</a:t>
                      </a:r>
                      <a:endParaRPr lang="en-US" sz="1400" dirty="0"/>
                    </a:p>
                  </a:txBody>
                  <a:tcPr/>
                </a:tc>
                <a:tc>
                  <a:txBody>
                    <a:bodyPr/>
                    <a:lstStyle/>
                    <a:p>
                      <a:r>
                        <a:rPr lang="en-CA" sz="1400" dirty="0" err="1"/>
                        <a:t>Credit_rating</a:t>
                      </a:r>
                      <a:endParaRPr lang="en-US" sz="1400" dirty="0"/>
                    </a:p>
                  </a:txBody>
                  <a:tcPr/>
                </a:tc>
                <a:tc>
                  <a:txBody>
                    <a:bodyPr/>
                    <a:lstStyle/>
                    <a:p>
                      <a:r>
                        <a:rPr lang="en-CA" sz="1400" dirty="0"/>
                        <a:t>Class: </a:t>
                      </a:r>
                      <a:r>
                        <a:rPr lang="en-CA" sz="1400" dirty="0" err="1"/>
                        <a:t>buys_computer</a:t>
                      </a:r>
                      <a:endParaRPr lang="en-US" sz="1400" dirty="0"/>
                    </a:p>
                  </a:txBody>
                  <a:tcPr/>
                </a:tc>
                <a:extLst>
                  <a:ext uri="{0D108BD9-81ED-4DB2-BD59-A6C34878D82A}">
                    <a16:rowId xmlns:a16="http://schemas.microsoft.com/office/drawing/2014/main" val="10000"/>
                  </a:ext>
                </a:extLst>
              </a:tr>
              <a:tr h="306056">
                <a:tc>
                  <a:txBody>
                    <a:bodyPr/>
                    <a:lstStyle/>
                    <a:p>
                      <a:r>
                        <a:rPr lang="en-CA" sz="1400" dirty="0"/>
                        <a:t>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1"/>
                  </a:ext>
                </a:extLst>
              </a:tr>
              <a:tr h="306056">
                <a:tc>
                  <a:txBody>
                    <a:bodyPr/>
                    <a:lstStyle/>
                    <a:p>
                      <a:r>
                        <a:rPr lang="en-CA" sz="1400" dirty="0"/>
                        <a:t>2</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2"/>
                  </a:ext>
                </a:extLst>
              </a:tr>
              <a:tr h="306056">
                <a:tc>
                  <a:txBody>
                    <a:bodyPr/>
                    <a:lstStyle/>
                    <a:p>
                      <a:r>
                        <a:rPr lang="en-CA" sz="1400" dirty="0"/>
                        <a:t>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3"/>
                  </a:ext>
                </a:extLst>
              </a:tr>
              <a:tr h="306056">
                <a:tc>
                  <a:txBody>
                    <a:bodyPr/>
                    <a:lstStyle/>
                    <a:p>
                      <a:r>
                        <a:rPr lang="en-CA" sz="1400" dirty="0"/>
                        <a:t>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4"/>
                  </a:ext>
                </a:extLst>
              </a:tr>
              <a:tr h="306056">
                <a:tc>
                  <a:txBody>
                    <a:bodyPr/>
                    <a:lstStyle/>
                    <a:p>
                      <a:r>
                        <a:rPr lang="en-CA" sz="1400" dirty="0"/>
                        <a:t>5</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5"/>
                  </a:ext>
                </a:extLst>
              </a:tr>
              <a:tr h="306056">
                <a:tc>
                  <a:txBody>
                    <a:bodyPr/>
                    <a:lstStyle/>
                    <a:p>
                      <a:r>
                        <a:rPr lang="en-CA" sz="1400" dirty="0"/>
                        <a:t>6</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6"/>
                  </a:ext>
                </a:extLst>
              </a:tr>
              <a:tr h="306056">
                <a:tc>
                  <a:txBody>
                    <a:bodyPr/>
                    <a:lstStyle/>
                    <a:p>
                      <a:r>
                        <a:rPr lang="en-CA" sz="1400" dirty="0"/>
                        <a:t>7</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7"/>
                  </a:ext>
                </a:extLst>
              </a:tr>
              <a:tr h="306056">
                <a:tc>
                  <a:txBody>
                    <a:bodyPr/>
                    <a:lstStyle/>
                    <a:p>
                      <a:r>
                        <a:rPr lang="en-CA" sz="1400" dirty="0"/>
                        <a:t>8</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08"/>
                  </a:ext>
                </a:extLst>
              </a:tr>
              <a:tr h="306056">
                <a:tc>
                  <a:txBody>
                    <a:bodyPr/>
                    <a:lstStyle/>
                    <a:p>
                      <a:r>
                        <a:rPr lang="en-CA" sz="1400" dirty="0"/>
                        <a:t>9</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low</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09"/>
                  </a:ext>
                </a:extLst>
              </a:tr>
              <a:tr h="306056">
                <a:tc>
                  <a:txBody>
                    <a:bodyPr/>
                    <a:lstStyle/>
                    <a:p>
                      <a:r>
                        <a:rPr lang="en-CA" sz="1400" dirty="0"/>
                        <a:t>10</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0"/>
                  </a:ext>
                </a:extLst>
              </a:tr>
              <a:tr h="306056">
                <a:tc>
                  <a:txBody>
                    <a:bodyPr/>
                    <a:lstStyle/>
                    <a:p>
                      <a:r>
                        <a:rPr lang="en-CA" sz="1400" dirty="0"/>
                        <a:t>11</a:t>
                      </a:r>
                      <a:endParaRPr lang="en-US" sz="1400" dirty="0"/>
                    </a:p>
                  </a:txBody>
                  <a:tcPr/>
                </a:tc>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1"/>
                  </a:ext>
                </a:extLst>
              </a:tr>
              <a:tr h="306056">
                <a:tc>
                  <a:txBody>
                    <a:bodyPr/>
                    <a:lstStyle/>
                    <a:p>
                      <a:r>
                        <a:rPr lang="en-CA" sz="1400" dirty="0"/>
                        <a:t>12</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2"/>
                  </a:ext>
                </a:extLst>
              </a:tr>
              <a:tr h="306056">
                <a:tc>
                  <a:txBody>
                    <a:bodyPr/>
                    <a:lstStyle/>
                    <a:p>
                      <a:r>
                        <a:rPr lang="en-CA" sz="1400" dirty="0"/>
                        <a:t>13</a:t>
                      </a:r>
                      <a:endParaRPr lang="en-US" sz="1400" dirty="0"/>
                    </a:p>
                  </a:txBody>
                  <a:tcPr/>
                </a:tc>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high</a:t>
                      </a:r>
                      <a:endParaRPr lang="en-US" sz="1400" dirty="0"/>
                    </a:p>
                  </a:txBody>
                  <a:tcPr/>
                </a:tc>
                <a:tc>
                  <a:txBody>
                    <a:bodyPr/>
                    <a:lstStyle/>
                    <a:p>
                      <a:r>
                        <a:rPr lang="en-US" sz="1400" u="none" strike="noStrike" kern="1200" baseline="0" dirty="0"/>
                        <a:t>yes</a:t>
                      </a:r>
                      <a:endParaRPr lang="en-US" sz="1400" dirty="0"/>
                    </a:p>
                  </a:txBody>
                  <a:tcPr/>
                </a:tc>
                <a:tc>
                  <a:txBody>
                    <a:bodyPr/>
                    <a:lstStyle/>
                    <a:p>
                      <a:r>
                        <a:rPr lang="en-US" sz="1400" u="none" strike="noStrike" kern="1200" baseline="0" dirty="0"/>
                        <a:t>fair</a:t>
                      </a:r>
                      <a:endParaRPr lang="en-US" sz="1400" dirty="0"/>
                    </a:p>
                  </a:txBody>
                  <a:tcPr/>
                </a:tc>
                <a:tc>
                  <a:txBody>
                    <a:bodyPr/>
                    <a:lstStyle/>
                    <a:p>
                      <a:r>
                        <a:rPr lang="en-US" sz="1400" u="none" strike="noStrike" kern="1200" baseline="0" dirty="0"/>
                        <a:t>yes</a:t>
                      </a:r>
                      <a:endParaRPr lang="en-US" sz="1400" dirty="0"/>
                    </a:p>
                  </a:txBody>
                  <a:tcPr/>
                </a:tc>
                <a:extLst>
                  <a:ext uri="{0D108BD9-81ED-4DB2-BD59-A6C34878D82A}">
                    <a16:rowId xmlns:a16="http://schemas.microsoft.com/office/drawing/2014/main" val="10013"/>
                  </a:ext>
                </a:extLst>
              </a:tr>
              <a:tr h="306056">
                <a:tc>
                  <a:txBody>
                    <a:bodyPr/>
                    <a:lstStyle/>
                    <a:p>
                      <a:r>
                        <a:rPr lang="en-CA" sz="1400" dirty="0"/>
                        <a:t>14</a:t>
                      </a:r>
                      <a:endParaRPr lang="en-US" sz="1400" dirty="0"/>
                    </a:p>
                  </a:txBody>
                  <a:tcPr/>
                </a:tc>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r>
                        <a:rPr lang="en-US" sz="1400" u="none" strike="noStrike" kern="1200" baseline="0" dirty="0"/>
                        <a:t>medium</a:t>
                      </a:r>
                      <a:endParaRPr lang="en-US" sz="1400" dirty="0"/>
                    </a:p>
                  </a:txBody>
                  <a:tcPr/>
                </a:tc>
                <a:tc>
                  <a:txBody>
                    <a:bodyPr/>
                    <a:lstStyle/>
                    <a:p>
                      <a:r>
                        <a:rPr lang="en-US" sz="1400" u="none" strike="noStrike" kern="1200" baseline="0" dirty="0"/>
                        <a:t>no</a:t>
                      </a:r>
                      <a:endParaRPr lang="en-US" sz="1400" dirty="0"/>
                    </a:p>
                  </a:txBody>
                  <a:tcPr/>
                </a:tc>
                <a:tc>
                  <a:txBody>
                    <a:bodyPr/>
                    <a:lstStyle/>
                    <a:p>
                      <a:r>
                        <a:rPr lang="en-US" sz="1400" u="none" strike="noStrike" kern="1200" baseline="0" dirty="0"/>
                        <a:t>excellent</a:t>
                      </a:r>
                      <a:endParaRPr lang="en-US" sz="1400" dirty="0"/>
                    </a:p>
                  </a:txBody>
                  <a:tcPr/>
                </a:tc>
                <a:tc>
                  <a:txBody>
                    <a:bodyPr/>
                    <a:lstStyle/>
                    <a:p>
                      <a:r>
                        <a:rPr lang="en-US" sz="1400" u="none" strike="noStrike" kern="1200" baseline="0" dirty="0"/>
                        <a:t>no</a:t>
                      </a:r>
                      <a:endParaRPr lang="en-US" sz="1400" dirty="0"/>
                    </a:p>
                  </a:txBody>
                  <a:tcPr/>
                </a:tc>
                <a:extLst>
                  <a:ext uri="{0D108BD9-81ED-4DB2-BD59-A6C34878D82A}">
                    <a16:rowId xmlns:a16="http://schemas.microsoft.com/office/drawing/2014/main" val="10014"/>
                  </a:ext>
                </a:extLst>
              </a:tr>
            </a:tbl>
          </a:graphicData>
        </a:graphic>
      </p:graphicFrame>
      <p:sp>
        <p:nvSpPr>
          <p:cNvPr id="12" name="TextBox 11"/>
          <p:cNvSpPr txBox="1"/>
          <p:nvPr/>
        </p:nvSpPr>
        <p:spPr>
          <a:xfrm>
            <a:off x="5105400" y="2351782"/>
            <a:ext cx="3025352" cy="1077218"/>
          </a:xfrm>
          <a:prstGeom prst="rect">
            <a:avLst/>
          </a:prstGeom>
          <a:solidFill>
            <a:schemeClr val="bg2"/>
          </a:solidFill>
          <a:ln>
            <a:solidFill>
              <a:srgbClr val="C00000"/>
            </a:solidFill>
          </a:ln>
        </p:spPr>
        <p:txBody>
          <a:bodyPr wrap="square" rtlCol="0">
            <a:spAutoFit/>
          </a:bodyPr>
          <a:lstStyle/>
          <a:p>
            <a:r>
              <a:rPr lang="en-CA" sz="1600" dirty="0"/>
              <a:t>Gain(age) = 0.246 bits</a:t>
            </a:r>
          </a:p>
          <a:p>
            <a:r>
              <a:rPr lang="en-CA" sz="1600" dirty="0"/>
              <a:t>Gain(income) = 0.029 bits</a:t>
            </a:r>
          </a:p>
          <a:p>
            <a:r>
              <a:rPr lang="en-CA" sz="1600" dirty="0"/>
              <a:t>Gain(student) = 0.151 bits</a:t>
            </a:r>
          </a:p>
          <a:p>
            <a:r>
              <a:rPr lang="en-CA" sz="1600" dirty="0"/>
              <a:t>Gain(</a:t>
            </a:r>
            <a:r>
              <a:rPr lang="en-CA" sz="1600" dirty="0" err="1"/>
              <a:t>credit_rating</a:t>
            </a:r>
            <a:r>
              <a:rPr lang="en-CA" sz="1600" dirty="0"/>
              <a:t>) = 0.048 bits</a:t>
            </a:r>
            <a:endParaRPr lang="en-US" sz="1600" dirty="0"/>
          </a:p>
        </p:txBody>
      </p:sp>
      <p:sp>
        <p:nvSpPr>
          <p:cNvPr id="15" name="TextBox 14"/>
          <p:cNvSpPr txBox="1"/>
          <p:nvPr/>
        </p:nvSpPr>
        <p:spPr>
          <a:xfrm>
            <a:off x="5105400" y="3733800"/>
            <a:ext cx="3810000" cy="338554"/>
          </a:xfrm>
          <a:prstGeom prst="rect">
            <a:avLst/>
          </a:prstGeom>
          <a:solidFill>
            <a:schemeClr val="bg2"/>
          </a:solidFill>
          <a:ln>
            <a:solidFill>
              <a:srgbClr val="C00000"/>
            </a:solidFill>
          </a:ln>
        </p:spPr>
        <p:txBody>
          <a:bodyPr wrap="square" rtlCol="0">
            <a:spAutoFit/>
          </a:bodyPr>
          <a:lstStyle/>
          <a:p>
            <a:r>
              <a:rPr lang="en-CA" sz="1600" dirty="0"/>
              <a:t>Gain(age) has </a:t>
            </a:r>
            <a:r>
              <a:rPr lang="en-CA" sz="1600" u="sng" dirty="0"/>
              <a:t>highest information gain</a:t>
            </a:r>
            <a:endParaRPr lang="en-US" sz="1600" u="sng" dirty="0"/>
          </a:p>
        </p:txBody>
      </p:sp>
      <p:sp>
        <p:nvSpPr>
          <p:cNvPr id="9"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spTree>
    <p:extLst>
      <p:ext uri="{BB962C8B-B14F-4D97-AF65-F5344CB8AC3E}">
        <p14:creationId xmlns:p14="http://schemas.microsoft.com/office/powerpoint/2010/main" val="85669176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529104"/>
            <a:ext cx="4976739" cy="4643095"/>
          </a:xfrm>
        </p:spPr>
        <p:txBody>
          <a:bodyPr/>
          <a:lstStyle/>
          <a:p>
            <a:r>
              <a:rPr lang="en-US" dirty="0"/>
              <a:t>Training data set: </a:t>
            </a:r>
            <a:r>
              <a:rPr lang="en-US" dirty="0" err="1">
                <a:solidFill>
                  <a:srgbClr val="C00000"/>
                </a:solidFill>
              </a:rPr>
              <a:t>Buys_computer</a:t>
            </a:r>
            <a:endParaRPr lang="en-US" dirty="0">
              <a:solidFill>
                <a:srgbClr val="C00000"/>
              </a:solidFill>
            </a:endParaRPr>
          </a:p>
        </p:txBody>
      </p:sp>
      <p:pic>
        <p:nvPicPr>
          <p:cNvPr id="6" name="Picture 5"/>
          <p:cNvPicPr>
            <a:picLocks noChangeAspect="1"/>
          </p:cNvPicPr>
          <p:nvPr/>
        </p:nvPicPr>
        <p:blipFill rotWithShape="1">
          <a:blip r:embed="rId2"/>
          <a:srcRect l="25417" t="38889" r="57083" b="41111"/>
          <a:stretch/>
        </p:blipFill>
        <p:spPr>
          <a:xfrm>
            <a:off x="0" y="3167745"/>
            <a:ext cx="5715000" cy="3673929"/>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999826168"/>
              </p:ext>
            </p:extLst>
          </p:nvPr>
        </p:nvGraphicFramePr>
        <p:xfrm>
          <a:off x="4648199" y="1066800"/>
          <a:ext cx="4355258" cy="3352800"/>
        </p:xfrm>
        <a:graphic>
          <a:graphicData uri="http://schemas.openxmlformats.org/drawingml/2006/table">
            <a:tbl>
              <a:tblPr firstRow="1" bandRow="1">
                <a:tableStyleId>{073A0DAA-6AF3-43AB-8588-CEC1D06C72B9}</a:tableStyleId>
              </a:tblPr>
              <a:tblGrid>
                <a:gridCol w="732404">
                  <a:extLst>
                    <a:ext uri="{9D8B030D-6E8A-4147-A177-3AD203B41FA5}">
                      <a16:colId xmlns:a16="http://schemas.microsoft.com/office/drawing/2014/main" val="20000"/>
                    </a:ext>
                  </a:extLst>
                </a:gridCol>
                <a:gridCol w="732404">
                  <a:extLst>
                    <a:ext uri="{9D8B030D-6E8A-4147-A177-3AD203B41FA5}">
                      <a16:colId xmlns:a16="http://schemas.microsoft.com/office/drawing/2014/main" val="20001"/>
                    </a:ext>
                  </a:extLst>
                </a:gridCol>
                <a:gridCol w="691812">
                  <a:extLst>
                    <a:ext uri="{9D8B030D-6E8A-4147-A177-3AD203B41FA5}">
                      <a16:colId xmlns:a16="http://schemas.microsoft.com/office/drawing/2014/main" val="20002"/>
                    </a:ext>
                  </a:extLst>
                </a:gridCol>
                <a:gridCol w="1007709">
                  <a:extLst>
                    <a:ext uri="{9D8B030D-6E8A-4147-A177-3AD203B41FA5}">
                      <a16:colId xmlns:a16="http://schemas.microsoft.com/office/drawing/2014/main" val="20003"/>
                    </a:ext>
                  </a:extLst>
                </a:gridCol>
                <a:gridCol w="1190929">
                  <a:extLst>
                    <a:ext uri="{9D8B030D-6E8A-4147-A177-3AD203B41FA5}">
                      <a16:colId xmlns:a16="http://schemas.microsoft.com/office/drawing/2014/main" val="20004"/>
                    </a:ext>
                  </a:extLst>
                </a:gridCol>
              </a:tblGrid>
              <a:tr h="223520">
                <a:tc>
                  <a:txBody>
                    <a:bodyPr/>
                    <a:lstStyle/>
                    <a:p>
                      <a:pPr algn="l" fontAlgn="b"/>
                      <a:r>
                        <a:rPr lang="id-ID" sz="1200" u="none" strike="noStrike" dirty="0" err="1">
                          <a:effectLst/>
                        </a:rPr>
                        <a:t>age</a:t>
                      </a:r>
                      <a:endParaRPr lang="id-ID"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200" u="none" strike="noStrike">
                          <a:effectLst/>
                        </a:rPr>
                        <a:t>income</a:t>
                      </a:r>
                      <a:endParaRPr lang="id-ID"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200" u="none" strike="noStrike">
                          <a:effectLst/>
                        </a:rPr>
                        <a:t>student</a:t>
                      </a:r>
                      <a:endParaRPr lang="id-ID"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200" u="none" strike="noStrike">
                          <a:effectLst/>
                        </a:rPr>
                        <a:t>credit_rating</a:t>
                      </a:r>
                      <a:endParaRPr lang="id-ID"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200" u="none" strike="noStrike" dirty="0" err="1">
                          <a:effectLst/>
                        </a:rPr>
                        <a:t>buys_computer</a:t>
                      </a:r>
                      <a:endParaRPr lang="id-ID"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223520">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high</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dirty="0" err="1">
                          <a:effectLst/>
                        </a:rPr>
                        <a:t>no</a:t>
                      </a:r>
                      <a:endParaRPr lang="id-ID"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223520">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high</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dirty="0" err="1">
                          <a:effectLst/>
                        </a:rPr>
                        <a:t>no</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223520">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high</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223520">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223520">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low</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223520">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low</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dirty="0" err="1">
                          <a:effectLst/>
                        </a:rPr>
                        <a:t>no</a:t>
                      </a:r>
                      <a:endParaRPr lang="id-ID"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223520">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low</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223520">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223520">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low</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223520">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223520">
                <a:tc>
                  <a:txBody>
                    <a:bodyPr/>
                    <a:lstStyle/>
                    <a:p>
                      <a:pPr algn="l" fontAlgn="b"/>
                      <a:r>
                        <a:rPr lang="id-ID" sz="1400" u="none" strike="noStrike" dirty="0">
                          <a:effectLst/>
                        </a:rPr>
                        <a:t>&lt;=30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223520">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2"/>
                  </a:ext>
                </a:extLst>
              </a:tr>
              <a:tr h="223520">
                <a:tc>
                  <a:txBody>
                    <a:bodyPr/>
                    <a:lstStyle/>
                    <a:p>
                      <a:pPr algn="l" fontAlgn="b"/>
                      <a:r>
                        <a:rPr lang="id-ID" sz="1400" u="none" strike="noStrike" dirty="0">
                          <a:effectLst/>
                        </a:rPr>
                        <a:t>31…40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high</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fair</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yes</a:t>
                      </a:r>
                      <a:endParaRPr lang="id-ID"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3"/>
                  </a:ext>
                </a:extLst>
              </a:tr>
              <a:tr h="223520">
                <a:tc>
                  <a:txBody>
                    <a:bodyPr/>
                    <a:lstStyle/>
                    <a:p>
                      <a:pPr algn="l" fontAlgn="b"/>
                      <a:r>
                        <a:rPr lang="id-ID" sz="1400" u="none" strike="noStrike" dirty="0">
                          <a:effectLst/>
                        </a:rPr>
                        <a:t>&gt;40</a:t>
                      </a:r>
                      <a:endParaRPr lang="id-ID"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medium</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no</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a:effectLst/>
                        </a:rPr>
                        <a:t>excellent</a:t>
                      </a:r>
                      <a:endParaRPr lang="id-ID"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400" u="none" strike="noStrike" dirty="0" err="1">
                          <a:effectLst/>
                        </a:rPr>
                        <a:t>no</a:t>
                      </a:r>
                      <a:endParaRPr lang="id-ID"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4"/>
                  </a:ext>
                </a:extLst>
              </a:tr>
            </a:tbl>
          </a:graphicData>
        </a:graphic>
      </p:graphicFrame>
      <p:sp>
        <p:nvSpPr>
          <p:cNvPr id="5" name="Slide Number Placeholder 4"/>
          <p:cNvSpPr>
            <a:spLocks noGrp="1"/>
          </p:cNvSpPr>
          <p:nvPr>
            <p:ph type="sldNum" sz="quarter" idx="12"/>
          </p:nvPr>
        </p:nvSpPr>
        <p:spPr/>
        <p:txBody>
          <a:bodyPr/>
          <a:lstStyle/>
          <a:p>
            <a:fld id="{C546E0E4-908A-4724-B308-E4F6AE4FA0DD}" type="slidenum">
              <a:rPr lang="en-US" smtClean="0">
                <a:solidFill>
                  <a:prstClr val="black">
                    <a:tint val="75000"/>
                  </a:prstClr>
                </a:solidFill>
              </a:rPr>
              <a:pPr/>
              <a:t>25</a:t>
            </a:fld>
            <a:endParaRPr lang="en-US" dirty="0">
              <a:solidFill>
                <a:prstClr val="black">
                  <a:tint val="75000"/>
                </a:prstClr>
              </a:solidFill>
            </a:endParaRPr>
          </a:p>
        </p:txBody>
      </p:sp>
      <p:sp>
        <p:nvSpPr>
          <p:cNvPr id="9" name="Title 6"/>
          <p:cNvSpPr>
            <a:spLocks noGrp="1"/>
          </p:cNvSpPr>
          <p:nvPr>
            <p:ph type="title"/>
          </p:nvPr>
        </p:nvSpPr>
        <p:spPr>
          <a:xfrm>
            <a:off x="609600" y="228600"/>
            <a:ext cx="8153400" cy="914400"/>
          </a:xfrm>
        </p:spPr>
        <p:txBody>
          <a:bodyPr>
            <a:noAutofit/>
          </a:bodyPr>
          <a:lstStyle/>
          <a:p>
            <a:r>
              <a:rPr lang="en-US" sz="3200" dirty="0"/>
              <a:t>Attribute Selection: Information Gain</a:t>
            </a:r>
          </a:p>
        </p:txBody>
      </p:sp>
    </p:spTree>
    <p:extLst>
      <p:ext uri="{BB962C8B-B14F-4D97-AF65-F5344CB8AC3E}">
        <p14:creationId xmlns:p14="http://schemas.microsoft.com/office/powerpoint/2010/main" val="869632746"/>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Practice : Training Data</a:t>
            </a:r>
            <a:endParaRPr lang="id-ID" dirty="0"/>
          </a:p>
        </p:txBody>
      </p:sp>
      <p:sp>
        <p:nvSpPr>
          <p:cNvPr id="3" name="Content Placeholder 2"/>
          <p:cNvSpPr>
            <a:spLocks noGrp="1"/>
          </p:cNvSpPr>
          <p:nvPr>
            <p:ph idx="1"/>
          </p:nvPr>
        </p:nvSpPr>
        <p:spPr/>
        <p:txBody>
          <a:bodyPr/>
          <a:lstStyle/>
          <a:p>
            <a:endParaRPr lang="id-ID"/>
          </a:p>
        </p:txBody>
      </p:sp>
      <p:pic>
        <p:nvPicPr>
          <p:cNvPr id="6" name="Picture 2" descr="D:\My Lightscreen\My Screenshots\screenshot.1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2549"/>
            <a:ext cx="9144000" cy="4856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04976728"/>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663575"/>
          </a:xfrm>
        </p:spPr>
        <p:txBody>
          <a:bodyPr/>
          <a:lstStyle/>
          <a:p>
            <a:r>
              <a:rPr lang="en-US" sz="2800" b="0" dirty="0"/>
              <a:t>Practice: Training Data ( Entropy Calculations)</a:t>
            </a:r>
            <a:endParaRPr lang="id-ID" sz="2800" b="0" dirty="0"/>
          </a:p>
        </p:txBody>
      </p:sp>
      <p:sp>
        <p:nvSpPr>
          <p:cNvPr id="3" name="Content Placeholder 2"/>
          <p:cNvSpPr>
            <a:spLocks noGrp="1"/>
          </p:cNvSpPr>
          <p:nvPr>
            <p:ph idx="1"/>
          </p:nvPr>
        </p:nvSpPr>
        <p:spPr>
          <a:xfrm>
            <a:off x="457200" y="1219200"/>
            <a:ext cx="8058150" cy="5622474"/>
          </a:xfrm>
        </p:spPr>
        <p:txBody>
          <a:bodyPr>
            <a:noAutofit/>
          </a:bodyPr>
          <a:lstStyle/>
          <a:p>
            <a:r>
              <a:rPr lang="en-US" sz="2400" dirty="0"/>
              <a:t>Entropy </a:t>
            </a:r>
            <a:r>
              <a:rPr lang="en-US" sz="2400" dirty="0">
                <a:solidFill>
                  <a:srgbClr val="C00000"/>
                </a:solidFill>
              </a:rPr>
              <a:t>Total</a:t>
            </a:r>
          </a:p>
          <a:p>
            <a:endParaRPr lang="en-US" dirty="0"/>
          </a:p>
          <a:p>
            <a:r>
              <a:rPr lang="en-US" sz="2400" dirty="0"/>
              <a:t>Entropy (</a:t>
            </a:r>
            <a:r>
              <a:rPr lang="en-US" sz="2400" dirty="0">
                <a:solidFill>
                  <a:srgbClr val="C00000"/>
                </a:solidFill>
              </a:rPr>
              <a:t>Outlook</a:t>
            </a:r>
            <a:r>
              <a:rPr lang="en-US" sz="2400" dirty="0"/>
              <a:t>)</a:t>
            </a:r>
          </a:p>
          <a:p>
            <a:endParaRPr lang="en-US" sz="3200" dirty="0"/>
          </a:p>
          <a:p>
            <a:endParaRPr lang="en-US" dirty="0"/>
          </a:p>
          <a:p>
            <a:r>
              <a:rPr lang="en-US" sz="2400" dirty="0"/>
              <a:t>Entropy (</a:t>
            </a:r>
            <a:r>
              <a:rPr lang="en-US" sz="2400" dirty="0">
                <a:solidFill>
                  <a:srgbClr val="C00000"/>
                </a:solidFill>
              </a:rPr>
              <a:t>Temperature</a:t>
            </a:r>
            <a:r>
              <a:rPr lang="en-US" sz="2400" dirty="0"/>
              <a:t>)</a:t>
            </a:r>
          </a:p>
          <a:p>
            <a:endParaRPr lang="en-US" sz="2400" dirty="0"/>
          </a:p>
          <a:p>
            <a:endParaRPr lang="en-US" sz="1100" dirty="0"/>
          </a:p>
          <a:p>
            <a:r>
              <a:rPr lang="en-US" sz="2400" dirty="0"/>
              <a:t>Entropy (</a:t>
            </a:r>
            <a:r>
              <a:rPr lang="en-US" sz="2400" dirty="0">
                <a:solidFill>
                  <a:srgbClr val="C00000"/>
                </a:solidFill>
              </a:rPr>
              <a:t>Humidity</a:t>
            </a:r>
            <a:r>
              <a:rPr lang="en-US" sz="2400" dirty="0"/>
              <a:t>)</a:t>
            </a:r>
          </a:p>
          <a:p>
            <a:pPr marL="0" indent="0">
              <a:buNone/>
            </a:pPr>
            <a:endParaRPr lang="en-US" sz="3200" dirty="0"/>
          </a:p>
          <a:p>
            <a:r>
              <a:rPr lang="en-US" sz="2400" dirty="0"/>
              <a:t>Entropy (</a:t>
            </a:r>
            <a:r>
              <a:rPr lang="en-US" sz="2400" dirty="0">
                <a:solidFill>
                  <a:srgbClr val="C00000"/>
                </a:solidFill>
              </a:rPr>
              <a:t>Windy</a:t>
            </a:r>
            <a:r>
              <a:rPr lang="en-US" sz="2400" dirty="0"/>
              <a:t>)</a:t>
            </a:r>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599" y="1066800"/>
            <a:ext cx="3733800" cy="3491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50316" y="1481963"/>
            <a:ext cx="2045683" cy="1838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1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599" y="1905000"/>
            <a:ext cx="4087476" cy="3040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18"/>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599" y="2298835"/>
            <a:ext cx="4057651" cy="3065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21"/>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599" y="2691392"/>
            <a:ext cx="4309683" cy="324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23089" y="3352800"/>
            <a:ext cx="4093464" cy="3177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23089" y="3758404"/>
            <a:ext cx="4051554" cy="3177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 name="Picture 1"/>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599" y="4144826"/>
            <a:ext cx="4114800" cy="3177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 name="Picture 10"/>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50316" y="4724400"/>
            <a:ext cx="4227750" cy="3245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 name="Picture 9"/>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50316" y="5121088"/>
            <a:ext cx="4407884" cy="3245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6" name="Picture 2"/>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40941" y="5715000"/>
            <a:ext cx="4417259" cy="336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7" name="Picture 1"/>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56816" y="6138234"/>
            <a:ext cx="4371975" cy="336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63632599"/>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err="1"/>
              <a:t>Bayesian</a:t>
            </a:r>
            <a:r>
              <a:rPr lang="id-ID" dirty="0"/>
              <a:t> </a:t>
            </a:r>
            <a:r>
              <a:rPr lang="id-ID" dirty="0" err="1"/>
              <a:t>Classification</a:t>
            </a:r>
            <a:r>
              <a:rPr lang="id-ID" dirty="0"/>
              <a:t>: </a:t>
            </a:r>
            <a:r>
              <a:rPr lang="id-ID" dirty="0" err="1"/>
              <a:t>Why</a:t>
            </a:r>
            <a:r>
              <a:rPr lang="id-ID" dirty="0"/>
              <a:t>?</a:t>
            </a:r>
          </a:p>
        </p:txBody>
      </p:sp>
      <p:sp>
        <p:nvSpPr>
          <p:cNvPr id="3" name="Content Placeholder 2"/>
          <p:cNvSpPr>
            <a:spLocks noGrp="1"/>
          </p:cNvSpPr>
          <p:nvPr>
            <p:ph idx="1"/>
          </p:nvPr>
        </p:nvSpPr>
        <p:spPr/>
        <p:txBody>
          <a:bodyPr>
            <a:normAutofit fontScale="85000" lnSpcReduction="20000"/>
          </a:bodyPr>
          <a:lstStyle/>
          <a:p>
            <a:r>
              <a:rPr lang="en-US" dirty="0"/>
              <a:t>A </a:t>
            </a:r>
            <a:r>
              <a:rPr lang="en-US" dirty="0">
                <a:solidFill>
                  <a:srgbClr val="C00000"/>
                </a:solidFill>
              </a:rPr>
              <a:t>statistical classifier</a:t>
            </a:r>
            <a:r>
              <a:rPr lang="en-US" dirty="0"/>
              <a:t>: performs probabilistic prediction, i.e., predicts class membership probabilities</a:t>
            </a:r>
          </a:p>
          <a:p>
            <a:r>
              <a:rPr lang="en-US" dirty="0">
                <a:solidFill>
                  <a:srgbClr val="C00000"/>
                </a:solidFill>
              </a:rPr>
              <a:t>Foundation</a:t>
            </a:r>
            <a:r>
              <a:rPr lang="en-US" dirty="0"/>
              <a:t>: Based on Bayes’ Theorem. </a:t>
            </a:r>
          </a:p>
          <a:p>
            <a:r>
              <a:rPr lang="en-US" dirty="0">
                <a:solidFill>
                  <a:srgbClr val="C00000"/>
                </a:solidFill>
              </a:rPr>
              <a:t>Performance</a:t>
            </a:r>
            <a:r>
              <a:rPr lang="en-US" dirty="0"/>
              <a:t>: A simple Bayesian classifier, naïve Bayesian classifier, has comparable performance with decision tree and selected neural network classifiers</a:t>
            </a:r>
          </a:p>
          <a:p>
            <a:r>
              <a:rPr lang="en-US" dirty="0">
                <a:solidFill>
                  <a:srgbClr val="C00000"/>
                </a:solidFill>
              </a:rPr>
              <a:t>Incremental</a:t>
            </a:r>
            <a:r>
              <a:rPr lang="en-US" dirty="0"/>
              <a:t>: Each training example can incrementally increase/decrease the probability that a hypothesis is correct — prior knowledge can be combined with observed data</a:t>
            </a:r>
          </a:p>
          <a:p>
            <a:r>
              <a:rPr lang="en-US" dirty="0">
                <a:solidFill>
                  <a:srgbClr val="C00000"/>
                </a:solidFill>
              </a:rPr>
              <a:t>Standard</a:t>
            </a:r>
            <a:r>
              <a:rPr lang="en-US" dirty="0"/>
              <a:t>: Even when Bayesian methods are computationally intractable, they can provide a standard of optimal decision making against which other methods can be measured</a:t>
            </a:r>
          </a:p>
        </p:txBody>
      </p:sp>
      <p:sp>
        <p:nvSpPr>
          <p:cNvPr id="5" name="Slide Number Placeholder 4"/>
          <p:cNvSpPr>
            <a:spLocks noGrp="1"/>
          </p:cNvSpPr>
          <p:nvPr>
            <p:ph type="sldNum" sz="quarter" idx="12"/>
          </p:nvPr>
        </p:nvSpPr>
        <p:spPr/>
        <p:txBody>
          <a:bodyPr/>
          <a:lstStyle/>
          <a:p>
            <a:fld id="{C546E0E4-908A-4724-B308-E4F6AE4FA0DD}" type="slidenum">
              <a:rPr lang="en-US" smtClean="0">
                <a:solidFill>
                  <a:prstClr val="black">
                    <a:tint val="75000"/>
                  </a:prstClr>
                </a:solidFill>
              </a:rPr>
              <a:pPr/>
              <a:t>28</a:t>
            </a:fld>
            <a:endParaRPr lang="en-US" dirty="0">
              <a:solidFill>
                <a:prstClr val="black">
                  <a:tint val="75000"/>
                </a:prstClr>
              </a:solidFill>
            </a:endParaRPr>
          </a:p>
        </p:txBody>
      </p:sp>
    </p:spTree>
    <p:extLst>
      <p:ext uri="{BB962C8B-B14F-4D97-AF65-F5344CB8AC3E}">
        <p14:creationId xmlns:p14="http://schemas.microsoft.com/office/powerpoint/2010/main" val="341714865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
          <p:cNvSpPr>
            <a:spLocks noGrp="1" noChangeArrowheads="1"/>
          </p:cNvSpPr>
          <p:nvPr>
            <p:ph type="title"/>
          </p:nvPr>
        </p:nvSpPr>
        <p:spPr>
          <a:xfrm>
            <a:off x="609600" y="228600"/>
            <a:ext cx="7620000" cy="762000"/>
          </a:xfrm>
        </p:spPr>
        <p:txBody>
          <a:bodyPr/>
          <a:lstStyle/>
          <a:p>
            <a:pPr eaLnBrk="1" hangingPunct="1"/>
            <a:r>
              <a:rPr lang="en-US" dirty="0"/>
              <a:t>Bayesian Theorem: Basics</a:t>
            </a:r>
          </a:p>
        </p:txBody>
      </p:sp>
      <p:sp>
        <p:nvSpPr>
          <p:cNvPr id="57350" name="Rectangle 3"/>
          <p:cNvSpPr>
            <a:spLocks noGrp="1" noChangeArrowheads="1"/>
          </p:cNvSpPr>
          <p:nvPr>
            <p:ph type="body" idx="1"/>
          </p:nvPr>
        </p:nvSpPr>
        <p:spPr>
          <a:xfrm>
            <a:off x="304800" y="1447800"/>
            <a:ext cx="8610600" cy="5029200"/>
          </a:xfrm>
        </p:spPr>
        <p:txBody>
          <a:bodyPr/>
          <a:lstStyle/>
          <a:p>
            <a:pPr eaLnBrk="1" hangingPunct="1">
              <a:lnSpc>
                <a:spcPct val="110000"/>
              </a:lnSpc>
            </a:pPr>
            <a:r>
              <a:rPr lang="en-US" sz="2400" dirty="0"/>
              <a:t>Let </a:t>
            </a:r>
            <a:r>
              <a:rPr lang="en-US" sz="2400" b="1" dirty="0"/>
              <a:t>X</a:t>
            </a:r>
            <a:r>
              <a:rPr lang="en-US" sz="2400" dirty="0"/>
              <a:t> be a data sample (“</a:t>
            </a:r>
            <a:r>
              <a:rPr lang="en-US" sz="2400" i="1" dirty="0"/>
              <a:t>evidence</a:t>
            </a:r>
            <a:r>
              <a:rPr lang="en-US" sz="2400" dirty="0"/>
              <a:t>”): class label is unknown</a:t>
            </a:r>
          </a:p>
          <a:p>
            <a:pPr eaLnBrk="1" hangingPunct="1">
              <a:lnSpc>
                <a:spcPct val="110000"/>
              </a:lnSpc>
            </a:pPr>
            <a:r>
              <a:rPr lang="en-US" sz="2400" dirty="0"/>
              <a:t>Let H be a </a:t>
            </a:r>
            <a:r>
              <a:rPr lang="en-US" sz="2400" i="1" dirty="0"/>
              <a:t>hypothesis</a:t>
            </a:r>
            <a:r>
              <a:rPr lang="en-US" sz="2400" dirty="0"/>
              <a:t> that X belongs to class C </a:t>
            </a:r>
          </a:p>
          <a:p>
            <a:pPr eaLnBrk="1" hangingPunct="1">
              <a:lnSpc>
                <a:spcPct val="110000"/>
              </a:lnSpc>
            </a:pPr>
            <a:r>
              <a:rPr lang="en-US" sz="2400" dirty="0"/>
              <a:t>Classification is to determine P(H|</a:t>
            </a:r>
            <a:r>
              <a:rPr lang="en-US" sz="2400" b="1" dirty="0"/>
              <a:t>X</a:t>
            </a:r>
            <a:r>
              <a:rPr lang="en-US" sz="2400" dirty="0"/>
              <a:t>), the probability that the hypothesis holds given the observed data sample </a:t>
            </a:r>
            <a:r>
              <a:rPr lang="en-US" sz="2400" b="1" dirty="0"/>
              <a:t>X</a:t>
            </a:r>
          </a:p>
          <a:p>
            <a:pPr eaLnBrk="1" hangingPunct="1">
              <a:lnSpc>
                <a:spcPct val="110000"/>
              </a:lnSpc>
            </a:pPr>
            <a:r>
              <a:rPr lang="en-US" sz="2400" dirty="0"/>
              <a:t>P(H) (</a:t>
            </a:r>
            <a:r>
              <a:rPr lang="en-US" sz="2400" i="1" dirty="0"/>
              <a:t>prior probability</a:t>
            </a:r>
            <a:r>
              <a:rPr lang="en-US" sz="2400" dirty="0"/>
              <a:t>), the initial probability</a:t>
            </a:r>
          </a:p>
          <a:p>
            <a:pPr lvl="1" eaLnBrk="1" hangingPunct="1">
              <a:lnSpc>
                <a:spcPct val="110000"/>
              </a:lnSpc>
            </a:pPr>
            <a:r>
              <a:rPr lang="en-US" sz="2400" dirty="0"/>
              <a:t>E.g.,</a:t>
            </a:r>
            <a:r>
              <a:rPr lang="en-US" sz="2400" b="1" dirty="0"/>
              <a:t> X</a:t>
            </a:r>
            <a:r>
              <a:rPr lang="en-US" sz="2400" dirty="0"/>
              <a:t> will buy computer, regardless of age, income, …</a:t>
            </a:r>
          </a:p>
          <a:p>
            <a:pPr eaLnBrk="1" hangingPunct="1">
              <a:lnSpc>
                <a:spcPct val="110000"/>
              </a:lnSpc>
            </a:pPr>
            <a:r>
              <a:rPr lang="en-US" sz="2400" dirty="0"/>
              <a:t>P(</a:t>
            </a:r>
            <a:r>
              <a:rPr lang="en-US" sz="2400" b="1" dirty="0"/>
              <a:t>X</a:t>
            </a:r>
            <a:r>
              <a:rPr lang="en-US" sz="2400" dirty="0"/>
              <a:t>): probability that sample data is observed</a:t>
            </a:r>
          </a:p>
          <a:p>
            <a:pPr eaLnBrk="1" hangingPunct="1">
              <a:lnSpc>
                <a:spcPct val="110000"/>
              </a:lnSpc>
            </a:pPr>
            <a:r>
              <a:rPr lang="en-US" sz="2400" dirty="0"/>
              <a:t>P(</a:t>
            </a:r>
            <a:r>
              <a:rPr lang="en-US" sz="2400" b="1" dirty="0"/>
              <a:t>X</a:t>
            </a:r>
            <a:r>
              <a:rPr lang="en-US" sz="2400" dirty="0"/>
              <a:t>|H) (</a:t>
            </a:r>
            <a:r>
              <a:rPr lang="en-US" sz="2400" i="1" dirty="0"/>
              <a:t>posteriori probability</a:t>
            </a:r>
            <a:r>
              <a:rPr lang="en-US" sz="2400" dirty="0"/>
              <a:t>), the probability of observing the sample </a:t>
            </a:r>
            <a:r>
              <a:rPr lang="en-US" sz="2400" b="1" dirty="0"/>
              <a:t>X</a:t>
            </a:r>
            <a:r>
              <a:rPr lang="en-US" sz="2400" dirty="0"/>
              <a:t>, given that the hypothesis holds</a:t>
            </a:r>
          </a:p>
          <a:p>
            <a:pPr lvl="1" eaLnBrk="1" hangingPunct="1">
              <a:lnSpc>
                <a:spcPct val="110000"/>
              </a:lnSpc>
            </a:pPr>
            <a:r>
              <a:rPr lang="en-US" sz="2400" dirty="0"/>
              <a:t>E.g.,</a:t>
            </a:r>
            <a:r>
              <a:rPr lang="en-US" sz="2400" b="1" dirty="0"/>
              <a:t> </a:t>
            </a:r>
            <a:r>
              <a:rPr lang="en-US" sz="2400" dirty="0"/>
              <a:t>Given that</a:t>
            </a:r>
            <a:r>
              <a:rPr lang="en-US" sz="2400" b="1" dirty="0"/>
              <a:t> X</a:t>
            </a:r>
            <a:r>
              <a:rPr lang="en-US" sz="2400" dirty="0"/>
              <a:t> will buy computer, the prob. that X is 31..40, medium income</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2"/>
          <p:cNvSpPr>
            <a:spLocks noGrp="1" noChangeArrowheads="1"/>
          </p:cNvSpPr>
          <p:nvPr>
            <p:ph type="title"/>
          </p:nvPr>
        </p:nvSpPr>
        <p:spPr>
          <a:xfrm>
            <a:off x="1524000" y="381000"/>
            <a:ext cx="5867400" cy="609600"/>
          </a:xfrm>
        </p:spPr>
        <p:txBody>
          <a:bodyPr/>
          <a:lstStyle/>
          <a:p>
            <a:pPr eaLnBrk="1" hangingPunct="1"/>
            <a:r>
              <a:rPr lang="en-US" dirty="0"/>
              <a:t>Bayesian Theorem</a:t>
            </a:r>
          </a:p>
        </p:txBody>
      </p:sp>
      <p:sp>
        <p:nvSpPr>
          <p:cNvPr id="10247" name="Rectangle 3"/>
          <p:cNvSpPr>
            <a:spLocks noGrp="1" noChangeArrowheads="1"/>
          </p:cNvSpPr>
          <p:nvPr>
            <p:ph type="body" idx="1"/>
          </p:nvPr>
        </p:nvSpPr>
        <p:spPr>
          <a:xfrm>
            <a:off x="304800" y="1447800"/>
            <a:ext cx="8458200" cy="5029200"/>
          </a:xfrm>
        </p:spPr>
        <p:txBody>
          <a:bodyPr/>
          <a:lstStyle/>
          <a:p>
            <a:pPr eaLnBrk="1" hangingPunct="1">
              <a:lnSpc>
                <a:spcPct val="120000"/>
              </a:lnSpc>
            </a:pPr>
            <a:r>
              <a:rPr lang="en-US" sz="2400" dirty="0"/>
              <a:t>Given training data</a:t>
            </a:r>
            <a:r>
              <a:rPr lang="en-US" sz="2400" i="1" dirty="0"/>
              <a:t> </a:t>
            </a:r>
            <a:r>
              <a:rPr lang="en-US" sz="2400" b="1" dirty="0"/>
              <a:t>X</a:t>
            </a:r>
            <a:r>
              <a:rPr lang="en-US" sz="2400" i="1" dirty="0"/>
              <a:t>, posteriori probability of a hypothesis </a:t>
            </a:r>
            <a:r>
              <a:rPr lang="en-US" sz="2400" dirty="0"/>
              <a:t>H</a:t>
            </a:r>
            <a:r>
              <a:rPr lang="en-US" sz="2400" i="1" dirty="0"/>
              <a:t>, </a:t>
            </a:r>
            <a:r>
              <a:rPr lang="en-US" sz="2400" dirty="0"/>
              <a:t>P(H|</a:t>
            </a:r>
            <a:r>
              <a:rPr lang="en-US" sz="2400" b="1" dirty="0"/>
              <a:t>X</a:t>
            </a:r>
            <a:r>
              <a:rPr lang="en-US" sz="2400" dirty="0"/>
              <a:t>)</a:t>
            </a:r>
            <a:r>
              <a:rPr lang="en-US" sz="2400" i="1" dirty="0"/>
              <a:t>, </a:t>
            </a:r>
            <a:r>
              <a:rPr lang="en-US" sz="2400" dirty="0"/>
              <a:t>follows the </a:t>
            </a:r>
            <a:r>
              <a:rPr lang="en-US" sz="2400" dirty="0" err="1"/>
              <a:t>Bayes</a:t>
            </a:r>
            <a:r>
              <a:rPr lang="en-US" sz="2400" dirty="0"/>
              <a:t> theorem</a:t>
            </a:r>
          </a:p>
          <a:p>
            <a:pPr eaLnBrk="1" hangingPunct="1">
              <a:lnSpc>
                <a:spcPct val="120000"/>
              </a:lnSpc>
              <a:buFont typeface="Wingdings" pitchFamily="2" charset="2"/>
              <a:buNone/>
            </a:pPr>
            <a:r>
              <a:rPr lang="en-US" sz="2400" dirty="0"/>
              <a:t>			</a:t>
            </a:r>
          </a:p>
          <a:p>
            <a:pPr eaLnBrk="1" hangingPunct="1">
              <a:lnSpc>
                <a:spcPct val="120000"/>
              </a:lnSpc>
            </a:pPr>
            <a:endParaRPr lang="en-US" sz="2400" dirty="0"/>
          </a:p>
          <a:p>
            <a:pPr eaLnBrk="1" hangingPunct="1">
              <a:lnSpc>
                <a:spcPct val="120000"/>
              </a:lnSpc>
            </a:pPr>
            <a:r>
              <a:rPr lang="en-US" sz="2400" dirty="0"/>
              <a:t>Informally, this can be written as </a:t>
            </a:r>
          </a:p>
          <a:p>
            <a:pPr lvl="1" eaLnBrk="1" hangingPunct="1">
              <a:lnSpc>
                <a:spcPct val="120000"/>
              </a:lnSpc>
              <a:buFont typeface="Wingdings" pitchFamily="2" charset="2"/>
              <a:buNone/>
            </a:pPr>
            <a:r>
              <a:rPr lang="en-US" sz="2400" dirty="0"/>
              <a:t>		posteriori = likelihood x prior/evidence</a:t>
            </a:r>
          </a:p>
          <a:p>
            <a:pPr eaLnBrk="1" hangingPunct="1">
              <a:lnSpc>
                <a:spcPct val="120000"/>
              </a:lnSpc>
            </a:pPr>
            <a:r>
              <a:rPr lang="en-US" sz="2400" dirty="0"/>
              <a:t>Predicts </a:t>
            </a:r>
            <a:r>
              <a:rPr lang="en-US" sz="2400" b="1" dirty="0"/>
              <a:t>X</a:t>
            </a:r>
            <a:r>
              <a:rPr lang="en-US" sz="2400" dirty="0"/>
              <a:t> belongs to C</a:t>
            </a:r>
            <a:r>
              <a:rPr lang="en-US" sz="2400" baseline="-25000" dirty="0"/>
              <a:t>2</a:t>
            </a:r>
            <a:r>
              <a:rPr lang="en-US" sz="2400" dirty="0"/>
              <a:t> </a:t>
            </a:r>
            <a:r>
              <a:rPr lang="en-US" sz="2400" dirty="0" err="1"/>
              <a:t>iff</a:t>
            </a:r>
            <a:r>
              <a:rPr lang="en-US" sz="2400" dirty="0"/>
              <a:t> the probability P(</a:t>
            </a:r>
            <a:r>
              <a:rPr lang="en-US" sz="2400" dirty="0" err="1"/>
              <a:t>C</a:t>
            </a:r>
            <a:r>
              <a:rPr lang="en-US" sz="2400" baseline="-25000" dirty="0" err="1"/>
              <a:t>i</a:t>
            </a:r>
            <a:r>
              <a:rPr lang="en-US" sz="2400" dirty="0" err="1"/>
              <a:t>|</a:t>
            </a:r>
            <a:r>
              <a:rPr lang="en-US" sz="2400" b="1" dirty="0" err="1"/>
              <a:t>X</a:t>
            </a:r>
            <a:r>
              <a:rPr lang="en-US" sz="2400" dirty="0"/>
              <a:t>) is the highest among all the P(</a:t>
            </a:r>
            <a:r>
              <a:rPr lang="en-US" sz="2400" dirty="0" err="1"/>
              <a:t>C</a:t>
            </a:r>
            <a:r>
              <a:rPr lang="en-US" sz="2400" baseline="-25000" dirty="0" err="1"/>
              <a:t>k</a:t>
            </a:r>
            <a:r>
              <a:rPr lang="en-US" sz="2400" dirty="0" err="1"/>
              <a:t>|X</a:t>
            </a:r>
            <a:r>
              <a:rPr lang="en-US" sz="2400" dirty="0"/>
              <a:t>) for all the </a:t>
            </a:r>
            <a:r>
              <a:rPr lang="en-US" sz="2400" i="1" dirty="0"/>
              <a:t>k</a:t>
            </a:r>
            <a:r>
              <a:rPr lang="en-US" sz="2400" dirty="0"/>
              <a:t> classes</a:t>
            </a:r>
          </a:p>
          <a:p>
            <a:pPr eaLnBrk="1" hangingPunct="1">
              <a:lnSpc>
                <a:spcPct val="120000"/>
              </a:lnSpc>
            </a:pPr>
            <a:r>
              <a:rPr lang="en-US" sz="2400" dirty="0"/>
              <a:t>Practical difficulty: require initial knowledge of many probabilities, significant computational cost</a:t>
            </a:r>
          </a:p>
        </p:txBody>
      </p:sp>
      <p:graphicFrame>
        <p:nvGraphicFramePr>
          <p:cNvPr id="10242" name="Object 4"/>
          <p:cNvGraphicFramePr>
            <a:graphicFrameLocks noChangeAspect="1"/>
          </p:cNvGraphicFramePr>
          <p:nvPr/>
        </p:nvGraphicFramePr>
        <p:xfrm>
          <a:off x="2743200" y="2514600"/>
          <a:ext cx="3883025" cy="768350"/>
        </p:xfrm>
        <a:graphic>
          <a:graphicData uri="http://schemas.openxmlformats.org/presentationml/2006/ole">
            <mc:AlternateContent xmlns:mc="http://schemas.openxmlformats.org/markup-compatibility/2006">
              <mc:Choice xmlns:v="urn:schemas-microsoft-com:vml" Requires="v">
                <p:oleObj spid="_x0000_s295950" name="Equation" r:id="rId4" imgW="2463800" imgH="558800" progId="Equation.3">
                  <p:embed/>
                </p:oleObj>
              </mc:Choice>
              <mc:Fallback>
                <p:oleObj name="Equation" r:id="rId4" imgW="2463800" imgH="5588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2514600"/>
                        <a:ext cx="3883025" cy="76835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Rectangle 2"/>
          <p:cNvSpPr>
            <a:spLocks noGrp="1" noChangeArrowheads="1"/>
          </p:cNvSpPr>
          <p:nvPr>
            <p:ph type="title"/>
          </p:nvPr>
        </p:nvSpPr>
        <p:spPr>
          <a:xfrm>
            <a:off x="457200" y="381000"/>
            <a:ext cx="8229600" cy="609600"/>
          </a:xfrm>
        </p:spPr>
        <p:txBody>
          <a:bodyPr/>
          <a:lstStyle/>
          <a:p>
            <a:pPr eaLnBrk="1" hangingPunct="1"/>
            <a:r>
              <a:rPr lang="en-US"/>
              <a:t>Towards Naïve Bayesian Classifier</a:t>
            </a:r>
          </a:p>
        </p:txBody>
      </p:sp>
      <p:sp>
        <p:nvSpPr>
          <p:cNvPr id="11272" name="Rectangle 3"/>
          <p:cNvSpPr>
            <a:spLocks noGrp="1" noChangeArrowheads="1"/>
          </p:cNvSpPr>
          <p:nvPr>
            <p:ph type="body" sz="half" idx="1"/>
          </p:nvPr>
        </p:nvSpPr>
        <p:spPr>
          <a:xfrm>
            <a:off x="304800" y="1371600"/>
            <a:ext cx="8458200" cy="5105400"/>
          </a:xfrm>
        </p:spPr>
        <p:txBody>
          <a:bodyPr/>
          <a:lstStyle/>
          <a:p>
            <a:pPr eaLnBrk="1" hangingPunct="1"/>
            <a:r>
              <a:rPr lang="en-US" sz="2400" dirty="0"/>
              <a:t>Let D be a training set of </a:t>
            </a:r>
            <a:r>
              <a:rPr lang="en-US" sz="2400" dirty="0" err="1"/>
              <a:t>tuples</a:t>
            </a:r>
            <a:r>
              <a:rPr lang="en-US" sz="2400" dirty="0"/>
              <a:t> and their associated class labels, and each </a:t>
            </a:r>
            <a:r>
              <a:rPr lang="en-US" sz="2400" dirty="0" err="1"/>
              <a:t>tuple</a:t>
            </a:r>
            <a:r>
              <a:rPr lang="en-US" sz="2400" dirty="0"/>
              <a:t> is represented by an n-D attribute vector </a:t>
            </a:r>
            <a:r>
              <a:rPr lang="en-US" sz="2400" b="1" dirty="0"/>
              <a:t>X</a:t>
            </a:r>
            <a:r>
              <a:rPr lang="en-US" sz="2400" dirty="0"/>
              <a:t> = (x</a:t>
            </a:r>
            <a:r>
              <a:rPr lang="en-US" sz="2400" baseline="-25000" dirty="0"/>
              <a:t>1</a:t>
            </a:r>
            <a:r>
              <a:rPr lang="en-US" sz="2400" dirty="0"/>
              <a:t>, x</a:t>
            </a:r>
            <a:r>
              <a:rPr lang="en-US" sz="2400" baseline="-25000" dirty="0"/>
              <a:t>2</a:t>
            </a:r>
            <a:r>
              <a:rPr lang="en-US" sz="2400" dirty="0"/>
              <a:t>, …, </a:t>
            </a:r>
            <a:r>
              <a:rPr lang="en-US" sz="2400" dirty="0" err="1"/>
              <a:t>x</a:t>
            </a:r>
            <a:r>
              <a:rPr lang="en-US" sz="2400" baseline="-25000" dirty="0" err="1"/>
              <a:t>n</a:t>
            </a:r>
            <a:r>
              <a:rPr lang="en-US" sz="2400" dirty="0"/>
              <a:t>)</a:t>
            </a:r>
          </a:p>
          <a:p>
            <a:pPr eaLnBrk="1" hangingPunct="1"/>
            <a:r>
              <a:rPr lang="en-US" sz="2400" dirty="0"/>
              <a:t>Suppose there are </a:t>
            </a:r>
            <a:r>
              <a:rPr lang="en-US" sz="2400" i="1" dirty="0"/>
              <a:t>m</a:t>
            </a:r>
            <a:r>
              <a:rPr lang="en-US" sz="2400" dirty="0"/>
              <a:t> classes C</a:t>
            </a:r>
            <a:r>
              <a:rPr lang="en-US" sz="2400" baseline="-25000" dirty="0"/>
              <a:t>1</a:t>
            </a:r>
            <a:r>
              <a:rPr lang="en-US" sz="2400" dirty="0"/>
              <a:t>, C</a:t>
            </a:r>
            <a:r>
              <a:rPr lang="en-US" sz="2400" baseline="-25000" dirty="0"/>
              <a:t>2</a:t>
            </a:r>
            <a:r>
              <a:rPr lang="en-US" sz="2400" dirty="0"/>
              <a:t>, …, C</a:t>
            </a:r>
            <a:r>
              <a:rPr lang="en-US" sz="2400" baseline="-25000" dirty="0"/>
              <a:t>m</a:t>
            </a:r>
            <a:r>
              <a:rPr lang="en-US" sz="2400" dirty="0"/>
              <a:t>.</a:t>
            </a:r>
          </a:p>
          <a:p>
            <a:pPr eaLnBrk="1" hangingPunct="1">
              <a:lnSpc>
                <a:spcPct val="90000"/>
              </a:lnSpc>
            </a:pPr>
            <a:r>
              <a:rPr lang="en-US" sz="2400" dirty="0"/>
              <a:t>Classification is to derive the maximum posteriori, i.e., the maximal P(</a:t>
            </a:r>
            <a:r>
              <a:rPr lang="en-US" sz="2400" dirty="0" err="1"/>
              <a:t>C</a:t>
            </a:r>
            <a:r>
              <a:rPr lang="en-US" sz="2400" baseline="-25000" dirty="0" err="1"/>
              <a:t>i</a:t>
            </a:r>
            <a:r>
              <a:rPr lang="en-US" sz="2400" dirty="0" err="1"/>
              <a:t>|</a:t>
            </a:r>
            <a:r>
              <a:rPr lang="en-US" sz="2400" b="1" dirty="0" err="1"/>
              <a:t>X</a:t>
            </a:r>
            <a:r>
              <a:rPr lang="en-US" sz="2400" dirty="0"/>
              <a:t>)</a:t>
            </a:r>
          </a:p>
          <a:p>
            <a:pPr eaLnBrk="1" hangingPunct="1">
              <a:lnSpc>
                <a:spcPct val="90000"/>
              </a:lnSpc>
            </a:pPr>
            <a:r>
              <a:rPr lang="en-US" sz="2400" dirty="0"/>
              <a:t>This can be derived from </a:t>
            </a:r>
            <a:r>
              <a:rPr lang="en-US" sz="2400" dirty="0" err="1"/>
              <a:t>Bayes</a:t>
            </a:r>
            <a:r>
              <a:rPr lang="en-US" sz="2400" dirty="0"/>
              <a:t>’ theorem</a:t>
            </a:r>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r>
              <a:rPr lang="en-US" sz="2400" dirty="0"/>
              <a:t>Since P(X) is constant for all classes, only                                        </a:t>
            </a:r>
          </a:p>
          <a:p>
            <a:pPr eaLnBrk="1" hangingPunct="1">
              <a:lnSpc>
                <a:spcPct val="90000"/>
              </a:lnSpc>
            </a:pPr>
            <a:endParaRPr lang="en-US" sz="2400" dirty="0"/>
          </a:p>
          <a:p>
            <a:pPr lvl="1" eaLnBrk="1" hangingPunct="1">
              <a:lnSpc>
                <a:spcPct val="90000"/>
              </a:lnSpc>
              <a:buFont typeface="Wingdings" pitchFamily="2" charset="2"/>
              <a:buNone/>
            </a:pPr>
            <a:r>
              <a:rPr lang="en-US" sz="2400" dirty="0"/>
              <a:t>needs to be maximized</a:t>
            </a:r>
          </a:p>
        </p:txBody>
      </p:sp>
      <p:graphicFrame>
        <p:nvGraphicFramePr>
          <p:cNvPr id="11266" name="Object 5"/>
          <p:cNvGraphicFramePr>
            <a:graphicFrameLocks noGrp="1" noChangeAspect="1"/>
          </p:cNvGraphicFramePr>
          <p:nvPr>
            <p:ph sz="quarter" idx="2"/>
          </p:nvPr>
        </p:nvGraphicFramePr>
        <p:xfrm>
          <a:off x="4648200" y="4114800"/>
          <a:ext cx="2743200" cy="709613"/>
        </p:xfrm>
        <a:graphic>
          <a:graphicData uri="http://schemas.openxmlformats.org/presentationml/2006/ole">
            <mc:AlternateContent xmlns:mc="http://schemas.openxmlformats.org/markup-compatibility/2006">
              <mc:Choice xmlns:v="urn:schemas-microsoft-com:vml" Requires="v">
                <p:oleObj spid="_x0000_s296984" name="Equation" r:id="rId3" imgW="2501900" imgH="647700" progId="Equation.3">
                  <p:embed/>
                </p:oleObj>
              </mc:Choice>
              <mc:Fallback>
                <p:oleObj name="Equation" r:id="rId3" imgW="2501900" imgH="647700" progId="Equation.3">
                  <p:embed/>
                  <p:pic>
                    <p:nvPicPr>
                      <p:cNvPr id="0" name="Picture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114800"/>
                        <a:ext cx="2743200" cy="70961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1267" name="Object 7"/>
          <p:cNvGraphicFramePr>
            <a:graphicFrameLocks noGrp="1" noChangeAspect="1"/>
          </p:cNvGraphicFramePr>
          <p:nvPr>
            <p:ph sz="quarter" idx="3"/>
          </p:nvPr>
        </p:nvGraphicFramePr>
        <p:xfrm>
          <a:off x="4572000" y="5334000"/>
          <a:ext cx="2895600" cy="446088"/>
        </p:xfrm>
        <a:graphic>
          <a:graphicData uri="http://schemas.openxmlformats.org/presentationml/2006/ole">
            <mc:AlternateContent xmlns:mc="http://schemas.openxmlformats.org/markup-compatibility/2006">
              <mc:Choice xmlns:v="urn:schemas-microsoft-com:vml" Requires="v">
                <p:oleObj spid="_x0000_s296985" name="Equation" r:id="rId5" imgW="2476500" imgH="381000" progId="Equation.3">
                  <p:embed/>
                </p:oleObj>
              </mc:Choice>
              <mc:Fallback>
                <p:oleObj name="Equation" r:id="rId5" imgW="2476500" imgH="381000" progId="Equation.3">
                  <p:embed/>
                  <p:pic>
                    <p:nvPicPr>
                      <p:cNvPr id="0" name="Picture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5334000"/>
                        <a:ext cx="2895600" cy="4460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Rectangle 2"/>
          <p:cNvSpPr>
            <a:spLocks noGrp="1" noChangeArrowheads="1"/>
          </p:cNvSpPr>
          <p:nvPr>
            <p:ph type="title"/>
          </p:nvPr>
        </p:nvSpPr>
        <p:spPr/>
        <p:txBody>
          <a:bodyPr/>
          <a:lstStyle/>
          <a:p>
            <a:pPr eaLnBrk="1" hangingPunct="1"/>
            <a:r>
              <a:rPr lang="en-US"/>
              <a:t>Derivation of Naïve Bayes Classifier </a:t>
            </a:r>
          </a:p>
        </p:txBody>
      </p:sp>
      <p:sp>
        <p:nvSpPr>
          <p:cNvPr id="12297" name="Rectangle 3"/>
          <p:cNvSpPr>
            <a:spLocks noGrp="1" noChangeArrowheads="1"/>
          </p:cNvSpPr>
          <p:nvPr>
            <p:ph type="body" sz="half" idx="1"/>
          </p:nvPr>
        </p:nvSpPr>
        <p:spPr>
          <a:xfrm>
            <a:off x="304800" y="1295400"/>
            <a:ext cx="8382000" cy="5105400"/>
          </a:xfrm>
        </p:spPr>
        <p:txBody>
          <a:bodyPr/>
          <a:lstStyle/>
          <a:p>
            <a:pPr eaLnBrk="1" hangingPunct="1">
              <a:lnSpc>
                <a:spcPct val="90000"/>
              </a:lnSpc>
            </a:pPr>
            <a:r>
              <a:rPr lang="en-US" sz="2400"/>
              <a:t>A simplified assumption: attributes are conditionally independent (i.e., no dependence relation between attributes):</a:t>
            </a:r>
          </a:p>
          <a:p>
            <a:pPr eaLnBrk="1" hangingPunct="1">
              <a:lnSpc>
                <a:spcPct val="90000"/>
              </a:lnSpc>
            </a:pPr>
            <a:endParaRPr lang="en-US" sz="2400"/>
          </a:p>
          <a:p>
            <a:pPr eaLnBrk="1" hangingPunct="1">
              <a:lnSpc>
                <a:spcPct val="90000"/>
              </a:lnSpc>
            </a:pPr>
            <a:r>
              <a:rPr lang="en-US" sz="2400"/>
              <a:t>This greatly reduces the computation cost: Only counts the class distribution</a:t>
            </a:r>
          </a:p>
          <a:p>
            <a:pPr eaLnBrk="1" hangingPunct="1">
              <a:lnSpc>
                <a:spcPct val="90000"/>
              </a:lnSpc>
            </a:pPr>
            <a:r>
              <a:rPr lang="en-US" sz="2400"/>
              <a:t>If A</a:t>
            </a:r>
            <a:r>
              <a:rPr lang="en-US" sz="2400" baseline="-25000"/>
              <a:t>k</a:t>
            </a:r>
            <a:r>
              <a:rPr lang="en-US" sz="2400"/>
              <a:t> is categorical, P(x</a:t>
            </a:r>
            <a:r>
              <a:rPr lang="en-US" sz="2400" baseline="-25000"/>
              <a:t>k</a:t>
            </a:r>
            <a:r>
              <a:rPr lang="en-US" sz="2400"/>
              <a:t>|C</a:t>
            </a:r>
            <a:r>
              <a:rPr lang="en-US" sz="2400" baseline="-25000"/>
              <a:t>i</a:t>
            </a:r>
            <a:r>
              <a:rPr lang="en-US" sz="2400"/>
              <a:t>) is the # of tuples in C</a:t>
            </a:r>
            <a:r>
              <a:rPr lang="en-US" sz="2400" baseline="-25000"/>
              <a:t>i</a:t>
            </a:r>
            <a:r>
              <a:rPr lang="en-US" sz="2400"/>
              <a:t> having value x</a:t>
            </a:r>
            <a:r>
              <a:rPr lang="en-US" sz="2400" baseline="-25000"/>
              <a:t>k</a:t>
            </a:r>
            <a:r>
              <a:rPr lang="en-US" sz="2400"/>
              <a:t> for A</a:t>
            </a:r>
            <a:r>
              <a:rPr lang="en-US" sz="2400" baseline="-25000"/>
              <a:t>k</a:t>
            </a:r>
            <a:r>
              <a:rPr lang="en-US" sz="2400"/>
              <a:t> divided by |C</a:t>
            </a:r>
            <a:r>
              <a:rPr lang="en-US" sz="2400" baseline="-25000"/>
              <a:t>i, D</a:t>
            </a:r>
            <a:r>
              <a:rPr lang="en-US" sz="2400"/>
              <a:t>| (# of tuples of C</a:t>
            </a:r>
            <a:r>
              <a:rPr lang="en-US" sz="2400" baseline="-25000"/>
              <a:t>i</a:t>
            </a:r>
            <a:r>
              <a:rPr lang="en-US" sz="2400"/>
              <a:t> in D)</a:t>
            </a:r>
          </a:p>
          <a:p>
            <a:pPr eaLnBrk="1" hangingPunct="1">
              <a:lnSpc>
                <a:spcPct val="90000"/>
              </a:lnSpc>
            </a:pPr>
            <a:r>
              <a:rPr lang="en-US" sz="2400"/>
              <a:t>If A</a:t>
            </a:r>
            <a:r>
              <a:rPr lang="en-US" sz="2400" baseline="-25000"/>
              <a:t>k</a:t>
            </a:r>
            <a:r>
              <a:rPr lang="en-US" sz="2400"/>
              <a:t> is continous-valued, P(x</a:t>
            </a:r>
            <a:r>
              <a:rPr lang="en-US" sz="2400" baseline="-25000"/>
              <a:t>k</a:t>
            </a:r>
            <a:r>
              <a:rPr lang="en-US" sz="2400"/>
              <a:t>|C</a:t>
            </a:r>
            <a:r>
              <a:rPr lang="en-US" sz="2400" baseline="-25000"/>
              <a:t>i</a:t>
            </a:r>
            <a:r>
              <a:rPr lang="en-US" sz="2400"/>
              <a:t>) is usually computed based on Gaussian distribution with a mean </a:t>
            </a:r>
            <a:r>
              <a:rPr lang="el-GR" sz="2400"/>
              <a:t>μ</a:t>
            </a:r>
            <a:r>
              <a:rPr lang="en-US" sz="2400"/>
              <a:t> and standard deviation </a:t>
            </a:r>
            <a:r>
              <a:rPr lang="el-GR" sz="2400"/>
              <a:t>σ</a:t>
            </a:r>
          </a:p>
          <a:p>
            <a:pPr eaLnBrk="1" hangingPunct="1">
              <a:lnSpc>
                <a:spcPct val="90000"/>
              </a:lnSpc>
            </a:pPr>
            <a:endParaRPr lang="en-US" sz="2400"/>
          </a:p>
          <a:p>
            <a:pPr lvl="1" eaLnBrk="1" hangingPunct="1">
              <a:lnSpc>
                <a:spcPct val="90000"/>
              </a:lnSpc>
              <a:buFont typeface="Wingdings" pitchFamily="2" charset="2"/>
              <a:buNone/>
            </a:pPr>
            <a:r>
              <a:rPr lang="en-US" sz="2400"/>
              <a:t>and P(x</a:t>
            </a:r>
            <a:r>
              <a:rPr lang="en-US" sz="2400" baseline="-25000"/>
              <a:t>k</a:t>
            </a:r>
            <a:r>
              <a:rPr lang="en-US" sz="2400"/>
              <a:t>|C</a:t>
            </a:r>
            <a:r>
              <a:rPr lang="en-US" sz="2400" baseline="-25000"/>
              <a:t>i</a:t>
            </a:r>
            <a:r>
              <a:rPr lang="en-US" sz="2400"/>
              <a:t>) is </a:t>
            </a:r>
          </a:p>
          <a:p>
            <a:pPr eaLnBrk="1" hangingPunct="1">
              <a:lnSpc>
                <a:spcPct val="90000"/>
              </a:lnSpc>
            </a:pPr>
            <a:endParaRPr lang="en-US" sz="2400"/>
          </a:p>
        </p:txBody>
      </p:sp>
      <p:graphicFrame>
        <p:nvGraphicFramePr>
          <p:cNvPr id="12290" name="Object 10"/>
          <p:cNvGraphicFramePr>
            <a:graphicFrameLocks noGrp="1"/>
          </p:cNvGraphicFramePr>
          <p:nvPr>
            <p:ph sz="quarter" idx="2"/>
          </p:nvPr>
        </p:nvGraphicFramePr>
        <p:xfrm>
          <a:off x="2438400" y="2057400"/>
          <a:ext cx="6007100" cy="746125"/>
        </p:xfrm>
        <a:graphic>
          <a:graphicData uri="http://schemas.openxmlformats.org/presentationml/2006/ole">
            <mc:AlternateContent xmlns:mc="http://schemas.openxmlformats.org/markup-compatibility/2006">
              <mc:Choice xmlns:v="urn:schemas-microsoft-com:vml" Requires="v">
                <p:oleObj spid="_x0000_s298018" name="Equation" r:id="rId3" imgW="4089400" imgH="508000" progId="Equation.3">
                  <p:embed/>
                </p:oleObj>
              </mc:Choice>
              <mc:Fallback>
                <p:oleObj name="Equation" r:id="rId3" imgW="4089400" imgH="508000" progId="Equation.3">
                  <p:embed/>
                  <p:pic>
                    <p:nvPicPr>
                      <p:cNvPr id="0" name="Picture 5"/>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057400"/>
                        <a:ext cx="6007100" cy="746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12291" name="Object 12"/>
          <p:cNvGraphicFramePr>
            <a:graphicFrameLocks noGrp="1"/>
          </p:cNvGraphicFramePr>
          <p:nvPr>
            <p:ph sz="quarter" idx="3"/>
          </p:nvPr>
        </p:nvGraphicFramePr>
        <p:xfrm>
          <a:off x="4191000" y="5029200"/>
          <a:ext cx="3200400" cy="762000"/>
        </p:xfrm>
        <a:graphic>
          <a:graphicData uri="http://schemas.openxmlformats.org/presentationml/2006/ole">
            <mc:AlternateContent xmlns:mc="http://schemas.openxmlformats.org/markup-compatibility/2006">
              <mc:Choice xmlns:v="urn:schemas-microsoft-com:vml" Requires="v">
                <p:oleObj spid="_x0000_s298019" name="Equation" r:id="rId5" imgW="1663700" imgH="482600" progId="Equation.3">
                  <p:embed/>
                </p:oleObj>
              </mc:Choice>
              <mc:Fallback>
                <p:oleObj name="Equation" r:id="rId5" imgW="1663700" imgH="482600" progId="Equation.3">
                  <p:embed/>
                  <p:pic>
                    <p:nvPicPr>
                      <p:cNvPr id="0" name="Picture 6"/>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5029200"/>
                        <a:ext cx="32004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12292" name="Object 14"/>
          <p:cNvGraphicFramePr>
            <a:graphicFrameLocks/>
          </p:cNvGraphicFramePr>
          <p:nvPr/>
        </p:nvGraphicFramePr>
        <p:xfrm>
          <a:off x="4191000" y="5943600"/>
          <a:ext cx="2819400" cy="533400"/>
        </p:xfrm>
        <a:graphic>
          <a:graphicData uri="http://schemas.openxmlformats.org/presentationml/2006/ole">
            <mc:AlternateContent xmlns:mc="http://schemas.openxmlformats.org/markup-compatibility/2006">
              <mc:Choice xmlns:v="urn:schemas-microsoft-com:vml" Requires="v">
                <p:oleObj spid="_x0000_s298020" name="Equation" r:id="rId7" imgW="1625600" imgH="241300" progId="Equation.3">
                  <p:embed/>
                </p:oleObj>
              </mc:Choice>
              <mc:Fallback>
                <p:oleObj name="Equation" r:id="rId7" imgW="1625600" imgH="241300" progId="Equation.3">
                  <p:embed/>
                  <p:pic>
                    <p:nvPicPr>
                      <p:cNvPr id="0" name="Picture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5943600"/>
                        <a:ext cx="2819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2"/>
          <p:cNvSpPr>
            <a:spLocks noGrp="1" noChangeArrowheads="1"/>
          </p:cNvSpPr>
          <p:nvPr>
            <p:ph type="title"/>
          </p:nvPr>
        </p:nvSpPr>
        <p:spPr>
          <a:xfrm>
            <a:off x="0" y="304800"/>
            <a:ext cx="9144000" cy="609600"/>
          </a:xfrm>
        </p:spPr>
        <p:txBody>
          <a:bodyPr/>
          <a:lstStyle/>
          <a:p>
            <a:pPr eaLnBrk="1" hangingPunct="1"/>
            <a:r>
              <a:rPr lang="en-US" sz="3200"/>
              <a:t>Naïve Bayesian Classifier: Training Dataset</a:t>
            </a:r>
          </a:p>
        </p:txBody>
      </p:sp>
      <p:graphicFrame>
        <p:nvGraphicFramePr>
          <p:cNvPr id="13314" name="Object 5"/>
          <p:cNvGraphicFramePr>
            <a:graphicFrameLocks noGrp="1"/>
          </p:cNvGraphicFramePr>
          <p:nvPr>
            <p:ph idx="1"/>
          </p:nvPr>
        </p:nvGraphicFramePr>
        <p:xfrm>
          <a:off x="3505200" y="1143000"/>
          <a:ext cx="5395913" cy="5562600"/>
        </p:xfrm>
        <a:graphic>
          <a:graphicData uri="http://schemas.openxmlformats.org/presentationml/2006/ole">
            <mc:AlternateContent xmlns:mc="http://schemas.openxmlformats.org/markup-compatibility/2006">
              <mc:Choice xmlns:v="urn:schemas-microsoft-com:vml" Requires="v">
                <p:oleObj spid="_x0000_s299022" name="Worksheet" r:id="rId3" imgW="4324438" imgH="4457652" progId="Excel.Sheet.8">
                  <p:embed/>
                </p:oleObj>
              </mc:Choice>
              <mc:Fallback>
                <p:oleObj name="Worksheet" r:id="rId3" imgW="4324438" imgH="4457652" progId="Excel.Sheet.8">
                  <p:embed/>
                  <p:pic>
                    <p:nvPicPr>
                      <p:cNvPr id="0" name="Picture 3"/>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143000"/>
                        <a:ext cx="5395913" cy="556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5" name="Text Box 4"/>
          <p:cNvSpPr txBox="1">
            <a:spLocks noChangeArrowheads="1"/>
          </p:cNvSpPr>
          <p:nvPr/>
        </p:nvSpPr>
        <p:spPr bwMode="auto">
          <a:xfrm>
            <a:off x="152400" y="1828800"/>
            <a:ext cx="3429000" cy="4019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l" eaLnBrk="1" hangingPunct="1">
              <a:lnSpc>
                <a:spcPct val="110000"/>
              </a:lnSpc>
            </a:pPr>
            <a:r>
              <a:rPr lang="en-US" sz="2400" dirty="0">
                <a:solidFill>
                  <a:srgbClr val="C00000"/>
                </a:solidFill>
                <a:effectLst/>
                <a:latin typeface="Calibri" panose="020F0502020204030204" pitchFamily="34" charset="0"/>
              </a:rPr>
              <a:t>Class</a:t>
            </a:r>
            <a:r>
              <a:rPr lang="en-US" sz="2400" dirty="0">
                <a:effectLst/>
                <a:latin typeface="Calibri" panose="020F0502020204030204" pitchFamily="34" charset="0"/>
              </a:rPr>
              <a:t>:</a:t>
            </a:r>
          </a:p>
          <a:p>
            <a:pPr lvl="1" algn="l" eaLnBrk="1" hangingPunct="1">
              <a:lnSpc>
                <a:spcPct val="110000"/>
              </a:lnSpc>
            </a:pPr>
            <a:r>
              <a:rPr lang="en-US" sz="2000" dirty="0">
                <a:effectLst/>
                <a:latin typeface="Calibri" panose="020F0502020204030204" pitchFamily="34" charset="0"/>
              </a:rPr>
              <a:t>C</a:t>
            </a:r>
            <a:r>
              <a:rPr lang="en-US" sz="2000" baseline="-25000" dirty="0">
                <a:effectLst/>
                <a:latin typeface="Calibri" panose="020F0502020204030204" pitchFamily="34" charset="0"/>
              </a:rPr>
              <a:t>1</a:t>
            </a:r>
            <a:r>
              <a:rPr lang="en-US" sz="2000" dirty="0">
                <a:effectLst/>
                <a:latin typeface="Calibri" panose="020F0502020204030204" pitchFamily="34" charset="0"/>
              </a:rPr>
              <a:t>:buys_computer = ‘yes’</a:t>
            </a:r>
          </a:p>
          <a:p>
            <a:pPr lvl="1" algn="l" eaLnBrk="1" hangingPunct="1">
              <a:lnSpc>
                <a:spcPct val="110000"/>
              </a:lnSpc>
            </a:pPr>
            <a:r>
              <a:rPr lang="en-US" sz="2000" dirty="0">
                <a:effectLst/>
                <a:latin typeface="Calibri" panose="020F0502020204030204" pitchFamily="34" charset="0"/>
              </a:rPr>
              <a:t>C</a:t>
            </a:r>
            <a:r>
              <a:rPr lang="en-US" sz="2000" baseline="-25000" dirty="0">
                <a:effectLst/>
                <a:latin typeface="Calibri" panose="020F0502020204030204" pitchFamily="34" charset="0"/>
              </a:rPr>
              <a:t>2</a:t>
            </a:r>
            <a:r>
              <a:rPr lang="en-US" sz="2000" dirty="0">
                <a:effectLst/>
                <a:latin typeface="Calibri" panose="020F0502020204030204" pitchFamily="34" charset="0"/>
              </a:rPr>
              <a:t>:buys_computer = ‘no’</a:t>
            </a:r>
          </a:p>
          <a:p>
            <a:pPr algn="l" eaLnBrk="1" hangingPunct="1">
              <a:lnSpc>
                <a:spcPct val="110000"/>
              </a:lnSpc>
            </a:pPr>
            <a:endParaRPr lang="en-US" sz="2400" dirty="0">
              <a:effectLst/>
              <a:latin typeface="Calibri" panose="020F0502020204030204" pitchFamily="34" charset="0"/>
            </a:endParaRPr>
          </a:p>
          <a:p>
            <a:pPr algn="l" eaLnBrk="1" hangingPunct="1">
              <a:lnSpc>
                <a:spcPct val="110000"/>
              </a:lnSpc>
            </a:pPr>
            <a:r>
              <a:rPr lang="en-US" sz="2400" dirty="0">
                <a:solidFill>
                  <a:srgbClr val="C00000"/>
                </a:solidFill>
                <a:effectLst/>
                <a:latin typeface="Calibri" panose="020F0502020204030204" pitchFamily="34" charset="0"/>
              </a:rPr>
              <a:t>Data</a:t>
            </a:r>
            <a:r>
              <a:rPr lang="en-US" sz="2400" dirty="0">
                <a:effectLst/>
                <a:latin typeface="Calibri" panose="020F0502020204030204" pitchFamily="34" charset="0"/>
              </a:rPr>
              <a:t> to be classified: </a:t>
            </a:r>
          </a:p>
          <a:p>
            <a:pPr lvl="1" algn="l" eaLnBrk="1" hangingPunct="1">
              <a:lnSpc>
                <a:spcPct val="110000"/>
              </a:lnSpc>
            </a:pPr>
            <a:r>
              <a:rPr lang="en-US" sz="2000" dirty="0">
                <a:effectLst/>
                <a:latin typeface="Calibri" panose="020F0502020204030204" pitchFamily="34" charset="0"/>
              </a:rPr>
              <a:t>X = (</a:t>
            </a:r>
            <a:r>
              <a:rPr lang="en-US" sz="2000" dirty="0">
                <a:solidFill>
                  <a:srgbClr val="0070C0"/>
                </a:solidFill>
                <a:effectLst/>
                <a:latin typeface="Calibri" panose="020F0502020204030204" pitchFamily="34" charset="0"/>
              </a:rPr>
              <a:t>age &lt;=30</a:t>
            </a:r>
            <a:r>
              <a:rPr lang="en-US" sz="2000" dirty="0">
                <a:effectLst/>
                <a:latin typeface="Calibri" panose="020F0502020204030204" pitchFamily="34" charset="0"/>
              </a:rPr>
              <a:t>, </a:t>
            </a:r>
          </a:p>
          <a:p>
            <a:pPr lvl="1" algn="l" eaLnBrk="1" hangingPunct="1">
              <a:lnSpc>
                <a:spcPct val="110000"/>
              </a:lnSpc>
            </a:pPr>
            <a:r>
              <a:rPr lang="en-US" sz="2000" dirty="0">
                <a:solidFill>
                  <a:srgbClr val="00B050"/>
                </a:solidFill>
                <a:effectLst/>
                <a:latin typeface="Calibri" panose="020F0502020204030204" pitchFamily="34" charset="0"/>
              </a:rPr>
              <a:t>income = medium</a:t>
            </a:r>
            <a:r>
              <a:rPr lang="en-US" sz="2000" dirty="0">
                <a:effectLst/>
                <a:latin typeface="Calibri" panose="020F0502020204030204" pitchFamily="34" charset="0"/>
              </a:rPr>
              <a:t>,</a:t>
            </a:r>
          </a:p>
          <a:p>
            <a:pPr lvl="1" algn="l" eaLnBrk="1" hangingPunct="1">
              <a:lnSpc>
                <a:spcPct val="110000"/>
              </a:lnSpc>
            </a:pPr>
            <a:r>
              <a:rPr lang="en-US" sz="2000" dirty="0">
                <a:solidFill>
                  <a:srgbClr val="FFC000"/>
                </a:solidFill>
                <a:effectLst/>
                <a:latin typeface="Calibri" panose="020F0502020204030204" pitchFamily="34" charset="0"/>
              </a:rPr>
              <a:t>student = yes</a:t>
            </a:r>
            <a:r>
              <a:rPr lang="en-US" sz="2000" dirty="0">
                <a:effectLst/>
                <a:latin typeface="Calibri" panose="020F0502020204030204" pitchFamily="34" charset="0"/>
              </a:rPr>
              <a:t>,</a:t>
            </a:r>
          </a:p>
          <a:p>
            <a:pPr lvl="1" algn="l" eaLnBrk="1" hangingPunct="1">
              <a:lnSpc>
                <a:spcPct val="110000"/>
              </a:lnSpc>
            </a:pPr>
            <a:r>
              <a:rPr lang="en-US" sz="2000" dirty="0" err="1">
                <a:solidFill>
                  <a:srgbClr val="7030A0"/>
                </a:solidFill>
                <a:effectLst/>
                <a:latin typeface="Calibri" panose="020F0502020204030204" pitchFamily="34" charset="0"/>
              </a:rPr>
              <a:t>credit_rating</a:t>
            </a:r>
            <a:r>
              <a:rPr lang="en-US" sz="2000" dirty="0">
                <a:solidFill>
                  <a:srgbClr val="7030A0"/>
                </a:solidFill>
                <a:effectLst/>
                <a:latin typeface="Calibri" panose="020F0502020204030204" pitchFamily="34" charset="0"/>
              </a:rPr>
              <a:t> = fair</a:t>
            </a:r>
            <a:r>
              <a:rPr lang="en-US" sz="2000" dirty="0">
                <a:effectLst/>
                <a:latin typeface="Calibri" panose="020F0502020204030204" pitchFamily="34" charset="0"/>
              </a:rPr>
              <a:t>)</a:t>
            </a:r>
          </a:p>
          <a:p>
            <a:pPr lvl="1" algn="l" eaLnBrk="1" hangingPunct="1">
              <a:lnSpc>
                <a:spcPct val="110000"/>
              </a:lnSpc>
            </a:pPr>
            <a:endParaRPr lang="en-US" sz="2000" dirty="0">
              <a:effectLst/>
              <a:latin typeface="Calibri" panose="020F0502020204030204" pitchFamily="34" charset="0"/>
            </a:endParaRPr>
          </a:p>
          <a:p>
            <a:pPr lvl="1" algn="l" eaLnBrk="1" hangingPunct="1">
              <a:lnSpc>
                <a:spcPct val="110000"/>
              </a:lnSpc>
            </a:pPr>
            <a:r>
              <a:rPr lang="en-US" sz="2000" dirty="0">
                <a:effectLst/>
                <a:latin typeface="Calibri" panose="020F0502020204030204" pitchFamily="34" charset="0"/>
              </a:rPr>
              <a:t>X </a:t>
            </a:r>
            <a:r>
              <a:rPr lang="en-US" sz="2000" dirty="0">
                <a:effectLst/>
                <a:latin typeface="Calibri" panose="020F0502020204030204" pitchFamily="34" charset="0"/>
                <a:sym typeface="Wingdings" panose="05000000000000000000" pitchFamily="2" charset="2"/>
              </a:rPr>
              <a:t> buy computer?</a:t>
            </a:r>
            <a:endParaRPr lang="en-US" sz="2000" dirty="0">
              <a:effectLst/>
              <a:latin typeface="Calibri" panose="020F050202020403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Grp="1" noChangeArrowheads="1"/>
          </p:cNvSpPr>
          <p:nvPr>
            <p:ph type="title"/>
          </p:nvPr>
        </p:nvSpPr>
        <p:spPr>
          <a:xfrm>
            <a:off x="0" y="304800"/>
            <a:ext cx="9067800" cy="609600"/>
          </a:xfrm>
        </p:spPr>
        <p:txBody>
          <a:bodyPr/>
          <a:lstStyle/>
          <a:p>
            <a:pPr eaLnBrk="1" hangingPunct="1"/>
            <a:r>
              <a:rPr lang="en-US" sz="3200" dirty="0"/>
              <a:t>Naïve Bayesian Classifier:  An Example</a:t>
            </a:r>
          </a:p>
        </p:txBody>
      </p:sp>
      <p:sp>
        <p:nvSpPr>
          <p:cNvPr id="58374" name="Rectangle 3"/>
          <p:cNvSpPr>
            <a:spLocks noGrp="1" noChangeArrowheads="1"/>
          </p:cNvSpPr>
          <p:nvPr>
            <p:ph type="body" idx="1"/>
          </p:nvPr>
        </p:nvSpPr>
        <p:spPr>
          <a:xfrm>
            <a:off x="3581400" y="1219200"/>
            <a:ext cx="5257800" cy="3581400"/>
          </a:xfrm>
        </p:spPr>
        <p:txBody>
          <a:bodyPr/>
          <a:lstStyle/>
          <a:p>
            <a:pPr eaLnBrk="1" hangingPunct="1">
              <a:lnSpc>
                <a:spcPct val="80000"/>
              </a:lnSpc>
            </a:pPr>
            <a:r>
              <a:rPr lang="en-US" sz="1600" b="1" dirty="0"/>
              <a:t>X = (age &lt;= 30 , income = medium, student = yes, </a:t>
            </a:r>
            <a:r>
              <a:rPr lang="en-US" sz="1600" b="1" dirty="0" err="1"/>
              <a:t>credit_rating</a:t>
            </a:r>
            <a:r>
              <a:rPr lang="en-US" sz="1600" b="1" dirty="0"/>
              <a:t> = fair)</a:t>
            </a:r>
          </a:p>
          <a:p>
            <a:pPr>
              <a:spcBef>
                <a:spcPct val="50000"/>
              </a:spcBef>
            </a:pPr>
            <a:r>
              <a:rPr lang="th-TH" sz="1600" dirty="0">
                <a:cs typeface="Arial" panose="020B0604020202020204" pitchFamily="34" charset="0"/>
              </a:rPr>
              <a:t>Likelihood of </a:t>
            </a:r>
            <a:r>
              <a:rPr lang="th-TH" sz="1600" dirty="0">
                <a:latin typeface="Times New Roman" panose="02020603050405020304" pitchFamily="18" charset="0"/>
                <a:cs typeface="Arial" panose="020B0604020202020204" pitchFamily="34" charset="0"/>
              </a:rPr>
              <a:t>“</a:t>
            </a:r>
            <a:r>
              <a:rPr lang="th-TH" sz="1600" dirty="0">
                <a:cs typeface="Arial" panose="020B0604020202020204" pitchFamily="34" charset="0"/>
              </a:rPr>
              <a:t>yes</a:t>
            </a:r>
            <a:r>
              <a:rPr lang="th-TH" sz="1600" dirty="0">
                <a:latin typeface="Times New Roman" panose="02020603050405020304" pitchFamily="18" charset="0"/>
                <a:cs typeface="Arial" panose="020B0604020202020204" pitchFamily="34" charset="0"/>
              </a:rPr>
              <a:t>”</a:t>
            </a:r>
            <a:r>
              <a:rPr lang="th-TH" sz="1600" dirty="0">
                <a:cs typeface="Arial" panose="020B0604020202020204" pitchFamily="34" charset="0"/>
              </a:rPr>
              <a:t> = </a:t>
            </a:r>
            <a:r>
              <a:rPr lang="en-US" sz="1600" dirty="0">
                <a:cs typeface="Arial" panose="020B0604020202020204" pitchFamily="34" charset="0"/>
              </a:rPr>
              <a:t>2/9</a:t>
            </a:r>
            <a:r>
              <a:rPr lang="th-TH" sz="1600" dirty="0">
                <a:cs typeface="Arial" panose="020B0604020202020204" pitchFamily="34" charset="0"/>
              </a:rPr>
              <a:t> x </a:t>
            </a:r>
            <a:r>
              <a:rPr lang="en-US" sz="1600" dirty="0">
                <a:cs typeface="Arial" panose="020B0604020202020204" pitchFamily="34" charset="0"/>
              </a:rPr>
              <a:t>4</a:t>
            </a:r>
            <a:r>
              <a:rPr lang="th-TH" sz="1600" dirty="0">
                <a:cs typeface="Arial" panose="020B0604020202020204" pitchFamily="34" charset="0"/>
              </a:rPr>
              <a:t>/</a:t>
            </a:r>
            <a:r>
              <a:rPr lang="en-US" sz="1600" dirty="0">
                <a:cs typeface="Arial" panose="020B0604020202020204" pitchFamily="34" charset="0"/>
              </a:rPr>
              <a:t>9</a:t>
            </a:r>
            <a:r>
              <a:rPr lang="th-TH" sz="1600" dirty="0">
                <a:cs typeface="Arial" panose="020B0604020202020204" pitchFamily="34" charset="0"/>
              </a:rPr>
              <a:t> x </a:t>
            </a:r>
            <a:r>
              <a:rPr lang="en-US" sz="1600" dirty="0">
                <a:cs typeface="Arial" panose="020B0604020202020204" pitchFamily="34" charset="0"/>
              </a:rPr>
              <a:t>6</a:t>
            </a:r>
            <a:r>
              <a:rPr lang="th-TH" sz="1600" dirty="0">
                <a:cs typeface="Arial" panose="020B0604020202020204" pitchFamily="34" charset="0"/>
              </a:rPr>
              <a:t>/</a:t>
            </a:r>
            <a:r>
              <a:rPr lang="en-US" sz="1600" dirty="0">
                <a:cs typeface="Arial" panose="020B0604020202020204" pitchFamily="34" charset="0"/>
              </a:rPr>
              <a:t>9 </a:t>
            </a:r>
            <a:r>
              <a:rPr lang="th-TH" sz="1600" dirty="0">
                <a:cs typeface="Arial" panose="020B0604020202020204" pitchFamily="34" charset="0"/>
              </a:rPr>
              <a:t>x </a:t>
            </a:r>
            <a:r>
              <a:rPr lang="en-US" sz="1600" dirty="0">
                <a:cs typeface="Arial" panose="020B0604020202020204" pitchFamily="34" charset="0"/>
              </a:rPr>
              <a:t>6</a:t>
            </a:r>
            <a:r>
              <a:rPr lang="th-TH" sz="1600" dirty="0">
                <a:cs typeface="Arial" panose="020B0604020202020204" pitchFamily="34" charset="0"/>
              </a:rPr>
              <a:t>/</a:t>
            </a:r>
            <a:r>
              <a:rPr lang="en-US" sz="1600" dirty="0">
                <a:cs typeface="Arial" panose="020B0604020202020204" pitchFamily="34" charset="0"/>
              </a:rPr>
              <a:t>9 X 9/14</a:t>
            </a:r>
            <a:endParaRPr lang="th-TH" sz="1600" dirty="0">
              <a:cs typeface="Arial" panose="020B0604020202020204" pitchFamily="34" charset="0"/>
            </a:endParaRPr>
          </a:p>
          <a:p>
            <a:pPr>
              <a:spcBef>
                <a:spcPct val="50000"/>
              </a:spcBef>
              <a:buNone/>
            </a:pPr>
            <a:r>
              <a:rPr lang="en-US" sz="1600" dirty="0">
                <a:cs typeface="Arial" panose="020B0604020202020204" pitchFamily="34" charset="0"/>
              </a:rPr>
              <a:t>          </a:t>
            </a:r>
            <a:r>
              <a:rPr lang="th-TH" sz="1600" dirty="0">
                <a:cs typeface="Arial" panose="020B0604020202020204" pitchFamily="34" charset="0"/>
              </a:rPr>
              <a:t>                          = </a:t>
            </a:r>
            <a:r>
              <a:rPr lang="th-TH" sz="1600" dirty="0">
                <a:solidFill>
                  <a:srgbClr val="C00000"/>
                </a:solidFill>
                <a:cs typeface="Arial" panose="020B0604020202020204" pitchFamily="34" charset="0"/>
              </a:rPr>
              <a:t>0.</a:t>
            </a:r>
            <a:r>
              <a:rPr lang="en-US" sz="1600" dirty="0">
                <a:solidFill>
                  <a:srgbClr val="C00000"/>
                </a:solidFill>
                <a:cs typeface="Arial" panose="020B0604020202020204" pitchFamily="34" charset="0"/>
              </a:rPr>
              <a:t>02821</a:t>
            </a:r>
            <a:endParaRPr lang="th-TH" sz="1600" dirty="0">
              <a:solidFill>
                <a:srgbClr val="C00000"/>
              </a:solidFill>
              <a:cs typeface="Arial" panose="020B0604020202020204" pitchFamily="34" charset="0"/>
            </a:endParaRPr>
          </a:p>
          <a:p>
            <a:pPr>
              <a:spcBef>
                <a:spcPct val="50000"/>
              </a:spcBef>
            </a:pPr>
            <a:r>
              <a:rPr lang="th-TH" sz="1600" dirty="0">
                <a:cs typeface="Arial" panose="020B0604020202020204" pitchFamily="34" charset="0"/>
              </a:rPr>
              <a:t>Likelihood of </a:t>
            </a:r>
            <a:r>
              <a:rPr lang="th-TH" sz="1600" dirty="0">
                <a:latin typeface="Times New Roman" panose="02020603050405020304" pitchFamily="18" charset="0"/>
                <a:cs typeface="Arial" panose="020B0604020202020204" pitchFamily="34" charset="0"/>
              </a:rPr>
              <a:t>“</a:t>
            </a:r>
            <a:r>
              <a:rPr lang="th-TH" sz="1600" dirty="0">
                <a:cs typeface="Arial" panose="020B0604020202020204" pitchFamily="34" charset="0"/>
              </a:rPr>
              <a:t>no</a:t>
            </a:r>
            <a:r>
              <a:rPr lang="th-TH" sz="1600" dirty="0">
                <a:latin typeface="Times New Roman" panose="02020603050405020304" pitchFamily="18" charset="0"/>
                <a:cs typeface="Arial" panose="020B0604020202020204" pitchFamily="34" charset="0"/>
              </a:rPr>
              <a:t>”</a:t>
            </a:r>
            <a:r>
              <a:rPr lang="th-TH" sz="1600" dirty="0">
                <a:cs typeface="Arial" panose="020B0604020202020204" pitchFamily="34" charset="0"/>
              </a:rPr>
              <a:t>  = </a:t>
            </a:r>
            <a:r>
              <a:rPr lang="en-US" sz="1600" dirty="0">
                <a:cs typeface="Arial" panose="020B0604020202020204" pitchFamily="34" charset="0"/>
              </a:rPr>
              <a:t>3</a:t>
            </a:r>
            <a:r>
              <a:rPr lang="th-TH" sz="1600" dirty="0">
                <a:cs typeface="Arial" panose="020B0604020202020204" pitchFamily="34" charset="0"/>
              </a:rPr>
              <a:t>/</a:t>
            </a:r>
            <a:r>
              <a:rPr lang="en-US" sz="1600" dirty="0">
                <a:cs typeface="Arial" panose="020B0604020202020204" pitchFamily="34" charset="0"/>
              </a:rPr>
              <a:t>5</a:t>
            </a:r>
            <a:r>
              <a:rPr lang="th-TH" sz="1600" dirty="0">
                <a:cs typeface="Arial" panose="020B0604020202020204" pitchFamily="34" charset="0"/>
              </a:rPr>
              <a:t> x </a:t>
            </a:r>
            <a:r>
              <a:rPr lang="en-US" sz="1600" dirty="0">
                <a:cs typeface="Arial" panose="020B0604020202020204" pitchFamily="34" charset="0"/>
              </a:rPr>
              <a:t>2</a:t>
            </a:r>
            <a:r>
              <a:rPr lang="th-TH" sz="1600" dirty="0">
                <a:cs typeface="Arial" panose="020B0604020202020204" pitchFamily="34" charset="0"/>
              </a:rPr>
              <a:t>/</a:t>
            </a:r>
            <a:r>
              <a:rPr lang="en-US" sz="1600" dirty="0">
                <a:cs typeface="Arial" panose="020B0604020202020204" pitchFamily="34" charset="0"/>
              </a:rPr>
              <a:t>5</a:t>
            </a:r>
            <a:r>
              <a:rPr lang="th-TH" sz="1600" dirty="0">
                <a:cs typeface="Arial" panose="020B0604020202020204" pitchFamily="34" charset="0"/>
              </a:rPr>
              <a:t> x </a:t>
            </a:r>
            <a:r>
              <a:rPr lang="en-US" sz="1600" dirty="0">
                <a:cs typeface="Arial" panose="020B0604020202020204" pitchFamily="34" charset="0"/>
              </a:rPr>
              <a:t>1</a:t>
            </a:r>
            <a:r>
              <a:rPr lang="th-TH" sz="1600" dirty="0">
                <a:cs typeface="Arial" panose="020B0604020202020204" pitchFamily="34" charset="0"/>
              </a:rPr>
              <a:t>/</a:t>
            </a:r>
            <a:r>
              <a:rPr lang="en-US" sz="1600" dirty="0">
                <a:cs typeface="Arial" panose="020B0604020202020204" pitchFamily="34" charset="0"/>
              </a:rPr>
              <a:t>5</a:t>
            </a:r>
            <a:r>
              <a:rPr lang="th-TH" sz="1600" dirty="0">
                <a:cs typeface="Arial" panose="020B0604020202020204" pitchFamily="34" charset="0"/>
              </a:rPr>
              <a:t> x </a:t>
            </a:r>
            <a:r>
              <a:rPr lang="en-US" sz="1600" dirty="0">
                <a:cs typeface="Arial" panose="020B0604020202020204" pitchFamily="34" charset="0"/>
              </a:rPr>
              <a:t>2</a:t>
            </a:r>
            <a:r>
              <a:rPr lang="th-TH" sz="1600" dirty="0">
                <a:cs typeface="Arial" panose="020B0604020202020204" pitchFamily="34" charset="0"/>
              </a:rPr>
              <a:t>/</a:t>
            </a:r>
            <a:r>
              <a:rPr lang="en-US" sz="1600" dirty="0">
                <a:cs typeface="Arial" panose="020B0604020202020204" pitchFamily="34" charset="0"/>
              </a:rPr>
              <a:t>5 X 5/14</a:t>
            </a:r>
            <a:r>
              <a:rPr lang="th-TH" sz="1600" dirty="0">
                <a:cs typeface="Arial" panose="020B0604020202020204" pitchFamily="34" charset="0"/>
              </a:rPr>
              <a:t>                              </a:t>
            </a:r>
            <a:r>
              <a:rPr lang="en-US" sz="1600" dirty="0">
                <a:cs typeface="Arial" panose="020B0604020202020204" pitchFamily="34" charset="0"/>
              </a:rPr>
              <a:t>                       		   </a:t>
            </a:r>
            <a:r>
              <a:rPr lang="th-TH" sz="1600" dirty="0">
                <a:cs typeface="Arial" panose="020B0604020202020204" pitchFamily="34" charset="0"/>
              </a:rPr>
              <a:t>= </a:t>
            </a:r>
            <a:r>
              <a:rPr lang="th-TH" sz="1600" dirty="0">
                <a:solidFill>
                  <a:srgbClr val="692AA2"/>
                </a:solidFill>
                <a:cs typeface="Arial" panose="020B0604020202020204" pitchFamily="34" charset="0"/>
              </a:rPr>
              <a:t>0.</a:t>
            </a:r>
            <a:r>
              <a:rPr lang="en-US" sz="1600" dirty="0">
                <a:solidFill>
                  <a:srgbClr val="692AA2"/>
                </a:solidFill>
                <a:cs typeface="Arial" panose="020B0604020202020204" pitchFamily="34" charset="0"/>
              </a:rPr>
              <a:t>0068</a:t>
            </a:r>
          </a:p>
          <a:p>
            <a:pPr>
              <a:spcBef>
                <a:spcPct val="50000"/>
              </a:spcBef>
            </a:pPr>
            <a:r>
              <a:rPr lang="en-US" sz="1600" dirty="0"/>
              <a:t>Turn into probability by normalizing likelihood values </a:t>
            </a:r>
          </a:p>
          <a:p>
            <a:pPr>
              <a:spcBef>
                <a:spcPct val="50000"/>
              </a:spcBef>
            </a:pPr>
            <a:r>
              <a:rPr lang="en-US" sz="1600" dirty="0"/>
              <a:t>probability of “yes” = 0.02821 / (</a:t>
            </a:r>
            <a:r>
              <a:rPr lang="en-US" sz="1600" dirty="0">
                <a:solidFill>
                  <a:srgbClr val="C00000"/>
                </a:solidFill>
              </a:rPr>
              <a:t>0.02821</a:t>
            </a:r>
            <a:r>
              <a:rPr lang="en-US" sz="1600" dirty="0"/>
              <a:t> + </a:t>
            </a:r>
            <a:r>
              <a:rPr lang="en-US" sz="1600" dirty="0">
                <a:solidFill>
                  <a:srgbClr val="692AA2"/>
                </a:solidFill>
              </a:rPr>
              <a:t>0.0068</a:t>
            </a:r>
            <a:r>
              <a:rPr lang="en-US" sz="1600" dirty="0"/>
              <a:t>)</a:t>
            </a:r>
          </a:p>
          <a:p>
            <a:pPr>
              <a:spcBef>
                <a:spcPct val="50000"/>
              </a:spcBef>
              <a:buNone/>
            </a:pPr>
            <a:r>
              <a:rPr lang="en-US" sz="1600" dirty="0"/>
              <a:t>			    = 0.8057</a:t>
            </a:r>
          </a:p>
          <a:p>
            <a:pPr>
              <a:spcBef>
                <a:spcPct val="50000"/>
              </a:spcBef>
            </a:pPr>
            <a:r>
              <a:rPr lang="en-US" sz="1600" dirty="0"/>
              <a:t>probability of “no”  = 0.0068 / (</a:t>
            </a:r>
            <a:r>
              <a:rPr lang="en-US" sz="1600" dirty="0">
                <a:solidFill>
                  <a:srgbClr val="C00000"/>
                </a:solidFill>
              </a:rPr>
              <a:t>0.02821</a:t>
            </a:r>
            <a:r>
              <a:rPr lang="en-US" sz="1600" dirty="0"/>
              <a:t> + </a:t>
            </a:r>
            <a:r>
              <a:rPr lang="en-US" sz="1600" dirty="0">
                <a:solidFill>
                  <a:srgbClr val="692AA2"/>
                </a:solidFill>
              </a:rPr>
              <a:t>0.0068</a:t>
            </a:r>
            <a:r>
              <a:rPr lang="en-US" sz="1600" dirty="0"/>
              <a:t>) </a:t>
            </a:r>
          </a:p>
          <a:p>
            <a:pPr>
              <a:spcBef>
                <a:spcPct val="50000"/>
              </a:spcBef>
              <a:buNone/>
            </a:pPr>
            <a:r>
              <a:rPr lang="en-US" sz="1600" dirty="0"/>
              <a:t>			   = 0.1942</a:t>
            </a:r>
          </a:p>
          <a:p>
            <a:pPr>
              <a:spcBef>
                <a:spcPct val="50000"/>
              </a:spcBef>
            </a:pPr>
            <a:endParaRPr lang="en-US" sz="1600" b="1" dirty="0"/>
          </a:p>
          <a:p>
            <a:pPr eaLnBrk="1" hangingPunct="1">
              <a:lnSpc>
                <a:spcPct val="80000"/>
              </a:lnSpc>
              <a:buFont typeface="Wingdings" pitchFamily="2" charset="2"/>
              <a:buNone/>
            </a:pPr>
            <a:r>
              <a:rPr lang="en-US" sz="1400" b="1" dirty="0"/>
              <a:t>	</a:t>
            </a:r>
          </a:p>
        </p:txBody>
      </p:sp>
      <p:graphicFrame>
        <p:nvGraphicFramePr>
          <p:cNvPr id="4" name="Table 3"/>
          <p:cNvGraphicFramePr>
            <a:graphicFrameLocks noGrp="1"/>
          </p:cNvGraphicFramePr>
          <p:nvPr>
            <p:extLst>
              <p:ext uri="{D42A27DB-BD31-4B8C-83A1-F6EECF244321}">
                <p14:modId xmlns:p14="http://schemas.microsoft.com/office/powerpoint/2010/main" val="3323644353"/>
              </p:ext>
            </p:extLst>
          </p:nvPr>
        </p:nvGraphicFramePr>
        <p:xfrm>
          <a:off x="457200" y="1371600"/>
          <a:ext cx="3124199" cy="2794635"/>
        </p:xfrm>
        <a:graphic>
          <a:graphicData uri="http://schemas.openxmlformats.org/drawingml/2006/table">
            <a:tbl>
              <a:tblPr firstRow="1" bandRow="1">
                <a:tableStyleId>{073A0DAA-6AF3-43AB-8588-CEC1D06C72B9}</a:tableStyleId>
              </a:tblPr>
              <a:tblGrid>
                <a:gridCol w="525382">
                  <a:extLst>
                    <a:ext uri="{9D8B030D-6E8A-4147-A177-3AD203B41FA5}">
                      <a16:colId xmlns:a16="http://schemas.microsoft.com/office/drawing/2014/main" val="20000"/>
                    </a:ext>
                  </a:extLst>
                </a:gridCol>
                <a:gridCol w="525382">
                  <a:extLst>
                    <a:ext uri="{9D8B030D-6E8A-4147-A177-3AD203B41FA5}">
                      <a16:colId xmlns:a16="http://schemas.microsoft.com/office/drawing/2014/main" val="20001"/>
                    </a:ext>
                  </a:extLst>
                </a:gridCol>
                <a:gridCol w="496264">
                  <a:extLst>
                    <a:ext uri="{9D8B030D-6E8A-4147-A177-3AD203B41FA5}">
                      <a16:colId xmlns:a16="http://schemas.microsoft.com/office/drawing/2014/main" val="20002"/>
                    </a:ext>
                  </a:extLst>
                </a:gridCol>
                <a:gridCol w="722870">
                  <a:extLst>
                    <a:ext uri="{9D8B030D-6E8A-4147-A177-3AD203B41FA5}">
                      <a16:colId xmlns:a16="http://schemas.microsoft.com/office/drawing/2014/main" val="20003"/>
                    </a:ext>
                  </a:extLst>
                </a:gridCol>
                <a:gridCol w="854301">
                  <a:extLst>
                    <a:ext uri="{9D8B030D-6E8A-4147-A177-3AD203B41FA5}">
                      <a16:colId xmlns:a16="http://schemas.microsoft.com/office/drawing/2014/main" val="20004"/>
                    </a:ext>
                  </a:extLst>
                </a:gridCol>
              </a:tblGrid>
              <a:tr h="218129">
                <a:tc>
                  <a:txBody>
                    <a:bodyPr/>
                    <a:lstStyle/>
                    <a:p>
                      <a:pPr algn="l" fontAlgn="b"/>
                      <a:r>
                        <a:rPr lang="id-ID" sz="1000" b="0" u="none" strike="noStrike" dirty="0" err="1">
                          <a:effectLst/>
                        </a:rPr>
                        <a:t>age</a:t>
                      </a:r>
                      <a:endParaRPr lang="id-ID"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000" b="0" u="none" strike="noStrike">
                          <a:effectLst/>
                        </a:rPr>
                        <a:t>income</a:t>
                      </a:r>
                      <a:endParaRPr lang="id-ID"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000" b="0" u="none" strike="noStrike">
                          <a:effectLst/>
                        </a:rPr>
                        <a:t>student</a:t>
                      </a:r>
                      <a:endParaRPr lang="id-ID"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000" b="0" u="none" strike="noStrike">
                          <a:effectLst/>
                        </a:rPr>
                        <a:t>credit_rating</a:t>
                      </a:r>
                      <a:endParaRPr lang="id-ID"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000" b="0" u="none" strike="noStrike" dirty="0">
                          <a:effectLst/>
                        </a:rPr>
                        <a:t>buys_computer</a:t>
                      </a:r>
                      <a:endParaRPr lang="id-ID" sz="1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174919">
                <a:tc>
                  <a:txBody>
                    <a:bodyPr/>
                    <a:lstStyle/>
                    <a:p>
                      <a:pPr algn="l" fontAlgn="b"/>
                      <a:r>
                        <a:rPr lang="id-ID" sz="1100" u="none" strike="noStrike" dirty="0">
                          <a:effectLst/>
                        </a:rPr>
                        <a:t>&lt;=30</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high</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fair</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174919">
                <a:tc>
                  <a:txBody>
                    <a:bodyPr/>
                    <a:lstStyle/>
                    <a:p>
                      <a:pPr algn="l" fontAlgn="b"/>
                      <a:r>
                        <a:rPr lang="id-ID" sz="1100" u="none" strike="noStrike" dirty="0">
                          <a:effectLst/>
                        </a:rPr>
                        <a:t>&lt;=30</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high</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excellent</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174919">
                <a:tc>
                  <a:txBody>
                    <a:bodyPr/>
                    <a:lstStyle/>
                    <a:p>
                      <a:pPr algn="l" fontAlgn="b"/>
                      <a:r>
                        <a:rPr lang="id-ID" sz="1100" u="none" strike="noStrike" dirty="0">
                          <a:effectLst/>
                        </a:rPr>
                        <a:t>31…40</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high</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fair</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174919">
                <a:tc>
                  <a:txBody>
                    <a:bodyPr/>
                    <a:lstStyle/>
                    <a:p>
                      <a:pPr algn="l" fontAlgn="b"/>
                      <a:r>
                        <a:rPr lang="id-ID" sz="1100" u="none" strike="noStrike">
                          <a:effectLst/>
                        </a:rPr>
                        <a:t>&gt;40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medium</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fair</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174919">
                <a:tc>
                  <a:txBody>
                    <a:bodyPr/>
                    <a:lstStyle/>
                    <a:p>
                      <a:pPr algn="l" fontAlgn="b"/>
                      <a:r>
                        <a:rPr lang="id-ID" sz="1100" u="none" strike="noStrike">
                          <a:effectLst/>
                        </a:rPr>
                        <a:t>&gt;40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low</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fair</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174919">
                <a:tc>
                  <a:txBody>
                    <a:bodyPr/>
                    <a:lstStyle/>
                    <a:p>
                      <a:pPr algn="l" fontAlgn="b"/>
                      <a:r>
                        <a:rPr lang="id-ID" sz="1100" u="none" strike="noStrike">
                          <a:effectLst/>
                        </a:rPr>
                        <a:t>&gt;40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low</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excellent</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174919">
                <a:tc>
                  <a:txBody>
                    <a:bodyPr/>
                    <a:lstStyle/>
                    <a:p>
                      <a:pPr algn="l" fontAlgn="b"/>
                      <a:r>
                        <a:rPr lang="id-ID" sz="1100" u="none" strike="noStrike">
                          <a:effectLst/>
                        </a:rPr>
                        <a:t>31…40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low</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excellent</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174919">
                <a:tc>
                  <a:txBody>
                    <a:bodyPr/>
                    <a:lstStyle/>
                    <a:p>
                      <a:pPr algn="l" fontAlgn="b"/>
                      <a:r>
                        <a:rPr lang="id-ID" sz="1100" u="none" strike="noStrike">
                          <a:effectLst/>
                        </a:rPr>
                        <a:t>&lt;=30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medium</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fair</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174919">
                <a:tc>
                  <a:txBody>
                    <a:bodyPr/>
                    <a:lstStyle/>
                    <a:p>
                      <a:pPr algn="l" fontAlgn="b"/>
                      <a:r>
                        <a:rPr lang="id-ID" sz="1100" u="none" strike="noStrike">
                          <a:effectLst/>
                        </a:rPr>
                        <a:t>&lt;=30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low</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fair</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174919">
                <a:tc>
                  <a:txBody>
                    <a:bodyPr/>
                    <a:lstStyle/>
                    <a:p>
                      <a:pPr algn="l" fontAlgn="b"/>
                      <a:r>
                        <a:rPr lang="id-ID" sz="1100" u="none" strike="noStrike">
                          <a:effectLst/>
                        </a:rPr>
                        <a:t>&gt;40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medium</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fair</a:t>
                      </a:r>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174919">
                <a:tc>
                  <a:txBody>
                    <a:bodyPr/>
                    <a:lstStyle/>
                    <a:p>
                      <a:pPr algn="l" fontAlgn="b"/>
                      <a:r>
                        <a:rPr lang="id-ID" sz="1100" u="none" strike="noStrike">
                          <a:effectLst/>
                        </a:rPr>
                        <a:t>&lt;=30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medium</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excellent</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174919">
                <a:tc>
                  <a:txBody>
                    <a:bodyPr/>
                    <a:lstStyle/>
                    <a:p>
                      <a:pPr algn="l" fontAlgn="b"/>
                      <a:r>
                        <a:rPr lang="id-ID" sz="1100" u="none" strike="noStrike">
                          <a:effectLst/>
                        </a:rPr>
                        <a:t>31…40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medium</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excellent</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2"/>
                  </a:ext>
                </a:extLst>
              </a:tr>
              <a:tr h="174919">
                <a:tc>
                  <a:txBody>
                    <a:bodyPr/>
                    <a:lstStyle/>
                    <a:p>
                      <a:pPr algn="l" fontAlgn="b"/>
                      <a:r>
                        <a:rPr lang="id-ID" sz="1100" u="none" strike="noStrike">
                          <a:effectLst/>
                        </a:rPr>
                        <a:t>31…40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high</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yes</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fair</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yes</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3"/>
                  </a:ext>
                </a:extLst>
              </a:tr>
              <a:tr h="174919">
                <a:tc>
                  <a:txBody>
                    <a:bodyPr/>
                    <a:lstStyle/>
                    <a:p>
                      <a:pPr algn="l" fontAlgn="b"/>
                      <a:r>
                        <a:rPr lang="id-ID" sz="1100" u="none" strike="noStrike">
                          <a:effectLst/>
                        </a:rPr>
                        <a:t>&gt;40</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medium</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no</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a:effectLst/>
                        </a:rPr>
                        <a:t>excellent</a:t>
                      </a:r>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id-ID" sz="1100" u="none" strike="noStrike" dirty="0" err="1">
                          <a:effectLst/>
                        </a:rPr>
                        <a:t>no</a:t>
                      </a:r>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18707752"/>
              </p:ext>
            </p:extLst>
          </p:nvPr>
        </p:nvGraphicFramePr>
        <p:xfrm>
          <a:off x="304800" y="4876800"/>
          <a:ext cx="8534404" cy="1467744"/>
        </p:xfrm>
        <a:graphic>
          <a:graphicData uri="http://schemas.openxmlformats.org/drawingml/2006/table">
            <a:tbl>
              <a:tblPr firstRow="1" bandRow="1">
                <a:tableStyleId>{00A15C55-8517-42AA-B614-E9B94910E393}</a:tableStyleId>
              </a:tblPr>
              <a:tblGrid>
                <a:gridCol w="620684">
                  <a:extLst>
                    <a:ext uri="{9D8B030D-6E8A-4147-A177-3AD203B41FA5}">
                      <a16:colId xmlns:a16="http://schemas.microsoft.com/office/drawing/2014/main" val="20000"/>
                    </a:ext>
                  </a:extLst>
                </a:gridCol>
                <a:gridCol w="465513">
                  <a:extLst>
                    <a:ext uri="{9D8B030D-6E8A-4147-A177-3AD203B41FA5}">
                      <a16:colId xmlns:a16="http://schemas.microsoft.com/office/drawing/2014/main" val="20001"/>
                    </a:ext>
                  </a:extLst>
                </a:gridCol>
                <a:gridCol w="437807">
                  <a:extLst>
                    <a:ext uri="{9D8B030D-6E8A-4147-A177-3AD203B41FA5}">
                      <a16:colId xmlns:a16="http://schemas.microsoft.com/office/drawing/2014/main" val="20002"/>
                    </a:ext>
                  </a:extLst>
                </a:gridCol>
                <a:gridCol w="725975">
                  <a:extLst>
                    <a:ext uri="{9D8B030D-6E8A-4147-A177-3AD203B41FA5}">
                      <a16:colId xmlns:a16="http://schemas.microsoft.com/office/drawing/2014/main" val="20003"/>
                    </a:ext>
                  </a:extLst>
                </a:gridCol>
                <a:gridCol w="465513">
                  <a:extLst>
                    <a:ext uri="{9D8B030D-6E8A-4147-A177-3AD203B41FA5}">
                      <a16:colId xmlns:a16="http://schemas.microsoft.com/office/drawing/2014/main" val="20004"/>
                    </a:ext>
                  </a:extLst>
                </a:gridCol>
                <a:gridCol w="637312">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914396">
                  <a:extLst>
                    <a:ext uri="{9D8B030D-6E8A-4147-A177-3AD203B41FA5}">
                      <a16:colId xmlns:a16="http://schemas.microsoft.com/office/drawing/2014/main" val="20009"/>
                    </a:ext>
                  </a:extLst>
                </a:gridCol>
                <a:gridCol w="6096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762003">
                  <a:extLst>
                    <a:ext uri="{9D8B030D-6E8A-4147-A177-3AD203B41FA5}">
                      <a16:colId xmlns:a16="http://schemas.microsoft.com/office/drawing/2014/main" val="20012"/>
                    </a:ext>
                  </a:extLst>
                </a:gridCol>
                <a:gridCol w="609601">
                  <a:extLst>
                    <a:ext uri="{9D8B030D-6E8A-4147-A177-3AD203B41FA5}">
                      <a16:colId xmlns:a16="http://schemas.microsoft.com/office/drawing/2014/main" val="20013"/>
                    </a:ext>
                  </a:extLst>
                </a:gridCol>
              </a:tblGrid>
              <a:tr h="304071">
                <a:tc gridSpan="3">
                  <a:txBody>
                    <a:bodyPr/>
                    <a:lstStyle/>
                    <a:p>
                      <a:pPr algn="ctr"/>
                      <a:r>
                        <a:rPr lang="en-US" sz="1200" dirty="0"/>
                        <a:t>age</a:t>
                      </a:r>
                      <a:endParaRPr lang="th-TH" sz="1200" dirty="0"/>
                    </a:p>
                  </a:txBody>
                  <a:tcPr/>
                </a:tc>
                <a:tc hMerge="1">
                  <a:txBody>
                    <a:bodyPr/>
                    <a:lstStyle/>
                    <a:p>
                      <a:endParaRPr lang="th-TH"/>
                    </a:p>
                  </a:txBody>
                  <a:tcPr/>
                </a:tc>
                <a:tc hMerge="1">
                  <a:txBody>
                    <a:bodyPr/>
                    <a:lstStyle/>
                    <a:p>
                      <a:endParaRPr lang="th-TH"/>
                    </a:p>
                  </a:txBody>
                  <a:tcPr/>
                </a:tc>
                <a:tc gridSpan="3">
                  <a:txBody>
                    <a:bodyPr/>
                    <a:lstStyle/>
                    <a:p>
                      <a:pPr algn="ctr"/>
                      <a:r>
                        <a:rPr lang="en-US" sz="1200" dirty="0"/>
                        <a:t>Income</a:t>
                      </a:r>
                      <a:endParaRPr lang="th-TH" sz="1200" dirty="0"/>
                    </a:p>
                  </a:txBody>
                  <a:tcPr/>
                </a:tc>
                <a:tc hMerge="1">
                  <a:txBody>
                    <a:bodyPr/>
                    <a:lstStyle/>
                    <a:p>
                      <a:endParaRPr lang="th-TH"/>
                    </a:p>
                  </a:txBody>
                  <a:tcPr/>
                </a:tc>
                <a:tc hMerge="1">
                  <a:txBody>
                    <a:bodyPr/>
                    <a:lstStyle/>
                    <a:p>
                      <a:endParaRPr lang="th-TH"/>
                    </a:p>
                  </a:txBody>
                  <a:tcPr/>
                </a:tc>
                <a:tc gridSpan="3">
                  <a:txBody>
                    <a:bodyPr/>
                    <a:lstStyle/>
                    <a:p>
                      <a:pPr algn="ctr"/>
                      <a:r>
                        <a:rPr lang="en-US" sz="1200" dirty="0"/>
                        <a:t>Student</a:t>
                      </a:r>
                      <a:endParaRPr lang="th-TH" sz="1200" dirty="0"/>
                    </a:p>
                  </a:txBody>
                  <a:tcPr/>
                </a:tc>
                <a:tc hMerge="1">
                  <a:txBody>
                    <a:bodyPr/>
                    <a:lstStyle/>
                    <a:p>
                      <a:endParaRPr lang="th-TH"/>
                    </a:p>
                  </a:txBody>
                  <a:tcPr/>
                </a:tc>
                <a:tc hMerge="1">
                  <a:txBody>
                    <a:bodyPr/>
                    <a:lstStyle/>
                    <a:p>
                      <a:endParaRPr lang="th-TH"/>
                    </a:p>
                  </a:txBody>
                  <a:tcPr/>
                </a:tc>
                <a:tc gridSpan="3">
                  <a:txBody>
                    <a:bodyPr/>
                    <a:lstStyle/>
                    <a:p>
                      <a:pPr algn="ctr"/>
                      <a:r>
                        <a:rPr lang="en-US" sz="1200" dirty="0"/>
                        <a:t>Credit Rating</a:t>
                      </a:r>
                      <a:endParaRPr lang="th-TH" sz="1200" dirty="0"/>
                    </a:p>
                  </a:txBody>
                  <a:tcPr/>
                </a:tc>
                <a:tc hMerge="1">
                  <a:txBody>
                    <a:bodyPr/>
                    <a:lstStyle/>
                    <a:p>
                      <a:endParaRPr lang="th-TH"/>
                    </a:p>
                  </a:txBody>
                  <a:tcPr/>
                </a:tc>
                <a:tc hMerge="1">
                  <a:txBody>
                    <a:bodyPr/>
                    <a:lstStyle/>
                    <a:p>
                      <a:endParaRPr lang="th-TH"/>
                    </a:p>
                  </a:txBody>
                  <a:tcPr/>
                </a:tc>
                <a:tc gridSpan="2">
                  <a:txBody>
                    <a:bodyPr/>
                    <a:lstStyle/>
                    <a:p>
                      <a:pPr algn="ctr"/>
                      <a:r>
                        <a:rPr lang="en-US" sz="1200" dirty="0" err="1"/>
                        <a:t>Buys_Computer</a:t>
                      </a:r>
                      <a:endParaRPr lang="th-TH" sz="1200" dirty="0"/>
                    </a:p>
                  </a:txBody>
                  <a:tcPr/>
                </a:tc>
                <a:tc hMerge="1">
                  <a:txBody>
                    <a:bodyPr/>
                    <a:lstStyle/>
                    <a:p>
                      <a:pPr algn="ctr"/>
                      <a:endParaRPr lang="th-TH" sz="1600" dirty="0"/>
                    </a:p>
                  </a:txBody>
                  <a:tcPr/>
                </a:tc>
                <a:extLst>
                  <a:ext uri="{0D108BD9-81ED-4DB2-BD59-A6C34878D82A}">
                    <a16:rowId xmlns:a16="http://schemas.microsoft.com/office/drawing/2014/main" val="10000"/>
                  </a:ext>
                </a:extLst>
              </a:tr>
              <a:tr h="246635">
                <a:tc>
                  <a:txBody>
                    <a:bodyPr/>
                    <a:lstStyle/>
                    <a:p>
                      <a:endParaRPr lang="th-TH" sz="1050" dirty="0">
                        <a:solidFill>
                          <a:srgbClr val="FF0000"/>
                        </a:solidFill>
                      </a:endParaRPr>
                    </a:p>
                  </a:txBody>
                  <a:tcPr/>
                </a:tc>
                <a:tc>
                  <a:txBody>
                    <a:bodyPr/>
                    <a:lstStyle/>
                    <a:p>
                      <a:pPr algn="ctr"/>
                      <a:r>
                        <a:rPr lang="en-US" sz="1050" b="1" dirty="0">
                          <a:solidFill>
                            <a:srgbClr val="FF0000"/>
                          </a:solidFill>
                        </a:rPr>
                        <a:t>Yes</a:t>
                      </a:r>
                      <a:endParaRPr lang="th-TH" sz="1050" b="1" dirty="0">
                        <a:solidFill>
                          <a:srgbClr val="FF0000"/>
                        </a:solidFill>
                      </a:endParaRPr>
                    </a:p>
                  </a:txBody>
                  <a:tcPr/>
                </a:tc>
                <a:tc>
                  <a:txBody>
                    <a:bodyPr/>
                    <a:lstStyle/>
                    <a:p>
                      <a:pPr algn="ctr"/>
                      <a:r>
                        <a:rPr lang="en-US" sz="1050" b="1" dirty="0">
                          <a:solidFill>
                            <a:srgbClr val="FF0000"/>
                          </a:solidFill>
                        </a:rPr>
                        <a:t>No</a:t>
                      </a:r>
                      <a:endParaRPr lang="th-TH" sz="1050" b="1" dirty="0">
                        <a:solidFill>
                          <a:srgbClr val="FF0000"/>
                        </a:solidFill>
                      </a:endParaRPr>
                    </a:p>
                  </a:txBody>
                  <a:tcPr/>
                </a:tc>
                <a:tc>
                  <a:txBody>
                    <a:bodyPr/>
                    <a:lstStyle/>
                    <a:p>
                      <a:pPr algn="ctr"/>
                      <a:endParaRPr lang="th-TH" sz="1050" b="1" dirty="0">
                        <a:solidFill>
                          <a:srgbClr val="FF0000"/>
                        </a:solidFill>
                      </a:endParaRPr>
                    </a:p>
                  </a:txBody>
                  <a:tcPr/>
                </a:tc>
                <a:tc>
                  <a:txBody>
                    <a:bodyPr/>
                    <a:lstStyle/>
                    <a:p>
                      <a:pPr algn="ctr"/>
                      <a:r>
                        <a:rPr lang="en-US" sz="1050" b="1" dirty="0">
                          <a:solidFill>
                            <a:srgbClr val="FF0000"/>
                          </a:solidFill>
                        </a:rPr>
                        <a:t>Yes</a:t>
                      </a:r>
                      <a:endParaRPr lang="th-TH" sz="1050" b="1" dirty="0">
                        <a:solidFill>
                          <a:srgbClr val="FF0000"/>
                        </a:solidFill>
                      </a:endParaRPr>
                    </a:p>
                  </a:txBody>
                  <a:tcPr/>
                </a:tc>
                <a:tc>
                  <a:txBody>
                    <a:bodyPr/>
                    <a:lstStyle/>
                    <a:p>
                      <a:pPr algn="ctr"/>
                      <a:r>
                        <a:rPr lang="en-US" sz="1050" b="1" dirty="0">
                          <a:solidFill>
                            <a:srgbClr val="FF0000"/>
                          </a:solidFill>
                        </a:rPr>
                        <a:t>No</a:t>
                      </a:r>
                      <a:endParaRPr lang="th-TH" sz="1050" b="1" dirty="0">
                        <a:solidFill>
                          <a:srgbClr val="FF0000"/>
                        </a:solidFill>
                      </a:endParaRPr>
                    </a:p>
                  </a:txBody>
                  <a:tcPr/>
                </a:tc>
                <a:tc>
                  <a:txBody>
                    <a:bodyPr/>
                    <a:lstStyle/>
                    <a:p>
                      <a:pPr algn="ctr"/>
                      <a:endParaRPr lang="th-TH" sz="1050" b="1" dirty="0">
                        <a:solidFill>
                          <a:srgbClr val="FF0000"/>
                        </a:solidFill>
                      </a:endParaRPr>
                    </a:p>
                  </a:txBody>
                  <a:tcPr/>
                </a:tc>
                <a:tc>
                  <a:txBody>
                    <a:bodyPr/>
                    <a:lstStyle/>
                    <a:p>
                      <a:pPr algn="ctr"/>
                      <a:r>
                        <a:rPr lang="en-US" sz="1050" b="1" dirty="0">
                          <a:solidFill>
                            <a:srgbClr val="FF0000"/>
                          </a:solidFill>
                        </a:rPr>
                        <a:t>Yes</a:t>
                      </a:r>
                      <a:endParaRPr lang="th-TH" sz="1050" b="1" dirty="0">
                        <a:solidFill>
                          <a:srgbClr val="FF0000"/>
                        </a:solidFill>
                      </a:endParaRPr>
                    </a:p>
                  </a:txBody>
                  <a:tcPr/>
                </a:tc>
                <a:tc>
                  <a:txBody>
                    <a:bodyPr/>
                    <a:lstStyle/>
                    <a:p>
                      <a:pPr algn="ctr"/>
                      <a:r>
                        <a:rPr lang="en-US" sz="1050" b="1" dirty="0">
                          <a:solidFill>
                            <a:srgbClr val="FF0000"/>
                          </a:solidFill>
                        </a:rPr>
                        <a:t>No</a:t>
                      </a:r>
                      <a:endParaRPr lang="th-TH" sz="1050" b="1" dirty="0">
                        <a:solidFill>
                          <a:srgbClr val="FF0000"/>
                        </a:solidFill>
                      </a:endParaRPr>
                    </a:p>
                  </a:txBody>
                  <a:tcPr/>
                </a:tc>
                <a:tc>
                  <a:txBody>
                    <a:bodyPr/>
                    <a:lstStyle/>
                    <a:p>
                      <a:pPr algn="ctr"/>
                      <a:endParaRPr lang="th-TH" sz="1050" b="1" dirty="0">
                        <a:solidFill>
                          <a:srgbClr val="FF0000"/>
                        </a:solidFill>
                      </a:endParaRPr>
                    </a:p>
                  </a:txBody>
                  <a:tcPr/>
                </a:tc>
                <a:tc>
                  <a:txBody>
                    <a:bodyPr/>
                    <a:lstStyle/>
                    <a:p>
                      <a:pPr algn="ctr"/>
                      <a:r>
                        <a:rPr lang="en-US" sz="1050" b="1" dirty="0">
                          <a:solidFill>
                            <a:srgbClr val="FF0000"/>
                          </a:solidFill>
                        </a:rPr>
                        <a:t>Yes</a:t>
                      </a:r>
                      <a:endParaRPr lang="th-TH" sz="1050" b="1" dirty="0">
                        <a:solidFill>
                          <a:srgbClr val="FF0000"/>
                        </a:solidFill>
                      </a:endParaRPr>
                    </a:p>
                  </a:txBody>
                  <a:tcPr/>
                </a:tc>
                <a:tc>
                  <a:txBody>
                    <a:bodyPr/>
                    <a:lstStyle/>
                    <a:p>
                      <a:pPr algn="ctr"/>
                      <a:r>
                        <a:rPr lang="en-US" sz="1050" b="1" dirty="0">
                          <a:solidFill>
                            <a:srgbClr val="FF0000"/>
                          </a:solidFill>
                        </a:rPr>
                        <a:t>No</a:t>
                      </a:r>
                      <a:endParaRPr lang="th-TH" sz="1050" b="1" dirty="0">
                        <a:solidFill>
                          <a:srgbClr val="FF0000"/>
                        </a:solidFill>
                      </a:endParaRPr>
                    </a:p>
                  </a:txBody>
                  <a:tcPr/>
                </a:tc>
                <a:tc>
                  <a:txBody>
                    <a:bodyPr/>
                    <a:lstStyle/>
                    <a:p>
                      <a:pPr algn="ctr"/>
                      <a:r>
                        <a:rPr lang="en-US" sz="1050" b="1" dirty="0">
                          <a:solidFill>
                            <a:srgbClr val="FF0000"/>
                          </a:solidFill>
                        </a:rPr>
                        <a:t>Yes</a:t>
                      </a:r>
                      <a:endParaRPr lang="th-TH" sz="1050" b="1" dirty="0">
                        <a:solidFill>
                          <a:srgbClr val="FF0000"/>
                        </a:solidFill>
                      </a:endParaRPr>
                    </a:p>
                  </a:txBody>
                  <a:tcPr/>
                </a:tc>
                <a:tc>
                  <a:txBody>
                    <a:bodyPr/>
                    <a:lstStyle/>
                    <a:p>
                      <a:pPr algn="ctr"/>
                      <a:r>
                        <a:rPr lang="en-US" sz="1050" b="1" dirty="0">
                          <a:solidFill>
                            <a:srgbClr val="FF0000"/>
                          </a:solidFill>
                        </a:rPr>
                        <a:t>No</a:t>
                      </a:r>
                      <a:endParaRPr lang="th-TH" sz="1050" b="1" dirty="0">
                        <a:solidFill>
                          <a:srgbClr val="FF0000"/>
                        </a:solidFill>
                      </a:endParaRPr>
                    </a:p>
                  </a:txBody>
                  <a:tcPr/>
                </a:tc>
                <a:extLst>
                  <a:ext uri="{0D108BD9-81ED-4DB2-BD59-A6C34878D82A}">
                    <a16:rowId xmlns:a16="http://schemas.microsoft.com/office/drawing/2014/main" val="10001"/>
                  </a:ext>
                </a:extLst>
              </a:tr>
              <a:tr h="304071">
                <a:tc>
                  <a:txBody>
                    <a:bodyPr/>
                    <a:lstStyle/>
                    <a:p>
                      <a:r>
                        <a:rPr lang="en-US" sz="1200" dirty="0"/>
                        <a:t>&lt;=30</a:t>
                      </a:r>
                      <a:endParaRPr lang="th-TH" sz="1200" dirty="0"/>
                    </a:p>
                  </a:txBody>
                  <a:tcPr/>
                </a:tc>
                <a:tc>
                  <a:txBody>
                    <a:bodyPr/>
                    <a:lstStyle/>
                    <a:p>
                      <a:pPr algn="ctr"/>
                      <a:r>
                        <a:rPr lang="en-US" sz="1200" dirty="0">
                          <a:solidFill>
                            <a:schemeClr val="tx1"/>
                          </a:solidFill>
                        </a:rPr>
                        <a:t>2/9</a:t>
                      </a:r>
                      <a:endParaRPr lang="th-TH" sz="1200" dirty="0">
                        <a:solidFill>
                          <a:schemeClr val="tx1"/>
                        </a:solidFill>
                      </a:endParaRPr>
                    </a:p>
                  </a:txBody>
                  <a:tcPr/>
                </a:tc>
                <a:tc>
                  <a:txBody>
                    <a:bodyPr/>
                    <a:lstStyle/>
                    <a:p>
                      <a:pPr algn="ctr"/>
                      <a:r>
                        <a:rPr lang="en-US" sz="1200" dirty="0">
                          <a:solidFill>
                            <a:schemeClr val="tx1"/>
                          </a:solidFill>
                        </a:rPr>
                        <a:t>3/5</a:t>
                      </a:r>
                      <a:endParaRPr lang="th-TH" sz="1200" dirty="0">
                        <a:solidFill>
                          <a:schemeClr val="tx1"/>
                        </a:solidFill>
                      </a:endParaRPr>
                    </a:p>
                  </a:txBody>
                  <a:tcPr/>
                </a:tc>
                <a:tc>
                  <a:txBody>
                    <a:bodyPr/>
                    <a:lstStyle/>
                    <a:p>
                      <a:pPr algn="ctr"/>
                      <a:r>
                        <a:rPr lang="en-US" sz="1200" dirty="0"/>
                        <a:t>High</a:t>
                      </a:r>
                      <a:endParaRPr lang="th-TH" sz="1200" dirty="0"/>
                    </a:p>
                  </a:txBody>
                  <a:tcPr/>
                </a:tc>
                <a:tc>
                  <a:txBody>
                    <a:bodyPr/>
                    <a:lstStyle/>
                    <a:p>
                      <a:pPr algn="ctr"/>
                      <a:r>
                        <a:rPr lang="en-US" sz="1200" dirty="0"/>
                        <a:t>2/9</a:t>
                      </a:r>
                      <a:endParaRPr lang="th-TH" sz="1200" dirty="0"/>
                    </a:p>
                  </a:txBody>
                  <a:tcPr/>
                </a:tc>
                <a:tc>
                  <a:txBody>
                    <a:bodyPr/>
                    <a:lstStyle/>
                    <a:p>
                      <a:pPr algn="ctr"/>
                      <a:r>
                        <a:rPr lang="en-US" sz="1200" dirty="0"/>
                        <a:t>2/5</a:t>
                      </a:r>
                      <a:endParaRPr lang="th-TH" sz="1200" dirty="0"/>
                    </a:p>
                  </a:txBody>
                  <a:tcPr/>
                </a:tc>
                <a:tc>
                  <a:txBody>
                    <a:bodyPr/>
                    <a:lstStyle/>
                    <a:p>
                      <a:pPr algn="ctr"/>
                      <a:r>
                        <a:rPr lang="en-US" sz="1200" dirty="0"/>
                        <a:t>Yes</a:t>
                      </a:r>
                      <a:endParaRPr lang="th-TH" sz="1200" dirty="0"/>
                    </a:p>
                  </a:txBody>
                  <a:tcPr/>
                </a:tc>
                <a:tc>
                  <a:txBody>
                    <a:bodyPr/>
                    <a:lstStyle/>
                    <a:p>
                      <a:r>
                        <a:rPr lang="en-US" sz="1200" dirty="0"/>
                        <a:t>6/9</a:t>
                      </a:r>
                    </a:p>
                  </a:txBody>
                  <a:tcPr/>
                </a:tc>
                <a:tc>
                  <a:txBody>
                    <a:bodyPr/>
                    <a:lstStyle/>
                    <a:p>
                      <a:r>
                        <a:rPr lang="en-US" sz="1200" dirty="0"/>
                        <a:t>1/5</a:t>
                      </a:r>
                    </a:p>
                  </a:txBody>
                  <a:tcPr/>
                </a:tc>
                <a:tc>
                  <a:txBody>
                    <a:bodyPr/>
                    <a:lstStyle/>
                    <a:p>
                      <a:pPr algn="ctr"/>
                      <a:r>
                        <a:rPr lang="en-US" sz="1200" dirty="0"/>
                        <a:t>Excellent</a:t>
                      </a:r>
                      <a:endParaRPr lang="th-TH" sz="1200" dirty="0"/>
                    </a:p>
                  </a:txBody>
                  <a:tcPr/>
                </a:tc>
                <a:tc>
                  <a:txBody>
                    <a:bodyPr/>
                    <a:lstStyle/>
                    <a:p>
                      <a:pPr algn="ctr"/>
                      <a:r>
                        <a:rPr lang="en-US" sz="1200" dirty="0"/>
                        <a:t>3/9</a:t>
                      </a:r>
                      <a:endParaRPr lang="th-TH" sz="1200" dirty="0"/>
                    </a:p>
                  </a:txBody>
                  <a:tcPr/>
                </a:tc>
                <a:tc>
                  <a:txBody>
                    <a:bodyPr/>
                    <a:lstStyle/>
                    <a:p>
                      <a:pPr algn="ctr"/>
                      <a:r>
                        <a:rPr lang="en-US" sz="1200" dirty="0"/>
                        <a:t>3/5</a:t>
                      </a:r>
                      <a:endParaRPr lang="th-TH" sz="1200" dirty="0"/>
                    </a:p>
                  </a:txBody>
                  <a:tcPr/>
                </a:tc>
                <a:tc>
                  <a:txBody>
                    <a:bodyPr/>
                    <a:lstStyle/>
                    <a:p>
                      <a:pPr algn="ctr"/>
                      <a:r>
                        <a:rPr lang="en-US" sz="1200" dirty="0"/>
                        <a:t>9/14</a:t>
                      </a:r>
                      <a:endParaRPr lang="th-TH" sz="1200" dirty="0"/>
                    </a:p>
                  </a:txBody>
                  <a:tcPr/>
                </a:tc>
                <a:tc>
                  <a:txBody>
                    <a:bodyPr/>
                    <a:lstStyle/>
                    <a:p>
                      <a:pPr algn="ctr"/>
                      <a:r>
                        <a:rPr lang="en-US" sz="1200" dirty="0"/>
                        <a:t>5/14</a:t>
                      </a:r>
                      <a:endParaRPr lang="th-TH" sz="1200" dirty="0"/>
                    </a:p>
                  </a:txBody>
                  <a:tcPr/>
                </a:tc>
                <a:extLst>
                  <a:ext uri="{0D108BD9-81ED-4DB2-BD59-A6C34878D82A}">
                    <a16:rowId xmlns:a16="http://schemas.microsoft.com/office/drawing/2014/main" val="10002"/>
                  </a:ext>
                </a:extLst>
              </a:tr>
              <a:tr h="304071">
                <a:tc>
                  <a:txBody>
                    <a:bodyPr/>
                    <a:lstStyle/>
                    <a:p>
                      <a:r>
                        <a:rPr lang="en-US" sz="1200" dirty="0"/>
                        <a:t>31..40</a:t>
                      </a:r>
                      <a:endParaRPr lang="th-TH" sz="1200" dirty="0"/>
                    </a:p>
                  </a:txBody>
                  <a:tcPr/>
                </a:tc>
                <a:tc>
                  <a:txBody>
                    <a:bodyPr/>
                    <a:lstStyle/>
                    <a:p>
                      <a:pPr algn="ctr"/>
                      <a:r>
                        <a:rPr lang="en-US" sz="1200" dirty="0">
                          <a:solidFill>
                            <a:schemeClr val="tx1"/>
                          </a:solidFill>
                        </a:rPr>
                        <a:t>4/9</a:t>
                      </a:r>
                      <a:endParaRPr lang="th-TH" sz="1200" dirty="0">
                        <a:solidFill>
                          <a:schemeClr val="tx1"/>
                        </a:solidFill>
                      </a:endParaRPr>
                    </a:p>
                  </a:txBody>
                  <a:tcPr/>
                </a:tc>
                <a:tc>
                  <a:txBody>
                    <a:bodyPr/>
                    <a:lstStyle/>
                    <a:p>
                      <a:pPr algn="ctr"/>
                      <a:r>
                        <a:rPr lang="en-US" sz="1200" dirty="0">
                          <a:solidFill>
                            <a:schemeClr val="tx1"/>
                          </a:solidFill>
                        </a:rPr>
                        <a:t>0/5</a:t>
                      </a:r>
                      <a:endParaRPr lang="th-TH" sz="1200" dirty="0">
                        <a:solidFill>
                          <a:schemeClr val="tx1"/>
                        </a:solidFill>
                      </a:endParaRPr>
                    </a:p>
                  </a:txBody>
                  <a:tcPr/>
                </a:tc>
                <a:tc>
                  <a:txBody>
                    <a:bodyPr/>
                    <a:lstStyle/>
                    <a:p>
                      <a:pPr algn="ctr"/>
                      <a:r>
                        <a:rPr lang="en-US" sz="1200" dirty="0"/>
                        <a:t>Medium</a:t>
                      </a:r>
                      <a:endParaRPr lang="th-TH" sz="1200" dirty="0"/>
                    </a:p>
                  </a:txBody>
                  <a:tcPr/>
                </a:tc>
                <a:tc>
                  <a:txBody>
                    <a:bodyPr/>
                    <a:lstStyle/>
                    <a:p>
                      <a:pPr algn="ctr"/>
                      <a:r>
                        <a:rPr lang="en-US" sz="1200" dirty="0"/>
                        <a:t>4/9</a:t>
                      </a:r>
                      <a:endParaRPr lang="th-TH" sz="1200" dirty="0"/>
                    </a:p>
                  </a:txBody>
                  <a:tcPr/>
                </a:tc>
                <a:tc>
                  <a:txBody>
                    <a:bodyPr/>
                    <a:lstStyle/>
                    <a:p>
                      <a:pPr algn="ctr"/>
                      <a:r>
                        <a:rPr lang="en-US" sz="1200" dirty="0"/>
                        <a:t>2/5</a:t>
                      </a:r>
                      <a:endParaRPr lang="th-TH" sz="1200" dirty="0"/>
                    </a:p>
                  </a:txBody>
                  <a:tcPr/>
                </a:tc>
                <a:tc>
                  <a:txBody>
                    <a:bodyPr/>
                    <a:lstStyle/>
                    <a:p>
                      <a:pPr algn="ctr"/>
                      <a:r>
                        <a:rPr lang="en-US" sz="1200" dirty="0"/>
                        <a:t>No</a:t>
                      </a:r>
                      <a:endParaRPr lang="th-TH" sz="1200" dirty="0"/>
                    </a:p>
                  </a:txBody>
                  <a:tcPr/>
                </a:tc>
                <a:tc>
                  <a:txBody>
                    <a:bodyPr/>
                    <a:lstStyle/>
                    <a:p>
                      <a:pPr algn="ctr"/>
                      <a:r>
                        <a:rPr lang="en-US" sz="1200" dirty="0"/>
                        <a:t>3/9</a:t>
                      </a:r>
                      <a:endParaRPr lang="th-TH" sz="1200" dirty="0"/>
                    </a:p>
                  </a:txBody>
                  <a:tcPr/>
                </a:tc>
                <a:tc>
                  <a:txBody>
                    <a:bodyPr/>
                    <a:lstStyle/>
                    <a:p>
                      <a:pPr algn="ctr"/>
                      <a:r>
                        <a:rPr lang="en-US" sz="1200" dirty="0"/>
                        <a:t>4/5</a:t>
                      </a:r>
                      <a:endParaRPr lang="th-TH" sz="1200" dirty="0"/>
                    </a:p>
                  </a:txBody>
                  <a:tcPr/>
                </a:tc>
                <a:tc>
                  <a:txBody>
                    <a:bodyPr/>
                    <a:lstStyle/>
                    <a:p>
                      <a:pPr algn="ctr"/>
                      <a:r>
                        <a:rPr lang="en-US" sz="1200" dirty="0"/>
                        <a:t>Fair</a:t>
                      </a:r>
                      <a:endParaRPr lang="th-TH" sz="1200" dirty="0"/>
                    </a:p>
                  </a:txBody>
                  <a:tcPr/>
                </a:tc>
                <a:tc>
                  <a:txBody>
                    <a:bodyPr/>
                    <a:lstStyle/>
                    <a:p>
                      <a:pPr algn="ctr"/>
                      <a:r>
                        <a:rPr lang="en-US" sz="1200" dirty="0"/>
                        <a:t>6/9</a:t>
                      </a:r>
                      <a:endParaRPr lang="th-TH" sz="1200" dirty="0"/>
                    </a:p>
                  </a:txBody>
                  <a:tcPr/>
                </a:tc>
                <a:tc>
                  <a:txBody>
                    <a:bodyPr/>
                    <a:lstStyle/>
                    <a:p>
                      <a:pPr algn="ctr"/>
                      <a:r>
                        <a:rPr lang="en-US" sz="1200" dirty="0"/>
                        <a:t>2/5</a:t>
                      </a:r>
                      <a:endParaRPr lang="th-TH" sz="1200" dirty="0"/>
                    </a:p>
                  </a:txBody>
                  <a:tcPr/>
                </a:tc>
                <a:tc>
                  <a:txBody>
                    <a:bodyPr/>
                    <a:lstStyle/>
                    <a:p>
                      <a:pPr algn="ctr"/>
                      <a:endParaRPr lang="th-TH" sz="1200" dirty="0"/>
                    </a:p>
                  </a:txBody>
                  <a:tcPr/>
                </a:tc>
                <a:tc>
                  <a:txBody>
                    <a:bodyPr/>
                    <a:lstStyle/>
                    <a:p>
                      <a:pPr algn="ctr"/>
                      <a:endParaRPr lang="th-TH" sz="1200" dirty="0"/>
                    </a:p>
                  </a:txBody>
                  <a:tcPr/>
                </a:tc>
                <a:extLst>
                  <a:ext uri="{0D108BD9-81ED-4DB2-BD59-A6C34878D82A}">
                    <a16:rowId xmlns:a16="http://schemas.microsoft.com/office/drawing/2014/main" val="10003"/>
                  </a:ext>
                </a:extLst>
              </a:tr>
              <a:tr h="304071">
                <a:tc>
                  <a:txBody>
                    <a:bodyPr/>
                    <a:lstStyle/>
                    <a:p>
                      <a:r>
                        <a:rPr lang="en-US" sz="1200" dirty="0"/>
                        <a:t>&gt;40</a:t>
                      </a:r>
                      <a:endParaRPr lang="th-TH" sz="1200" dirty="0"/>
                    </a:p>
                  </a:txBody>
                  <a:tcPr/>
                </a:tc>
                <a:tc>
                  <a:txBody>
                    <a:bodyPr/>
                    <a:lstStyle/>
                    <a:p>
                      <a:pPr algn="ctr"/>
                      <a:r>
                        <a:rPr lang="en-US" sz="1200" dirty="0"/>
                        <a:t>3/9</a:t>
                      </a:r>
                      <a:endParaRPr lang="th-TH" sz="1200" dirty="0"/>
                    </a:p>
                  </a:txBody>
                  <a:tcPr/>
                </a:tc>
                <a:tc>
                  <a:txBody>
                    <a:bodyPr/>
                    <a:lstStyle/>
                    <a:p>
                      <a:pPr algn="ctr"/>
                      <a:r>
                        <a:rPr lang="en-US" sz="1200" dirty="0"/>
                        <a:t>2/5</a:t>
                      </a:r>
                      <a:endParaRPr lang="th-TH" sz="1200" dirty="0"/>
                    </a:p>
                  </a:txBody>
                  <a:tcPr/>
                </a:tc>
                <a:tc>
                  <a:txBody>
                    <a:bodyPr/>
                    <a:lstStyle/>
                    <a:p>
                      <a:pPr algn="ctr"/>
                      <a:r>
                        <a:rPr lang="en-US" sz="1200" dirty="0"/>
                        <a:t>Low</a:t>
                      </a:r>
                      <a:endParaRPr lang="th-TH" sz="1200" dirty="0"/>
                    </a:p>
                  </a:txBody>
                  <a:tcPr/>
                </a:tc>
                <a:tc>
                  <a:txBody>
                    <a:bodyPr/>
                    <a:lstStyle/>
                    <a:p>
                      <a:pPr algn="ctr"/>
                      <a:r>
                        <a:rPr lang="en-US" sz="1200" dirty="0"/>
                        <a:t>3/9</a:t>
                      </a:r>
                      <a:endParaRPr lang="th-TH" sz="1200" dirty="0"/>
                    </a:p>
                  </a:txBody>
                  <a:tcPr/>
                </a:tc>
                <a:tc>
                  <a:txBody>
                    <a:bodyPr/>
                    <a:lstStyle/>
                    <a:p>
                      <a:pPr algn="ctr"/>
                      <a:r>
                        <a:rPr lang="en-US" sz="1200" dirty="0"/>
                        <a:t>1/5</a:t>
                      </a: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tc>
                  <a:txBody>
                    <a:bodyPr/>
                    <a:lstStyle/>
                    <a:p>
                      <a:pPr algn="ctr"/>
                      <a:endParaRPr lang="th-TH" sz="1200" dirty="0"/>
                    </a:p>
                  </a:txBody>
                  <a:tcPr/>
                </a:tc>
                <a:extLst>
                  <a:ext uri="{0D108BD9-81ED-4DB2-BD59-A6C34878D82A}">
                    <a16:rowId xmlns:a16="http://schemas.microsoft.com/office/drawing/2014/main" val="10004"/>
                  </a:ext>
                </a:extLst>
              </a:tr>
            </a:tbl>
          </a:graphicData>
        </a:graphic>
      </p:graphicFrame>
      <p:sp>
        <p:nvSpPr>
          <p:cNvPr id="7" name="Rectangle 6"/>
          <p:cNvSpPr/>
          <p:nvPr/>
        </p:nvSpPr>
        <p:spPr>
          <a:xfrm>
            <a:off x="304800" y="6400800"/>
            <a:ext cx="8610600" cy="369332"/>
          </a:xfrm>
          <a:prstGeom prst="rect">
            <a:avLst/>
          </a:prstGeom>
        </p:spPr>
        <p:txBody>
          <a:bodyPr wrap="square">
            <a:spAutoFit/>
          </a:bodyPr>
          <a:lstStyle/>
          <a:p>
            <a:pPr>
              <a:spcBef>
                <a:spcPct val="50000"/>
              </a:spcBef>
            </a:pPr>
            <a:r>
              <a:rPr lang="en-US" dirty="0"/>
              <a:t>probability of “yes”  is  0.8057 therefore X belongs to (“</a:t>
            </a:r>
            <a:r>
              <a:rPr lang="en-US" dirty="0" err="1"/>
              <a:t>buy_computer</a:t>
            </a:r>
            <a:r>
              <a:rPr lang="en-US" dirty="0"/>
              <a:t> = yes”)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r>
              <a:rPr lang="en-US" sz="3200" dirty="0"/>
              <a:t>Naïve Bayesian Classifier:  Exercise</a:t>
            </a:r>
          </a:p>
        </p:txBody>
      </p:sp>
      <p:graphicFrame>
        <p:nvGraphicFramePr>
          <p:cNvPr id="1077251" name="Object 3"/>
          <p:cNvGraphicFramePr>
            <a:graphicFrameLocks noChangeAspect="1"/>
          </p:cNvGraphicFramePr>
          <p:nvPr>
            <p:extLst>
              <p:ext uri="{D42A27DB-BD31-4B8C-83A1-F6EECF244321}">
                <p14:modId xmlns:p14="http://schemas.microsoft.com/office/powerpoint/2010/main" val="1335444236"/>
              </p:ext>
            </p:extLst>
          </p:nvPr>
        </p:nvGraphicFramePr>
        <p:xfrm>
          <a:off x="304800" y="1447800"/>
          <a:ext cx="5800725" cy="4419600"/>
        </p:xfrm>
        <a:graphic>
          <a:graphicData uri="http://schemas.openxmlformats.org/presentationml/2006/ole">
            <mc:AlternateContent xmlns:mc="http://schemas.openxmlformats.org/markup-compatibility/2006">
              <mc:Choice xmlns:v="urn:schemas-microsoft-com:vml" Requires="v">
                <p:oleObj spid="_x0000_s498712" name="Worksheet" r:id="rId3" imgW="6048000" imgH="4235760" progId="Excel.Sheet.8">
                  <p:embed/>
                </p:oleObj>
              </mc:Choice>
              <mc:Fallback>
                <p:oleObj name="Worksheet" r:id="rId3" imgW="6048000" imgH="4235760" progId="Excel.Shee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447800"/>
                        <a:ext cx="5800725" cy="441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1077252" name="Object 4"/>
          <p:cNvGraphicFramePr>
            <a:graphicFrameLocks noChangeAspect="1"/>
          </p:cNvGraphicFramePr>
          <p:nvPr>
            <p:extLst>
              <p:ext uri="{D42A27DB-BD31-4B8C-83A1-F6EECF244321}">
                <p14:modId xmlns:p14="http://schemas.microsoft.com/office/powerpoint/2010/main" val="1648175026"/>
              </p:ext>
            </p:extLst>
          </p:nvPr>
        </p:nvGraphicFramePr>
        <p:xfrm>
          <a:off x="304800" y="6019800"/>
          <a:ext cx="5791200" cy="492413"/>
        </p:xfrm>
        <a:graphic>
          <a:graphicData uri="http://schemas.openxmlformats.org/presentationml/2006/ole">
            <mc:AlternateContent xmlns:mc="http://schemas.openxmlformats.org/markup-compatibility/2006">
              <mc:Choice xmlns:v="urn:schemas-microsoft-com:vml" Requires="v">
                <p:oleObj spid="_x0000_s498713" name="Worksheet" r:id="rId5" imgW="5152949" imgH="438302" progId="Excel.Sheet.8">
                  <p:embed/>
                </p:oleObj>
              </mc:Choice>
              <mc:Fallback>
                <p:oleObj name="Worksheet" r:id="rId5" imgW="5152949" imgH="438302" progId="Excel.Sheet.8">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6019800"/>
                        <a:ext cx="5791200" cy="492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077254" name="Text Box 6"/>
          <p:cNvSpPr txBox="1">
            <a:spLocks noChangeArrowheads="1"/>
          </p:cNvSpPr>
          <p:nvPr/>
        </p:nvSpPr>
        <p:spPr bwMode="auto">
          <a:xfrm>
            <a:off x="6248400" y="1447800"/>
            <a:ext cx="2362200" cy="23083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dirty="0"/>
              <a:t>The given data belongs to which class (mammals/non-mammals)?</a:t>
            </a:r>
          </a:p>
          <a:p>
            <a:pPr>
              <a:spcBef>
                <a:spcPct val="50000"/>
              </a:spcBef>
            </a:pPr>
            <a:endParaRPr lang="en-US" dirty="0"/>
          </a:p>
          <a:p>
            <a:pPr>
              <a:spcBef>
                <a:spcPct val="50000"/>
              </a:spcBef>
            </a:pPr>
            <a:r>
              <a:rPr lang="en-US" dirty="0"/>
              <a:t>Use Naïve Bayesian classifier.</a:t>
            </a:r>
          </a:p>
        </p:txBody>
      </p:sp>
    </p:spTree>
    <p:extLst>
      <p:ext uri="{BB962C8B-B14F-4D97-AF65-F5344CB8AC3E}">
        <p14:creationId xmlns:p14="http://schemas.microsoft.com/office/powerpoint/2010/main" val="3622478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Naïve Bayes Classifier: Comments</a:t>
            </a:r>
            <a:endParaRPr lang="id-ID" dirty="0"/>
          </a:p>
        </p:txBody>
      </p:sp>
      <p:sp>
        <p:nvSpPr>
          <p:cNvPr id="3" name="Content Placeholder 2"/>
          <p:cNvSpPr>
            <a:spLocks noGrp="1"/>
          </p:cNvSpPr>
          <p:nvPr>
            <p:ph idx="1"/>
          </p:nvPr>
        </p:nvSpPr>
        <p:spPr>
          <a:xfrm>
            <a:off x="628650" y="1371600"/>
            <a:ext cx="7886700" cy="5105400"/>
          </a:xfrm>
        </p:spPr>
        <p:txBody>
          <a:bodyPr>
            <a:normAutofit fontScale="92500" lnSpcReduction="10000"/>
          </a:bodyPr>
          <a:lstStyle/>
          <a:p>
            <a:r>
              <a:rPr lang="en-US" sz="3000" dirty="0">
                <a:solidFill>
                  <a:srgbClr val="C00000"/>
                </a:solidFill>
              </a:rPr>
              <a:t>Advantages </a:t>
            </a:r>
            <a:endParaRPr lang="en-US" sz="2400" dirty="0">
              <a:solidFill>
                <a:srgbClr val="C00000"/>
              </a:solidFill>
            </a:endParaRPr>
          </a:p>
          <a:p>
            <a:pPr lvl="1"/>
            <a:r>
              <a:rPr lang="en-US" dirty="0"/>
              <a:t>Easy to implement </a:t>
            </a:r>
          </a:p>
          <a:p>
            <a:pPr lvl="1"/>
            <a:r>
              <a:rPr lang="en-US" dirty="0"/>
              <a:t>Good results obtained in most of the cases</a:t>
            </a:r>
          </a:p>
          <a:p>
            <a:r>
              <a:rPr lang="en-US" sz="3000" dirty="0">
                <a:solidFill>
                  <a:srgbClr val="C00000"/>
                </a:solidFill>
              </a:rPr>
              <a:t>Disadvantages</a:t>
            </a:r>
            <a:endParaRPr lang="en-US" sz="2400" dirty="0">
              <a:solidFill>
                <a:srgbClr val="C00000"/>
              </a:solidFill>
            </a:endParaRPr>
          </a:p>
          <a:p>
            <a:pPr lvl="1"/>
            <a:r>
              <a:rPr lang="en-US" dirty="0"/>
              <a:t>Assumption: </a:t>
            </a:r>
            <a:r>
              <a:rPr lang="en-US" dirty="0">
                <a:solidFill>
                  <a:srgbClr val="0070C0"/>
                </a:solidFill>
              </a:rPr>
              <a:t>class conditional independence</a:t>
            </a:r>
            <a:r>
              <a:rPr lang="en-US" dirty="0"/>
              <a:t>, therefore loss of accuracy</a:t>
            </a:r>
          </a:p>
          <a:p>
            <a:pPr lvl="1"/>
            <a:r>
              <a:rPr lang="en-US" dirty="0"/>
              <a:t>Practically, </a:t>
            </a:r>
            <a:r>
              <a:rPr lang="en-US" dirty="0">
                <a:solidFill>
                  <a:srgbClr val="0070C0"/>
                </a:solidFill>
              </a:rPr>
              <a:t>dependencies exist among variables</a:t>
            </a:r>
            <a:r>
              <a:rPr lang="en-US" dirty="0"/>
              <a:t>, e.g.:</a:t>
            </a:r>
            <a:endParaRPr lang="en-US" dirty="0">
              <a:solidFill>
                <a:srgbClr val="0070C0"/>
              </a:solidFill>
            </a:endParaRPr>
          </a:p>
          <a:p>
            <a:pPr lvl="2"/>
            <a:r>
              <a:rPr lang="en-US" dirty="0"/>
              <a:t>Hospitals Patients Profile: age, family history, etc. </a:t>
            </a:r>
          </a:p>
          <a:p>
            <a:pPr lvl="2"/>
            <a:r>
              <a:rPr lang="en-US" sz="1900" dirty="0"/>
              <a:t>Symptoms: fever, cough etc.,</a:t>
            </a:r>
          </a:p>
          <a:p>
            <a:pPr lvl="2"/>
            <a:r>
              <a:rPr lang="en-US" sz="1900" dirty="0"/>
              <a:t>Disease: lung cancer, diabetes, etc. </a:t>
            </a:r>
          </a:p>
          <a:p>
            <a:pPr lvl="1"/>
            <a:r>
              <a:rPr lang="en-US" dirty="0"/>
              <a:t>Dependencies among these </a:t>
            </a:r>
            <a:r>
              <a:rPr lang="en-US" dirty="0">
                <a:solidFill>
                  <a:srgbClr val="0070C0"/>
                </a:solidFill>
              </a:rPr>
              <a:t>cannot be modeled by Naïve Bayes Classifier</a:t>
            </a:r>
          </a:p>
          <a:p>
            <a:r>
              <a:rPr lang="en-US" sz="2400" dirty="0"/>
              <a:t>How to deal with these dependencies? </a:t>
            </a:r>
            <a:r>
              <a:rPr lang="en-US" sz="2400" dirty="0">
                <a:solidFill>
                  <a:srgbClr val="C00000"/>
                </a:solidFill>
              </a:rPr>
              <a:t>Bayesian Belief Networks</a:t>
            </a:r>
          </a:p>
        </p:txBody>
      </p:sp>
      <p:sp>
        <p:nvSpPr>
          <p:cNvPr id="5" name="Slide Number Placeholder 4"/>
          <p:cNvSpPr>
            <a:spLocks noGrp="1"/>
          </p:cNvSpPr>
          <p:nvPr>
            <p:ph type="sldNum" sz="quarter" idx="12"/>
          </p:nvPr>
        </p:nvSpPr>
        <p:spPr/>
        <p:txBody>
          <a:bodyPr/>
          <a:lstStyle/>
          <a:p>
            <a:fld id="{C546E0E4-908A-4724-B308-E4F6AE4FA0DD}" type="slidenum">
              <a:rPr lang="en-US" smtClean="0">
                <a:solidFill>
                  <a:prstClr val="black">
                    <a:tint val="75000"/>
                  </a:prstClr>
                </a:solidFill>
              </a:rPr>
              <a:pPr/>
              <a:t>36</a:t>
            </a:fld>
            <a:endParaRPr lang="en-US" dirty="0">
              <a:solidFill>
                <a:prstClr val="black">
                  <a:tint val="75000"/>
                </a:prstClr>
              </a:solidFill>
            </a:endParaRPr>
          </a:p>
        </p:txBody>
      </p:sp>
    </p:spTree>
    <p:extLst>
      <p:ext uri="{BB962C8B-B14F-4D97-AF65-F5344CB8AC3E}">
        <p14:creationId xmlns:p14="http://schemas.microsoft.com/office/powerpoint/2010/main" val="371718358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503238"/>
            <a:ext cx="8172450" cy="406400"/>
          </a:xfrm>
          <a:noFill/>
        </p:spPr>
        <p:txBody>
          <a:bodyPr lIns="92075" tIns="46038" rIns="92075" bIns="46038" anchor="ctr"/>
          <a:lstStyle/>
          <a:p>
            <a:pPr eaLnBrk="1" hangingPunct="1"/>
            <a:r>
              <a:rPr lang="en-US" altLang="en-US"/>
              <a:t>The </a:t>
            </a:r>
            <a:r>
              <a:rPr lang="en-US" altLang="en-US" i="1"/>
              <a:t>k</a:t>
            </a:r>
            <a:r>
              <a:rPr lang="en-US" altLang="en-US"/>
              <a:t>-Nearest Neighbor (k-NN) Algorithm</a:t>
            </a:r>
            <a:endParaRPr lang="en-US" altLang="en-US" sz="3200"/>
          </a:p>
        </p:txBody>
      </p:sp>
      <p:sp>
        <p:nvSpPr>
          <p:cNvPr id="41987" name="Rectangle 3"/>
          <p:cNvSpPr>
            <a:spLocks noGrp="1" noChangeArrowheads="1"/>
          </p:cNvSpPr>
          <p:nvPr>
            <p:ph type="body" idx="1"/>
          </p:nvPr>
        </p:nvSpPr>
        <p:spPr>
          <a:xfrm>
            <a:off x="609600" y="1447800"/>
            <a:ext cx="7924800" cy="5105400"/>
          </a:xfrm>
          <a:noFill/>
        </p:spPr>
        <p:txBody>
          <a:bodyPr lIns="92075" tIns="46038" rIns="92075" bIns="46038"/>
          <a:lstStyle/>
          <a:p>
            <a:pPr eaLnBrk="1" hangingPunct="1">
              <a:lnSpc>
                <a:spcPct val="90000"/>
              </a:lnSpc>
            </a:pPr>
            <a:r>
              <a:rPr lang="en-US" altLang="en-US" sz="2400"/>
              <a:t>All instances correspond to points in the n-D space</a:t>
            </a:r>
          </a:p>
          <a:p>
            <a:pPr eaLnBrk="1" hangingPunct="1">
              <a:lnSpc>
                <a:spcPct val="90000"/>
              </a:lnSpc>
            </a:pPr>
            <a:r>
              <a:rPr lang="en-US" altLang="en-US" sz="2400"/>
              <a:t>The nearest neighbor are defined in terms of Euclidean distance, dist(</a:t>
            </a:r>
            <a:r>
              <a:rPr lang="en-US" altLang="en-US" sz="2400" b="1"/>
              <a:t>X</a:t>
            </a:r>
            <a:r>
              <a:rPr lang="en-US" altLang="en-US" sz="2400" b="1" baseline="-25000"/>
              <a:t>1</a:t>
            </a:r>
            <a:r>
              <a:rPr lang="en-US" altLang="en-US" sz="2400"/>
              <a:t>, </a:t>
            </a:r>
            <a:r>
              <a:rPr lang="en-US" altLang="en-US" sz="2400" b="1"/>
              <a:t>X</a:t>
            </a:r>
            <a:r>
              <a:rPr lang="en-US" altLang="en-US" sz="2400" b="1" baseline="-25000"/>
              <a:t>2</a:t>
            </a:r>
            <a:r>
              <a:rPr lang="en-US" altLang="en-US" sz="2400"/>
              <a:t>)</a:t>
            </a:r>
          </a:p>
          <a:p>
            <a:pPr eaLnBrk="1" hangingPunct="1">
              <a:lnSpc>
                <a:spcPct val="90000"/>
              </a:lnSpc>
            </a:pPr>
            <a:r>
              <a:rPr lang="en-US" altLang="en-US" sz="2400"/>
              <a:t>Target function could be discrete- or real- valued</a:t>
            </a:r>
          </a:p>
          <a:p>
            <a:pPr eaLnBrk="1" hangingPunct="1">
              <a:lnSpc>
                <a:spcPct val="90000"/>
              </a:lnSpc>
            </a:pPr>
            <a:r>
              <a:rPr lang="en-US" altLang="en-US" sz="2400"/>
              <a:t>For discrete-valued, </a:t>
            </a:r>
            <a:r>
              <a:rPr lang="en-US" altLang="en-US" sz="2400" i="1"/>
              <a:t>k</a:t>
            </a:r>
            <a:r>
              <a:rPr lang="en-US" altLang="en-US" sz="2400"/>
              <a:t>-NN returns the most common value  (= majority vote) among the </a:t>
            </a:r>
            <a:r>
              <a:rPr lang="en-US" altLang="en-US" sz="2400" i="1"/>
              <a:t>k</a:t>
            </a:r>
            <a:r>
              <a:rPr lang="en-US" altLang="en-US" sz="2400"/>
              <a:t> training examples nearest to</a:t>
            </a:r>
            <a:r>
              <a:rPr lang="en-US" altLang="en-US" sz="2000"/>
              <a:t> </a:t>
            </a:r>
            <a:r>
              <a:rPr lang="en-US" altLang="en-US" sz="2400" i="1"/>
              <a:t>x</a:t>
            </a:r>
            <a:r>
              <a:rPr lang="en-US" altLang="en-US" sz="1800" i="1" baseline="-25000"/>
              <a:t>q</a:t>
            </a:r>
            <a:endParaRPr lang="en-US" altLang="en-US" sz="2400"/>
          </a:p>
          <a:p>
            <a:pPr eaLnBrk="1" hangingPunct="1">
              <a:lnSpc>
                <a:spcPct val="90000"/>
              </a:lnSpc>
            </a:pPr>
            <a:r>
              <a:rPr lang="en-US" altLang="en-US" sz="2400"/>
              <a:t>Vonoroi diagram: the decision surface induced by 1-NN for a typical set of training examples</a:t>
            </a:r>
          </a:p>
        </p:txBody>
      </p:sp>
      <p:sp>
        <p:nvSpPr>
          <p:cNvPr id="41988" name="Rectangle 4"/>
          <p:cNvSpPr>
            <a:spLocks noChangeArrowheads="1"/>
          </p:cNvSpPr>
          <p:nvPr/>
        </p:nvSpPr>
        <p:spPr bwMode="auto">
          <a:xfrm>
            <a:off x="685800" y="4864100"/>
            <a:ext cx="3581400" cy="1752600"/>
          </a:xfrm>
          <a:prstGeom prst="rect">
            <a:avLst/>
          </a:prstGeom>
          <a:solidFill>
            <a:srgbClr val="FFFFCC"/>
          </a:solidFill>
          <a:ln w="12700">
            <a:solidFill>
              <a:schemeClr val="tx1"/>
            </a:solidFill>
            <a:miter lim="800000"/>
            <a:headEnd type="none" w="sm" len="sm"/>
            <a:tailEnd type="none" w="sm" len="sm"/>
          </a:ln>
        </p:spPr>
        <p:txBody>
          <a:bodyPr wrap="none" anchor="ctr"/>
          <a:lstStyle/>
          <a:p>
            <a:pPr algn="ctr" eaLnBrk="0" hangingPunct="0"/>
            <a:endParaRPr lang="en-US" altLang="en-US" b="1">
              <a:solidFill>
                <a:srgbClr val="FFFFCC"/>
              </a:solidFill>
              <a:latin typeface="Times New Roman" charset="0"/>
            </a:endParaRPr>
          </a:p>
        </p:txBody>
      </p:sp>
      <p:sp>
        <p:nvSpPr>
          <p:cNvPr id="41989" name="Rectangle 5"/>
          <p:cNvSpPr>
            <a:spLocks noChangeArrowheads="1"/>
          </p:cNvSpPr>
          <p:nvPr/>
        </p:nvSpPr>
        <p:spPr bwMode="auto">
          <a:xfrm>
            <a:off x="4648200" y="4864100"/>
            <a:ext cx="3505200" cy="1752600"/>
          </a:xfrm>
          <a:prstGeom prst="rect">
            <a:avLst/>
          </a:prstGeom>
          <a:solidFill>
            <a:srgbClr val="FFFFCC"/>
          </a:solidFill>
          <a:ln w="12700">
            <a:solidFill>
              <a:schemeClr val="tx1"/>
            </a:solidFill>
            <a:miter lim="800000"/>
            <a:headEnd type="none" w="sm" len="sm"/>
            <a:tailEnd type="none" w="sm" len="sm"/>
          </a:ln>
        </p:spPr>
        <p:txBody>
          <a:bodyPr wrap="none" anchor="ctr"/>
          <a:lstStyle/>
          <a:p>
            <a:pPr algn="ctr" eaLnBrk="0" hangingPunct="0"/>
            <a:endParaRPr lang="en-US" altLang="en-US">
              <a:latin typeface="Times New Roman" charset="0"/>
            </a:endParaRPr>
          </a:p>
        </p:txBody>
      </p:sp>
      <p:sp>
        <p:nvSpPr>
          <p:cNvPr id="41990" name="Oval 6"/>
          <p:cNvSpPr>
            <a:spLocks noChangeArrowheads="1"/>
          </p:cNvSpPr>
          <p:nvPr/>
        </p:nvSpPr>
        <p:spPr bwMode="auto">
          <a:xfrm>
            <a:off x="1752600" y="5321300"/>
            <a:ext cx="1371600" cy="1295400"/>
          </a:xfrm>
          <a:prstGeom prst="ellipse">
            <a:avLst/>
          </a:prstGeom>
          <a:solidFill>
            <a:srgbClr val="FF6699"/>
          </a:solidFill>
          <a:ln w="12700">
            <a:solidFill>
              <a:schemeClr val="tx1"/>
            </a:solidFill>
            <a:round/>
            <a:headEnd type="none" w="sm" len="sm"/>
            <a:tailEnd type="none" w="sm" len="sm"/>
          </a:ln>
        </p:spPr>
        <p:txBody>
          <a:bodyPr wrap="none" anchor="ctr"/>
          <a:lstStyle/>
          <a:p>
            <a:pPr algn="ctr" eaLnBrk="0" hangingPunct="0"/>
            <a:r>
              <a:rPr lang="en-US" altLang="en-US">
                <a:latin typeface="Times New Roman" charset="0"/>
              </a:rPr>
              <a:t>  . </a:t>
            </a:r>
          </a:p>
        </p:txBody>
      </p:sp>
      <p:sp>
        <p:nvSpPr>
          <p:cNvPr id="41991" name="Text Box 7"/>
          <p:cNvSpPr txBox="1">
            <a:spLocks noChangeArrowheads="1"/>
          </p:cNvSpPr>
          <p:nvPr/>
        </p:nvSpPr>
        <p:spPr bwMode="auto">
          <a:xfrm>
            <a:off x="1981200" y="53975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latin typeface="Times New Roman" charset="0"/>
              </a:rPr>
              <a:t>_</a:t>
            </a:r>
          </a:p>
        </p:txBody>
      </p:sp>
      <p:sp>
        <p:nvSpPr>
          <p:cNvPr id="41992" name="Text Box 8"/>
          <p:cNvSpPr txBox="1">
            <a:spLocks noChangeArrowheads="1"/>
          </p:cNvSpPr>
          <p:nvPr/>
        </p:nvSpPr>
        <p:spPr bwMode="auto">
          <a:xfrm>
            <a:off x="2514600" y="5626100"/>
            <a:ext cx="312738"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a:t>
            </a:r>
            <a:endParaRPr lang="en-US" altLang="en-US">
              <a:latin typeface="Times New Roman" charset="0"/>
            </a:endParaRPr>
          </a:p>
        </p:txBody>
      </p:sp>
      <p:sp>
        <p:nvSpPr>
          <p:cNvPr id="41993" name="Text Box 9"/>
          <p:cNvSpPr txBox="1">
            <a:spLocks noChangeArrowheads="1"/>
          </p:cNvSpPr>
          <p:nvPr/>
        </p:nvSpPr>
        <p:spPr bwMode="auto">
          <a:xfrm>
            <a:off x="1828800" y="58547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latin typeface="Times New Roman" charset="0"/>
              </a:rPr>
              <a:t>_</a:t>
            </a:r>
          </a:p>
        </p:txBody>
      </p:sp>
      <p:sp>
        <p:nvSpPr>
          <p:cNvPr id="41994" name="Text Box 10"/>
          <p:cNvSpPr txBox="1">
            <a:spLocks noChangeArrowheads="1"/>
          </p:cNvSpPr>
          <p:nvPr/>
        </p:nvSpPr>
        <p:spPr bwMode="auto">
          <a:xfrm>
            <a:off x="2438400" y="5930900"/>
            <a:ext cx="368300" cy="366713"/>
          </a:xfrm>
          <a:prstGeom prst="rect">
            <a:avLst/>
          </a:prstGeom>
          <a:noFill/>
          <a:ln w="12700">
            <a:noFill/>
            <a:miter lim="800000"/>
            <a:headEnd type="none" w="sm" len="sm"/>
            <a:tailEnd type="none" w="sm" len="sm"/>
          </a:ln>
        </p:spPr>
        <p:txBody>
          <a:bodyPr wrap="none">
            <a:spAutoFit/>
          </a:bodyPr>
          <a:lstStyle/>
          <a:p>
            <a:pPr eaLnBrk="0" hangingPunct="0"/>
            <a:r>
              <a:rPr lang="en-US" altLang="en-US" b="1" i="1">
                <a:solidFill>
                  <a:srgbClr val="001010"/>
                </a:solidFill>
                <a:latin typeface="Times New Roman" charset="0"/>
              </a:rPr>
              <a:t>x</a:t>
            </a:r>
            <a:r>
              <a:rPr lang="en-US" altLang="en-US" sz="1600" b="1" i="1" baseline="-25000">
                <a:solidFill>
                  <a:srgbClr val="001010"/>
                </a:solidFill>
                <a:latin typeface="Times New Roman" charset="0"/>
              </a:rPr>
              <a:t>q</a:t>
            </a:r>
            <a:endParaRPr lang="en-US" altLang="en-US" baseline="-25000">
              <a:latin typeface="Times New Roman" charset="0"/>
            </a:endParaRPr>
          </a:p>
        </p:txBody>
      </p:sp>
      <p:sp>
        <p:nvSpPr>
          <p:cNvPr id="41995" name="Text Box 11"/>
          <p:cNvSpPr txBox="1">
            <a:spLocks noChangeArrowheads="1"/>
          </p:cNvSpPr>
          <p:nvPr/>
        </p:nvSpPr>
        <p:spPr bwMode="auto">
          <a:xfrm>
            <a:off x="2286000" y="6388100"/>
            <a:ext cx="296863" cy="366713"/>
          </a:xfrm>
          <a:prstGeom prst="rect">
            <a:avLst/>
          </a:prstGeom>
          <a:noFill/>
          <a:ln w="12700">
            <a:noFill/>
            <a:miter lim="800000"/>
            <a:headEnd type="none" w="sm" len="sm"/>
            <a:tailEnd type="none" w="sm" len="sm"/>
          </a:ln>
        </p:spPr>
        <p:txBody>
          <a:bodyPr>
            <a:spAutoFit/>
          </a:bodyPr>
          <a:lstStyle/>
          <a:p>
            <a:pPr eaLnBrk="0" hangingPunct="0"/>
            <a:r>
              <a:rPr lang="en-US" altLang="en-US">
                <a:solidFill>
                  <a:srgbClr val="001010"/>
                </a:solidFill>
                <a:latin typeface="Times New Roman" charset="0"/>
              </a:rPr>
              <a:t>+</a:t>
            </a:r>
            <a:endParaRPr lang="en-US" altLang="en-US">
              <a:latin typeface="Times New Roman" charset="0"/>
            </a:endParaRPr>
          </a:p>
        </p:txBody>
      </p:sp>
      <p:sp>
        <p:nvSpPr>
          <p:cNvPr id="41996" name="Text Box 12"/>
          <p:cNvSpPr txBox="1">
            <a:spLocks noChangeArrowheads="1"/>
          </p:cNvSpPr>
          <p:nvPr/>
        </p:nvSpPr>
        <p:spPr bwMode="auto">
          <a:xfrm>
            <a:off x="2590800" y="52451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_</a:t>
            </a:r>
            <a:endParaRPr lang="en-US" altLang="en-US">
              <a:latin typeface="Times New Roman" charset="0"/>
            </a:endParaRPr>
          </a:p>
        </p:txBody>
      </p:sp>
      <p:sp>
        <p:nvSpPr>
          <p:cNvPr id="41997" name="Text Box 13"/>
          <p:cNvSpPr txBox="1">
            <a:spLocks noChangeArrowheads="1"/>
          </p:cNvSpPr>
          <p:nvPr/>
        </p:nvSpPr>
        <p:spPr bwMode="auto">
          <a:xfrm>
            <a:off x="3032125" y="52832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_</a:t>
            </a:r>
            <a:endParaRPr lang="en-US" altLang="en-US">
              <a:latin typeface="Times New Roman" charset="0"/>
            </a:endParaRPr>
          </a:p>
        </p:txBody>
      </p:sp>
      <p:sp>
        <p:nvSpPr>
          <p:cNvPr id="41998" name="Text Box 14"/>
          <p:cNvSpPr txBox="1">
            <a:spLocks noChangeArrowheads="1"/>
          </p:cNvSpPr>
          <p:nvPr/>
        </p:nvSpPr>
        <p:spPr bwMode="auto">
          <a:xfrm>
            <a:off x="1355725" y="5511800"/>
            <a:ext cx="312738"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a:t>
            </a:r>
            <a:endParaRPr lang="en-US" altLang="en-US">
              <a:latin typeface="Times New Roman" charset="0"/>
            </a:endParaRPr>
          </a:p>
        </p:txBody>
      </p:sp>
      <p:sp>
        <p:nvSpPr>
          <p:cNvPr id="41999" name="Text Box 15"/>
          <p:cNvSpPr txBox="1">
            <a:spLocks noChangeArrowheads="1"/>
          </p:cNvSpPr>
          <p:nvPr/>
        </p:nvSpPr>
        <p:spPr bwMode="auto">
          <a:xfrm>
            <a:off x="1584325" y="62738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latin typeface="Times New Roman" charset="0"/>
              </a:rPr>
              <a:t>_</a:t>
            </a:r>
          </a:p>
        </p:txBody>
      </p:sp>
      <p:sp>
        <p:nvSpPr>
          <p:cNvPr id="42000" name="Text Box 16"/>
          <p:cNvSpPr txBox="1">
            <a:spLocks noChangeArrowheads="1"/>
          </p:cNvSpPr>
          <p:nvPr/>
        </p:nvSpPr>
        <p:spPr bwMode="auto">
          <a:xfrm>
            <a:off x="1676400" y="5016500"/>
            <a:ext cx="298450"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_</a:t>
            </a:r>
            <a:endParaRPr lang="en-US" altLang="en-US">
              <a:latin typeface="Times New Roman" charset="0"/>
            </a:endParaRPr>
          </a:p>
        </p:txBody>
      </p:sp>
      <p:sp>
        <p:nvSpPr>
          <p:cNvPr id="42001" name="Text Box 17"/>
          <p:cNvSpPr txBox="1">
            <a:spLocks noChangeArrowheads="1"/>
          </p:cNvSpPr>
          <p:nvPr/>
        </p:nvSpPr>
        <p:spPr bwMode="auto">
          <a:xfrm>
            <a:off x="3108325" y="5892800"/>
            <a:ext cx="312738" cy="366713"/>
          </a:xfrm>
          <a:prstGeom prst="rect">
            <a:avLst/>
          </a:prstGeom>
          <a:noFill/>
          <a:ln w="12700">
            <a:noFill/>
            <a:miter lim="800000"/>
            <a:headEnd type="none" w="sm" len="sm"/>
            <a:tailEnd type="none" w="sm" len="sm"/>
          </a:ln>
        </p:spPr>
        <p:txBody>
          <a:bodyPr wrap="none">
            <a:spAutoFit/>
          </a:bodyPr>
          <a:lstStyle/>
          <a:p>
            <a:pPr eaLnBrk="0" hangingPunct="0"/>
            <a:r>
              <a:rPr lang="en-US" altLang="en-US">
                <a:solidFill>
                  <a:srgbClr val="001010"/>
                </a:solidFill>
                <a:latin typeface="Times New Roman" charset="0"/>
              </a:rPr>
              <a:t>+</a:t>
            </a:r>
            <a:endParaRPr lang="en-US" altLang="en-US">
              <a:latin typeface="Times New Roman" charset="0"/>
            </a:endParaRPr>
          </a:p>
        </p:txBody>
      </p:sp>
      <p:sp>
        <p:nvSpPr>
          <p:cNvPr id="42002" name="Text Box 18"/>
          <p:cNvSpPr txBox="1">
            <a:spLocks noChangeArrowheads="1"/>
          </p:cNvSpPr>
          <p:nvPr/>
        </p:nvSpPr>
        <p:spPr bwMode="auto">
          <a:xfrm>
            <a:off x="5943600" y="4899025"/>
            <a:ext cx="311150" cy="701675"/>
          </a:xfrm>
          <a:prstGeom prst="rect">
            <a:avLst/>
          </a:prstGeom>
          <a:noFill/>
          <a:ln w="12700">
            <a:noFill/>
            <a:miter lim="800000"/>
            <a:headEnd type="none" w="sm" len="sm"/>
            <a:tailEnd type="none" w="sm" len="sm"/>
          </a:ln>
        </p:spPr>
        <p:txBody>
          <a:bodyPr wrap="none">
            <a:spAutoFit/>
          </a:bodyPr>
          <a:lstStyle/>
          <a:p>
            <a:pPr eaLnBrk="0" hangingPunct="0"/>
            <a:r>
              <a:rPr lang="en-US" altLang="en-US" sz="4000" b="1">
                <a:solidFill>
                  <a:srgbClr val="000000"/>
                </a:solidFill>
                <a:latin typeface="Times New Roman" charset="0"/>
              </a:rPr>
              <a:t>.</a:t>
            </a:r>
            <a:endParaRPr lang="en-US" altLang="en-US">
              <a:latin typeface="Times New Roman" charset="0"/>
            </a:endParaRPr>
          </a:p>
        </p:txBody>
      </p:sp>
      <p:sp>
        <p:nvSpPr>
          <p:cNvPr id="42003" name="Line 19"/>
          <p:cNvSpPr>
            <a:spLocks noChangeShapeType="1"/>
          </p:cNvSpPr>
          <p:nvPr/>
        </p:nvSpPr>
        <p:spPr bwMode="auto">
          <a:xfrm>
            <a:off x="5181600" y="5321300"/>
            <a:ext cx="609600" cy="6096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4" name="Line 20"/>
          <p:cNvSpPr>
            <a:spLocks noChangeShapeType="1"/>
          </p:cNvSpPr>
          <p:nvPr/>
        </p:nvSpPr>
        <p:spPr bwMode="auto">
          <a:xfrm flipV="1">
            <a:off x="5791200" y="5549900"/>
            <a:ext cx="1295400" cy="3810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5" name="Line 21"/>
          <p:cNvSpPr>
            <a:spLocks noChangeShapeType="1"/>
          </p:cNvSpPr>
          <p:nvPr/>
        </p:nvSpPr>
        <p:spPr bwMode="auto">
          <a:xfrm>
            <a:off x="5791200" y="6007100"/>
            <a:ext cx="0" cy="3810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6" name="Line 22"/>
          <p:cNvSpPr>
            <a:spLocks noChangeShapeType="1"/>
          </p:cNvSpPr>
          <p:nvPr/>
        </p:nvSpPr>
        <p:spPr bwMode="auto">
          <a:xfrm>
            <a:off x="5791200" y="6388100"/>
            <a:ext cx="1447800" cy="2286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7" name="Line 23"/>
          <p:cNvSpPr>
            <a:spLocks noChangeShapeType="1"/>
          </p:cNvSpPr>
          <p:nvPr/>
        </p:nvSpPr>
        <p:spPr bwMode="auto">
          <a:xfrm flipH="1">
            <a:off x="4953000" y="6388100"/>
            <a:ext cx="838200" cy="1524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8" name="Line 24"/>
          <p:cNvSpPr>
            <a:spLocks noChangeShapeType="1"/>
          </p:cNvSpPr>
          <p:nvPr/>
        </p:nvSpPr>
        <p:spPr bwMode="auto">
          <a:xfrm>
            <a:off x="6781800" y="5626100"/>
            <a:ext cx="228600" cy="914400"/>
          </a:xfrm>
          <a:prstGeom prst="line">
            <a:avLst/>
          </a:prstGeom>
          <a:noFill/>
          <a:ln w="76200">
            <a:solidFill>
              <a:schemeClr val="accent2"/>
            </a:solidFill>
            <a:round/>
            <a:headEnd type="none" w="sm" len="sm"/>
            <a:tailEnd type="none" w="sm" len="sm"/>
          </a:ln>
        </p:spPr>
        <p:txBody>
          <a:bodyPr wrap="none" anchor="ctr"/>
          <a:lstStyle/>
          <a:p>
            <a:endParaRPr lang="en-US"/>
          </a:p>
        </p:txBody>
      </p:sp>
      <p:sp>
        <p:nvSpPr>
          <p:cNvPr id="42009" name="Rectangle 25"/>
          <p:cNvSpPr>
            <a:spLocks noChangeArrowheads="1"/>
          </p:cNvSpPr>
          <p:nvPr/>
        </p:nvSpPr>
        <p:spPr bwMode="auto">
          <a:xfrm>
            <a:off x="6324600" y="5661025"/>
            <a:ext cx="311150" cy="701675"/>
          </a:xfrm>
          <a:prstGeom prst="rect">
            <a:avLst/>
          </a:prstGeom>
          <a:noFill/>
          <a:ln w="12700">
            <a:noFill/>
            <a:miter lim="800000"/>
            <a:headEnd type="none" w="sm" len="sm"/>
            <a:tailEnd type="none" w="sm" len="sm"/>
          </a:ln>
        </p:spPr>
        <p:txBody>
          <a:bodyPr wrap="none">
            <a:spAutoFit/>
          </a:bodyPr>
          <a:lstStyle/>
          <a:p>
            <a:pPr eaLnBrk="0" hangingPunct="0"/>
            <a:r>
              <a:rPr lang="en-US" altLang="en-US" sz="4000" b="1">
                <a:solidFill>
                  <a:srgbClr val="000000"/>
                </a:solidFill>
                <a:latin typeface="Times New Roman" charset="0"/>
              </a:rPr>
              <a:t>.</a:t>
            </a:r>
            <a:endParaRPr lang="en-US" altLang="en-US">
              <a:latin typeface="Times New Roman" charset="0"/>
            </a:endParaRPr>
          </a:p>
        </p:txBody>
      </p:sp>
      <p:sp>
        <p:nvSpPr>
          <p:cNvPr id="42010" name="Text Box 26"/>
          <p:cNvSpPr txBox="1">
            <a:spLocks noChangeArrowheads="1"/>
          </p:cNvSpPr>
          <p:nvPr/>
        </p:nvSpPr>
        <p:spPr bwMode="auto">
          <a:xfrm>
            <a:off x="5775325" y="6156325"/>
            <a:ext cx="311150" cy="701675"/>
          </a:xfrm>
          <a:prstGeom prst="rect">
            <a:avLst/>
          </a:prstGeom>
          <a:noFill/>
          <a:ln w="12700">
            <a:noFill/>
            <a:miter lim="800000"/>
            <a:headEnd type="none" w="sm" len="sm"/>
            <a:tailEnd type="none" w="sm" len="sm"/>
          </a:ln>
        </p:spPr>
        <p:txBody>
          <a:bodyPr wrap="none">
            <a:spAutoFit/>
          </a:bodyPr>
          <a:lstStyle/>
          <a:p>
            <a:pPr eaLnBrk="0" hangingPunct="0"/>
            <a:r>
              <a:rPr lang="en-US" altLang="en-US" sz="4000" b="1">
                <a:solidFill>
                  <a:srgbClr val="000000"/>
                </a:solidFill>
                <a:latin typeface="Times New Roman" charset="0"/>
              </a:rPr>
              <a:t>.</a:t>
            </a:r>
            <a:endParaRPr lang="en-US" altLang="en-US">
              <a:latin typeface="Times New Roman" charset="0"/>
            </a:endParaRPr>
          </a:p>
        </p:txBody>
      </p:sp>
      <p:sp>
        <p:nvSpPr>
          <p:cNvPr id="42011" name="Text Box 27"/>
          <p:cNvSpPr txBox="1">
            <a:spLocks noChangeArrowheads="1"/>
          </p:cNvSpPr>
          <p:nvPr/>
        </p:nvSpPr>
        <p:spPr bwMode="auto">
          <a:xfrm>
            <a:off x="4937125" y="5546725"/>
            <a:ext cx="311150" cy="701675"/>
          </a:xfrm>
          <a:prstGeom prst="rect">
            <a:avLst/>
          </a:prstGeom>
          <a:noFill/>
          <a:ln w="12700">
            <a:noFill/>
            <a:miter lim="800000"/>
            <a:headEnd type="none" w="sm" len="sm"/>
            <a:tailEnd type="none" w="sm" len="sm"/>
          </a:ln>
        </p:spPr>
        <p:txBody>
          <a:bodyPr wrap="none">
            <a:spAutoFit/>
          </a:bodyPr>
          <a:lstStyle/>
          <a:p>
            <a:pPr eaLnBrk="0" hangingPunct="0"/>
            <a:r>
              <a:rPr lang="en-US" altLang="en-US" sz="4000" b="1">
                <a:solidFill>
                  <a:srgbClr val="000000"/>
                </a:solidFill>
                <a:latin typeface="Times New Roman" charset="0"/>
              </a:rPr>
              <a:t>.</a:t>
            </a:r>
            <a:endParaRPr lang="en-US" altLang="en-US">
              <a:latin typeface="Times New Roman" charset="0"/>
            </a:endParaRPr>
          </a:p>
        </p:txBody>
      </p:sp>
      <p:sp>
        <p:nvSpPr>
          <p:cNvPr id="42012" name="Text Box 28"/>
          <p:cNvSpPr txBox="1">
            <a:spLocks noChangeArrowheads="1"/>
          </p:cNvSpPr>
          <p:nvPr/>
        </p:nvSpPr>
        <p:spPr bwMode="auto">
          <a:xfrm>
            <a:off x="7451725" y="5470525"/>
            <a:ext cx="311150" cy="701675"/>
          </a:xfrm>
          <a:prstGeom prst="rect">
            <a:avLst/>
          </a:prstGeom>
          <a:noFill/>
          <a:ln w="12700">
            <a:noFill/>
            <a:miter lim="800000"/>
            <a:headEnd type="none" w="sm" len="sm"/>
            <a:tailEnd type="none" w="sm" len="sm"/>
          </a:ln>
        </p:spPr>
        <p:txBody>
          <a:bodyPr wrap="none">
            <a:spAutoFit/>
          </a:bodyPr>
          <a:lstStyle/>
          <a:p>
            <a:pPr eaLnBrk="0" hangingPunct="0"/>
            <a:r>
              <a:rPr lang="en-US" altLang="en-US" sz="4000" b="1">
                <a:solidFill>
                  <a:srgbClr val="000000"/>
                </a:solidFill>
                <a:latin typeface="Times New Roman" charset="0"/>
              </a:rPr>
              <a:t>.</a:t>
            </a:r>
            <a:endParaRPr lang="en-US" altLang="en-US">
              <a:latin typeface="Times New Roman"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28600" y="76200"/>
            <a:ext cx="8686800" cy="685800"/>
          </a:xfrm>
          <a:noFill/>
        </p:spPr>
        <p:txBody>
          <a:bodyPr lIns="92075" tIns="46038" rIns="92075" bIns="46038" anchor="ctr"/>
          <a:lstStyle/>
          <a:p>
            <a:pPr eaLnBrk="1" hangingPunct="1"/>
            <a:r>
              <a:rPr lang="en-US" altLang="en-US"/>
              <a:t>Discussion on the </a:t>
            </a:r>
            <a:r>
              <a:rPr lang="en-US" altLang="en-US" i="1"/>
              <a:t>k</a:t>
            </a:r>
            <a:r>
              <a:rPr lang="en-US" altLang="en-US"/>
              <a:t>-NN Algorithm</a:t>
            </a:r>
            <a:endParaRPr lang="en-US" altLang="en-US" sz="3200"/>
          </a:p>
        </p:txBody>
      </p:sp>
      <p:sp>
        <p:nvSpPr>
          <p:cNvPr id="43011" name="Rectangle 3"/>
          <p:cNvSpPr>
            <a:spLocks noGrp="1" noChangeArrowheads="1"/>
          </p:cNvSpPr>
          <p:nvPr>
            <p:ph type="body" idx="1"/>
          </p:nvPr>
        </p:nvSpPr>
        <p:spPr>
          <a:xfrm>
            <a:off x="381000" y="914400"/>
            <a:ext cx="8534400" cy="5029200"/>
          </a:xfrm>
          <a:noFill/>
        </p:spPr>
        <p:txBody>
          <a:bodyPr lIns="92075" tIns="46038" rIns="92075" bIns="46038"/>
          <a:lstStyle/>
          <a:p>
            <a:pPr eaLnBrk="1" hangingPunct="1">
              <a:lnSpc>
                <a:spcPct val="110000"/>
              </a:lnSpc>
            </a:pPr>
            <a:r>
              <a:rPr lang="en-US" altLang="en-US" sz="2400"/>
              <a:t>k-NN for real-valued prediction for a given unknown tuple</a:t>
            </a:r>
          </a:p>
          <a:p>
            <a:pPr lvl="1" eaLnBrk="1" hangingPunct="1">
              <a:lnSpc>
                <a:spcPct val="110000"/>
              </a:lnSpc>
            </a:pPr>
            <a:r>
              <a:rPr lang="en-US" altLang="en-US" sz="2400"/>
              <a:t>Returns the mean values of the</a:t>
            </a:r>
            <a:r>
              <a:rPr lang="en-US" altLang="en-US" sz="2400" i="1"/>
              <a:t> k</a:t>
            </a:r>
            <a:r>
              <a:rPr lang="en-US" altLang="en-US" sz="2400"/>
              <a:t> nearest neighbors</a:t>
            </a:r>
          </a:p>
          <a:p>
            <a:pPr eaLnBrk="1" hangingPunct="1">
              <a:lnSpc>
                <a:spcPct val="110000"/>
              </a:lnSpc>
            </a:pPr>
            <a:r>
              <a:rPr lang="en-US" altLang="en-US" sz="2400"/>
              <a:t>Distance-weighted nearest neighbor algorithm</a:t>
            </a:r>
          </a:p>
          <a:p>
            <a:pPr lvl="1" eaLnBrk="1" hangingPunct="1">
              <a:lnSpc>
                <a:spcPct val="110000"/>
              </a:lnSpc>
            </a:pPr>
            <a:r>
              <a:rPr lang="en-US" altLang="en-US" sz="2400"/>
              <a:t>Weight the contribution of each of the k neighbors according to their distance to the query </a:t>
            </a:r>
            <a:r>
              <a:rPr lang="en-US" altLang="en-US" sz="2400" i="1"/>
              <a:t>x</a:t>
            </a:r>
            <a:r>
              <a:rPr lang="en-US" altLang="en-US" sz="2400" i="1" baseline="-25000"/>
              <a:t>q</a:t>
            </a:r>
            <a:endParaRPr lang="en-US" altLang="en-US" sz="2400"/>
          </a:p>
          <a:p>
            <a:pPr lvl="2" eaLnBrk="1" hangingPunct="1">
              <a:lnSpc>
                <a:spcPct val="110000"/>
              </a:lnSpc>
            </a:pPr>
            <a:r>
              <a:rPr lang="en-US" altLang="en-US"/>
              <a:t>Give greater weight to closer neighbors</a:t>
            </a:r>
            <a:endParaRPr lang="en-US" altLang="en-US" sz="2000"/>
          </a:p>
          <a:p>
            <a:pPr eaLnBrk="1" hangingPunct="1">
              <a:lnSpc>
                <a:spcPct val="110000"/>
              </a:lnSpc>
            </a:pPr>
            <a:r>
              <a:rPr lang="en-US" altLang="en-US" sz="2400"/>
              <a:t>Robust to noisy data by averaging k-nearest neighbors</a:t>
            </a:r>
          </a:p>
          <a:p>
            <a:pPr eaLnBrk="1" hangingPunct="1">
              <a:lnSpc>
                <a:spcPct val="110000"/>
              </a:lnSpc>
            </a:pPr>
            <a:r>
              <a:rPr lang="en-US" altLang="en-US" sz="2400"/>
              <a:t>Curse of dimensionality: distance between neighbors could be dominated by irrelevant attributes   </a:t>
            </a:r>
          </a:p>
          <a:p>
            <a:pPr lvl="1" eaLnBrk="1" hangingPunct="1">
              <a:lnSpc>
                <a:spcPct val="110000"/>
              </a:lnSpc>
            </a:pPr>
            <a:r>
              <a:rPr lang="en-US" altLang="en-US" sz="2400"/>
              <a:t>To overcome it, axes stretch or elimination of the least relevant attributes</a:t>
            </a:r>
          </a:p>
          <a:p>
            <a:pPr eaLnBrk="1" hangingPunct="1">
              <a:lnSpc>
                <a:spcPct val="110000"/>
              </a:lnSpc>
            </a:pPr>
            <a:r>
              <a:rPr lang="en-US" altLang="en-US" sz="2400"/>
              <a:t>Categorical (non-numerical) attributes, e.g., color, are difficult to handle</a:t>
            </a:r>
          </a:p>
        </p:txBody>
      </p:sp>
      <p:graphicFrame>
        <p:nvGraphicFramePr>
          <p:cNvPr id="43012" name="Object 4"/>
          <p:cNvGraphicFramePr>
            <a:graphicFrameLocks noChangeAspect="1"/>
          </p:cNvGraphicFramePr>
          <p:nvPr/>
        </p:nvGraphicFramePr>
        <p:xfrm>
          <a:off x="7162800" y="3111500"/>
          <a:ext cx="1409700" cy="698500"/>
        </p:xfrm>
        <a:graphic>
          <a:graphicData uri="http://schemas.openxmlformats.org/presentationml/2006/ole">
            <mc:AlternateContent xmlns:mc="http://schemas.openxmlformats.org/markup-compatibility/2006">
              <mc:Choice xmlns:v="urn:schemas-microsoft-com:vml" Requires="v">
                <p:oleObj spid="_x0000_s456718" name="Equation" r:id="rId3" imgW="1409700" imgH="698500" progId="Equation.3">
                  <p:embed/>
                </p:oleObj>
              </mc:Choice>
              <mc:Fallback>
                <p:oleObj name="Equation" r:id="rId3" imgW="1409700" imgH="6985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3111500"/>
                        <a:ext cx="1409700" cy="6985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28600" y="76200"/>
            <a:ext cx="8686800" cy="685800"/>
          </a:xfrm>
          <a:noFill/>
        </p:spPr>
        <p:txBody>
          <a:bodyPr lIns="92075" tIns="46038" rIns="92075" bIns="46038" anchor="ctr"/>
          <a:lstStyle/>
          <a:p>
            <a:pPr eaLnBrk="1" hangingPunct="1"/>
            <a:r>
              <a:rPr lang="en-US" altLang="en-US" i="1" dirty="0"/>
              <a:t>k</a:t>
            </a:r>
            <a:r>
              <a:rPr lang="en-US" altLang="en-US" dirty="0"/>
              <a:t>-NN Algorithm</a:t>
            </a:r>
            <a:endParaRPr lang="en-US" altLang="en-US" sz="3200" dirty="0"/>
          </a:p>
        </p:txBody>
      </p:sp>
      <p:pic>
        <p:nvPicPr>
          <p:cNvPr id="538628" name="Picture 4" descr="https://cambridgecoding.files.wordpress.com/2016/01/knn2.jpg"/>
          <p:cNvPicPr>
            <a:picLocks noChangeAspect="1" noChangeArrowheads="1"/>
          </p:cNvPicPr>
          <p:nvPr/>
        </p:nvPicPr>
        <p:blipFill>
          <a:blip r:embed="rId2"/>
          <a:srcRect l="5664" t="10552" r="5133" b="5039"/>
          <a:stretch>
            <a:fillRect/>
          </a:stretch>
        </p:blipFill>
        <p:spPr bwMode="auto">
          <a:xfrm>
            <a:off x="1524000" y="818847"/>
            <a:ext cx="5638800" cy="5996819"/>
          </a:xfrm>
          <a:prstGeom prst="rect">
            <a:avLst/>
          </a:prstGeom>
          <a:noFill/>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Rectangle 2"/>
          <p:cNvSpPr>
            <a:spLocks noGrp="1" noChangeArrowheads="1"/>
          </p:cNvSpPr>
          <p:nvPr>
            <p:ph type="title"/>
          </p:nvPr>
        </p:nvSpPr>
        <p:spPr>
          <a:xfrm>
            <a:off x="609600" y="304800"/>
            <a:ext cx="7772400" cy="685800"/>
          </a:xfrm>
        </p:spPr>
        <p:txBody>
          <a:bodyPr/>
          <a:lstStyle/>
          <a:p>
            <a:pPr eaLnBrk="1" hangingPunct="1"/>
            <a:r>
              <a:rPr lang="en-US"/>
              <a:t>What Is Prediction?</a:t>
            </a:r>
          </a:p>
        </p:txBody>
      </p:sp>
      <p:sp>
        <p:nvSpPr>
          <p:cNvPr id="110598" name="Rectangle 3"/>
          <p:cNvSpPr>
            <a:spLocks noGrp="1" noChangeArrowheads="1"/>
          </p:cNvSpPr>
          <p:nvPr>
            <p:ph type="body" idx="1"/>
          </p:nvPr>
        </p:nvSpPr>
        <p:spPr>
          <a:xfrm>
            <a:off x="304800" y="1371600"/>
            <a:ext cx="8610600" cy="5181600"/>
          </a:xfrm>
        </p:spPr>
        <p:txBody>
          <a:bodyPr/>
          <a:lstStyle/>
          <a:p>
            <a:pPr eaLnBrk="1" hangingPunct="1"/>
            <a:r>
              <a:rPr lang="en-US" sz="2000" dirty="0"/>
              <a:t>(Numerical) prediction is similar to classification</a:t>
            </a:r>
          </a:p>
          <a:p>
            <a:pPr lvl="1" eaLnBrk="1" hangingPunct="1"/>
            <a:r>
              <a:rPr lang="en-US" sz="2000" dirty="0"/>
              <a:t>construct a model</a:t>
            </a:r>
          </a:p>
          <a:p>
            <a:pPr lvl="1" eaLnBrk="1" hangingPunct="1"/>
            <a:r>
              <a:rPr lang="en-US" sz="2000" dirty="0"/>
              <a:t>use model to predict continuous or ordered  value for a given input</a:t>
            </a:r>
          </a:p>
          <a:p>
            <a:pPr eaLnBrk="1" hangingPunct="1"/>
            <a:r>
              <a:rPr lang="en-US" sz="2000" dirty="0"/>
              <a:t>Prediction is different from classification</a:t>
            </a:r>
          </a:p>
          <a:p>
            <a:pPr lvl="1" eaLnBrk="1" hangingPunct="1"/>
            <a:r>
              <a:rPr lang="en-US" sz="2000" dirty="0"/>
              <a:t>Classification refers to predict categorical class label</a:t>
            </a:r>
          </a:p>
          <a:p>
            <a:pPr lvl="1" eaLnBrk="1" hangingPunct="1"/>
            <a:r>
              <a:rPr lang="en-US" sz="2000" dirty="0"/>
              <a:t>Prediction models continuous-valued functions</a:t>
            </a:r>
          </a:p>
          <a:p>
            <a:pPr eaLnBrk="1" hangingPunct="1"/>
            <a:r>
              <a:rPr lang="en-US" sz="2000" dirty="0"/>
              <a:t>Major method for prediction: regression</a:t>
            </a:r>
          </a:p>
          <a:p>
            <a:pPr lvl="1" eaLnBrk="1" hangingPunct="1"/>
            <a:r>
              <a:rPr lang="en-US" sz="2000" dirty="0"/>
              <a:t>model the relationship between one or more </a:t>
            </a:r>
            <a:r>
              <a:rPr lang="en-US" sz="2000" i="1" dirty="0"/>
              <a:t>independent</a:t>
            </a:r>
            <a:r>
              <a:rPr lang="en-US" sz="2000" dirty="0"/>
              <a:t> or </a:t>
            </a:r>
            <a:r>
              <a:rPr lang="en-US" sz="2000" b="1" dirty="0"/>
              <a:t>predictor</a:t>
            </a:r>
            <a:r>
              <a:rPr lang="en-US" sz="2000" dirty="0"/>
              <a:t> variables and a </a:t>
            </a:r>
            <a:r>
              <a:rPr lang="en-US" sz="2000" i="1" dirty="0"/>
              <a:t>dependent</a:t>
            </a:r>
            <a:r>
              <a:rPr lang="en-US" sz="2000" dirty="0"/>
              <a:t> or </a:t>
            </a:r>
            <a:r>
              <a:rPr lang="en-US" sz="2000" b="1" dirty="0"/>
              <a:t>response</a:t>
            </a:r>
            <a:r>
              <a:rPr lang="en-US" sz="2000" dirty="0"/>
              <a:t> variable</a:t>
            </a:r>
          </a:p>
          <a:p>
            <a:pPr eaLnBrk="1" hangingPunct="1"/>
            <a:r>
              <a:rPr lang="en-US" sz="2000" dirty="0"/>
              <a:t>Regression analysis</a:t>
            </a:r>
          </a:p>
          <a:p>
            <a:pPr lvl="1" eaLnBrk="1" hangingPunct="1"/>
            <a:r>
              <a:rPr lang="en-US" sz="2000" dirty="0"/>
              <a:t>Linear and multiple regression</a:t>
            </a:r>
          </a:p>
          <a:p>
            <a:pPr lvl="1" eaLnBrk="1" hangingPunct="1"/>
            <a:r>
              <a:rPr lang="en-US" sz="2000" dirty="0"/>
              <a:t>Non-linear regression</a:t>
            </a:r>
          </a:p>
          <a:p>
            <a:pPr lvl="1" eaLnBrk="1" hangingPunct="1"/>
            <a:r>
              <a:rPr lang="en-US" sz="2000" dirty="0"/>
              <a:t>Other regression methods: generalized linear model, Poisson regression, log-linear models, regression trees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9" name="Rectangle 3"/>
          <p:cNvSpPr>
            <a:spLocks noGrp="1" noChangeArrowheads="1"/>
          </p:cNvSpPr>
          <p:nvPr>
            <p:ph type="title"/>
          </p:nvPr>
        </p:nvSpPr>
        <p:spPr>
          <a:noFill/>
        </p:spPr>
        <p:txBody>
          <a:bodyPr lIns="92075" tIns="46038" rIns="92075" bIns="46038" anchor="ctr"/>
          <a:lstStyle/>
          <a:p>
            <a:pPr eaLnBrk="1" hangingPunct="1"/>
            <a:r>
              <a:rPr lang="en-US"/>
              <a:t>Linear Regression</a:t>
            </a:r>
            <a:r>
              <a:rPr lang="en-US" sz="3200" b="0"/>
              <a:t> </a:t>
            </a:r>
            <a:endParaRPr lang="en-US" sz="2400"/>
          </a:p>
        </p:txBody>
      </p:sp>
      <p:sp>
        <p:nvSpPr>
          <p:cNvPr id="23560" name="Rectangle 2"/>
          <p:cNvSpPr>
            <a:spLocks noGrp="1" noChangeArrowheads="1"/>
          </p:cNvSpPr>
          <p:nvPr>
            <p:ph type="body" sz="half" idx="1"/>
          </p:nvPr>
        </p:nvSpPr>
        <p:spPr>
          <a:xfrm>
            <a:off x="609600" y="1295400"/>
            <a:ext cx="8458200" cy="5486400"/>
          </a:xfrm>
          <a:noFill/>
        </p:spPr>
        <p:txBody>
          <a:bodyPr lIns="92075" tIns="46038" rIns="92075" bIns="46038"/>
          <a:lstStyle/>
          <a:p>
            <a:pPr eaLnBrk="1" hangingPunct="1">
              <a:lnSpc>
                <a:spcPct val="110000"/>
              </a:lnSpc>
            </a:pPr>
            <a:r>
              <a:rPr lang="en-US" sz="2000" u="sng" dirty="0"/>
              <a:t>Linear regression</a:t>
            </a:r>
            <a:r>
              <a:rPr lang="en-US" sz="2000" dirty="0"/>
              <a:t>: involves a response variable y and a single predictor variable x</a:t>
            </a:r>
          </a:p>
          <a:p>
            <a:pPr lvl="2" eaLnBrk="1" hangingPunct="1">
              <a:lnSpc>
                <a:spcPct val="110000"/>
              </a:lnSpc>
              <a:buFont typeface="Wingdings" pitchFamily="2" charset="2"/>
              <a:buNone/>
            </a:pPr>
            <a:r>
              <a:rPr lang="en-US" sz="2000" dirty="0"/>
              <a:t>y = </a:t>
            </a:r>
            <a:r>
              <a:rPr lang="en-US" sz="2000" dirty="0">
                <a:sym typeface="Symbol" pitchFamily="18" charset="2"/>
              </a:rPr>
              <a:t>w</a:t>
            </a:r>
            <a:r>
              <a:rPr lang="en-US" sz="2000" baseline="-25000" dirty="0">
                <a:sym typeface="Symbol" pitchFamily="18" charset="2"/>
              </a:rPr>
              <a:t>0</a:t>
            </a:r>
            <a:r>
              <a:rPr lang="en-US" sz="2000" dirty="0">
                <a:sym typeface="Symbol" pitchFamily="18" charset="2"/>
              </a:rPr>
              <a:t> + w</a:t>
            </a:r>
            <a:r>
              <a:rPr lang="en-US" sz="2000" baseline="-25000" dirty="0">
                <a:sym typeface="Symbol" pitchFamily="18" charset="2"/>
              </a:rPr>
              <a:t>1</a:t>
            </a:r>
            <a:r>
              <a:rPr lang="en-US" sz="2000" dirty="0">
                <a:sym typeface="Symbol" pitchFamily="18" charset="2"/>
              </a:rPr>
              <a:t> x</a:t>
            </a:r>
            <a:endParaRPr lang="en-US" sz="2000" dirty="0"/>
          </a:p>
          <a:p>
            <a:pPr lvl="1" eaLnBrk="1" hangingPunct="1">
              <a:lnSpc>
                <a:spcPct val="110000"/>
              </a:lnSpc>
              <a:buFont typeface="Wingdings" pitchFamily="2" charset="2"/>
              <a:buNone/>
            </a:pPr>
            <a:r>
              <a:rPr lang="en-US" sz="2000" dirty="0">
                <a:sym typeface="Symbol" pitchFamily="18" charset="2"/>
              </a:rPr>
              <a:t>where w</a:t>
            </a:r>
            <a:r>
              <a:rPr lang="en-US" sz="2000" baseline="-25000" dirty="0">
                <a:sym typeface="Symbol" pitchFamily="18" charset="2"/>
              </a:rPr>
              <a:t>0</a:t>
            </a:r>
            <a:r>
              <a:rPr lang="en-US" sz="2000" dirty="0">
                <a:sym typeface="Symbol" pitchFamily="18" charset="2"/>
              </a:rPr>
              <a:t> (y-intercept) and w</a:t>
            </a:r>
            <a:r>
              <a:rPr lang="en-US" sz="2000" baseline="-25000" dirty="0">
                <a:sym typeface="Symbol" pitchFamily="18" charset="2"/>
              </a:rPr>
              <a:t>1</a:t>
            </a:r>
            <a:r>
              <a:rPr lang="en-US" sz="2000" dirty="0">
                <a:sym typeface="Symbol" pitchFamily="18" charset="2"/>
              </a:rPr>
              <a:t> (slope) are regression coefficients </a:t>
            </a:r>
            <a:r>
              <a:rPr lang="en-US" sz="2000" dirty="0"/>
              <a:t> </a:t>
            </a:r>
          </a:p>
          <a:p>
            <a:pPr eaLnBrk="1" hangingPunct="1">
              <a:lnSpc>
                <a:spcPct val="110000"/>
              </a:lnSpc>
            </a:pPr>
            <a:r>
              <a:rPr lang="en-US" sz="2000" u="sng" dirty="0"/>
              <a:t>Method of least squares</a:t>
            </a:r>
            <a:r>
              <a:rPr lang="en-US" sz="2000" dirty="0"/>
              <a:t>: estimates the best-fitting straight line</a:t>
            </a:r>
          </a:p>
          <a:p>
            <a:pPr lvl="1" eaLnBrk="1" hangingPunct="1">
              <a:lnSpc>
                <a:spcPct val="110000"/>
              </a:lnSpc>
            </a:pPr>
            <a:endParaRPr lang="en-US" sz="2000" dirty="0"/>
          </a:p>
          <a:p>
            <a:pPr lvl="1" eaLnBrk="1" hangingPunct="1">
              <a:lnSpc>
                <a:spcPct val="110000"/>
              </a:lnSpc>
            </a:pPr>
            <a:endParaRPr lang="en-US" sz="2000" dirty="0"/>
          </a:p>
          <a:p>
            <a:pPr lvl="1" eaLnBrk="1" hangingPunct="1">
              <a:lnSpc>
                <a:spcPct val="110000"/>
              </a:lnSpc>
            </a:pPr>
            <a:endParaRPr lang="en-US" sz="2000" dirty="0"/>
          </a:p>
          <a:p>
            <a:pPr eaLnBrk="1" hangingPunct="1">
              <a:lnSpc>
                <a:spcPct val="110000"/>
              </a:lnSpc>
            </a:pPr>
            <a:r>
              <a:rPr lang="en-US" sz="2000" u="sng" dirty="0"/>
              <a:t>Multiple linear regression</a:t>
            </a:r>
            <a:r>
              <a:rPr lang="en-US" sz="2000" dirty="0"/>
              <a:t>: involves more than one predictor variable</a:t>
            </a:r>
          </a:p>
          <a:p>
            <a:pPr lvl="1" eaLnBrk="1" hangingPunct="1">
              <a:lnSpc>
                <a:spcPct val="110000"/>
              </a:lnSpc>
            </a:pPr>
            <a:r>
              <a:rPr lang="en-US" sz="2000" dirty="0"/>
              <a:t>Training data is of the form (</a:t>
            </a:r>
            <a:r>
              <a:rPr lang="en-US" sz="2000" b="1" dirty="0"/>
              <a:t>X</a:t>
            </a:r>
            <a:r>
              <a:rPr lang="en-US" sz="2000" b="1" baseline="-25000" dirty="0"/>
              <a:t>1</a:t>
            </a:r>
            <a:r>
              <a:rPr lang="en-US" sz="2000" dirty="0"/>
              <a:t>, y</a:t>
            </a:r>
            <a:r>
              <a:rPr lang="en-US" sz="2000" baseline="-25000" dirty="0"/>
              <a:t>1</a:t>
            </a:r>
            <a:r>
              <a:rPr lang="en-US" sz="2000" dirty="0"/>
              <a:t>), (</a:t>
            </a:r>
            <a:r>
              <a:rPr lang="en-US" sz="2000" b="1" dirty="0"/>
              <a:t>X</a:t>
            </a:r>
            <a:r>
              <a:rPr lang="en-US" sz="2000" b="1" baseline="-25000" dirty="0"/>
              <a:t>2</a:t>
            </a:r>
            <a:r>
              <a:rPr lang="en-US" sz="2000" dirty="0"/>
              <a:t>, y</a:t>
            </a:r>
            <a:r>
              <a:rPr lang="en-US" sz="2000" baseline="-25000" dirty="0"/>
              <a:t>2</a:t>
            </a:r>
            <a:r>
              <a:rPr lang="en-US" sz="2000" dirty="0"/>
              <a:t>),…, (</a:t>
            </a:r>
            <a:r>
              <a:rPr lang="en-US" sz="2000" b="1" dirty="0"/>
              <a:t>X</a:t>
            </a:r>
            <a:r>
              <a:rPr lang="en-US" sz="2000" b="1" baseline="-25000" dirty="0"/>
              <a:t>|D|</a:t>
            </a:r>
            <a:r>
              <a:rPr lang="en-US" sz="2000" dirty="0"/>
              <a:t>, </a:t>
            </a:r>
            <a:r>
              <a:rPr lang="en-US" sz="2000" dirty="0" err="1"/>
              <a:t>y</a:t>
            </a:r>
            <a:r>
              <a:rPr lang="en-US" sz="2000" baseline="-25000" dirty="0" err="1"/>
              <a:t>|D</a:t>
            </a:r>
            <a:r>
              <a:rPr lang="en-US" sz="2000" baseline="-25000" dirty="0"/>
              <a:t>|</a:t>
            </a:r>
            <a:r>
              <a:rPr lang="en-US" sz="2000" dirty="0"/>
              <a:t>) </a:t>
            </a:r>
          </a:p>
          <a:p>
            <a:pPr lvl="1" eaLnBrk="1" hangingPunct="1">
              <a:lnSpc>
                <a:spcPct val="110000"/>
              </a:lnSpc>
            </a:pPr>
            <a:r>
              <a:rPr lang="en-US" sz="2000" dirty="0"/>
              <a:t>Ex. For 2-D data, we may have: y = </a:t>
            </a:r>
            <a:r>
              <a:rPr lang="en-US" sz="2000" dirty="0">
                <a:sym typeface="Symbol" pitchFamily="18" charset="2"/>
              </a:rPr>
              <a:t>w</a:t>
            </a:r>
            <a:r>
              <a:rPr lang="en-US" sz="2000" baseline="-25000" dirty="0">
                <a:sym typeface="Symbol" pitchFamily="18" charset="2"/>
              </a:rPr>
              <a:t>0</a:t>
            </a:r>
            <a:r>
              <a:rPr lang="en-US" sz="2000" dirty="0">
                <a:sym typeface="Symbol" pitchFamily="18" charset="2"/>
              </a:rPr>
              <a:t> + w</a:t>
            </a:r>
            <a:r>
              <a:rPr lang="en-US" sz="2000" baseline="-25000" dirty="0">
                <a:sym typeface="Symbol" pitchFamily="18" charset="2"/>
              </a:rPr>
              <a:t>1</a:t>
            </a:r>
            <a:r>
              <a:rPr lang="en-US" sz="2000" dirty="0">
                <a:sym typeface="Symbol" pitchFamily="18" charset="2"/>
              </a:rPr>
              <a:t> x</a:t>
            </a:r>
            <a:r>
              <a:rPr lang="en-US" sz="2000" baseline="-25000" dirty="0">
                <a:sym typeface="Symbol" pitchFamily="18" charset="2"/>
              </a:rPr>
              <a:t>1</a:t>
            </a:r>
            <a:r>
              <a:rPr lang="en-US" sz="2000" dirty="0">
                <a:sym typeface="Symbol" pitchFamily="18" charset="2"/>
              </a:rPr>
              <a:t>+ w</a:t>
            </a:r>
            <a:r>
              <a:rPr lang="en-US" sz="2000" baseline="-25000" dirty="0">
                <a:sym typeface="Symbol" pitchFamily="18" charset="2"/>
              </a:rPr>
              <a:t>2</a:t>
            </a:r>
            <a:r>
              <a:rPr lang="en-US" sz="2000" dirty="0">
                <a:sym typeface="Symbol" pitchFamily="18" charset="2"/>
              </a:rPr>
              <a:t> x</a:t>
            </a:r>
            <a:r>
              <a:rPr lang="en-US" sz="2000" baseline="-25000" dirty="0">
                <a:sym typeface="Symbol" pitchFamily="18" charset="2"/>
              </a:rPr>
              <a:t>2</a:t>
            </a:r>
            <a:endParaRPr lang="en-US" sz="2000" dirty="0"/>
          </a:p>
          <a:p>
            <a:pPr lvl="1" eaLnBrk="1" hangingPunct="1">
              <a:lnSpc>
                <a:spcPct val="110000"/>
              </a:lnSpc>
            </a:pPr>
            <a:r>
              <a:rPr lang="en-US" sz="2000" dirty="0"/>
              <a:t>Solvable by extension of least square method or using SAS, S-Plus</a:t>
            </a:r>
          </a:p>
          <a:p>
            <a:pPr lvl="1" eaLnBrk="1" hangingPunct="1">
              <a:lnSpc>
                <a:spcPct val="110000"/>
              </a:lnSpc>
            </a:pPr>
            <a:r>
              <a:rPr lang="en-US" sz="2000" dirty="0"/>
              <a:t>Many nonlinear functions can be transformed into the above</a:t>
            </a:r>
          </a:p>
        </p:txBody>
      </p:sp>
      <p:graphicFrame>
        <p:nvGraphicFramePr>
          <p:cNvPr id="23554" name="Object 1024"/>
          <p:cNvGraphicFramePr>
            <a:graphicFrameLocks noGrp="1" noChangeAspect="1"/>
          </p:cNvGraphicFramePr>
          <p:nvPr>
            <p:ph sz="quarter" idx="2"/>
          </p:nvPr>
        </p:nvGraphicFramePr>
        <p:xfrm>
          <a:off x="2133600" y="3352800"/>
          <a:ext cx="2286000" cy="1114425"/>
        </p:xfrm>
        <a:graphic>
          <a:graphicData uri="http://schemas.openxmlformats.org/presentationml/2006/ole">
            <mc:AlternateContent xmlns:mc="http://schemas.openxmlformats.org/markup-compatibility/2006">
              <mc:Choice xmlns:v="urn:schemas-microsoft-com:vml" Requires="v">
                <p:oleObj spid="_x0000_s303128" name="Equation" r:id="rId4" imgW="1600200" imgH="838200" progId="Equation.3">
                  <p:embed/>
                </p:oleObj>
              </mc:Choice>
              <mc:Fallback>
                <p:oleObj name="Equation" r:id="rId4" imgW="1600200" imgH="838200" progId="Equation.3">
                  <p:embed/>
                  <p:pic>
                    <p:nvPicPr>
                      <p:cNvPr id="0" name="Picture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3352800"/>
                        <a:ext cx="2286000" cy="11144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3555" name="Object 1025"/>
          <p:cNvGraphicFramePr>
            <a:graphicFrameLocks noGrp="1" noChangeAspect="1"/>
          </p:cNvGraphicFramePr>
          <p:nvPr>
            <p:ph sz="quarter" idx="3"/>
          </p:nvPr>
        </p:nvGraphicFramePr>
        <p:xfrm>
          <a:off x="5181600" y="3657600"/>
          <a:ext cx="1600200" cy="477838"/>
        </p:xfrm>
        <a:graphic>
          <a:graphicData uri="http://schemas.openxmlformats.org/presentationml/2006/ole">
            <mc:AlternateContent xmlns:mc="http://schemas.openxmlformats.org/markup-compatibility/2006">
              <mc:Choice xmlns:v="urn:schemas-microsoft-com:vml" Requires="v">
                <p:oleObj spid="_x0000_s303129" name="Equation" r:id="rId6" imgW="1231366" imgH="368140" progId="Equation.3">
                  <p:embed/>
                </p:oleObj>
              </mc:Choice>
              <mc:Fallback>
                <p:oleObj name="Equation" r:id="rId6" imgW="1231366" imgH="368140" progId="Equation.3">
                  <p:embed/>
                  <p:pic>
                    <p:nvPicPr>
                      <p:cNvPr id="0" name="Picture 5"/>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3657600"/>
                        <a:ext cx="1600200" cy="4778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6728" name="Object 72"/>
          <p:cNvGraphicFramePr>
            <a:graphicFrameLocks noGrp="1" noChangeAspect="1"/>
          </p:cNvGraphicFramePr>
          <p:nvPr>
            <p:ph sz="quarter" idx="1"/>
          </p:nvPr>
        </p:nvGraphicFramePr>
        <p:xfrm>
          <a:off x="3667125" y="1536700"/>
          <a:ext cx="5160963" cy="1655763"/>
        </p:xfrm>
        <a:graphic>
          <a:graphicData uri="http://schemas.openxmlformats.org/presentationml/2006/ole">
            <mc:AlternateContent xmlns:mc="http://schemas.openxmlformats.org/markup-compatibility/2006">
              <mc:Choice xmlns:v="urn:schemas-microsoft-com:vml" Requires="v">
                <p:oleObj spid="_x0000_s434190" name="Equation" r:id="rId3" imgW="3048000" imgH="977900" progId="Equation.3">
                  <p:embed/>
                </p:oleObj>
              </mc:Choice>
              <mc:Fallback>
                <p:oleObj name="Equation" r:id="rId3" imgW="3048000" imgH="977900" progId="Equation.3">
                  <p:embed/>
                  <p:pic>
                    <p:nvPicPr>
                      <p:cNvPr id="0" name="Picture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25" y="1536700"/>
                        <a:ext cx="5160963" cy="16557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606727" name="Rectangle 71"/>
          <p:cNvSpPr>
            <a:spLocks noGrp="1" noChangeArrowheads="1"/>
          </p:cNvSpPr>
          <p:nvPr>
            <p:ph type="body" sz="half" idx="3"/>
          </p:nvPr>
        </p:nvSpPr>
        <p:spPr>
          <a:xfrm>
            <a:off x="3200400" y="1196975"/>
            <a:ext cx="5715000" cy="5256213"/>
          </a:xfrm>
        </p:spPr>
        <p:txBody>
          <a:bodyPr/>
          <a:lstStyle/>
          <a:p>
            <a:r>
              <a:rPr lang="en-US" sz="2000"/>
              <a:t>Given data </a:t>
            </a:r>
          </a:p>
        </p:txBody>
      </p:sp>
      <p:graphicFrame>
        <p:nvGraphicFramePr>
          <p:cNvPr id="1606724" name="Group 68"/>
          <p:cNvGraphicFramePr>
            <a:graphicFrameLocks noGrp="1"/>
          </p:cNvGraphicFramePr>
          <p:nvPr>
            <p:ph type="tbl" idx="1"/>
          </p:nvPr>
        </p:nvGraphicFramePr>
        <p:xfrm>
          <a:off x="533400" y="1219200"/>
          <a:ext cx="2576513" cy="4687824"/>
        </p:xfrm>
        <a:graphic>
          <a:graphicData uri="http://schemas.openxmlformats.org/drawingml/2006/table">
            <a:tbl>
              <a:tblPr/>
              <a:tblGrid>
                <a:gridCol w="1509713">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03225">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X </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dirty="0">
                          <a:ln>
                            <a:noFill/>
                          </a:ln>
                          <a:solidFill>
                            <a:schemeClr val="tx1"/>
                          </a:solidFill>
                          <a:effectLst/>
                          <a:latin typeface="Arial" charset="0"/>
                        </a:rPr>
                        <a:t>(Years experience)</a:t>
                      </a:r>
                    </a:p>
                  </a:txBody>
                  <a:tcPr horzOverflow="overflow">
                    <a:lnL cap="flat">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Y </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a:ln>
                            <a:noFill/>
                          </a:ln>
                          <a:solidFill>
                            <a:schemeClr val="tx1"/>
                          </a:solidFill>
                          <a:effectLst/>
                          <a:latin typeface="Arial" charset="0"/>
                        </a:rPr>
                        <a:t>(Salary)</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4450">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8</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9</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13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6</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11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21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a:ln>
                            <a:noFill/>
                          </a:ln>
                          <a:solidFill>
                            <a:schemeClr val="tx1"/>
                          </a:solidFill>
                          <a:effectLst/>
                          <a:latin typeface="Arial" charset="0"/>
                        </a:rPr>
                        <a:t>16</a:t>
                      </a:r>
                    </a:p>
                  </a:txBody>
                  <a:tcPr horzOverflow="overflow">
                    <a:lnL cap="flat">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30K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57K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64K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75K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36K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43K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59K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90K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20K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83K</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Rectangle 7"/>
          <p:cNvSpPr/>
          <p:nvPr/>
        </p:nvSpPr>
        <p:spPr>
          <a:xfrm>
            <a:off x="609600" y="304801"/>
            <a:ext cx="8077200" cy="646331"/>
          </a:xfrm>
          <a:prstGeom prst="rect">
            <a:avLst/>
          </a:prstGeom>
        </p:spPr>
        <p:txBody>
          <a:bodyPr wrap="square">
            <a:spAutoFit/>
          </a:bodyPr>
          <a:lstStyle/>
          <a:p>
            <a:pPr algn="ctr"/>
            <a:r>
              <a:rPr lang="en-US" sz="3600" dirty="0">
                <a:latin typeface="Arial" pitchFamily="34" charset="0"/>
                <a:cs typeface="Arial" pitchFamily="34" charset="0"/>
              </a:rPr>
              <a:t>Example: Linear </a:t>
            </a:r>
            <a:r>
              <a:rPr lang="en-US" sz="3600">
                <a:latin typeface="Arial" pitchFamily="34" charset="0"/>
                <a:cs typeface="Arial" pitchFamily="34" charset="0"/>
              </a:rPr>
              <a:t>Regression </a:t>
            </a:r>
            <a:endParaRPr lang="en-US" sz="3600" dirty="0">
              <a:latin typeface="Arial" pitchFamily="34" charset="0"/>
              <a:cs typeface="Arial" pitchFamily="34" charset="0"/>
            </a:endParaRPr>
          </a:p>
        </p:txBody>
      </p:sp>
      <p:pic>
        <p:nvPicPr>
          <p:cNvPr id="1606730" name="Picture 74" descr="ha07f15"/>
          <p:cNvPicPr>
            <a:picLocks noGrp="1" noChangeAspect="1" noChangeArrowheads="1"/>
          </p:cNvPicPr>
          <p:nvPr>
            <p:ph sz="quarter" idx="2"/>
          </p:nvPr>
        </p:nvPicPr>
        <p:blipFill>
          <a:blip r:embed="rId5" cstate="print"/>
          <a:srcRect/>
          <a:stretch>
            <a:fillRect/>
          </a:stretch>
        </p:blipFill>
        <p:spPr>
          <a:xfrm>
            <a:off x="3733800" y="3276600"/>
            <a:ext cx="4876800" cy="3581400"/>
          </a:xfrm>
          <a:noFill/>
          <a:ln/>
        </p:spPr>
      </p:pic>
      <p:sp>
        <p:nvSpPr>
          <p:cNvPr id="7" name="TextBox 6"/>
          <p:cNvSpPr txBox="1"/>
          <p:nvPr/>
        </p:nvSpPr>
        <p:spPr>
          <a:xfrm>
            <a:off x="6553200" y="5562602"/>
            <a:ext cx="2133600" cy="400110"/>
          </a:xfrm>
          <a:prstGeom prst="rect">
            <a:avLst/>
          </a:prstGeom>
          <a:noFill/>
        </p:spPr>
        <p:txBody>
          <a:bodyPr wrap="square" rtlCol="0">
            <a:spAutoFit/>
          </a:bodyPr>
          <a:lstStyle/>
          <a:p>
            <a:r>
              <a:rPr lang="en-US" sz="2000" b="1" dirty="0"/>
              <a:t>y = </a:t>
            </a:r>
            <a:r>
              <a:rPr lang="en-US" sz="2000" b="1" dirty="0">
                <a:solidFill>
                  <a:srgbClr val="002060"/>
                </a:solidFill>
              </a:rPr>
              <a:t>23.6</a:t>
            </a:r>
            <a:r>
              <a:rPr lang="en-US" sz="2000" b="1" dirty="0"/>
              <a:t> + </a:t>
            </a:r>
            <a:r>
              <a:rPr lang="en-US" sz="2000" b="1" dirty="0">
                <a:solidFill>
                  <a:srgbClr val="C00000"/>
                </a:solidFill>
              </a:rPr>
              <a:t>3.5</a:t>
            </a:r>
            <a:r>
              <a:rPr lang="en-US" sz="2000" b="1" dirty="0"/>
              <a:t>x</a:t>
            </a:r>
          </a:p>
        </p:txBody>
      </p:sp>
      <p:cxnSp>
        <p:nvCxnSpPr>
          <p:cNvPr id="3" name="Straight Connector 2"/>
          <p:cNvCxnSpPr/>
          <p:nvPr/>
        </p:nvCxnSpPr>
        <p:spPr>
          <a:xfrm flipV="1">
            <a:off x="4495800" y="3276600"/>
            <a:ext cx="3505200" cy="228600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6724" name="Group 68"/>
          <p:cNvGraphicFramePr>
            <a:graphicFrameLocks noGrp="1"/>
          </p:cNvGraphicFramePr>
          <p:nvPr>
            <p:ph type="tbl" idx="1"/>
          </p:nvPr>
        </p:nvGraphicFramePr>
        <p:xfrm>
          <a:off x="228600" y="1324683"/>
          <a:ext cx="8686805" cy="5204551"/>
        </p:xfrm>
        <a:graphic>
          <a:graphicData uri="http://schemas.openxmlformats.org/drawingml/2006/table">
            <a:tbl>
              <a:tblPr/>
              <a:tblGrid>
                <a:gridCol w="14478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2514605">
                  <a:extLst>
                    <a:ext uri="{9D8B030D-6E8A-4147-A177-3AD203B41FA5}">
                      <a16:colId xmlns:a16="http://schemas.microsoft.com/office/drawing/2014/main" val="20004"/>
                    </a:ext>
                  </a:extLst>
                </a:gridCol>
              </a:tblGrid>
              <a:tr h="808917">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X </a:t>
                      </a:r>
                      <a:r>
                        <a:rPr kumimoji="1" lang="en-US" sz="1800" b="0" i="0" u="none" strike="noStrike" cap="none" normalizeH="0" baseline="0" dirty="0">
                          <a:ln>
                            <a:noFill/>
                          </a:ln>
                          <a:solidFill>
                            <a:schemeClr val="tx1"/>
                          </a:solidFill>
                          <a:effectLst/>
                          <a:latin typeface="Arial" charset="0"/>
                        </a:rPr>
                        <a:t>(Years experience)</a:t>
                      </a:r>
                    </a:p>
                  </a:txBody>
                  <a:tcPr horzOverflow="overflow">
                    <a:lnL cap="flat">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Arial" charset="0"/>
                        </a:rPr>
                        <a:t>Y </a:t>
                      </a:r>
                      <a:r>
                        <a:rPr kumimoji="1" lang="en-US" sz="1800" b="0" i="0" u="none" strike="noStrike" cap="none" normalizeH="0" baseline="0" dirty="0">
                          <a:ln>
                            <a:noFill/>
                          </a:ln>
                          <a:solidFill>
                            <a:schemeClr val="tx1"/>
                          </a:solidFill>
                          <a:effectLst/>
                          <a:latin typeface="Arial" charset="0"/>
                        </a:rPr>
                        <a:t>(Salary)</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dirty="0">
                          <a:ln>
                            <a:noFill/>
                          </a:ln>
                          <a:solidFill>
                            <a:schemeClr val="tx1"/>
                          </a:solidFill>
                          <a:effectLst/>
                          <a:latin typeface="Arial" charset="0"/>
                        </a:rPr>
                        <a:t>Y (Predicted)</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dirty="0">
                          <a:ln>
                            <a:noFill/>
                          </a:ln>
                          <a:solidFill>
                            <a:schemeClr val="tx1"/>
                          </a:solidFill>
                          <a:effectLst/>
                          <a:latin typeface="Arial" charset="0"/>
                        </a:rPr>
                        <a:t>[Y=23.6 +3.5X]</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dirty="0">
                          <a:ln>
                            <a:noFill/>
                          </a:ln>
                          <a:solidFill>
                            <a:schemeClr val="tx1"/>
                          </a:solidFill>
                          <a:effectLst/>
                          <a:latin typeface="Arial" charset="0"/>
                        </a:rPr>
                        <a:t>Mean Absolute Error</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1800" b="0" i="0" u="none" strike="noStrike" cap="none" normalizeH="0" baseline="0" dirty="0">
                          <a:ln>
                            <a:noFill/>
                          </a:ln>
                          <a:solidFill>
                            <a:schemeClr val="tx1"/>
                          </a:solidFill>
                          <a:effectLst/>
                          <a:latin typeface="Arial" charset="0"/>
                        </a:rPr>
                        <a:t>Root </a:t>
                      </a:r>
                      <a:r>
                        <a:rPr kumimoji="1" lang="en-US" sz="1800" b="0" i="0" u="none" strike="noStrike" cap="none" normalizeH="0" baseline="0">
                          <a:ln>
                            <a:noFill/>
                          </a:ln>
                          <a:solidFill>
                            <a:schemeClr val="tx1"/>
                          </a:solidFill>
                          <a:effectLst/>
                          <a:latin typeface="Arial" charset="0"/>
                        </a:rPr>
                        <a:t>Mean Squared </a:t>
                      </a:r>
                      <a:r>
                        <a:rPr kumimoji="1" lang="en-US" sz="1800" b="0" i="0" u="none" strike="noStrike" cap="none" normalizeH="0" baseline="0" dirty="0">
                          <a:ln>
                            <a:noFill/>
                          </a:ln>
                          <a:solidFill>
                            <a:schemeClr val="tx1"/>
                          </a:solidFill>
                          <a:effectLst/>
                          <a:latin typeface="Arial" charset="0"/>
                        </a:rPr>
                        <a:t>Error</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02140">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8</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9</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6</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21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16</a:t>
                      </a:r>
                    </a:p>
                  </a:txBody>
                  <a:tcPr horzOverflow="overflow">
                    <a:lnL cap="flat">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57K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64K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75K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36K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43K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59K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90K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20K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83K</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34.1K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51.6K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55.1K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69.1K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34.1K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44.6K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62.1K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97.1K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27.1K</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79.6K</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defRPr/>
                      </a:pPr>
                      <a:r>
                        <a:rPr kumimoji="1" lang="en-US" sz="2000" b="0" i="0" u="none" strike="noStrike" cap="none" normalizeH="0" baseline="0" dirty="0">
                          <a:ln>
                            <a:noFill/>
                          </a:ln>
                          <a:solidFill>
                            <a:schemeClr val="tx1"/>
                          </a:solidFill>
                          <a:effectLst/>
                          <a:latin typeface="+mn-lt"/>
                        </a:rPr>
                        <a:t>abs(Y-</a:t>
                      </a:r>
                      <a:r>
                        <a:rPr kumimoji="1" lang="en-US" sz="2000" b="0" i="0" u="none" strike="noStrike" cap="none" normalizeH="0" baseline="0" dirty="0" err="1">
                          <a:ln>
                            <a:noFill/>
                          </a:ln>
                          <a:solidFill>
                            <a:schemeClr val="tx1"/>
                          </a:solidFill>
                          <a:effectLst/>
                          <a:latin typeface="+mn-lt"/>
                        </a:rPr>
                        <a:t>Yp</a:t>
                      </a:r>
                      <a:r>
                        <a:rPr kumimoji="1" lang="en-US" sz="2000" b="0" i="0" u="none" strike="noStrike" cap="none" normalizeH="0" baseline="0" dirty="0">
                          <a:ln>
                            <a:noFill/>
                          </a:ln>
                          <a:solidFill>
                            <a:schemeClr val="tx1"/>
                          </a:solidFill>
                          <a:effectLst/>
                          <a:latin typeface="+mn-lt"/>
                        </a:rPr>
                        <a:t>)=4.1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5.4</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8.9</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5.9</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1.9</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1.6</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7.1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7.1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3.4</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err="1">
                          <a:ln>
                            <a:noFill/>
                          </a:ln>
                          <a:solidFill>
                            <a:schemeClr val="tx1"/>
                          </a:solidFill>
                          <a:effectLst/>
                          <a:latin typeface="+mn-lt"/>
                        </a:rPr>
                        <a:t>Sqr</a:t>
                      </a:r>
                      <a:r>
                        <a:rPr kumimoji="1" lang="en-US" sz="2000" b="0" i="0" u="none" strike="noStrike" cap="none" normalizeH="0" baseline="0" dirty="0">
                          <a:ln>
                            <a:noFill/>
                          </a:ln>
                          <a:solidFill>
                            <a:schemeClr val="tx1"/>
                          </a:solidFill>
                          <a:effectLst/>
                          <a:latin typeface="+mn-lt"/>
                        </a:rPr>
                        <a:t>(Y-</a:t>
                      </a:r>
                      <a:r>
                        <a:rPr kumimoji="1" lang="en-US" sz="2000" b="0" i="0" u="none" strike="noStrike" cap="none" normalizeH="0" baseline="0" dirty="0" err="1">
                          <a:ln>
                            <a:noFill/>
                          </a:ln>
                          <a:solidFill>
                            <a:schemeClr val="tx1"/>
                          </a:solidFill>
                          <a:effectLst/>
                          <a:latin typeface="+mn-lt"/>
                        </a:rPr>
                        <a:t>Yp</a:t>
                      </a:r>
                      <a:r>
                        <a:rPr kumimoji="1" lang="en-US" sz="2000" b="0" i="0" u="none" strike="noStrike" cap="none" normalizeH="0" baseline="0" dirty="0">
                          <a:ln>
                            <a:noFill/>
                          </a:ln>
                          <a:solidFill>
                            <a:schemeClr val="tx1"/>
                          </a:solidFill>
                          <a:effectLst/>
                          <a:latin typeface="+mn-lt"/>
                        </a:rPr>
                        <a:t>)=16.81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29.16</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79.21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34.81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3.61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2.56</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9.61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50.41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50.41</a:t>
                      </a:r>
                    </a:p>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11.56</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494">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endParaRPr kumimoji="1" lang="en-US" sz="2000" b="0" i="0" u="none" strike="noStrike" cap="none" normalizeH="0" baseline="0" dirty="0">
                        <a:ln>
                          <a:noFill/>
                        </a:ln>
                        <a:solidFill>
                          <a:schemeClr val="tx1"/>
                        </a:solidFill>
                        <a:effectLst/>
                        <a:latin typeface="+mn-lt"/>
                      </a:endParaRPr>
                    </a:p>
                  </a:txBody>
                  <a:tcPr horzOverflow="overflow">
                    <a:lnL cap="flat">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endParaRPr kumimoji="1" lang="en-US" sz="2000" b="0" i="0" u="none" strike="noStrike" cap="none" normalizeH="0" baseline="0" dirty="0">
                        <a:ln>
                          <a:noFill/>
                        </a:ln>
                        <a:solidFill>
                          <a:schemeClr val="tx1"/>
                        </a:solidFill>
                        <a:effectLst/>
                        <a:latin typeface="+mn-lt"/>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endParaRPr kumimoji="1" lang="en-US" sz="2000" b="0" i="0" u="none" strike="noStrike" cap="none" normalizeH="0" baseline="0" dirty="0">
                        <a:ln>
                          <a:noFill/>
                        </a:ln>
                        <a:solidFill>
                          <a:schemeClr val="tx1"/>
                        </a:solidFill>
                        <a:effectLst/>
                        <a:latin typeface="+mn-lt"/>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4.85</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1" lang="en-US" sz="2000" b="0" i="0" u="none" strike="noStrike" cap="none" normalizeH="0" baseline="0" dirty="0">
                          <a:ln>
                            <a:noFill/>
                          </a:ln>
                          <a:solidFill>
                            <a:schemeClr val="tx1"/>
                          </a:solidFill>
                          <a:effectLst/>
                          <a:latin typeface="+mn-lt"/>
                        </a:rPr>
                        <a:t>5.37</a:t>
                      </a: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Rectangle 7"/>
          <p:cNvSpPr/>
          <p:nvPr/>
        </p:nvSpPr>
        <p:spPr>
          <a:xfrm>
            <a:off x="609600" y="304803"/>
            <a:ext cx="8077200" cy="646331"/>
          </a:xfrm>
          <a:prstGeom prst="rect">
            <a:avLst/>
          </a:prstGeom>
        </p:spPr>
        <p:txBody>
          <a:bodyPr wrap="square">
            <a:spAutoFit/>
          </a:bodyPr>
          <a:lstStyle/>
          <a:p>
            <a:r>
              <a:rPr lang="en-US" sz="3600" dirty="0">
                <a:latin typeface="Arial" pitchFamily="34" charset="0"/>
                <a:cs typeface="Arial" pitchFamily="34" charset="0"/>
              </a:rPr>
              <a:t>Example: Linear Regression Analysis</a:t>
            </a:r>
          </a:p>
        </p:txBody>
      </p:sp>
      <p:pic>
        <p:nvPicPr>
          <p:cNvPr id="478210" name="Picture 2" descr="https://i.stack.imgur.com/CCtDG.jpg"/>
          <p:cNvPicPr>
            <a:picLocks noChangeAspect="1" noChangeArrowheads="1"/>
          </p:cNvPicPr>
          <p:nvPr/>
        </p:nvPicPr>
        <p:blipFill>
          <a:blip r:embed="rId3" cstate="print"/>
          <a:srcRect/>
          <a:stretch>
            <a:fillRect/>
          </a:stretch>
        </p:blipFill>
        <p:spPr bwMode="auto">
          <a:xfrm rot="5400000">
            <a:off x="6945886" y="3874515"/>
            <a:ext cx="2872229" cy="914400"/>
          </a:xfrm>
          <a:prstGeom prst="rect">
            <a:avLst/>
          </a:prstGeom>
          <a:noFill/>
        </p:spPr>
      </p:pic>
      <p:pic>
        <p:nvPicPr>
          <p:cNvPr id="478212" name="Picture 4" descr="Image result for Mean Absolute Error"/>
          <p:cNvPicPr>
            <a:picLocks noChangeAspect="1" noChangeArrowheads="1"/>
          </p:cNvPicPr>
          <p:nvPr/>
        </p:nvPicPr>
        <p:blipFill>
          <a:blip r:embed="rId4"/>
          <a:srcRect/>
          <a:stretch>
            <a:fillRect/>
          </a:stretch>
        </p:blipFill>
        <p:spPr bwMode="auto">
          <a:xfrm rot="5400000">
            <a:off x="4191681" y="3961719"/>
            <a:ext cx="2771775" cy="791937"/>
          </a:xfrm>
          <a:prstGeom prst="rect">
            <a:avLst/>
          </a:prstGeom>
          <a:noFill/>
        </p:spPr>
      </p:pic>
    </p:spTree>
    <p:extLst>
      <p:ext uri="{BB962C8B-B14F-4D97-AF65-F5344CB8AC3E}">
        <p14:creationId xmlns:p14="http://schemas.microsoft.com/office/powerpoint/2010/main" val="325108008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WordArt 3"/>
          <p:cNvSpPr>
            <a:spLocks noChangeArrowheads="1" noChangeShapeType="1" noTextEdit="1"/>
          </p:cNvSpPr>
          <p:nvPr/>
        </p:nvSpPr>
        <p:spPr bwMode="gray">
          <a:xfrm>
            <a:off x="2286000" y="2514600"/>
            <a:ext cx="4343400" cy="1447800"/>
          </a:xfrm>
          <a:prstGeom prst="rect">
            <a:avLst/>
          </a:prstGeom>
        </p:spPr>
        <p:txBody>
          <a:bodyPr wrap="none" fromWordArt="1">
            <a:prstTxWarp prst="textDeflate">
              <a:avLst>
                <a:gd name="adj" fmla="val 0"/>
              </a:avLst>
            </a:prstTxWarp>
          </a:bodyPr>
          <a:lstStyle/>
          <a:p>
            <a:pPr algn="ctr"/>
            <a:r>
              <a:rPr lang="en-US" sz="5400" b="1" kern="10" dirty="0">
                <a:ln w="28575">
                  <a:solidFill>
                    <a:schemeClr val="bg1"/>
                  </a:solidFill>
                  <a:round/>
                  <a:headEnd/>
                  <a:tailE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a:ea typeface="Verdana"/>
                <a:cs typeface="Verdana"/>
              </a:rPr>
              <a:t>Q&amp;A</a:t>
            </a:r>
          </a:p>
        </p:txBody>
      </p:sp>
    </p:spTree>
  </p:cSld>
  <p:clrMapOvr>
    <a:masterClrMapping/>
  </p:clrMapOvr>
  <p:transition/>
</p:sld>
</file>

<file path=ppt/theme/theme1.xml><?xml version="1.0" encoding="utf-8"?>
<a:theme xmlns:a="http://schemas.openxmlformats.org/drawingml/2006/main" name="cdb2004169gl">
  <a:themeElements>
    <a:clrScheme name="Office Theme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cdb2004169gl</Template>
  <TotalTime>1362</TotalTime>
  <Words>3627</Words>
  <Application>Microsoft Office PowerPoint</Application>
  <PresentationFormat>On-screen Show (4:3)</PresentationFormat>
  <Paragraphs>1144</Paragraphs>
  <Slides>44</Slides>
  <Notes>15</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2</vt:i4>
      </vt:variant>
      <vt:variant>
        <vt:lpstr>Slide Titles</vt:lpstr>
      </vt:variant>
      <vt:variant>
        <vt:i4>44</vt:i4>
      </vt:variant>
    </vt:vector>
  </HeadingPairs>
  <TitlesOfParts>
    <vt:vector size="61" baseType="lpstr">
      <vt:lpstr>Arial</vt:lpstr>
      <vt:lpstr>Arial Rounded MT Bold</vt:lpstr>
      <vt:lpstr>Calibri</vt:lpstr>
      <vt:lpstr>Cambria Math</vt:lpstr>
      <vt:lpstr>Century Gothic</vt:lpstr>
      <vt:lpstr>Gill Sans MT</vt:lpstr>
      <vt:lpstr>Gothic Uralic</vt:lpstr>
      <vt:lpstr>Marlett</vt:lpstr>
      <vt:lpstr>Segoe</vt:lpstr>
      <vt:lpstr>Symbol</vt:lpstr>
      <vt:lpstr>Times New Roman</vt:lpstr>
      <vt:lpstr>Verdana</vt:lpstr>
      <vt:lpstr>Wingdings</vt:lpstr>
      <vt:lpstr>Wingdings 2</vt:lpstr>
      <vt:lpstr>cdb2004169gl</vt:lpstr>
      <vt:lpstr>Worksheet</vt:lpstr>
      <vt:lpstr>Equation</vt:lpstr>
      <vt:lpstr>PowerPoint Presentation</vt:lpstr>
      <vt:lpstr>Gentle Reminder</vt:lpstr>
      <vt:lpstr>Contents</vt:lpstr>
      <vt:lpstr>Definition</vt:lpstr>
      <vt:lpstr>Classification vs. Prediction</vt:lpstr>
      <vt:lpstr>Applications</vt:lpstr>
      <vt:lpstr>Classification—A Three-Step Process </vt:lpstr>
      <vt:lpstr>Process (1): Model Construction</vt:lpstr>
      <vt:lpstr>Process (2&amp;3): Test and Using the Model in Prediction </vt:lpstr>
      <vt:lpstr>Classification—A Three-Step Process </vt:lpstr>
      <vt:lpstr>Supervised vs. Unsupervised Learning</vt:lpstr>
      <vt:lpstr>PowerPoint Presentation</vt:lpstr>
      <vt:lpstr>Issues: Data Preparation</vt:lpstr>
      <vt:lpstr>Issues: Evaluating Classification Methods</vt:lpstr>
      <vt:lpstr>Decision Tree Induction: Training Dataset</vt:lpstr>
      <vt:lpstr>Output: A Decision Tree for “buys_computer”</vt:lpstr>
      <vt:lpstr>Algorithm for Decision Tree Induction</vt:lpstr>
      <vt:lpstr>PowerPoint Presentation</vt:lpstr>
      <vt:lpstr>Attribute Selection: Information Gain</vt:lpstr>
      <vt:lpstr>Attribute Selection: Information Gain</vt:lpstr>
      <vt:lpstr>Attribute Selection: Information Gain</vt:lpstr>
      <vt:lpstr>Attribute Selection: Information Gain</vt:lpstr>
      <vt:lpstr>Attribute Selection: Information Gain</vt:lpstr>
      <vt:lpstr>Attribute Selection: Information Gain</vt:lpstr>
      <vt:lpstr>Attribute Selection: Information Gain</vt:lpstr>
      <vt:lpstr>Practice : Training Data</vt:lpstr>
      <vt:lpstr>Practice: Training Data ( Entropy Calculations)</vt:lpstr>
      <vt:lpstr>Bayesian Classification: Why?</vt:lpstr>
      <vt:lpstr>Bayesian Theorem: Basics</vt:lpstr>
      <vt:lpstr>Bayesian Theorem</vt:lpstr>
      <vt:lpstr>Towards Naïve Bayesian Classifier</vt:lpstr>
      <vt:lpstr>Derivation of Naïve Bayes Classifier </vt:lpstr>
      <vt:lpstr>Naïve Bayesian Classifier: Training Dataset</vt:lpstr>
      <vt:lpstr>Naïve Bayesian Classifier:  An Example</vt:lpstr>
      <vt:lpstr>Naïve Bayesian Classifier:  Exercise</vt:lpstr>
      <vt:lpstr>Naïve Bayes Classifier: Comments</vt:lpstr>
      <vt:lpstr>The k-Nearest Neighbor (k-NN) Algorithm</vt:lpstr>
      <vt:lpstr>Discussion on the k-NN Algorithm</vt:lpstr>
      <vt:lpstr>k-NN Algorithm</vt:lpstr>
      <vt:lpstr>What Is Prediction?</vt:lpstr>
      <vt:lpstr>Linear Regression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Anaum Hamid</dc:creator>
  <cp:lastModifiedBy>Anum Hamid</cp:lastModifiedBy>
  <cp:revision>299</cp:revision>
  <dcterms:created xsi:type="dcterms:W3CDTF">2015-07-25T19:05:48Z</dcterms:created>
  <dcterms:modified xsi:type="dcterms:W3CDTF">2025-04-22T08:40:06Z</dcterms:modified>
</cp:coreProperties>
</file>