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handoutMasterIdLst>
    <p:handoutMasterId r:id="rId15"/>
  </p:handoutMasterIdLst>
  <p:sldIdLst>
    <p:sldId id="476" r:id="rId2"/>
    <p:sldId id="351" r:id="rId3"/>
    <p:sldId id="477" r:id="rId4"/>
    <p:sldId id="365" r:id="rId5"/>
    <p:sldId id="354" r:id="rId6"/>
    <p:sldId id="415" r:id="rId7"/>
    <p:sldId id="356" r:id="rId8"/>
    <p:sldId id="367" r:id="rId9"/>
    <p:sldId id="368" r:id="rId10"/>
    <p:sldId id="369" r:id="rId11"/>
    <p:sldId id="372" r:id="rId12"/>
    <p:sldId id="373" r:id="rId13"/>
  </p:sldIdLst>
  <p:sldSz cx="12192000" cy="6858000"/>
  <p:notesSz cx="7315200" cy="9601200"/>
  <p:custDataLst>
    <p:tags r:id="rId1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FFFF00"/>
    <a:srgbClr val="3333FF"/>
    <a:srgbClr val="FF3300"/>
    <a:srgbClr val="CC00CC"/>
    <a:srgbClr val="FFCC00"/>
    <a:srgbClr val="FF5050"/>
    <a:srgbClr val="CC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85" autoAdjust="0"/>
    <p:restoredTop sz="93969" autoAdjust="0"/>
  </p:normalViewPr>
  <p:slideViewPr>
    <p:cSldViewPr>
      <p:cViewPr>
        <p:scale>
          <a:sx n="75" d="100"/>
          <a:sy n="75" d="100"/>
        </p:scale>
        <p:origin x="46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5575B08-46AD-4D8B-930A-A5E4BB2BBD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55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173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F016E5B8-84E2-41A6-BF9C-3B5D6FF8B32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082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5613" y="719138"/>
            <a:ext cx="6391275" cy="3595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45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Can’t represent </a:t>
            </a:r>
            <a:r>
              <a:rPr lang="en-US" dirty="0" err="1"/>
              <a:t>xor</a:t>
            </a:r>
            <a:r>
              <a:rPr lang="en-US" dirty="0"/>
              <a:t> with linear classifiers like </a:t>
            </a:r>
            <a:r>
              <a:rPr lang="en-US" dirty="0" err="1"/>
              <a:t>perceptrons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16E5B8-84E2-41A6-BF9C-3B5D6FF8B32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35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BE48-E678-61EC-3A64-314D2F99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C02B3-83C9-AA74-7997-D17C95A5D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22393-20A5-F955-D8C1-BAE9534FC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also make this probabilistic (probabilities at leaves).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023F5-6743-8348-3618-87503799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16E5B8-84E2-41A6-BF9C-3B5D6FF8B32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88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Cannot represent non-linear </a:t>
            </a:r>
            <a:r>
              <a:rPr lang="en-US" dirty="0" err="1"/>
              <a:t>fucntions</a:t>
            </a:r>
            <a:r>
              <a:rPr lang="en-US" dirty="0"/>
              <a:t> with </a:t>
            </a:r>
            <a:r>
              <a:rPr lang="en-US" dirty="0" err="1"/>
              <a:t>perceptrons</a:t>
            </a:r>
            <a:r>
              <a:rPr lang="en-US" dirty="0"/>
              <a:t>, need interaction terms. Decision trees are more comparable to NNs because they can capture non-linearities.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16E5B8-84E2-41A6-BF9C-3B5D6FF8B32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26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Entropy is low for peaky distributions, so rewards splits that create a lot of homogenous groups.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16E5B8-84E2-41A6-BF9C-3B5D6FF8B32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59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16E5B8-84E2-41A6-BF9C-3B5D6FF8B32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74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Unexpandable</a:t>
            </a:r>
            <a:r>
              <a:rPr lang="en-US" dirty="0"/>
              <a:t> – no matter what we split on, doesn’t improve the situation. </a:t>
            </a:r>
          </a:p>
          <a:p>
            <a:endParaRPr lang="en-US" dirty="0"/>
          </a:p>
          <a:p>
            <a:r>
              <a:rPr lang="en-US" dirty="0"/>
              <a:t>We’ve probably overfit at this point – not much data but a very complex tree that almost perfectly fits 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16E5B8-84E2-41A6-BF9C-3B5D6FF8B32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51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86540-E7E5-4035-B3A9-619E9CD31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9C9B28-9F47-4DDC-BFFB-AA4E94F3C8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AEDE7A-BE37-4525-8BB8-DC7A59BCFF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8A3ABF-B740-4DA3-9529-16126B0F8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255E7F-2680-4FC9-9372-7AE6CC7ED6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319E3-2F30-4D52-AA10-F8F0BCA2C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C33E5C-B52E-485F-9E01-581EEDAEA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CD5A28-0464-4A2D-827A-E78B00E7297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180A26-0864-467B-9F79-81BF5CC30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279E1E-EA53-4C52-A513-12A0AFC7202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A93BC6-8BD3-4307-B7BA-0EC52950EB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fld id="{0B6F0654-B567-45D8-9F83-E7FA56350E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en-US" dirty="0"/>
              <a:t>AI 2002: Artificial Intelligence</a:t>
            </a:r>
            <a:br>
              <a:rPr lang="en-US" dirty="0"/>
            </a:br>
            <a:endParaRPr lang="en-US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752600"/>
            <a:ext cx="12192000" cy="1524000"/>
          </a:xfrm>
        </p:spPr>
        <p:txBody>
          <a:bodyPr/>
          <a:lstStyle/>
          <a:p>
            <a:r>
              <a:rPr lang="en-US" sz="4400" dirty="0"/>
              <a:t>Machine Learning</a:t>
            </a:r>
            <a:endParaRPr lang="en-US" sz="4300" dirty="0"/>
          </a:p>
          <a:p>
            <a:pPr eaLnBrk="1" hangingPunct="1"/>
            <a:r>
              <a:rPr lang="en-US" sz="4300" dirty="0"/>
              <a:t>(Decision Tree)</a:t>
            </a:r>
          </a:p>
          <a:p>
            <a:pPr eaLnBrk="1" hangingPunct="1"/>
            <a:endParaRPr lang="en-US" sz="4300" dirty="0"/>
          </a:p>
          <a:p>
            <a:pPr eaLnBrk="1" hangingPunct="1"/>
            <a:endParaRPr lang="en-US" dirty="0"/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09508" y="6129138"/>
            <a:ext cx="11930092" cy="607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>
                <a:latin typeface="Calibri"/>
                <a:cs typeface="Calibri"/>
              </a:rPr>
              <a:t>[These slides (mostly) are based on those created by Dan Klein and Pieter </a:t>
            </a:r>
            <a:r>
              <a:rPr lang="en-US" sz="1400" dirty="0" err="1">
                <a:latin typeface="Calibri"/>
                <a:cs typeface="Calibri"/>
              </a:rPr>
              <a:t>Abbeel</a:t>
            </a:r>
            <a:r>
              <a:rPr lang="en-US" sz="1400" dirty="0">
                <a:latin typeface="Calibri"/>
                <a:cs typeface="Calibri"/>
              </a:rPr>
              <a:t> (ai.berkeley.edu).]</a:t>
            </a:r>
          </a:p>
          <a:p>
            <a:pPr algn="ctr">
              <a:spcBef>
                <a:spcPct val="50000"/>
              </a:spcBef>
            </a:pPr>
            <a:r>
              <a:rPr lang="en-US" sz="1400" dirty="0">
                <a:latin typeface="Calibri"/>
                <a:cs typeface="Calibri"/>
              </a:rPr>
              <a:t>[Some slides are by Mr. Sandesh Kumar, and Ms. Anaum Hamid, FAST-NUCES, Karahi, and by </a:t>
            </a:r>
            <a:r>
              <a:rPr lang="en-US" sz="1400" dirty="0"/>
              <a:t>Nitin Agarwal, Software Consultant]</a:t>
            </a:r>
            <a:endParaRPr lang="en-US" sz="1400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FBC0F-08FF-D97E-F314-C44C91E54845}"/>
              </a:ext>
            </a:extLst>
          </p:cNvPr>
          <p:cNvSpPr txBox="1"/>
          <p:nvPr/>
        </p:nvSpPr>
        <p:spPr>
          <a:xfrm>
            <a:off x="3061570" y="5074271"/>
            <a:ext cx="6093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>
                <a:latin typeface="Calibri"/>
                <a:cs typeface="Calibri"/>
              </a:rP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11100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9982200" cy="4953000"/>
          </a:xfrm>
        </p:spPr>
        <p:txBody>
          <a:bodyPr/>
          <a:lstStyle/>
          <a:p>
            <a:r>
              <a:rPr lang="en-US" sz="2800" dirty="0"/>
              <a:t>Compact representation of a function</a:t>
            </a:r>
          </a:p>
          <a:p>
            <a:r>
              <a:rPr lang="en-US" sz="2800" dirty="0"/>
              <a:t>Can express any function of the features</a:t>
            </a:r>
          </a:p>
          <a:p>
            <a:r>
              <a:rPr lang="en-US" sz="2800" dirty="0"/>
              <a:t>Features, aka attributes</a:t>
            </a:r>
          </a:p>
          <a:p>
            <a:pPr lvl="1"/>
            <a:r>
              <a:rPr lang="en-US" sz="2400" dirty="0"/>
              <a:t>Truth table</a:t>
            </a:r>
          </a:p>
          <a:p>
            <a:pPr lvl="1"/>
            <a:r>
              <a:rPr lang="en-US" sz="2400" dirty="0"/>
              <a:t>Conditional probability table</a:t>
            </a:r>
          </a:p>
          <a:p>
            <a:pPr lvl="1"/>
            <a:r>
              <a:rPr lang="en-US" sz="2400" dirty="0"/>
              <a:t>Regression values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</p:txBody>
      </p:sp>
      <p:pic>
        <p:nvPicPr>
          <p:cNvPr id="11100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099" y="3743325"/>
            <a:ext cx="6250926" cy="2124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10022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692775"/>
            <a:ext cx="15748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192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FCF6F-9089-7652-0045-8EE94B89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4" name="Rectangle 2">
            <a:extLst>
              <a:ext uri="{FF2B5EF4-FFF2-40B4-BE49-F238E27FC236}">
                <a16:creationId xmlns:a16="http://schemas.microsoft.com/office/drawing/2014/main" id="{3BD008A1-457C-371D-DBFA-1763C0D69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Decision Trees</a:t>
            </a:r>
          </a:p>
        </p:txBody>
      </p:sp>
      <p:pic>
        <p:nvPicPr>
          <p:cNvPr id="1108996" name="Picture 4">
            <a:extLst>
              <a:ext uri="{FF2B5EF4-FFF2-40B4-BE49-F238E27FC236}">
                <a16:creationId xmlns:a16="http://schemas.microsoft.com/office/drawing/2014/main" id="{4277F52D-5AD3-C0FF-F90D-B28AE957C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74" y="2286000"/>
            <a:ext cx="7037716" cy="453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6388B29D-C445-28FE-91B7-576FDBE84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76200"/>
            <a:ext cx="7401186" cy="37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624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Comparison: Perceptrons</a:t>
            </a:r>
          </a:p>
        </p:txBody>
      </p:sp>
      <p:sp>
        <p:nvSpPr>
          <p:cNvPr id="1126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/>
              <a:t>What is the expressiveness of a perceptron over these features?</a:t>
            </a:r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000" dirty="0"/>
              <a:t>For a perceptron, a feature’s contribution is either positive or negative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If you want one feature’s effect to depend on another, you have to add a new conjunction feature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E.g. adding “PATRONS=full </a:t>
            </a:r>
            <a:r>
              <a:rPr lang="en-US" sz="1800" dirty="0">
                <a:sym typeface="Symbol" pitchFamily="18" charset="2"/>
              </a:rPr>
              <a:t> WAIT = 60” allows a perceptron to model the interaction between the two atomic features</a:t>
            </a:r>
          </a:p>
          <a:p>
            <a:pPr lvl="2">
              <a:lnSpc>
                <a:spcPct val="80000"/>
              </a:lnSpc>
            </a:pPr>
            <a:endParaRPr lang="en-US" sz="1200" dirty="0"/>
          </a:p>
          <a:p>
            <a:pPr>
              <a:lnSpc>
                <a:spcPct val="80000"/>
              </a:lnSpc>
            </a:pPr>
            <a:r>
              <a:rPr lang="en-US" sz="2000" dirty="0"/>
              <a:t>DTs automatically conjoin features / attributes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Features can have different effects in different branches of the tree!</a:t>
            </a:r>
          </a:p>
          <a:p>
            <a:pPr lvl="2">
              <a:lnSpc>
                <a:spcPct val="80000"/>
              </a:lnSpc>
            </a:pPr>
            <a:endParaRPr lang="en-US" sz="1200" dirty="0"/>
          </a:p>
        </p:txBody>
      </p:sp>
      <p:grpSp>
        <p:nvGrpSpPr>
          <p:cNvPr id="1126406" name="Group 6"/>
          <p:cNvGrpSpPr>
            <a:grpSpLocks/>
          </p:cNvGrpSpPr>
          <p:nvPr/>
        </p:nvGrpSpPr>
        <p:grpSpPr bwMode="auto">
          <a:xfrm>
            <a:off x="1014412" y="1981200"/>
            <a:ext cx="7138988" cy="990600"/>
            <a:chOff x="624" y="1488"/>
            <a:chExt cx="4497" cy="624"/>
          </a:xfrm>
        </p:grpSpPr>
        <p:pic>
          <p:nvPicPr>
            <p:cNvPr id="112640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287"/>
            <a:stretch>
              <a:fillRect/>
            </a:stretch>
          </p:blipFill>
          <p:spPr bwMode="auto">
            <a:xfrm>
              <a:off x="624" y="1488"/>
              <a:ext cx="4497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26405" name="Line 5"/>
            <p:cNvSpPr>
              <a:spLocks noChangeShapeType="1"/>
            </p:cNvSpPr>
            <p:nvPr/>
          </p:nvSpPr>
          <p:spPr bwMode="auto">
            <a:xfrm>
              <a:off x="632" y="2112"/>
              <a:ext cx="44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85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Choosing an Attribute</a:t>
            </a:r>
          </a:p>
        </p:txBody>
      </p:sp>
      <p:sp>
        <p:nvSpPr>
          <p:cNvPr id="1113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Idea: a good attribute splits the examples into subsets that are (ideally) “all positive” or “all negative”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So: we need a measure of how “good” a split is, even if the results aren’t perfectly separated out</a:t>
            </a:r>
          </a:p>
        </p:txBody>
      </p:sp>
      <p:pic>
        <p:nvPicPr>
          <p:cNvPr id="11130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71750"/>
            <a:ext cx="710247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353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Entropy</a:t>
            </a:r>
          </a:p>
        </p:txBody>
      </p:sp>
      <p:sp>
        <p:nvSpPr>
          <p:cNvPr id="1179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General answer: if prior is &lt;</a:t>
            </a:r>
            <a:r>
              <a:rPr lang="en-US" sz="2800" i="1">
                <a:latin typeface="Times New Roman" pitchFamily="18" charset="0"/>
              </a:rPr>
              <a:t>p</a:t>
            </a:r>
            <a:r>
              <a:rPr lang="en-US" sz="2800" baseline="-25000">
                <a:latin typeface="Times New Roman" pitchFamily="18" charset="0"/>
              </a:rPr>
              <a:t>1</a:t>
            </a:r>
            <a:r>
              <a:rPr lang="en-US" sz="2800" i="1">
                <a:latin typeface="Times New Roman" pitchFamily="18" charset="0"/>
              </a:rPr>
              <a:t>,…,p</a:t>
            </a:r>
            <a:r>
              <a:rPr lang="en-US" sz="2800" i="1" baseline="-25000">
                <a:latin typeface="Times New Roman" pitchFamily="18" charset="0"/>
              </a:rPr>
              <a:t>n</a:t>
            </a:r>
            <a:r>
              <a:rPr lang="en-US" sz="2400"/>
              <a:t>&gt;: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Information is the expected code length</a:t>
            </a: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</a:pPr>
            <a:endParaRPr lang="en-US" sz="4000"/>
          </a:p>
          <a:p>
            <a:pPr>
              <a:lnSpc>
                <a:spcPct val="90000"/>
              </a:lnSpc>
            </a:pPr>
            <a:r>
              <a:rPr lang="en-US" sz="2400"/>
              <a:t>Also called the </a:t>
            </a:r>
            <a:r>
              <a:rPr lang="en-US" sz="2400">
                <a:solidFill>
                  <a:srgbClr val="CC0000"/>
                </a:solidFill>
              </a:rPr>
              <a:t>entropy </a:t>
            </a:r>
            <a:r>
              <a:rPr lang="en-US" sz="2400"/>
              <a:t>of the distribution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More uniform = higher entropy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More values = higher entropy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More peaked = lower entropy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Rare values almost “don’t count”</a:t>
            </a:r>
          </a:p>
        </p:txBody>
      </p:sp>
      <p:pic>
        <p:nvPicPr>
          <p:cNvPr id="1179652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2743200"/>
            <a:ext cx="4219575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9653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3376613"/>
            <a:ext cx="2314575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79654" name="Line 6"/>
          <p:cNvSpPr>
            <a:spLocks noChangeShapeType="1"/>
          </p:cNvSpPr>
          <p:nvPr/>
        </p:nvSpPr>
        <p:spPr bwMode="auto">
          <a:xfrm>
            <a:off x="7010400" y="2376488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9655" name="Rectangle 7"/>
          <p:cNvSpPr>
            <a:spLocks noChangeArrowheads="1"/>
          </p:cNvSpPr>
          <p:nvPr/>
        </p:nvSpPr>
        <p:spPr bwMode="auto">
          <a:xfrm>
            <a:off x="7239000" y="1690688"/>
            <a:ext cx="381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9656" name="Rectangle 8"/>
          <p:cNvSpPr>
            <a:spLocks noChangeArrowheads="1"/>
          </p:cNvSpPr>
          <p:nvPr/>
        </p:nvSpPr>
        <p:spPr bwMode="auto">
          <a:xfrm>
            <a:off x="7848600" y="1690688"/>
            <a:ext cx="381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9657" name="Line 9"/>
          <p:cNvSpPr>
            <a:spLocks noChangeShapeType="1"/>
          </p:cNvSpPr>
          <p:nvPr/>
        </p:nvSpPr>
        <p:spPr bwMode="auto">
          <a:xfrm>
            <a:off x="7010400" y="4433888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9659" name="Rectangle 11"/>
          <p:cNvSpPr>
            <a:spLocks noChangeArrowheads="1"/>
          </p:cNvSpPr>
          <p:nvPr/>
        </p:nvSpPr>
        <p:spPr bwMode="auto">
          <a:xfrm>
            <a:off x="7848600" y="3138488"/>
            <a:ext cx="3810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9660" name="Line 12"/>
          <p:cNvSpPr>
            <a:spLocks noChangeShapeType="1"/>
          </p:cNvSpPr>
          <p:nvPr/>
        </p:nvSpPr>
        <p:spPr bwMode="auto">
          <a:xfrm>
            <a:off x="7010400" y="6186488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9661" name="Rectangle 13"/>
          <p:cNvSpPr>
            <a:spLocks noChangeArrowheads="1"/>
          </p:cNvSpPr>
          <p:nvPr/>
        </p:nvSpPr>
        <p:spPr bwMode="auto">
          <a:xfrm>
            <a:off x="7239000" y="5791200"/>
            <a:ext cx="381000" cy="395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9662" name="Rectangle 14"/>
          <p:cNvSpPr>
            <a:spLocks noChangeArrowheads="1"/>
          </p:cNvSpPr>
          <p:nvPr/>
        </p:nvSpPr>
        <p:spPr bwMode="auto">
          <a:xfrm>
            <a:off x="7848600" y="5181600"/>
            <a:ext cx="381000" cy="10048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9663" name="Text Box 15"/>
          <p:cNvSpPr txBox="1">
            <a:spLocks noChangeArrowheads="1"/>
          </p:cNvSpPr>
          <p:nvPr/>
        </p:nvSpPr>
        <p:spPr bwMode="auto">
          <a:xfrm>
            <a:off x="7391400" y="24526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1 bit</a:t>
            </a:r>
          </a:p>
        </p:txBody>
      </p:sp>
      <p:sp>
        <p:nvSpPr>
          <p:cNvPr id="1179664" name="Text Box 16"/>
          <p:cNvSpPr txBox="1">
            <a:spLocks noChangeArrowheads="1"/>
          </p:cNvSpPr>
          <p:nvPr/>
        </p:nvSpPr>
        <p:spPr bwMode="auto">
          <a:xfrm>
            <a:off x="7391400" y="4510088"/>
            <a:ext cx="762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 bits</a:t>
            </a:r>
          </a:p>
        </p:txBody>
      </p:sp>
      <p:sp>
        <p:nvSpPr>
          <p:cNvPr id="1179665" name="Text Box 17"/>
          <p:cNvSpPr txBox="1">
            <a:spLocks noChangeArrowheads="1"/>
          </p:cNvSpPr>
          <p:nvPr/>
        </p:nvSpPr>
        <p:spPr bwMode="auto">
          <a:xfrm>
            <a:off x="7391400" y="6262688"/>
            <a:ext cx="1143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0.5 bit</a:t>
            </a:r>
          </a:p>
        </p:txBody>
      </p:sp>
    </p:spTree>
    <p:extLst>
      <p:ext uri="{BB962C8B-B14F-4D97-AF65-F5344CB8AC3E}">
        <p14:creationId xmlns:p14="http://schemas.microsoft.com/office/powerpoint/2010/main" val="539532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Gain</a:t>
            </a:r>
          </a:p>
        </p:txBody>
      </p:sp>
      <p:sp>
        <p:nvSpPr>
          <p:cNvPr id="11151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1196340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For each split, compare entropy </a:t>
            </a:r>
            <a:r>
              <a:rPr lang="en-US" sz="2800" dirty="0">
                <a:highlight>
                  <a:srgbClr val="FFFF00"/>
                </a:highlight>
              </a:rPr>
              <a:t>before and after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highlight>
                  <a:srgbClr val="FFFF00"/>
                </a:highlight>
              </a:rPr>
              <a:t>Difference</a:t>
            </a:r>
            <a:r>
              <a:rPr lang="en-US" sz="2400" dirty="0"/>
              <a:t> is the </a:t>
            </a:r>
            <a:r>
              <a:rPr lang="en-US" sz="2400" dirty="0">
                <a:solidFill>
                  <a:srgbClr val="CC0000"/>
                </a:solidFill>
              </a:rPr>
              <a:t>information gain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Problem: there’s more than one distribution after split!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Solution: use </a:t>
            </a:r>
            <a:r>
              <a:rPr lang="en-US" sz="2400" dirty="0">
                <a:solidFill>
                  <a:srgbClr val="CC0000"/>
                </a:solidFill>
              </a:rPr>
              <a:t>expected entropy</a:t>
            </a:r>
            <a:r>
              <a:rPr lang="en-US" sz="2400" dirty="0"/>
              <a:t>, weighted by the number of examples</a:t>
            </a:r>
          </a:p>
        </p:txBody>
      </p:sp>
      <p:pic>
        <p:nvPicPr>
          <p:cNvPr id="11151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29000"/>
            <a:ext cx="710247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155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Miles Per Gallon</a:t>
            </a:r>
          </a:p>
        </p:txBody>
      </p:sp>
      <p:sp>
        <p:nvSpPr>
          <p:cNvPr id="1128452" name="Text Box 4"/>
          <p:cNvSpPr txBox="1">
            <a:spLocks noChangeArrowheads="1"/>
          </p:cNvSpPr>
          <p:nvPr/>
        </p:nvSpPr>
        <p:spPr bwMode="auto">
          <a:xfrm>
            <a:off x="365125" y="2166938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2400">
              <a:latin typeface="Tahoma" pitchFamily="34" charset="0"/>
            </a:endParaRPr>
          </a:p>
        </p:txBody>
      </p:sp>
      <p:sp>
        <p:nvSpPr>
          <p:cNvPr id="1128453" name="Text Box 5"/>
          <p:cNvSpPr txBox="1">
            <a:spLocks noChangeArrowheads="1"/>
          </p:cNvSpPr>
          <p:nvPr/>
        </p:nvSpPr>
        <p:spPr bwMode="auto">
          <a:xfrm rot="16200000">
            <a:off x="919162" y="3175000"/>
            <a:ext cx="233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Tahoma" pitchFamily="34" charset="0"/>
              </a:rPr>
              <a:t>40 Examples</a:t>
            </a:r>
          </a:p>
        </p:txBody>
      </p:sp>
      <p:graphicFrame>
        <p:nvGraphicFramePr>
          <p:cNvPr id="1128454" name="Object 6"/>
          <p:cNvGraphicFramePr>
            <a:graphicFrameLocks noChangeAspect="1"/>
          </p:cNvGraphicFramePr>
          <p:nvPr/>
        </p:nvGraphicFramePr>
        <p:xfrm>
          <a:off x="2640012" y="1530350"/>
          <a:ext cx="6503988" cy="496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191354" imgH="3734105" progId="Excel.Sheet.8">
                  <p:embed/>
                </p:oleObj>
              </mc:Choice>
              <mc:Fallback>
                <p:oleObj name="Worksheet" r:id="rId3" imgW="5191354" imgH="3734105" progId="Excel.Sheet.8">
                  <p:embed/>
                  <p:pic>
                    <p:nvPicPr>
                      <p:cNvPr id="11284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2" y="1530350"/>
                        <a:ext cx="6503988" cy="496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55" name="Rectangle 7"/>
          <p:cNvSpPr>
            <a:spLocks noChangeArrowheads="1"/>
          </p:cNvSpPr>
          <p:nvPr/>
        </p:nvSpPr>
        <p:spPr bwMode="auto">
          <a:xfrm>
            <a:off x="1495425" y="1530350"/>
            <a:ext cx="530225" cy="49466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4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476" name="Picture 4" descr="igai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45600"/>
            <a:ext cx="3118586" cy="676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9480" name="Rectangle 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153400" cy="1066800"/>
          </a:xfrm>
        </p:spPr>
        <p:txBody>
          <a:bodyPr/>
          <a:lstStyle/>
          <a:p>
            <a:r>
              <a:rPr lang="en-US" dirty="0"/>
              <a:t>Find the First Split</a:t>
            </a:r>
          </a:p>
        </p:txBody>
      </p:sp>
      <p:sp>
        <p:nvSpPr>
          <p:cNvPr id="1129481" name="Rectangle 9"/>
          <p:cNvSpPr>
            <a:spLocks noGrp="1" noChangeArrowheads="1"/>
          </p:cNvSpPr>
          <p:nvPr>
            <p:ph idx="1"/>
          </p:nvPr>
        </p:nvSpPr>
        <p:spPr>
          <a:xfrm>
            <a:off x="1295400" y="1600200"/>
            <a:ext cx="5638800" cy="4525963"/>
          </a:xfrm>
        </p:spPr>
        <p:txBody>
          <a:bodyPr/>
          <a:lstStyle/>
          <a:p>
            <a:r>
              <a:rPr lang="en-US" dirty="0"/>
              <a:t>Look at information gain for each attribute</a:t>
            </a:r>
          </a:p>
          <a:p>
            <a:endParaRPr lang="en-US" dirty="0"/>
          </a:p>
          <a:p>
            <a:r>
              <a:rPr lang="en-US" dirty="0"/>
              <a:t>Note that each attribute is correlated with the target!</a:t>
            </a:r>
          </a:p>
          <a:p>
            <a:endParaRPr lang="en-US" dirty="0"/>
          </a:p>
          <a:p>
            <a:r>
              <a:rPr lang="en-US" dirty="0"/>
              <a:t>What do we split on?</a:t>
            </a:r>
          </a:p>
        </p:txBody>
      </p:sp>
    </p:spTree>
    <p:extLst>
      <p:ext uri="{BB962C8B-B14F-4D97-AF65-F5344CB8AC3E}">
        <p14:creationId xmlns:p14="http://schemas.microsoft.com/office/powerpoint/2010/main" val="411729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Result: Decision Stump</a:t>
            </a:r>
          </a:p>
        </p:txBody>
      </p:sp>
      <p:pic>
        <p:nvPicPr>
          <p:cNvPr id="1130499" name="Picture 3" descr="stu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7018337" cy="36226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124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570" name="Picture 2" descr="2lev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24000"/>
            <a:ext cx="7829550" cy="40925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35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4016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594" name="Picture 2" descr="fu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490538"/>
            <a:ext cx="7464425" cy="58753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4595" name="Rectangle 3"/>
          <p:cNvSpPr>
            <a:spLocks noChangeArrowheads="1"/>
          </p:cNvSpPr>
          <p:nvPr/>
        </p:nvSpPr>
        <p:spPr bwMode="auto">
          <a:xfrm>
            <a:off x="381000" y="304800"/>
            <a:ext cx="3505200" cy="7715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4400">
                <a:latin typeface="Tahoma" pitchFamily="34" charset="0"/>
              </a:rPr>
              <a:t>Final Tree</a:t>
            </a:r>
          </a:p>
        </p:txBody>
      </p:sp>
      <p:grpSp>
        <p:nvGrpSpPr>
          <p:cNvPr id="1134596" name="Group 4"/>
          <p:cNvGrpSpPr>
            <a:grpSpLocks/>
          </p:cNvGrpSpPr>
          <p:nvPr/>
        </p:nvGrpSpPr>
        <p:grpSpPr bwMode="auto">
          <a:xfrm>
            <a:off x="8991600" y="457200"/>
            <a:ext cx="2743200" cy="6096000"/>
            <a:chOff x="3408" y="96"/>
            <a:chExt cx="1728" cy="3840"/>
          </a:xfrm>
        </p:grpSpPr>
        <p:sp>
          <p:nvSpPr>
            <p:cNvPr id="1134597" name="AutoShape 5"/>
            <p:cNvSpPr>
              <a:spLocks noChangeArrowheads="1"/>
            </p:cNvSpPr>
            <p:nvPr/>
          </p:nvSpPr>
          <p:spPr bwMode="auto">
            <a:xfrm>
              <a:off x="3408" y="96"/>
              <a:ext cx="1728" cy="3840"/>
            </a:xfrm>
            <a:prstGeom prst="wedgeRectCallout">
              <a:avLst>
                <a:gd name="adj1" fmla="val -270570"/>
                <a:gd name="adj2" fmla="val 3970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en-US" sz="2400">
                <a:latin typeface="Tahoma" pitchFamily="34" charset="0"/>
              </a:endParaRPr>
            </a:p>
          </p:txBody>
        </p:sp>
        <p:pic>
          <p:nvPicPr>
            <p:cNvPr id="1134598" name="Picture 6" descr="unexpandab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144"/>
              <a:ext cx="1626" cy="376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7010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592"/>
  <p:tag name="DEFAULTHEIGHT" val="4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P(C|A,B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98"/>
  <p:tag name="PICTUREFILESIZE" val="58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H(\langle p_1,\ldots,p_n \rangle) = E_{p} \log_2 1/p_i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288"/>
  <p:tag name="PICTUREFILESIZE" val="1404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= \sum_{i = 1}^n - p_i \log_2 p_i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592"/>
  <p:tag name="BOXHEIGHT" val="422"/>
  <p:tag name="BOXFONT" val="10"/>
  <p:tag name="BOXWRAP" val="False"/>
  <p:tag name="WORKAROUNDTRANSPARENCYBUG" val="False"/>
  <p:tag name="ALLOWFONTSUBSTITUTION" val="False"/>
  <p:tag name="BITMAPFORMAT" val="pngmono"/>
  <p:tag name="ORIGWIDTH" val="158"/>
  <p:tag name="PICTUREFILESIZE" val="10901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3 -- a-star search</Template>
  <TotalTime>34853</TotalTime>
  <Words>468</Words>
  <Application>Microsoft Office PowerPoint</Application>
  <PresentationFormat>Widescreen</PresentationFormat>
  <Paragraphs>97</Paragraphs>
  <Slides>12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Symbol</vt:lpstr>
      <vt:lpstr>Tahoma</vt:lpstr>
      <vt:lpstr>Times New Roman</vt:lpstr>
      <vt:lpstr>Wingdings</vt:lpstr>
      <vt:lpstr>dan-berkeley-nlp-v1</vt:lpstr>
      <vt:lpstr>Worksheet</vt:lpstr>
      <vt:lpstr>AI 2002: Artificial Intelligence </vt:lpstr>
      <vt:lpstr>Decision Trees</vt:lpstr>
      <vt:lpstr>Decision Trees</vt:lpstr>
      <vt:lpstr>Comparison: Perceptrons</vt:lpstr>
      <vt:lpstr>Choosing an Attribute</vt:lpstr>
      <vt:lpstr>Entropy</vt:lpstr>
      <vt:lpstr>Information Gain</vt:lpstr>
      <vt:lpstr>Example: Miles Per Gallon</vt:lpstr>
      <vt:lpstr>Find the First Split</vt:lpstr>
      <vt:lpstr>Result: Decision Stump</vt:lpstr>
      <vt:lpstr>Second Level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Dr. Farrukh Salim Shaikh</cp:lastModifiedBy>
  <cp:revision>2712</cp:revision>
  <cp:lastPrinted>2018-11-08T20:04:01Z</cp:lastPrinted>
  <dcterms:created xsi:type="dcterms:W3CDTF">2004-08-27T04:16:05Z</dcterms:created>
  <dcterms:modified xsi:type="dcterms:W3CDTF">2026-04-24T03:08:07Z</dcterms:modified>
</cp:coreProperties>
</file>