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media/image5.jpg" ContentType="image/jpg"/>
  <Override PartName="/ppt/notesSlides/notesSlide2.xml" ContentType="application/vnd.openxmlformats-officedocument.presentationml.notesSlide+xml"/>
  <Override PartName="/ppt/media/image8.jpg" ContentType="image/jpg"/>
  <Override PartName="/ppt/notesSlides/notesSlide3.xml" ContentType="application/vnd.openxmlformats-officedocument.presentationml.notesSlide+xml"/>
  <Override PartName="/ppt/media/image11.jpg" ContentType="image/jpg"/>
  <Override PartName="/ppt/media/image13.jpg" ContentType="image/jpg"/>
  <Override PartName="/ppt/media/image14.jpg" ContentType="image/jpg"/>
  <Override PartName="/ppt/media/image15.jpg" ContentType="image/jpg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7.jpg" ContentType="image/jpg"/>
  <Override PartName="/ppt/media/image33.jpg" ContentType="image/jpg"/>
  <Override PartName="/ppt/media/image34.jpg" ContentType="image/jpg"/>
  <Override PartName="/ppt/media/image46.jpg" ContentType="image/jpg"/>
  <Override PartName="/ppt/media/image48.jpg" ContentType="image/jpg"/>
  <Override PartName="/ppt/media/image50.jpg" ContentType="image/jpg"/>
  <Override PartName="/ppt/media/image55.jpg" ContentType="image/jpg"/>
  <Override PartName="/ppt/media/image5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5"/>
  </p:notesMasterIdLst>
  <p:sldIdLst>
    <p:sldId id="360" r:id="rId2"/>
    <p:sldId id="258" r:id="rId3"/>
    <p:sldId id="259" r:id="rId4"/>
    <p:sldId id="362" r:id="rId5"/>
    <p:sldId id="364" r:id="rId6"/>
    <p:sldId id="375" r:id="rId7"/>
    <p:sldId id="376" r:id="rId8"/>
    <p:sldId id="377" r:id="rId9"/>
    <p:sldId id="363" r:id="rId10"/>
    <p:sldId id="365" r:id="rId11"/>
    <p:sldId id="378" r:id="rId12"/>
    <p:sldId id="366" r:id="rId13"/>
    <p:sldId id="367" r:id="rId14"/>
    <p:sldId id="368" r:id="rId15"/>
    <p:sldId id="369" r:id="rId16"/>
    <p:sldId id="268" r:id="rId17"/>
    <p:sldId id="269" r:id="rId18"/>
    <p:sldId id="270" r:id="rId19"/>
    <p:sldId id="271" r:id="rId20"/>
    <p:sldId id="370" r:id="rId21"/>
    <p:sldId id="260" r:id="rId22"/>
    <p:sldId id="284" r:id="rId23"/>
    <p:sldId id="272" r:id="rId24"/>
    <p:sldId id="273" r:id="rId25"/>
    <p:sldId id="274" r:id="rId26"/>
    <p:sldId id="371" r:id="rId27"/>
    <p:sldId id="373" r:id="rId28"/>
    <p:sldId id="374" r:id="rId29"/>
    <p:sldId id="261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5" r:id="rId55"/>
    <p:sldId id="316" r:id="rId56"/>
    <p:sldId id="317" r:id="rId57"/>
    <p:sldId id="318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9" r:id="rId67"/>
    <p:sldId id="387" r:id="rId68"/>
    <p:sldId id="330" r:id="rId69"/>
    <p:sldId id="331" r:id="rId70"/>
    <p:sldId id="336" r:id="rId71"/>
    <p:sldId id="379" r:id="rId72"/>
    <p:sldId id="380" r:id="rId73"/>
    <p:sldId id="382" r:id="rId74"/>
    <p:sldId id="389" r:id="rId75"/>
    <p:sldId id="339" r:id="rId76"/>
    <p:sldId id="340" r:id="rId77"/>
    <p:sldId id="381" r:id="rId78"/>
    <p:sldId id="383" r:id="rId79"/>
    <p:sldId id="342" r:id="rId80"/>
    <p:sldId id="343" r:id="rId81"/>
    <p:sldId id="344" r:id="rId82"/>
    <p:sldId id="345" r:id="rId83"/>
    <p:sldId id="346" r:id="rId84"/>
    <p:sldId id="349" r:id="rId85"/>
    <p:sldId id="385" r:id="rId86"/>
    <p:sldId id="351" r:id="rId87"/>
    <p:sldId id="352" r:id="rId88"/>
    <p:sldId id="384" r:id="rId89"/>
    <p:sldId id="353" r:id="rId90"/>
    <p:sldId id="354" r:id="rId91"/>
    <p:sldId id="386" r:id="rId92"/>
    <p:sldId id="388" r:id="rId93"/>
    <p:sldId id="356" r:id="rId9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82"/>
    <p:restoredTop sz="94729"/>
  </p:normalViewPr>
  <p:slideViewPr>
    <p:cSldViewPr>
      <p:cViewPr varScale="1">
        <p:scale>
          <a:sx n="109" d="100"/>
          <a:sy n="109" d="100"/>
        </p:scale>
        <p:origin x="172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226CD2-237E-438D-B950-F0CD2825A7F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1651D6BD-BA2C-447F-9C36-2193E08B6760}">
      <dgm:prSet phldrT="[Text]" custT="1"/>
      <dgm:spPr/>
      <dgm:t>
        <a:bodyPr/>
        <a:lstStyle/>
        <a:p>
          <a:r>
            <a:rPr lang="en-US" sz="2800" b="1" dirty="0"/>
            <a:t>6.Solution</a:t>
          </a:r>
          <a:endParaRPr lang="en-US" sz="1800" b="1" dirty="0"/>
        </a:p>
      </dgm:t>
    </dgm:pt>
    <dgm:pt modelId="{F3D189A3-4D63-467D-9DD5-FB8D9DEE783F}" type="parTrans" cxnId="{70D55BFC-B6A3-456E-BDC4-09A925D9930F}">
      <dgm:prSet/>
      <dgm:spPr/>
      <dgm:t>
        <a:bodyPr/>
        <a:lstStyle/>
        <a:p>
          <a:endParaRPr lang="en-US"/>
        </a:p>
      </dgm:t>
    </dgm:pt>
    <dgm:pt modelId="{1A6CFADD-6FAA-4D59-A0F2-CBBB008C0580}" type="sibTrans" cxnId="{70D55BFC-B6A3-456E-BDC4-09A925D9930F}">
      <dgm:prSet/>
      <dgm:spPr/>
      <dgm:t>
        <a:bodyPr/>
        <a:lstStyle/>
        <a:p>
          <a:endParaRPr lang="en-US"/>
        </a:p>
      </dgm:t>
    </dgm:pt>
    <dgm:pt modelId="{47CA5735-C755-4585-AE6D-F6C5C3C37B4D}">
      <dgm:prSet phldrT="[Text]" custT="1"/>
      <dgm:spPr/>
      <dgm:t>
        <a:bodyPr/>
        <a:lstStyle/>
        <a:p>
          <a:r>
            <a:rPr lang="en-US" sz="2800" b="1" dirty="0"/>
            <a:t>1.State</a:t>
          </a:r>
        </a:p>
      </dgm:t>
    </dgm:pt>
    <dgm:pt modelId="{9367A236-0D97-4CCA-BE7E-FA5172565496}" type="sibTrans" cxnId="{B5C8C5BA-1EA4-4FF6-AFE7-54A841470231}">
      <dgm:prSet/>
      <dgm:spPr/>
      <dgm:t>
        <a:bodyPr/>
        <a:lstStyle/>
        <a:p>
          <a:endParaRPr lang="en-US"/>
        </a:p>
      </dgm:t>
    </dgm:pt>
    <dgm:pt modelId="{3670FC4D-FDF1-4795-9585-C948BBF0224F}" type="parTrans" cxnId="{B5C8C5BA-1EA4-4FF6-AFE7-54A841470231}">
      <dgm:prSet/>
      <dgm:spPr/>
      <dgm:t>
        <a:bodyPr/>
        <a:lstStyle/>
        <a:p>
          <a:endParaRPr lang="en-US"/>
        </a:p>
      </dgm:t>
    </dgm:pt>
    <dgm:pt modelId="{77849238-E402-447D-9B2F-E780325AFD1D}">
      <dgm:prSet phldrT="[Text]" custT="1"/>
      <dgm:spPr/>
      <dgm:t>
        <a:bodyPr/>
        <a:lstStyle/>
        <a:p>
          <a:r>
            <a:rPr lang="en-US" sz="2800" b="1" dirty="0"/>
            <a:t>2.Initial State</a:t>
          </a:r>
        </a:p>
      </dgm:t>
    </dgm:pt>
    <dgm:pt modelId="{F6460027-E963-48B6-A25B-C79D86E52851}" type="sibTrans" cxnId="{AC647866-D987-450C-981A-0381286AD1DF}">
      <dgm:prSet/>
      <dgm:spPr/>
      <dgm:t>
        <a:bodyPr/>
        <a:lstStyle/>
        <a:p>
          <a:endParaRPr lang="en-US"/>
        </a:p>
      </dgm:t>
    </dgm:pt>
    <dgm:pt modelId="{5D9727AE-3D81-4565-B85B-2E3633C70F00}" type="parTrans" cxnId="{AC647866-D987-450C-981A-0381286AD1DF}">
      <dgm:prSet/>
      <dgm:spPr/>
      <dgm:t>
        <a:bodyPr/>
        <a:lstStyle/>
        <a:p>
          <a:endParaRPr lang="en-US"/>
        </a:p>
      </dgm:t>
    </dgm:pt>
    <dgm:pt modelId="{F8CF61A8-9BF3-453D-856A-076C26012DFC}">
      <dgm:prSet phldrT="[Text]" custT="1"/>
      <dgm:spPr/>
      <dgm:t>
        <a:bodyPr/>
        <a:lstStyle/>
        <a:p>
          <a:r>
            <a:rPr lang="en-US" sz="2800" b="1" dirty="0"/>
            <a:t>3.Actions</a:t>
          </a:r>
        </a:p>
      </dgm:t>
    </dgm:pt>
    <dgm:pt modelId="{F462C2D9-3813-4E5B-9B4E-A7411F1AFF51}" type="sibTrans" cxnId="{1267B795-E48B-4C55-8ECA-334B5A3A46AD}">
      <dgm:prSet/>
      <dgm:spPr/>
      <dgm:t>
        <a:bodyPr/>
        <a:lstStyle/>
        <a:p>
          <a:endParaRPr lang="en-US"/>
        </a:p>
      </dgm:t>
    </dgm:pt>
    <dgm:pt modelId="{D25F9894-A632-42E6-AD0D-96B7ADB5F5F1}" type="parTrans" cxnId="{1267B795-E48B-4C55-8ECA-334B5A3A46AD}">
      <dgm:prSet/>
      <dgm:spPr/>
      <dgm:t>
        <a:bodyPr/>
        <a:lstStyle/>
        <a:p>
          <a:endParaRPr lang="en-US"/>
        </a:p>
      </dgm:t>
    </dgm:pt>
    <dgm:pt modelId="{8A3D7FD9-6777-4872-A1A1-DDFBC523E3D8}">
      <dgm:prSet phldrT="[Text]" custT="1"/>
      <dgm:spPr/>
      <dgm:t>
        <a:bodyPr/>
        <a:lstStyle/>
        <a:p>
          <a:r>
            <a:rPr lang="en-US" sz="2800" b="1" dirty="0"/>
            <a:t>4.Goal Test</a:t>
          </a:r>
        </a:p>
      </dgm:t>
    </dgm:pt>
    <dgm:pt modelId="{8B56ABA7-39F1-4FA9-A644-4F8F2452C816}" type="sibTrans" cxnId="{AEE6CE3B-09F2-41B9-B20A-918BFDC53935}">
      <dgm:prSet/>
      <dgm:spPr/>
      <dgm:t>
        <a:bodyPr/>
        <a:lstStyle/>
        <a:p>
          <a:endParaRPr lang="en-US"/>
        </a:p>
      </dgm:t>
    </dgm:pt>
    <dgm:pt modelId="{2404DFE1-9916-47ED-A9AA-CD079E67BA6F}" type="parTrans" cxnId="{AEE6CE3B-09F2-41B9-B20A-918BFDC53935}">
      <dgm:prSet/>
      <dgm:spPr/>
      <dgm:t>
        <a:bodyPr/>
        <a:lstStyle/>
        <a:p>
          <a:endParaRPr lang="en-US"/>
        </a:p>
      </dgm:t>
    </dgm:pt>
    <dgm:pt modelId="{8C2050A5-56BC-4AAC-9EC8-E021E42845E3}">
      <dgm:prSet phldrT="[Text]" custT="1"/>
      <dgm:spPr/>
      <dgm:t>
        <a:bodyPr/>
        <a:lstStyle/>
        <a:p>
          <a:r>
            <a:rPr lang="en-US" sz="2800" b="1" dirty="0"/>
            <a:t>5.Path Cost</a:t>
          </a:r>
        </a:p>
      </dgm:t>
    </dgm:pt>
    <dgm:pt modelId="{BC94E954-C90D-43BC-9EDB-F21E3E073EE6}" type="sibTrans" cxnId="{6FF617F6-DB6E-403C-B802-BD8FED9FFCEE}">
      <dgm:prSet/>
      <dgm:spPr/>
      <dgm:t>
        <a:bodyPr/>
        <a:lstStyle/>
        <a:p>
          <a:endParaRPr lang="en-US"/>
        </a:p>
      </dgm:t>
    </dgm:pt>
    <dgm:pt modelId="{4E4BE46B-7B5A-43F6-A8ED-CCDADA2B44E9}" type="parTrans" cxnId="{6FF617F6-DB6E-403C-B802-BD8FED9FFCEE}">
      <dgm:prSet/>
      <dgm:spPr/>
      <dgm:t>
        <a:bodyPr/>
        <a:lstStyle/>
        <a:p>
          <a:endParaRPr lang="en-US"/>
        </a:p>
      </dgm:t>
    </dgm:pt>
    <dgm:pt modelId="{ECA509FC-B60A-42D4-A0D0-CB2F66A806F0}" type="pres">
      <dgm:prSet presAssocID="{88226CD2-237E-438D-B950-F0CD2825A7FB}" presName="linearFlow" presStyleCnt="0">
        <dgm:presLayoutVars>
          <dgm:resizeHandles val="exact"/>
        </dgm:presLayoutVars>
      </dgm:prSet>
      <dgm:spPr/>
    </dgm:pt>
    <dgm:pt modelId="{13BD5D3D-0C81-493B-AB64-D2707EE38C35}" type="pres">
      <dgm:prSet presAssocID="{47CA5735-C755-4585-AE6D-F6C5C3C37B4D}" presName="node" presStyleLbl="node1" presStyleIdx="0" presStyleCnt="6" custLinFactNeighborX="1824" custLinFactNeighborY="-1507">
        <dgm:presLayoutVars>
          <dgm:bulletEnabled val="1"/>
        </dgm:presLayoutVars>
      </dgm:prSet>
      <dgm:spPr/>
    </dgm:pt>
    <dgm:pt modelId="{31D28C74-34A6-4207-903B-0FAED459CFE9}" type="pres">
      <dgm:prSet presAssocID="{9367A236-0D97-4CCA-BE7E-FA5172565496}" presName="sibTrans" presStyleLbl="sibTrans2D1" presStyleIdx="0" presStyleCnt="5"/>
      <dgm:spPr/>
    </dgm:pt>
    <dgm:pt modelId="{5F8EE2D6-C6EE-48DC-9E40-02AD2D63F8C1}" type="pres">
      <dgm:prSet presAssocID="{9367A236-0D97-4CCA-BE7E-FA5172565496}" presName="connectorText" presStyleLbl="sibTrans2D1" presStyleIdx="0" presStyleCnt="5"/>
      <dgm:spPr/>
    </dgm:pt>
    <dgm:pt modelId="{820D35EE-4BF3-4747-AA44-22BB7FA0971E}" type="pres">
      <dgm:prSet presAssocID="{77849238-E402-447D-9B2F-E780325AFD1D}" presName="node" presStyleLbl="node1" presStyleIdx="1" presStyleCnt="6">
        <dgm:presLayoutVars>
          <dgm:bulletEnabled val="1"/>
        </dgm:presLayoutVars>
      </dgm:prSet>
      <dgm:spPr/>
    </dgm:pt>
    <dgm:pt modelId="{25B2A801-C5BC-4242-AE3B-05B2F1860C46}" type="pres">
      <dgm:prSet presAssocID="{F6460027-E963-48B6-A25B-C79D86E52851}" presName="sibTrans" presStyleLbl="sibTrans2D1" presStyleIdx="1" presStyleCnt="5"/>
      <dgm:spPr/>
    </dgm:pt>
    <dgm:pt modelId="{8274CF0B-125D-4E7B-B942-9F81E0DBD0B8}" type="pres">
      <dgm:prSet presAssocID="{F6460027-E963-48B6-A25B-C79D86E52851}" presName="connectorText" presStyleLbl="sibTrans2D1" presStyleIdx="1" presStyleCnt="5"/>
      <dgm:spPr/>
    </dgm:pt>
    <dgm:pt modelId="{3B16271F-11E7-46E3-AED8-3BA2CDFB7F9B}" type="pres">
      <dgm:prSet presAssocID="{F8CF61A8-9BF3-453D-856A-076C26012DFC}" presName="node" presStyleLbl="node1" presStyleIdx="2" presStyleCnt="6">
        <dgm:presLayoutVars>
          <dgm:bulletEnabled val="1"/>
        </dgm:presLayoutVars>
      </dgm:prSet>
      <dgm:spPr/>
    </dgm:pt>
    <dgm:pt modelId="{120521CC-0EB1-467E-BD2F-B0213BE5CF64}" type="pres">
      <dgm:prSet presAssocID="{F462C2D9-3813-4E5B-9B4E-A7411F1AFF51}" presName="sibTrans" presStyleLbl="sibTrans2D1" presStyleIdx="2" presStyleCnt="5"/>
      <dgm:spPr/>
    </dgm:pt>
    <dgm:pt modelId="{2DDA40F4-D638-40CE-A39A-E6C768AD5E28}" type="pres">
      <dgm:prSet presAssocID="{F462C2D9-3813-4E5B-9B4E-A7411F1AFF51}" presName="connectorText" presStyleLbl="sibTrans2D1" presStyleIdx="2" presStyleCnt="5"/>
      <dgm:spPr/>
    </dgm:pt>
    <dgm:pt modelId="{8F763CC4-9F3A-41A6-A608-3E2EDE6BC734}" type="pres">
      <dgm:prSet presAssocID="{8A3D7FD9-6777-4872-A1A1-DDFBC523E3D8}" presName="node" presStyleLbl="node1" presStyleIdx="3" presStyleCnt="6">
        <dgm:presLayoutVars>
          <dgm:bulletEnabled val="1"/>
        </dgm:presLayoutVars>
      </dgm:prSet>
      <dgm:spPr/>
    </dgm:pt>
    <dgm:pt modelId="{517A0E7D-9966-401E-BCB8-EC4FC97BEEA2}" type="pres">
      <dgm:prSet presAssocID="{8B56ABA7-39F1-4FA9-A644-4F8F2452C816}" presName="sibTrans" presStyleLbl="sibTrans2D1" presStyleIdx="3" presStyleCnt="5"/>
      <dgm:spPr/>
    </dgm:pt>
    <dgm:pt modelId="{81A506EE-5B92-44C6-B58B-102F32EBC88A}" type="pres">
      <dgm:prSet presAssocID="{8B56ABA7-39F1-4FA9-A644-4F8F2452C816}" presName="connectorText" presStyleLbl="sibTrans2D1" presStyleIdx="3" presStyleCnt="5"/>
      <dgm:spPr/>
    </dgm:pt>
    <dgm:pt modelId="{E66D3771-9BF6-44D2-872B-B72B9DB4AE41}" type="pres">
      <dgm:prSet presAssocID="{8C2050A5-56BC-4AAC-9EC8-E021E42845E3}" presName="node" presStyleLbl="node1" presStyleIdx="4" presStyleCnt="6">
        <dgm:presLayoutVars>
          <dgm:bulletEnabled val="1"/>
        </dgm:presLayoutVars>
      </dgm:prSet>
      <dgm:spPr/>
    </dgm:pt>
    <dgm:pt modelId="{6BF74729-A3DF-43B3-A403-4A122EC75E4A}" type="pres">
      <dgm:prSet presAssocID="{BC94E954-C90D-43BC-9EDB-F21E3E073EE6}" presName="sibTrans" presStyleLbl="sibTrans2D1" presStyleIdx="4" presStyleCnt="5"/>
      <dgm:spPr/>
    </dgm:pt>
    <dgm:pt modelId="{D53ADFD7-BE96-4729-B34B-EB7A7399F172}" type="pres">
      <dgm:prSet presAssocID="{BC94E954-C90D-43BC-9EDB-F21E3E073EE6}" presName="connectorText" presStyleLbl="sibTrans2D1" presStyleIdx="4" presStyleCnt="5"/>
      <dgm:spPr/>
    </dgm:pt>
    <dgm:pt modelId="{B0BAA5CD-6395-4C55-9A63-D10B57436213}" type="pres">
      <dgm:prSet presAssocID="{1651D6BD-BA2C-447F-9C36-2193E08B6760}" presName="node" presStyleLbl="node1" presStyleIdx="5" presStyleCnt="6">
        <dgm:presLayoutVars>
          <dgm:bulletEnabled val="1"/>
        </dgm:presLayoutVars>
      </dgm:prSet>
      <dgm:spPr/>
    </dgm:pt>
  </dgm:ptLst>
  <dgm:cxnLst>
    <dgm:cxn modelId="{59567422-4E80-4FD2-AB59-AC94E6A881D4}" type="presOf" srcId="{47CA5735-C755-4585-AE6D-F6C5C3C37B4D}" destId="{13BD5D3D-0C81-493B-AB64-D2707EE38C35}" srcOrd="0" destOrd="0" presId="urn:microsoft.com/office/officeart/2005/8/layout/process2"/>
    <dgm:cxn modelId="{819C9E2A-CC83-4AF3-BDD1-C27CAF8D6206}" type="presOf" srcId="{9367A236-0D97-4CCA-BE7E-FA5172565496}" destId="{31D28C74-34A6-4207-903B-0FAED459CFE9}" srcOrd="0" destOrd="0" presId="urn:microsoft.com/office/officeart/2005/8/layout/process2"/>
    <dgm:cxn modelId="{1FF1D534-85CF-4BBC-AD0A-7486A4CCDF2C}" type="presOf" srcId="{BC94E954-C90D-43BC-9EDB-F21E3E073EE6}" destId="{D53ADFD7-BE96-4729-B34B-EB7A7399F172}" srcOrd="1" destOrd="0" presId="urn:microsoft.com/office/officeart/2005/8/layout/process2"/>
    <dgm:cxn modelId="{AA802A3A-D503-4EFB-9318-815DBADEE386}" type="presOf" srcId="{F462C2D9-3813-4E5B-9B4E-A7411F1AFF51}" destId="{2DDA40F4-D638-40CE-A39A-E6C768AD5E28}" srcOrd="1" destOrd="0" presId="urn:microsoft.com/office/officeart/2005/8/layout/process2"/>
    <dgm:cxn modelId="{AEE6CE3B-09F2-41B9-B20A-918BFDC53935}" srcId="{88226CD2-237E-438D-B950-F0CD2825A7FB}" destId="{8A3D7FD9-6777-4872-A1A1-DDFBC523E3D8}" srcOrd="3" destOrd="0" parTransId="{2404DFE1-9916-47ED-A9AA-CD079E67BA6F}" sibTransId="{8B56ABA7-39F1-4FA9-A644-4F8F2452C816}"/>
    <dgm:cxn modelId="{F833604A-9AB7-4234-ABEC-F94B8CB9A013}" type="presOf" srcId="{77849238-E402-447D-9B2F-E780325AFD1D}" destId="{820D35EE-4BF3-4747-AA44-22BB7FA0971E}" srcOrd="0" destOrd="0" presId="urn:microsoft.com/office/officeart/2005/8/layout/process2"/>
    <dgm:cxn modelId="{128AB25E-A321-4D3A-8F07-8A185E8D17DE}" type="presOf" srcId="{1651D6BD-BA2C-447F-9C36-2193E08B6760}" destId="{B0BAA5CD-6395-4C55-9A63-D10B57436213}" srcOrd="0" destOrd="0" presId="urn:microsoft.com/office/officeart/2005/8/layout/process2"/>
    <dgm:cxn modelId="{AC647866-D987-450C-981A-0381286AD1DF}" srcId="{88226CD2-237E-438D-B950-F0CD2825A7FB}" destId="{77849238-E402-447D-9B2F-E780325AFD1D}" srcOrd="1" destOrd="0" parTransId="{5D9727AE-3D81-4565-B85B-2E3633C70F00}" sibTransId="{F6460027-E963-48B6-A25B-C79D86E52851}"/>
    <dgm:cxn modelId="{6EAACE69-A423-47A8-9EAE-C92F5CA77FF9}" type="presOf" srcId="{8C2050A5-56BC-4AAC-9EC8-E021E42845E3}" destId="{E66D3771-9BF6-44D2-872B-B72B9DB4AE41}" srcOrd="0" destOrd="0" presId="urn:microsoft.com/office/officeart/2005/8/layout/process2"/>
    <dgm:cxn modelId="{2CF1836D-B36C-445A-9722-7FF381405F1A}" type="presOf" srcId="{8A3D7FD9-6777-4872-A1A1-DDFBC523E3D8}" destId="{8F763CC4-9F3A-41A6-A608-3E2EDE6BC734}" srcOrd="0" destOrd="0" presId="urn:microsoft.com/office/officeart/2005/8/layout/process2"/>
    <dgm:cxn modelId="{24AEA86D-87D6-45B5-8C10-502B5BF2CE83}" type="presOf" srcId="{F6460027-E963-48B6-A25B-C79D86E52851}" destId="{8274CF0B-125D-4E7B-B942-9F81E0DBD0B8}" srcOrd="1" destOrd="0" presId="urn:microsoft.com/office/officeart/2005/8/layout/process2"/>
    <dgm:cxn modelId="{57A3C594-A60F-4B88-A914-0B60C494B359}" type="presOf" srcId="{F6460027-E963-48B6-A25B-C79D86E52851}" destId="{25B2A801-C5BC-4242-AE3B-05B2F1860C46}" srcOrd="0" destOrd="0" presId="urn:microsoft.com/office/officeart/2005/8/layout/process2"/>
    <dgm:cxn modelId="{1267B795-E48B-4C55-8ECA-334B5A3A46AD}" srcId="{88226CD2-237E-438D-B950-F0CD2825A7FB}" destId="{F8CF61A8-9BF3-453D-856A-076C26012DFC}" srcOrd="2" destOrd="0" parTransId="{D25F9894-A632-42E6-AD0D-96B7ADB5F5F1}" sibTransId="{F462C2D9-3813-4E5B-9B4E-A7411F1AFF51}"/>
    <dgm:cxn modelId="{E3065C99-EDBD-408C-B358-0AC6F5C1033E}" type="presOf" srcId="{8B56ABA7-39F1-4FA9-A644-4F8F2452C816}" destId="{517A0E7D-9966-401E-BCB8-EC4FC97BEEA2}" srcOrd="0" destOrd="0" presId="urn:microsoft.com/office/officeart/2005/8/layout/process2"/>
    <dgm:cxn modelId="{9203789D-EC3F-483F-A5C7-4EB46CD46C4E}" type="presOf" srcId="{8B56ABA7-39F1-4FA9-A644-4F8F2452C816}" destId="{81A506EE-5B92-44C6-B58B-102F32EBC88A}" srcOrd="1" destOrd="0" presId="urn:microsoft.com/office/officeart/2005/8/layout/process2"/>
    <dgm:cxn modelId="{C9A75CB0-0384-406C-96B6-4E05744302F3}" type="presOf" srcId="{F8CF61A8-9BF3-453D-856A-076C26012DFC}" destId="{3B16271F-11E7-46E3-AED8-3BA2CDFB7F9B}" srcOrd="0" destOrd="0" presId="urn:microsoft.com/office/officeart/2005/8/layout/process2"/>
    <dgm:cxn modelId="{B5C8C5BA-1EA4-4FF6-AFE7-54A841470231}" srcId="{88226CD2-237E-438D-B950-F0CD2825A7FB}" destId="{47CA5735-C755-4585-AE6D-F6C5C3C37B4D}" srcOrd="0" destOrd="0" parTransId="{3670FC4D-FDF1-4795-9585-C948BBF0224F}" sibTransId="{9367A236-0D97-4CCA-BE7E-FA5172565496}"/>
    <dgm:cxn modelId="{DB88B0BF-2242-4122-BC4F-E934CDC3AF3D}" type="presOf" srcId="{BC94E954-C90D-43BC-9EDB-F21E3E073EE6}" destId="{6BF74729-A3DF-43B3-A403-4A122EC75E4A}" srcOrd="0" destOrd="0" presId="urn:microsoft.com/office/officeart/2005/8/layout/process2"/>
    <dgm:cxn modelId="{3EFCB1CC-7646-4349-B191-C8A421C74327}" type="presOf" srcId="{9367A236-0D97-4CCA-BE7E-FA5172565496}" destId="{5F8EE2D6-C6EE-48DC-9E40-02AD2D63F8C1}" srcOrd="1" destOrd="0" presId="urn:microsoft.com/office/officeart/2005/8/layout/process2"/>
    <dgm:cxn modelId="{B28ED3DA-D5B9-4E87-A734-5E7FD2D7EB2D}" type="presOf" srcId="{F462C2D9-3813-4E5B-9B4E-A7411F1AFF51}" destId="{120521CC-0EB1-467E-BD2F-B0213BE5CF64}" srcOrd="0" destOrd="0" presId="urn:microsoft.com/office/officeart/2005/8/layout/process2"/>
    <dgm:cxn modelId="{C84518DF-48BE-4E76-A531-5EDB896C33C9}" type="presOf" srcId="{88226CD2-237E-438D-B950-F0CD2825A7FB}" destId="{ECA509FC-B60A-42D4-A0D0-CB2F66A806F0}" srcOrd="0" destOrd="0" presId="urn:microsoft.com/office/officeart/2005/8/layout/process2"/>
    <dgm:cxn modelId="{6FF617F6-DB6E-403C-B802-BD8FED9FFCEE}" srcId="{88226CD2-237E-438D-B950-F0CD2825A7FB}" destId="{8C2050A5-56BC-4AAC-9EC8-E021E42845E3}" srcOrd="4" destOrd="0" parTransId="{4E4BE46B-7B5A-43F6-A8ED-CCDADA2B44E9}" sibTransId="{BC94E954-C90D-43BC-9EDB-F21E3E073EE6}"/>
    <dgm:cxn modelId="{70D55BFC-B6A3-456E-BDC4-09A925D9930F}" srcId="{88226CD2-237E-438D-B950-F0CD2825A7FB}" destId="{1651D6BD-BA2C-447F-9C36-2193E08B6760}" srcOrd="5" destOrd="0" parTransId="{F3D189A3-4D63-467D-9DD5-FB8D9DEE783F}" sibTransId="{1A6CFADD-6FAA-4D59-A0F2-CBBB008C0580}"/>
    <dgm:cxn modelId="{ECAF782C-B9F2-470A-B721-B29066D8008F}" type="presParOf" srcId="{ECA509FC-B60A-42D4-A0D0-CB2F66A806F0}" destId="{13BD5D3D-0C81-493B-AB64-D2707EE38C35}" srcOrd="0" destOrd="0" presId="urn:microsoft.com/office/officeart/2005/8/layout/process2"/>
    <dgm:cxn modelId="{1B1D7357-F599-4097-8211-E8423C7E71F5}" type="presParOf" srcId="{ECA509FC-B60A-42D4-A0D0-CB2F66A806F0}" destId="{31D28C74-34A6-4207-903B-0FAED459CFE9}" srcOrd="1" destOrd="0" presId="urn:microsoft.com/office/officeart/2005/8/layout/process2"/>
    <dgm:cxn modelId="{7E4967A1-4B5A-42AF-8BF2-718E1924B9D5}" type="presParOf" srcId="{31D28C74-34A6-4207-903B-0FAED459CFE9}" destId="{5F8EE2D6-C6EE-48DC-9E40-02AD2D63F8C1}" srcOrd="0" destOrd="0" presId="urn:microsoft.com/office/officeart/2005/8/layout/process2"/>
    <dgm:cxn modelId="{2509087B-B136-46E3-A67D-4E314142C1C9}" type="presParOf" srcId="{ECA509FC-B60A-42D4-A0D0-CB2F66A806F0}" destId="{820D35EE-4BF3-4747-AA44-22BB7FA0971E}" srcOrd="2" destOrd="0" presId="urn:microsoft.com/office/officeart/2005/8/layout/process2"/>
    <dgm:cxn modelId="{8CD066E9-25FD-4311-8DEE-2780AE02925E}" type="presParOf" srcId="{ECA509FC-B60A-42D4-A0D0-CB2F66A806F0}" destId="{25B2A801-C5BC-4242-AE3B-05B2F1860C46}" srcOrd="3" destOrd="0" presId="urn:microsoft.com/office/officeart/2005/8/layout/process2"/>
    <dgm:cxn modelId="{B2ECB12B-4497-4168-A622-920C66EAD5BC}" type="presParOf" srcId="{25B2A801-C5BC-4242-AE3B-05B2F1860C46}" destId="{8274CF0B-125D-4E7B-B942-9F81E0DBD0B8}" srcOrd="0" destOrd="0" presId="urn:microsoft.com/office/officeart/2005/8/layout/process2"/>
    <dgm:cxn modelId="{552CB42D-DB8E-4E39-B5FA-C0FC99E463AE}" type="presParOf" srcId="{ECA509FC-B60A-42D4-A0D0-CB2F66A806F0}" destId="{3B16271F-11E7-46E3-AED8-3BA2CDFB7F9B}" srcOrd="4" destOrd="0" presId="urn:microsoft.com/office/officeart/2005/8/layout/process2"/>
    <dgm:cxn modelId="{F8EE30C3-4154-44BC-844B-5E4520CBF3F0}" type="presParOf" srcId="{ECA509FC-B60A-42D4-A0D0-CB2F66A806F0}" destId="{120521CC-0EB1-467E-BD2F-B0213BE5CF64}" srcOrd="5" destOrd="0" presId="urn:microsoft.com/office/officeart/2005/8/layout/process2"/>
    <dgm:cxn modelId="{A0195061-5B1D-43F0-8DBD-FC32D740B8F5}" type="presParOf" srcId="{120521CC-0EB1-467E-BD2F-B0213BE5CF64}" destId="{2DDA40F4-D638-40CE-A39A-E6C768AD5E28}" srcOrd="0" destOrd="0" presId="urn:microsoft.com/office/officeart/2005/8/layout/process2"/>
    <dgm:cxn modelId="{559D6FEB-DCB1-47B0-84B9-B2EA14132248}" type="presParOf" srcId="{ECA509FC-B60A-42D4-A0D0-CB2F66A806F0}" destId="{8F763CC4-9F3A-41A6-A608-3E2EDE6BC734}" srcOrd="6" destOrd="0" presId="urn:microsoft.com/office/officeart/2005/8/layout/process2"/>
    <dgm:cxn modelId="{ADA64164-448D-4F43-87D7-440FB296F5F3}" type="presParOf" srcId="{ECA509FC-B60A-42D4-A0D0-CB2F66A806F0}" destId="{517A0E7D-9966-401E-BCB8-EC4FC97BEEA2}" srcOrd="7" destOrd="0" presId="urn:microsoft.com/office/officeart/2005/8/layout/process2"/>
    <dgm:cxn modelId="{C9F7CB3C-13A1-4796-89D0-207CC44AEAD8}" type="presParOf" srcId="{517A0E7D-9966-401E-BCB8-EC4FC97BEEA2}" destId="{81A506EE-5B92-44C6-B58B-102F32EBC88A}" srcOrd="0" destOrd="0" presId="urn:microsoft.com/office/officeart/2005/8/layout/process2"/>
    <dgm:cxn modelId="{8771ADDB-9D7A-4F02-9048-5F7DC1C59959}" type="presParOf" srcId="{ECA509FC-B60A-42D4-A0D0-CB2F66A806F0}" destId="{E66D3771-9BF6-44D2-872B-B72B9DB4AE41}" srcOrd="8" destOrd="0" presId="urn:microsoft.com/office/officeart/2005/8/layout/process2"/>
    <dgm:cxn modelId="{6F547755-30A1-481B-9E0E-382F0F8DF47D}" type="presParOf" srcId="{ECA509FC-B60A-42D4-A0D0-CB2F66A806F0}" destId="{6BF74729-A3DF-43B3-A403-4A122EC75E4A}" srcOrd="9" destOrd="0" presId="urn:microsoft.com/office/officeart/2005/8/layout/process2"/>
    <dgm:cxn modelId="{935B7279-12B8-4E0A-BDB1-9FC9DADC3FAE}" type="presParOf" srcId="{6BF74729-A3DF-43B3-A403-4A122EC75E4A}" destId="{D53ADFD7-BE96-4729-B34B-EB7A7399F172}" srcOrd="0" destOrd="0" presId="urn:microsoft.com/office/officeart/2005/8/layout/process2"/>
    <dgm:cxn modelId="{32566D35-0CFE-41A9-99BF-3302C84971F9}" type="presParOf" srcId="{ECA509FC-B60A-42D4-A0D0-CB2F66A806F0}" destId="{B0BAA5CD-6395-4C55-9A63-D10B5743621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62089E-194A-4F2F-BDE5-4F71B6CB36A2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EFB44C-5C96-484C-8E7D-1E3752C8A4F1}">
      <dgm:prSet phldrT="[Text]" custT="1"/>
      <dgm:spPr>
        <a:ln w="28575">
          <a:solidFill>
            <a:schemeClr val="tx2"/>
          </a:solidFill>
        </a:ln>
      </dgm:spPr>
      <dgm:t>
        <a:bodyPr/>
        <a:lstStyle/>
        <a:p>
          <a:r>
            <a:rPr lang="en-US" sz="2400" dirty="0"/>
            <a:t>Search Algorithms</a:t>
          </a:r>
        </a:p>
      </dgm:t>
    </dgm:pt>
    <dgm:pt modelId="{8185B6B1-ED9D-4D42-B66D-C90BA0CA5358}" type="parTrans" cxnId="{5A0E71FA-1919-429D-9345-B1FB853E5F02}">
      <dgm:prSet/>
      <dgm:spPr/>
      <dgm:t>
        <a:bodyPr/>
        <a:lstStyle/>
        <a:p>
          <a:endParaRPr lang="en-US"/>
        </a:p>
      </dgm:t>
    </dgm:pt>
    <dgm:pt modelId="{7DAC3F7B-9998-48C6-8430-C4A47C83B8F3}" type="sibTrans" cxnId="{5A0E71FA-1919-429D-9345-B1FB853E5F02}">
      <dgm:prSet/>
      <dgm:spPr/>
      <dgm:t>
        <a:bodyPr/>
        <a:lstStyle/>
        <a:p>
          <a:endParaRPr lang="en-US"/>
        </a:p>
      </dgm:t>
    </dgm:pt>
    <dgm:pt modelId="{23AA3679-D9A0-4D3C-A786-90E9D0FCD7A6}">
      <dgm:prSet phldrT="[Text]" custT="1"/>
      <dgm:spPr>
        <a:ln w="28575">
          <a:solidFill>
            <a:schemeClr val="tx2"/>
          </a:solidFill>
        </a:ln>
      </dgm:spPr>
      <dgm:t>
        <a:bodyPr/>
        <a:lstStyle/>
        <a:p>
          <a:r>
            <a:rPr lang="en-US" sz="2400" dirty="0"/>
            <a:t>Uninformed Search</a:t>
          </a:r>
        </a:p>
      </dgm:t>
    </dgm:pt>
    <dgm:pt modelId="{EF4870E3-5582-43C4-8F2B-82DD4E63D68B}" type="parTrans" cxnId="{0D8A979F-6AF7-48F5-82BB-309C79D24AF1}">
      <dgm:prSet/>
      <dgm:spPr/>
      <dgm:t>
        <a:bodyPr/>
        <a:lstStyle/>
        <a:p>
          <a:endParaRPr lang="en-US"/>
        </a:p>
      </dgm:t>
    </dgm:pt>
    <dgm:pt modelId="{4349A1EE-40E0-4F30-8309-475C4C130353}" type="sibTrans" cxnId="{0D8A979F-6AF7-48F5-82BB-309C79D24AF1}">
      <dgm:prSet/>
      <dgm:spPr/>
      <dgm:t>
        <a:bodyPr/>
        <a:lstStyle/>
        <a:p>
          <a:endParaRPr lang="en-US"/>
        </a:p>
      </dgm:t>
    </dgm:pt>
    <dgm:pt modelId="{6279320D-33AA-4C7D-BFC2-733BEE677FBD}">
      <dgm:prSet phldrT="[Text]" custT="1"/>
      <dgm:spPr>
        <a:ln w="28575">
          <a:solidFill>
            <a:schemeClr val="tx2"/>
          </a:solidFill>
        </a:ln>
      </dgm:spPr>
      <dgm:t>
        <a:bodyPr/>
        <a:lstStyle/>
        <a:p>
          <a:r>
            <a:rPr lang="en-US" sz="2400" dirty="0"/>
            <a:t>Informed Search</a:t>
          </a:r>
        </a:p>
      </dgm:t>
    </dgm:pt>
    <dgm:pt modelId="{863C8FFF-AAC6-4413-BFFB-9527BFCF42E7}" type="parTrans" cxnId="{584CAA9C-0A48-45ED-9735-B07195B2AF28}">
      <dgm:prSet/>
      <dgm:spPr/>
      <dgm:t>
        <a:bodyPr/>
        <a:lstStyle/>
        <a:p>
          <a:endParaRPr lang="en-US"/>
        </a:p>
      </dgm:t>
    </dgm:pt>
    <dgm:pt modelId="{E4A0B7C0-5A16-4522-A880-1DE127DAA32F}" type="sibTrans" cxnId="{584CAA9C-0A48-45ED-9735-B07195B2AF28}">
      <dgm:prSet/>
      <dgm:spPr/>
      <dgm:t>
        <a:bodyPr/>
        <a:lstStyle/>
        <a:p>
          <a:endParaRPr lang="en-US"/>
        </a:p>
      </dgm:t>
    </dgm:pt>
    <dgm:pt modelId="{6A2D0039-D8C8-4C41-8790-E2C9E5850DC9}" type="pres">
      <dgm:prSet presAssocID="{D262089E-194A-4F2F-BDE5-4F71B6CB36A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AA43F97-9455-4F67-AE36-14F4C2C1CF02}" type="pres">
      <dgm:prSet presAssocID="{45EFB44C-5C96-484C-8E7D-1E3752C8A4F1}" presName="hierRoot1" presStyleCnt="0">
        <dgm:presLayoutVars>
          <dgm:hierBranch val="init"/>
        </dgm:presLayoutVars>
      </dgm:prSet>
      <dgm:spPr/>
    </dgm:pt>
    <dgm:pt modelId="{FF856AB4-3999-4C03-B427-88EBB13BBB9E}" type="pres">
      <dgm:prSet presAssocID="{45EFB44C-5C96-484C-8E7D-1E3752C8A4F1}" presName="rootComposite1" presStyleCnt="0"/>
      <dgm:spPr/>
    </dgm:pt>
    <dgm:pt modelId="{CD8F35EA-1A53-470B-9238-07A039EEEC42}" type="pres">
      <dgm:prSet presAssocID="{45EFB44C-5C96-484C-8E7D-1E3752C8A4F1}" presName="rootText1" presStyleLbl="node0" presStyleIdx="0" presStyleCnt="1" custScaleX="71177" custScaleY="25658" custLinFactNeighborX="999" custLinFactNeighborY="-74404">
        <dgm:presLayoutVars>
          <dgm:chPref val="3"/>
        </dgm:presLayoutVars>
      </dgm:prSet>
      <dgm:spPr/>
    </dgm:pt>
    <dgm:pt modelId="{65B9B0B3-010C-411C-80B6-014FC7FF871B}" type="pres">
      <dgm:prSet presAssocID="{45EFB44C-5C96-484C-8E7D-1E3752C8A4F1}" presName="rootConnector1" presStyleLbl="node1" presStyleIdx="0" presStyleCnt="0"/>
      <dgm:spPr/>
    </dgm:pt>
    <dgm:pt modelId="{2383DE23-5911-41DD-AAAB-01E014CA8259}" type="pres">
      <dgm:prSet presAssocID="{45EFB44C-5C96-484C-8E7D-1E3752C8A4F1}" presName="hierChild2" presStyleCnt="0"/>
      <dgm:spPr/>
    </dgm:pt>
    <dgm:pt modelId="{2846869F-94C2-4697-A496-C2EF379FAAC6}" type="pres">
      <dgm:prSet presAssocID="{EF4870E3-5582-43C4-8F2B-82DD4E63D68B}" presName="Name37" presStyleLbl="parChTrans1D2" presStyleIdx="0" presStyleCnt="2"/>
      <dgm:spPr/>
    </dgm:pt>
    <dgm:pt modelId="{C28A0F38-744F-4E70-A4B7-57B57FBE7ADD}" type="pres">
      <dgm:prSet presAssocID="{23AA3679-D9A0-4D3C-A786-90E9D0FCD7A6}" presName="hierRoot2" presStyleCnt="0">
        <dgm:presLayoutVars>
          <dgm:hierBranch val="init"/>
        </dgm:presLayoutVars>
      </dgm:prSet>
      <dgm:spPr/>
    </dgm:pt>
    <dgm:pt modelId="{E405919A-C416-47AE-9DA2-15EF31DC4E59}" type="pres">
      <dgm:prSet presAssocID="{23AA3679-D9A0-4D3C-A786-90E9D0FCD7A6}" presName="rootComposite" presStyleCnt="0"/>
      <dgm:spPr/>
    </dgm:pt>
    <dgm:pt modelId="{23CCDDDB-6006-4224-811C-3EC45C13B80C}" type="pres">
      <dgm:prSet presAssocID="{23AA3679-D9A0-4D3C-A786-90E9D0FCD7A6}" presName="rootText" presStyleLbl="node2" presStyleIdx="0" presStyleCnt="2" custScaleX="71177" custScaleY="25658" custLinFactNeighborX="7782" custLinFactNeighborY="-82317">
        <dgm:presLayoutVars>
          <dgm:chPref val="3"/>
        </dgm:presLayoutVars>
      </dgm:prSet>
      <dgm:spPr/>
    </dgm:pt>
    <dgm:pt modelId="{F8357063-7002-4CF4-A139-096BBA3DC822}" type="pres">
      <dgm:prSet presAssocID="{23AA3679-D9A0-4D3C-A786-90E9D0FCD7A6}" presName="rootConnector" presStyleLbl="node2" presStyleIdx="0" presStyleCnt="2"/>
      <dgm:spPr/>
    </dgm:pt>
    <dgm:pt modelId="{075DDC9C-89FC-4BB2-9042-A785853FCFAA}" type="pres">
      <dgm:prSet presAssocID="{23AA3679-D9A0-4D3C-A786-90E9D0FCD7A6}" presName="hierChild4" presStyleCnt="0"/>
      <dgm:spPr/>
    </dgm:pt>
    <dgm:pt modelId="{7905C23F-7842-439C-960D-0D4B3A414932}" type="pres">
      <dgm:prSet presAssocID="{23AA3679-D9A0-4D3C-A786-90E9D0FCD7A6}" presName="hierChild5" presStyleCnt="0"/>
      <dgm:spPr/>
    </dgm:pt>
    <dgm:pt modelId="{0B7AECA7-498C-4F78-96F6-F6143988EF30}" type="pres">
      <dgm:prSet presAssocID="{863C8FFF-AAC6-4413-BFFB-9527BFCF42E7}" presName="Name37" presStyleLbl="parChTrans1D2" presStyleIdx="1" presStyleCnt="2"/>
      <dgm:spPr/>
    </dgm:pt>
    <dgm:pt modelId="{5F9595A1-2EC5-4B55-BA06-CBFD2D7CE9AC}" type="pres">
      <dgm:prSet presAssocID="{6279320D-33AA-4C7D-BFC2-733BEE677FBD}" presName="hierRoot2" presStyleCnt="0">
        <dgm:presLayoutVars>
          <dgm:hierBranch val="init"/>
        </dgm:presLayoutVars>
      </dgm:prSet>
      <dgm:spPr/>
    </dgm:pt>
    <dgm:pt modelId="{4C9815F1-0129-4333-9248-C971FD40DFBD}" type="pres">
      <dgm:prSet presAssocID="{6279320D-33AA-4C7D-BFC2-733BEE677FBD}" presName="rootComposite" presStyleCnt="0"/>
      <dgm:spPr/>
    </dgm:pt>
    <dgm:pt modelId="{0C3803EB-9E0B-4EAE-9ED0-4767FC609E51}" type="pres">
      <dgm:prSet presAssocID="{6279320D-33AA-4C7D-BFC2-733BEE677FBD}" presName="rootText" presStyleLbl="node2" presStyleIdx="1" presStyleCnt="2" custScaleX="71177" custScaleY="25658" custLinFactNeighborX="-7356" custLinFactNeighborY="-82317">
        <dgm:presLayoutVars>
          <dgm:chPref val="3"/>
        </dgm:presLayoutVars>
      </dgm:prSet>
      <dgm:spPr/>
    </dgm:pt>
    <dgm:pt modelId="{9CC5640F-0DC8-47E3-85D6-18FBEAE765AB}" type="pres">
      <dgm:prSet presAssocID="{6279320D-33AA-4C7D-BFC2-733BEE677FBD}" presName="rootConnector" presStyleLbl="node2" presStyleIdx="1" presStyleCnt="2"/>
      <dgm:spPr/>
    </dgm:pt>
    <dgm:pt modelId="{A4AB6E9C-4A6B-4C0A-82B6-2036EE2159B4}" type="pres">
      <dgm:prSet presAssocID="{6279320D-33AA-4C7D-BFC2-733BEE677FBD}" presName="hierChild4" presStyleCnt="0"/>
      <dgm:spPr/>
    </dgm:pt>
    <dgm:pt modelId="{F0A717D2-7DC8-4FC3-A966-65DECCF30015}" type="pres">
      <dgm:prSet presAssocID="{6279320D-33AA-4C7D-BFC2-733BEE677FBD}" presName="hierChild5" presStyleCnt="0"/>
      <dgm:spPr/>
    </dgm:pt>
    <dgm:pt modelId="{8439B2FA-E380-40F8-8A78-0A650EE580A3}" type="pres">
      <dgm:prSet presAssocID="{45EFB44C-5C96-484C-8E7D-1E3752C8A4F1}" presName="hierChild3" presStyleCnt="0"/>
      <dgm:spPr/>
    </dgm:pt>
  </dgm:ptLst>
  <dgm:cxnLst>
    <dgm:cxn modelId="{F9137433-CC32-4E86-A1EE-E9D3F0085F5F}" type="presOf" srcId="{23AA3679-D9A0-4D3C-A786-90E9D0FCD7A6}" destId="{F8357063-7002-4CF4-A139-096BBA3DC822}" srcOrd="1" destOrd="0" presId="urn:microsoft.com/office/officeart/2005/8/layout/orgChart1"/>
    <dgm:cxn modelId="{30B6AF48-6EE9-4336-9BF9-38FB1D9E6452}" type="presOf" srcId="{6279320D-33AA-4C7D-BFC2-733BEE677FBD}" destId="{0C3803EB-9E0B-4EAE-9ED0-4767FC609E51}" srcOrd="0" destOrd="0" presId="urn:microsoft.com/office/officeart/2005/8/layout/orgChart1"/>
    <dgm:cxn modelId="{46813C84-0ECA-4BD1-A0DF-CB7C4E54A21B}" type="presOf" srcId="{D262089E-194A-4F2F-BDE5-4F71B6CB36A2}" destId="{6A2D0039-D8C8-4C41-8790-E2C9E5850DC9}" srcOrd="0" destOrd="0" presId="urn:microsoft.com/office/officeart/2005/8/layout/orgChart1"/>
    <dgm:cxn modelId="{584CAA9C-0A48-45ED-9735-B07195B2AF28}" srcId="{45EFB44C-5C96-484C-8E7D-1E3752C8A4F1}" destId="{6279320D-33AA-4C7D-BFC2-733BEE677FBD}" srcOrd="1" destOrd="0" parTransId="{863C8FFF-AAC6-4413-BFFB-9527BFCF42E7}" sibTransId="{E4A0B7C0-5A16-4522-A880-1DE127DAA32F}"/>
    <dgm:cxn modelId="{95CF149F-9C08-47D0-8EB8-B39D57E750B2}" type="presOf" srcId="{23AA3679-D9A0-4D3C-A786-90E9D0FCD7A6}" destId="{23CCDDDB-6006-4224-811C-3EC45C13B80C}" srcOrd="0" destOrd="0" presId="urn:microsoft.com/office/officeart/2005/8/layout/orgChart1"/>
    <dgm:cxn modelId="{0D8A979F-6AF7-48F5-82BB-309C79D24AF1}" srcId="{45EFB44C-5C96-484C-8E7D-1E3752C8A4F1}" destId="{23AA3679-D9A0-4D3C-A786-90E9D0FCD7A6}" srcOrd="0" destOrd="0" parTransId="{EF4870E3-5582-43C4-8F2B-82DD4E63D68B}" sibTransId="{4349A1EE-40E0-4F30-8309-475C4C130353}"/>
    <dgm:cxn modelId="{96B1D2AE-3BE3-411D-8A36-5145F51AF0C1}" type="presOf" srcId="{6279320D-33AA-4C7D-BFC2-733BEE677FBD}" destId="{9CC5640F-0DC8-47E3-85D6-18FBEAE765AB}" srcOrd="1" destOrd="0" presId="urn:microsoft.com/office/officeart/2005/8/layout/orgChart1"/>
    <dgm:cxn modelId="{FE6D85BC-A887-4B31-A83F-D06D9AA63BB3}" type="presOf" srcId="{EF4870E3-5582-43C4-8F2B-82DD4E63D68B}" destId="{2846869F-94C2-4697-A496-C2EF379FAAC6}" srcOrd="0" destOrd="0" presId="urn:microsoft.com/office/officeart/2005/8/layout/orgChart1"/>
    <dgm:cxn modelId="{DE85F2C4-5404-4E14-95C7-F7CFF922C147}" type="presOf" srcId="{863C8FFF-AAC6-4413-BFFB-9527BFCF42E7}" destId="{0B7AECA7-498C-4F78-96F6-F6143988EF30}" srcOrd="0" destOrd="0" presId="urn:microsoft.com/office/officeart/2005/8/layout/orgChart1"/>
    <dgm:cxn modelId="{1FD6FCE0-7C9E-43CC-8DF7-6A819C07E5A0}" type="presOf" srcId="{45EFB44C-5C96-484C-8E7D-1E3752C8A4F1}" destId="{65B9B0B3-010C-411C-80B6-014FC7FF871B}" srcOrd="1" destOrd="0" presId="urn:microsoft.com/office/officeart/2005/8/layout/orgChart1"/>
    <dgm:cxn modelId="{5A0E71FA-1919-429D-9345-B1FB853E5F02}" srcId="{D262089E-194A-4F2F-BDE5-4F71B6CB36A2}" destId="{45EFB44C-5C96-484C-8E7D-1E3752C8A4F1}" srcOrd="0" destOrd="0" parTransId="{8185B6B1-ED9D-4D42-B66D-C90BA0CA5358}" sibTransId="{7DAC3F7B-9998-48C6-8430-C4A47C83B8F3}"/>
    <dgm:cxn modelId="{21B593FA-1BE8-4F6C-8FC0-CEEC6C6385B9}" type="presOf" srcId="{45EFB44C-5C96-484C-8E7D-1E3752C8A4F1}" destId="{CD8F35EA-1A53-470B-9238-07A039EEEC42}" srcOrd="0" destOrd="0" presId="urn:microsoft.com/office/officeart/2005/8/layout/orgChart1"/>
    <dgm:cxn modelId="{0D856244-EF6D-4999-9228-EE7FEBECC42B}" type="presParOf" srcId="{6A2D0039-D8C8-4C41-8790-E2C9E5850DC9}" destId="{FAA43F97-9455-4F67-AE36-14F4C2C1CF02}" srcOrd="0" destOrd="0" presId="urn:microsoft.com/office/officeart/2005/8/layout/orgChart1"/>
    <dgm:cxn modelId="{1BC73223-B125-4DB0-B1DF-3A26DE8B3C19}" type="presParOf" srcId="{FAA43F97-9455-4F67-AE36-14F4C2C1CF02}" destId="{FF856AB4-3999-4C03-B427-88EBB13BBB9E}" srcOrd="0" destOrd="0" presId="urn:microsoft.com/office/officeart/2005/8/layout/orgChart1"/>
    <dgm:cxn modelId="{C5327C51-2DE4-4C4C-83C4-C81A63802509}" type="presParOf" srcId="{FF856AB4-3999-4C03-B427-88EBB13BBB9E}" destId="{CD8F35EA-1A53-470B-9238-07A039EEEC42}" srcOrd="0" destOrd="0" presId="urn:microsoft.com/office/officeart/2005/8/layout/orgChart1"/>
    <dgm:cxn modelId="{2B4DEACF-642A-4BFE-B5A7-B8477BF6205D}" type="presParOf" srcId="{FF856AB4-3999-4C03-B427-88EBB13BBB9E}" destId="{65B9B0B3-010C-411C-80B6-014FC7FF871B}" srcOrd="1" destOrd="0" presId="urn:microsoft.com/office/officeart/2005/8/layout/orgChart1"/>
    <dgm:cxn modelId="{9410D66C-B4D8-4692-99D8-B50869764A6B}" type="presParOf" srcId="{FAA43F97-9455-4F67-AE36-14F4C2C1CF02}" destId="{2383DE23-5911-41DD-AAAB-01E014CA8259}" srcOrd="1" destOrd="0" presId="urn:microsoft.com/office/officeart/2005/8/layout/orgChart1"/>
    <dgm:cxn modelId="{5F3C8D4B-E513-4CDA-AFA1-08321C728DC8}" type="presParOf" srcId="{2383DE23-5911-41DD-AAAB-01E014CA8259}" destId="{2846869F-94C2-4697-A496-C2EF379FAAC6}" srcOrd="0" destOrd="0" presId="urn:microsoft.com/office/officeart/2005/8/layout/orgChart1"/>
    <dgm:cxn modelId="{B44AB43C-3A8A-4C8D-898C-A7B93F65430F}" type="presParOf" srcId="{2383DE23-5911-41DD-AAAB-01E014CA8259}" destId="{C28A0F38-744F-4E70-A4B7-57B57FBE7ADD}" srcOrd="1" destOrd="0" presId="urn:microsoft.com/office/officeart/2005/8/layout/orgChart1"/>
    <dgm:cxn modelId="{F7CCC125-2862-4BA9-9FCD-E7CE774D6A81}" type="presParOf" srcId="{C28A0F38-744F-4E70-A4B7-57B57FBE7ADD}" destId="{E405919A-C416-47AE-9DA2-15EF31DC4E59}" srcOrd="0" destOrd="0" presId="urn:microsoft.com/office/officeart/2005/8/layout/orgChart1"/>
    <dgm:cxn modelId="{D0DAC03C-7ECE-413F-9FD8-B74BFDFF62CA}" type="presParOf" srcId="{E405919A-C416-47AE-9DA2-15EF31DC4E59}" destId="{23CCDDDB-6006-4224-811C-3EC45C13B80C}" srcOrd="0" destOrd="0" presId="urn:microsoft.com/office/officeart/2005/8/layout/orgChart1"/>
    <dgm:cxn modelId="{58166207-1105-4DFC-90F7-920852D14D8A}" type="presParOf" srcId="{E405919A-C416-47AE-9DA2-15EF31DC4E59}" destId="{F8357063-7002-4CF4-A139-096BBA3DC822}" srcOrd="1" destOrd="0" presId="urn:microsoft.com/office/officeart/2005/8/layout/orgChart1"/>
    <dgm:cxn modelId="{84E1BF2F-F40E-425A-9959-4B835E7943C7}" type="presParOf" srcId="{C28A0F38-744F-4E70-A4B7-57B57FBE7ADD}" destId="{075DDC9C-89FC-4BB2-9042-A785853FCFAA}" srcOrd="1" destOrd="0" presId="urn:microsoft.com/office/officeart/2005/8/layout/orgChart1"/>
    <dgm:cxn modelId="{7D6AEA17-2C4A-4E85-932B-28F9C8064EBB}" type="presParOf" srcId="{C28A0F38-744F-4E70-A4B7-57B57FBE7ADD}" destId="{7905C23F-7842-439C-960D-0D4B3A414932}" srcOrd="2" destOrd="0" presId="urn:microsoft.com/office/officeart/2005/8/layout/orgChart1"/>
    <dgm:cxn modelId="{9D3504E0-76A0-45CD-8385-EA21D3202EA7}" type="presParOf" srcId="{2383DE23-5911-41DD-AAAB-01E014CA8259}" destId="{0B7AECA7-498C-4F78-96F6-F6143988EF30}" srcOrd="2" destOrd="0" presId="urn:microsoft.com/office/officeart/2005/8/layout/orgChart1"/>
    <dgm:cxn modelId="{A2CD4BE1-3F95-4D85-9F39-C86F385769E5}" type="presParOf" srcId="{2383DE23-5911-41DD-AAAB-01E014CA8259}" destId="{5F9595A1-2EC5-4B55-BA06-CBFD2D7CE9AC}" srcOrd="3" destOrd="0" presId="urn:microsoft.com/office/officeart/2005/8/layout/orgChart1"/>
    <dgm:cxn modelId="{81A0CDDE-2051-438F-A068-849D43FFD75C}" type="presParOf" srcId="{5F9595A1-2EC5-4B55-BA06-CBFD2D7CE9AC}" destId="{4C9815F1-0129-4333-9248-C971FD40DFBD}" srcOrd="0" destOrd="0" presId="urn:microsoft.com/office/officeart/2005/8/layout/orgChart1"/>
    <dgm:cxn modelId="{42203CBB-B5BA-4C2B-AA15-47B284E4A536}" type="presParOf" srcId="{4C9815F1-0129-4333-9248-C971FD40DFBD}" destId="{0C3803EB-9E0B-4EAE-9ED0-4767FC609E51}" srcOrd="0" destOrd="0" presId="urn:microsoft.com/office/officeart/2005/8/layout/orgChart1"/>
    <dgm:cxn modelId="{F4BBEBF1-5482-44D2-9783-977693954A42}" type="presParOf" srcId="{4C9815F1-0129-4333-9248-C971FD40DFBD}" destId="{9CC5640F-0DC8-47E3-85D6-18FBEAE765AB}" srcOrd="1" destOrd="0" presId="urn:microsoft.com/office/officeart/2005/8/layout/orgChart1"/>
    <dgm:cxn modelId="{5EE9A862-4F1A-4170-AE36-A38AA403BA11}" type="presParOf" srcId="{5F9595A1-2EC5-4B55-BA06-CBFD2D7CE9AC}" destId="{A4AB6E9C-4A6B-4C0A-82B6-2036EE2159B4}" srcOrd="1" destOrd="0" presId="urn:microsoft.com/office/officeart/2005/8/layout/orgChart1"/>
    <dgm:cxn modelId="{E8937261-3421-45D1-9082-1AEBF1CE38B4}" type="presParOf" srcId="{5F9595A1-2EC5-4B55-BA06-CBFD2D7CE9AC}" destId="{F0A717D2-7DC8-4FC3-A966-65DECCF30015}" srcOrd="2" destOrd="0" presId="urn:microsoft.com/office/officeart/2005/8/layout/orgChart1"/>
    <dgm:cxn modelId="{CDEEBD28-2A6B-4AA8-A41B-461CFEF9432D}" type="presParOf" srcId="{FAA43F97-9455-4F67-AE36-14F4C2C1CF02}" destId="{8439B2FA-E380-40F8-8A78-0A650EE580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D5D3D-0C81-493B-AB64-D2707EE38C35}">
      <dsp:nvSpPr>
        <dsp:cNvPr id="0" name=""/>
        <dsp:cNvSpPr/>
      </dsp:nvSpPr>
      <dsp:spPr>
        <a:xfrm>
          <a:off x="908139" y="0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1.State</a:t>
          </a:r>
        </a:p>
      </dsp:txBody>
      <dsp:txXfrm>
        <a:off x="926748" y="18609"/>
        <a:ext cx="2198483" cy="598150"/>
      </dsp:txXfrm>
    </dsp:sp>
    <dsp:sp modelId="{31D28C74-34A6-4207-903B-0FAED459CFE9}">
      <dsp:nvSpPr>
        <dsp:cNvPr id="0" name=""/>
        <dsp:cNvSpPr/>
      </dsp:nvSpPr>
      <dsp:spPr>
        <a:xfrm rot="5546271">
          <a:off x="1884564" y="653645"/>
          <a:ext cx="242071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921370" y="675599"/>
        <a:ext cx="171549" cy="169450"/>
      </dsp:txXfrm>
    </dsp:sp>
    <dsp:sp modelId="{820D35EE-4BF3-4747-AA44-22BB7FA0971E}">
      <dsp:nvSpPr>
        <dsp:cNvPr id="0" name=""/>
        <dsp:cNvSpPr/>
      </dsp:nvSpPr>
      <dsp:spPr>
        <a:xfrm>
          <a:off x="867359" y="957837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2.Initial State</a:t>
          </a:r>
        </a:p>
      </dsp:txBody>
      <dsp:txXfrm>
        <a:off x="885968" y="976446"/>
        <a:ext cx="2198483" cy="598150"/>
      </dsp:txXfrm>
    </dsp:sp>
    <dsp:sp modelId="{25B2A801-C5BC-4242-AE3B-05B2F1860C46}">
      <dsp:nvSpPr>
        <dsp:cNvPr id="0" name=""/>
        <dsp:cNvSpPr/>
      </dsp:nvSpPr>
      <dsp:spPr>
        <a:xfrm rot="5400000">
          <a:off x="1866078" y="1609090"/>
          <a:ext cx="238263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899436" y="1632916"/>
        <a:ext cx="171549" cy="166784"/>
      </dsp:txXfrm>
    </dsp:sp>
    <dsp:sp modelId="{3B16271F-11E7-46E3-AED8-3BA2CDFB7F9B}">
      <dsp:nvSpPr>
        <dsp:cNvPr id="0" name=""/>
        <dsp:cNvSpPr/>
      </dsp:nvSpPr>
      <dsp:spPr>
        <a:xfrm>
          <a:off x="867359" y="1910889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3.Actions</a:t>
          </a:r>
        </a:p>
      </dsp:txBody>
      <dsp:txXfrm>
        <a:off x="885968" y="1929498"/>
        <a:ext cx="2198483" cy="598150"/>
      </dsp:txXfrm>
    </dsp:sp>
    <dsp:sp modelId="{120521CC-0EB1-467E-BD2F-B0213BE5CF64}">
      <dsp:nvSpPr>
        <dsp:cNvPr id="0" name=""/>
        <dsp:cNvSpPr/>
      </dsp:nvSpPr>
      <dsp:spPr>
        <a:xfrm rot="5400000">
          <a:off x="1866078" y="2562142"/>
          <a:ext cx="238263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899436" y="2585968"/>
        <a:ext cx="171549" cy="166784"/>
      </dsp:txXfrm>
    </dsp:sp>
    <dsp:sp modelId="{8F763CC4-9F3A-41A6-A608-3E2EDE6BC734}">
      <dsp:nvSpPr>
        <dsp:cNvPr id="0" name=""/>
        <dsp:cNvSpPr/>
      </dsp:nvSpPr>
      <dsp:spPr>
        <a:xfrm>
          <a:off x="867359" y="2863942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4.Goal Test</a:t>
          </a:r>
        </a:p>
      </dsp:txBody>
      <dsp:txXfrm>
        <a:off x="885968" y="2882551"/>
        <a:ext cx="2198483" cy="598150"/>
      </dsp:txXfrm>
    </dsp:sp>
    <dsp:sp modelId="{517A0E7D-9966-401E-BCB8-EC4FC97BEEA2}">
      <dsp:nvSpPr>
        <dsp:cNvPr id="0" name=""/>
        <dsp:cNvSpPr/>
      </dsp:nvSpPr>
      <dsp:spPr>
        <a:xfrm rot="5400000">
          <a:off x="1866078" y="3515194"/>
          <a:ext cx="238263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899436" y="3539020"/>
        <a:ext cx="171549" cy="166784"/>
      </dsp:txXfrm>
    </dsp:sp>
    <dsp:sp modelId="{E66D3771-9BF6-44D2-872B-B72B9DB4AE41}">
      <dsp:nvSpPr>
        <dsp:cNvPr id="0" name=""/>
        <dsp:cNvSpPr/>
      </dsp:nvSpPr>
      <dsp:spPr>
        <a:xfrm>
          <a:off x="867359" y="3816994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5.Path Cost</a:t>
          </a:r>
        </a:p>
      </dsp:txBody>
      <dsp:txXfrm>
        <a:off x="885968" y="3835603"/>
        <a:ext cx="2198483" cy="598150"/>
      </dsp:txXfrm>
    </dsp:sp>
    <dsp:sp modelId="{6BF74729-A3DF-43B3-A403-4A122EC75E4A}">
      <dsp:nvSpPr>
        <dsp:cNvPr id="0" name=""/>
        <dsp:cNvSpPr/>
      </dsp:nvSpPr>
      <dsp:spPr>
        <a:xfrm rot="5400000">
          <a:off x="1866078" y="4468246"/>
          <a:ext cx="238263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899436" y="4492072"/>
        <a:ext cx="171549" cy="166784"/>
      </dsp:txXfrm>
    </dsp:sp>
    <dsp:sp modelId="{B0BAA5CD-6395-4C55-9A63-D10B57436213}">
      <dsp:nvSpPr>
        <dsp:cNvPr id="0" name=""/>
        <dsp:cNvSpPr/>
      </dsp:nvSpPr>
      <dsp:spPr>
        <a:xfrm>
          <a:off x="867359" y="4770046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6.Solution</a:t>
          </a:r>
          <a:endParaRPr lang="en-US" sz="1800" b="1" kern="1200" dirty="0"/>
        </a:p>
      </dsp:txBody>
      <dsp:txXfrm>
        <a:off x="885968" y="4788655"/>
        <a:ext cx="2198483" cy="5981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AECA7-498C-4F78-96F6-F6143988EF30}">
      <dsp:nvSpPr>
        <dsp:cNvPr id="0" name=""/>
        <dsp:cNvSpPr/>
      </dsp:nvSpPr>
      <dsp:spPr>
        <a:xfrm>
          <a:off x="4010817" y="774180"/>
          <a:ext cx="1828787" cy="826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136"/>
              </a:lnTo>
              <a:lnTo>
                <a:pt x="1828787" y="317136"/>
              </a:lnTo>
              <a:lnTo>
                <a:pt x="1828787" y="8260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46869F-94C2-4697-A496-C2EF379FAAC6}">
      <dsp:nvSpPr>
        <dsp:cNvPr id="0" name=""/>
        <dsp:cNvSpPr/>
      </dsp:nvSpPr>
      <dsp:spPr>
        <a:xfrm>
          <a:off x="2105841" y="774180"/>
          <a:ext cx="1904975" cy="826028"/>
        </a:xfrm>
        <a:custGeom>
          <a:avLst/>
          <a:gdLst/>
          <a:ahLst/>
          <a:cxnLst/>
          <a:rect l="0" t="0" r="0" b="0"/>
          <a:pathLst>
            <a:path>
              <a:moveTo>
                <a:pt x="1904975" y="0"/>
              </a:moveTo>
              <a:lnTo>
                <a:pt x="1904975" y="317136"/>
              </a:lnTo>
              <a:lnTo>
                <a:pt x="0" y="317136"/>
              </a:lnTo>
              <a:lnTo>
                <a:pt x="0" y="8260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F35EA-1A53-470B-9238-07A039EEEC42}">
      <dsp:nvSpPr>
        <dsp:cNvPr id="0" name=""/>
        <dsp:cNvSpPr/>
      </dsp:nvSpPr>
      <dsp:spPr>
        <a:xfrm>
          <a:off x="2285989" y="152411"/>
          <a:ext cx="3449655" cy="62176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28575">
          <a:solidFill>
            <a:schemeClr val="tx2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Search Algorithms</a:t>
          </a:r>
        </a:p>
      </dsp:txBody>
      <dsp:txXfrm>
        <a:off x="2285989" y="152411"/>
        <a:ext cx="3449655" cy="621768"/>
      </dsp:txXfrm>
    </dsp:sp>
    <dsp:sp modelId="{23CCDDDB-6006-4224-811C-3EC45C13B80C}">
      <dsp:nvSpPr>
        <dsp:cNvPr id="0" name=""/>
        <dsp:cNvSpPr/>
      </dsp:nvSpPr>
      <dsp:spPr>
        <a:xfrm>
          <a:off x="381013" y="1600208"/>
          <a:ext cx="3449655" cy="62176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28575">
          <a:solidFill>
            <a:schemeClr val="tx2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Uninformed Search</a:t>
          </a:r>
        </a:p>
      </dsp:txBody>
      <dsp:txXfrm>
        <a:off x="381013" y="1600208"/>
        <a:ext cx="3449655" cy="621768"/>
      </dsp:txXfrm>
    </dsp:sp>
    <dsp:sp modelId="{0C3803EB-9E0B-4EAE-9ED0-4767FC609E51}">
      <dsp:nvSpPr>
        <dsp:cNvPr id="0" name=""/>
        <dsp:cNvSpPr/>
      </dsp:nvSpPr>
      <dsp:spPr>
        <a:xfrm>
          <a:off x="4114776" y="1600208"/>
          <a:ext cx="3449655" cy="62176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28575">
          <a:solidFill>
            <a:schemeClr val="tx2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Informed Search</a:t>
          </a:r>
        </a:p>
      </dsp:txBody>
      <dsp:txXfrm>
        <a:off x="4114776" y="1600208"/>
        <a:ext cx="3449655" cy="621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985C0-C6B0-45DB-A5C2-9D8CD417B879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92E2F-A8CD-4674-94D5-AD92108C9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5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9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2115" y="1296416"/>
            <a:ext cx="8319769" cy="4527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009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rcuit board&#10;&#10;Description automatically generated">
            <a:extLst>
              <a:ext uri="{FF2B5EF4-FFF2-40B4-BE49-F238E27FC236}">
                <a16:creationId xmlns:a16="http://schemas.microsoft.com/office/drawing/2014/main" id="{E70ABBF4-46E7-4969-82EB-C23BECC77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2"/>
            <a:ext cx="9144000" cy="2578768"/>
          </a:xfrm>
          <a:prstGeom prst="rect">
            <a:avLst/>
          </a:prstGeom>
        </p:spPr>
      </p:pic>
      <p:sp>
        <p:nvSpPr>
          <p:cNvPr id="6" name="object 20">
            <a:extLst>
              <a:ext uri="{FF2B5EF4-FFF2-40B4-BE49-F238E27FC236}">
                <a16:creationId xmlns:a16="http://schemas.microsoft.com/office/drawing/2014/main" id="{C284C4F3-473A-4C72-8240-E2DDCF0C68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871693"/>
            <a:ext cx="7010400" cy="63350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68120" marR="5080" indent="-1456055" algn="ctr">
              <a:lnSpc>
                <a:spcPts val="4320"/>
              </a:lnSpc>
              <a:spcBef>
                <a:spcPts val="640"/>
              </a:spcBef>
            </a:pPr>
            <a:r>
              <a:rPr lang="en-US" sz="4000" b="1" spc="-5" dirty="0">
                <a:solidFill>
                  <a:srgbClr val="FFC000"/>
                </a:solidFill>
                <a:latin typeface="Gothic Uralic"/>
                <a:cs typeface="Gothic Uralic"/>
              </a:rPr>
              <a:t>   </a:t>
            </a:r>
            <a:r>
              <a:rPr sz="4000" b="1" spc="-5" dirty="0">
                <a:solidFill>
                  <a:srgbClr val="FFC000"/>
                </a:solidFill>
                <a:latin typeface="Gothic Uralic"/>
                <a:cs typeface="Gothic Uralic"/>
              </a:rPr>
              <a:t>Artificial</a:t>
            </a:r>
            <a:r>
              <a:rPr sz="4000" b="1" spc="-55" dirty="0">
                <a:solidFill>
                  <a:srgbClr val="FFC000"/>
                </a:solidFill>
                <a:latin typeface="Gothic Uralic"/>
                <a:cs typeface="Gothic Uralic"/>
              </a:rPr>
              <a:t> </a:t>
            </a:r>
            <a:r>
              <a:rPr sz="4000" b="1" spc="-5" dirty="0">
                <a:solidFill>
                  <a:srgbClr val="FFC000"/>
                </a:solidFill>
                <a:latin typeface="Gothic Uralic"/>
                <a:cs typeface="Gothic Uralic"/>
              </a:rPr>
              <a:t>Intelligence</a:t>
            </a:r>
            <a:endParaRPr sz="4000" dirty="0">
              <a:latin typeface="Gothic Uralic"/>
              <a:cs typeface="Gothic Uralic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6C72A-45F5-482C-9BB9-CB04B0292B88}"/>
              </a:ext>
            </a:extLst>
          </p:cNvPr>
          <p:cNvSpPr/>
          <p:nvPr/>
        </p:nvSpPr>
        <p:spPr>
          <a:xfrm>
            <a:off x="268705" y="4267201"/>
            <a:ext cx="7696200" cy="99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indent="1356360" algn="ctr">
              <a:lnSpc>
                <a:spcPts val="3460"/>
              </a:lnSpc>
              <a:spcBef>
                <a:spcPts val="535"/>
              </a:spcBef>
            </a:pPr>
            <a:r>
              <a:rPr lang="en-US" sz="3200" b="1" spc="-5" dirty="0">
                <a:solidFill>
                  <a:schemeClr val="tx2"/>
                </a:solidFill>
                <a:latin typeface="Arial Rounded MT Bold" panose="020F0704030504030204" pitchFamily="34" charset="0"/>
                <a:cs typeface="Gothic Uralic"/>
              </a:rPr>
              <a:t>Chapter 3: </a:t>
            </a:r>
            <a:r>
              <a:rPr lang="en-US" sz="3200" b="1" dirty="0">
                <a:solidFill>
                  <a:schemeClr val="tx2"/>
                </a:solidFill>
                <a:latin typeface="Arial Rounded MT Bold" panose="020F0704030504030204" pitchFamily="34" charset="0"/>
              </a:rPr>
              <a:t>Problem Solving     				Agent</a:t>
            </a:r>
            <a:endParaRPr lang="en-US" sz="3200" b="1" dirty="0">
              <a:solidFill>
                <a:schemeClr val="tx2"/>
              </a:solidFill>
              <a:latin typeface="Arial Rounded MT Bold" panose="020F0704030504030204" pitchFamily="34" charset="0"/>
              <a:cs typeface="Gothic Ural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07031-BD68-0D60-804B-3905E8FDC9CA}"/>
              </a:ext>
            </a:extLst>
          </p:cNvPr>
          <p:cNvSpPr txBox="1"/>
          <p:nvPr/>
        </p:nvSpPr>
        <p:spPr>
          <a:xfrm>
            <a:off x="2977662" y="5978769"/>
            <a:ext cx="377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Course Supervisor: Dr. Anaum Hamid</a:t>
            </a:r>
          </a:p>
        </p:txBody>
      </p:sp>
    </p:spTree>
    <p:extLst>
      <p:ext uri="{BB962C8B-B14F-4D97-AF65-F5344CB8AC3E}">
        <p14:creationId xmlns:p14="http://schemas.microsoft.com/office/powerpoint/2010/main" val="201260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660892" y="6453645"/>
            <a:ext cx="29845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fld id="{81D60167-4931-47E6-BA6A-407CBD079E47}" type="slidenum">
              <a:rPr sz="1800" u="heavy" spc="-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2</a:t>
            </a:fld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57200"/>
            <a:ext cx="525800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dirty="0">
                <a:solidFill>
                  <a:schemeClr val="tx2"/>
                </a:solidFill>
              </a:rPr>
              <a:t>Objectives of the Chapter</a:t>
            </a:r>
            <a:endParaRPr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7867" y="1447800"/>
            <a:ext cx="7708265" cy="2994408"/>
          </a:xfrm>
          <a:prstGeom prst="rect">
            <a:avLst/>
          </a:prstGeom>
        </p:spPr>
        <p:txBody>
          <a:bodyPr vert="horz" wrap="square" lIns="0" tIns="2527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9"/>
              </a:spcBef>
              <a:tabLst>
                <a:tab pos="469265" algn="l"/>
                <a:tab pos="469900" algn="l"/>
              </a:tabLst>
            </a:pPr>
            <a:r>
              <a:rPr lang="en-US" sz="3200" dirty="0"/>
              <a:t>• Problem Solving Agents</a:t>
            </a:r>
          </a:p>
          <a:p>
            <a:pPr marL="12700">
              <a:lnSpc>
                <a:spcPct val="100000"/>
              </a:lnSpc>
              <a:spcBef>
                <a:spcPts val="1989"/>
              </a:spcBef>
              <a:tabLst>
                <a:tab pos="469265" algn="l"/>
                <a:tab pos="469900" algn="l"/>
              </a:tabLst>
            </a:pPr>
            <a:r>
              <a:rPr lang="en-US" sz="3200" dirty="0"/>
              <a:t> • Problem Formulation</a:t>
            </a:r>
          </a:p>
          <a:p>
            <a:pPr marL="12700">
              <a:lnSpc>
                <a:spcPct val="100000"/>
              </a:lnSpc>
              <a:spcBef>
                <a:spcPts val="1989"/>
              </a:spcBef>
              <a:tabLst>
                <a:tab pos="469265" algn="l"/>
                <a:tab pos="469900" algn="l"/>
              </a:tabLst>
            </a:pPr>
            <a:r>
              <a:rPr lang="en-US" sz="3200" dirty="0"/>
              <a:t> • Search Strategies</a:t>
            </a:r>
          </a:p>
          <a:p>
            <a:pPr marL="12700">
              <a:lnSpc>
                <a:spcPct val="100000"/>
              </a:lnSpc>
              <a:spcBef>
                <a:spcPts val="1989"/>
              </a:spcBef>
              <a:tabLst>
                <a:tab pos="469265" algn="l"/>
                <a:tab pos="469900" algn="l"/>
              </a:tabLst>
            </a:pPr>
            <a:r>
              <a:rPr lang="en-US" sz="3200" dirty="0"/>
              <a:t> • Un-informed Searching Techniques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660892" y="6453645"/>
            <a:ext cx="29845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fld id="{81D60167-4931-47E6-BA6A-407CBD079E47}" type="slidenum">
              <a:rPr sz="1800" u="heavy" spc="-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3</a:t>
            </a:fld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06451"/>
            <a:ext cx="4203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chemeClr val="tx2"/>
                </a:solidFill>
                <a:latin typeface="Roboto"/>
              </a:rPr>
              <a:t>Problem Solving Agent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162" y="649521"/>
            <a:ext cx="8638540" cy="69204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Searching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is one of the classic areas of AI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Problem Solving agents are one kind of </a:t>
            </a:r>
            <a:r>
              <a:rPr lang="en-US" sz="2800" dirty="0">
                <a:solidFill>
                  <a:schemeClr val="tx2"/>
                </a:solidFill>
              </a:rPr>
              <a:t>goal-based</a:t>
            </a:r>
            <a:r>
              <a:rPr lang="en-US" sz="2800" dirty="0"/>
              <a:t> agent that acts Rationally.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Problem Solving Agent</a:t>
            </a:r>
          </a:p>
          <a:p>
            <a:pPr lvl="1" indent="-4572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     An agent that tries to come up with a sequence of actions by </a:t>
            </a:r>
            <a:r>
              <a:rPr lang="en-US" sz="2800" dirty="0"/>
              <a:t>performing some kind of search algorithm in the background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that will bring the environment into a desired state/goal.</a:t>
            </a:r>
          </a:p>
          <a:p>
            <a:pPr lvl="1" indent="-4572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Search</a:t>
            </a:r>
          </a:p>
          <a:p>
            <a:pPr lvl="1" indent="-45720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spc="-5" dirty="0">
                <a:cs typeface="Arial"/>
              </a:rPr>
              <a:t>The use </a:t>
            </a:r>
            <a:r>
              <a:rPr lang="en-US" sz="2800" dirty="0">
                <a:cs typeface="Arial"/>
              </a:rPr>
              <a:t>of </a:t>
            </a:r>
            <a:r>
              <a:rPr lang="en-US" sz="2800" spc="-5" dirty="0">
                <a:cs typeface="Arial"/>
              </a:rPr>
              <a:t>search</a:t>
            </a:r>
            <a:r>
              <a:rPr lang="en-US" sz="2800" spc="-125" dirty="0">
                <a:cs typeface="Arial"/>
              </a:rPr>
              <a:t> </a:t>
            </a:r>
            <a:r>
              <a:rPr lang="en-US" sz="2800" dirty="0">
                <a:cs typeface="Arial"/>
              </a:rPr>
              <a:t>requires  </a:t>
            </a:r>
            <a:r>
              <a:rPr lang="en-US" sz="2800" spc="-5" dirty="0">
                <a:cs typeface="Arial"/>
              </a:rPr>
              <a:t>an </a:t>
            </a:r>
            <a:r>
              <a:rPr lang="en-US" sz="2800" dirty="0">
                <a:cs typeface="Arial"/>
              </a:rPr>
              <a:t>abstract formulation </a:t>
            </a:r>
            <a:r>
              <a:rPr lang="en-US" sz="2800" spc="-5" dirty="0">
                <a:cs typeface="Arial"/>
              </a:rPr>
              <a:t>of the problem and the  </a:t>
            </a:r>
            <a:r>
              <a:rPr lang="en-US" sz="2800" dirty="0">
                <a:cs typeface="Arial"/>
              </a:rPr>
              <a:t>available steps </a:t>
            </a:r>
            <a:r>
              <a:rPr lang="en-US" sz="2800" spc="-5" dirty="0">
                <a:cs typeface="Arial"/>
              </a:rPr>
              <a:t>to </a:t>
            </a:r>
            <a:r>
              <a:rPr lang="en-US" sz="2800" dirty="0">
                <a:cs typeface="Arial"/>
              </a:rPr>
              <a:t>construct</a:t>
            </a:r>
            <a:r>
              <a:rPr lang="en-US" sz="2800" spc="-75" dirty="0">
                <a:cs typeface="Arial"/>
              </a:rPr>
              <a:t> </a:t>
            </a:r>
            <a:r>
              <a:rPr lang="en-US" sz="2800" spc="-5" dirty="0">
                <a:cs typeface="Arial"/>
              </a:rPr>
              <a:t>solutions</a:t>
            </a:r>
            <a:r>
              <a:rPr lang="en-US" sz="2800" spc="-5" dirty="0">
                <a:solidFill>
                  <a:srgbClr val="000090"/>
                </a:solidFill>
                <a:latin typeface="Arial"/>
                <a:cs typeface="Arial"/>
              </a:rPr>
              <a:t>.</a:t>
            </a:r>
          </a:p>
          <a:p>
            <a:pPr lvl="1" indent="-45720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spc="-1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chemeClr val="tx2"/>
                </a:solidFill>
                <a:latin typeface="Arial"/>
                <a:cs typeface="Arial"/>
              </a:rPr>
              <a:t>we </a:t>
            </a:r>
            <a:r>
              <a:rPr lang="en-US" sz="2800" spc="-5" dirty="0">
                <a:solidFill>
                  <a:schemeClr val="tx2"/>
                </a:solidFill>
                <a:latin typeface="Arial"/>
                <a:cs typeface="Arial"/>
              </a:rPr>
              <a:t>need to first  </a:t>
            </a:r>
            <a:r>
              <a:rPr lang="en-US" sz="2800" dirty="0">
                <a:solidFill>
                  <a:schemeClr val="tx2"/>
                </a:solidFill>
                <a:latin typeface="Arial"/>
                <a:cs typeface="Arial"/>
              </a:rPr>
              <a:t>formulate </a:t>
            </a:r>
            <a:r>
              <a:rPr lang="en-US" sz="2800" spc="-5" dirty="0">
                <a:solidFill>
                  <a:schemeClr val="tx2"/>
                </a:solidFill>
                <a:latin typeface="Arial"/>
                <a:cs typeface="Arial"/>
              </a:rPr>
              <a:t>the</a:t>
            </a:r>
            <a:r>
              <a:rPr lang="en-US" sz="2800" spc="-5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chemeClr val="tx2"/>
                </a:solidFill>
                <a:latin typeface="Arial"/>
                <a:cs typeface="Arial"/>
              </a:rPr>
              <a:t>problem.</a:t>
            </a:r>
            <a:endParaRPr lang="en-US" sz="2800" dirty="0">
              <a:solidFill>
                <a:schemeClr val="tx2"/>
              </a:solidFill>
            </a:endParaRPr>
          </a:p>
          <a:p>
            <a:pPr lvl="1" indent="-4572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7E57-8DF3-49E5-B2B2-11CDE80DC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4990591" cy="553998"/>
          </a:xfrm>
        </p:spPr>
        <p:txBody>
          <a:bodyPr/>
          <a:lstStyle/>
          <a:p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Problem</a:t>
            </a:r>
            <a:r>
              <a:rPr lang="en-US" b="1" spc="-11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Formulation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77A0529-B3BA-4665-994D-75B1B20B1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438413"/>
              </p:ext>
            </p:extLst>
          </p:nvPr>
        </p:nvGraphicFramePr>
        <p:xfrm>
          <a:off x="601579" y="1143000"/>
          <a:ext cx="3970421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4CE436C-3E1E-48E2-8901-F5024FA8FDDB}"/>
              </a:ext>
            </a:extLst>
          </p:cNvPr>
          <p:cNvSpPr/>
          <p:nvPr/>
        </p:nvSpPr>
        <p:spPr>
          <a:xfrm>
            <a:off x="4068170" y="1167063"/>
            <a:ext cx="48472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 State Space </a:t>
            </a:r>
          </a:p>
          <a:p>
            <a:r>
              <a:rPr lang="en-US" b="0" i="0" dirty="0">
                <a:effectLst/>
                <a:latin typeface="Roboto"/>
              </a:rPr>
              <a:t>Set of all possible states where you can be.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78BCC-AE68-49A7-B93B-977D1C5CF9A5}"/>
              </a:ext>
            </a:extLst>
          </p:cNvPr>
          <p:cNvSpPr/>
          <p:nvPr/>
        </p:nvSpPr>
        <p:spPr>
          <a:xfrm>
            <a:off x="4068170" y="211445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Roboto"/>
              </a:rPr>
              <a:t>A Start State</a:t>
            </a:r>
            <a:r>
              <a:rPr lang="en-US" b="1" i="0" dirty="0">
                <a:effectLst/>
                <a:latin typeface="Roboto"/>
              </a:rPr>
              <a:t>. </a:t>
            </a:r>
            <a:r>
              <a:rPr lang="en-US" b="0" i="0" dirty="0">
                <a:effectLst/>
                <a:latin typeface="Roboto"/>
              </a:rPr>
              <a:t>The state from where the search begins.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1C01B-8879-4156-B658-1BAFF2A9ED0A}"/>
              </a:ext>
            </a:extLst>
          </p:cNvPr>
          <p:cNvSpPr/>
          <p:nvPr/>
        </p:nvSpPr>
        <p:spPr>
          <a:xfrm>
            <a:off x="4068170" y="381987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Roboto"/>
              </a:rPr>
              <a:t>A Goal Test.</a:t>
            </a:r>
            <a:r>
              <a:rPr lang="en-US" b="1" i="0" dirty="0">
                <a:effectLst/>
                <a:latin typeface="Roboto"/>
              </a:rPr>
              <a:t> </a:t>
            </a:r>
            <a:r>
              <a:rPr lang="en-US" b="0" i="0" dirty="0">
                <a:effectLst/>
                <a:latin typeface="Roboto"/>
              </a:rPr>
              <a:t>A function that looks at the current state returns whether or not it is the goal state.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FA05A1-DE00-4D44-A1C5-9DC82D06280A}"/>
              </a:ext>
            </a:extLst>
          </p:cNvPr>
          <p:cNvSpPr/>
          <p:nvPr/>
        </p:nvSpPr>
        <p:spPr>
          <a:xfrm>
            <a:off x="4068170" y="493541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Roboto"/>
              </a:rPr>
              <a:t>Solution</a:t>
            </a:r>
            <a:r>
              <a:rPr lang="en-US" b="1" i="0" dirty="0">
                <a:effectLst/>
                <a:latin typeface="Roboto"/>
              </a:rPr>
              <a:t> </a:t>
            </a:r>
            <a:r>
              <a:rPr lang="en-US" b="0" i="0" dirty="0">
                <a:effectLst/>
                <a:latin typeface="Roboto"/>
              </a:rPr>
              <a:t>to a search problem is a sequence of actions, called the </a:t>
            </a:r>
            <a:r>
              <a:rPr lang="en-US" b="1" i="0" dirty="0">
                <a:effectLst/>
                <a:latin typeface="Roboto"/>
              </a:rPr>
              <a:t>plan </a:t>
            </a:r>
            <a:r>
              <a:rPr lang="en-US" b="0" i="0" dirty="0">
                <a:effectLst/>
                <a:latin typeface="Roboto"/>
              </a:rPr>
              <a:t>that transforms the start state to the goal state.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6A3CDA-5A84-4A40-8830-6AD77734ECE1}"/>
              </a:ext>
            </a:extLst>
          </p:cNvPr>
          <p:cNvSpPr/>
          <p:nvPr/>
        </p:nvSpPr>
        <p:spPr>
          <a:xfrm>
            <a:off x="4068170" y="60574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chemeClr val="tx2"/>
                </a:solidFill>
                <a:effectLst/>
                <a:latin typeface="Roboto"/>
              </a:rPr>
              <a:t>THIS PLAN IS ACHIEVED THROUGH SEARCH ALGORITHMS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A0BB5-0ACD-1036-ED11-3ADB06E32629}"/>
              </a:ext>
            </a:extLst>
          </p:cNvPr>
          <p:cNvSpPr txBox="1"/>
          <p:nvPr/>
        </p:nvSpPr>
        <p:spPr>
          <a:xfrm>
            <a:off x="3473995" y="30596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5305">
              <a:lnSpc>
                <a:spcPct val="100000"/>
              </a:lnSpc>
              <a:tabLst>
                <a:tab pos="916305" algn="l"/>
              </a:tabLst>
            </a:pPr>
            <a:r>
              <a:rPr lang="en-US" sz="1800" dirty="0">
                <a:solidFill>
                  <a:schemeClr val="tx2"/>
                </a:solidFill>
                <a:latin typeface="Arial MT"/>
                <a:cs typeface="Arial MT"/>
              </a:rPr>
              <a:t>Actions</a:t>
            </a:r>
            <a:r>
              <a:rPr lang="en-US" sz="1800" spc="-1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lang="en-US" sz="1800" dirty="0">
                <a:solidFill>
                  <a:schemeClr val="tx2"/>
                </a:solidFill>
                <a:latin typeface="Arial MT"/>
                <a:cs typeface="Arial MT"/>
              </a:rPr>
              <a:t>or</a:t>
            </a:r>
            <a:r>
              <a:rPr lang="en-US" sz="1800" spc="-95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lang="en-US" sz="1800" dirty="0">
                <a:solidFill>
                  <a:schemeClr val="tx2"/>
                </a:solidFill>
                <a:latin typeface="Arial MT"/>
                <a:cs typeface="Arial MT"/>
              </a:rPr>
              <a:t>Successor</a:t>
            </a:r>
            <a:r>
              <a:rPr lang="en-US" sz="1800" spc="-95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lang="en-US" sz="1800" spc="-10" dirty="0">
                <a:solidFill>
                  <a:schemeClr val="tx2"/>
                </a:solidFill>
                <a:latin typeface="Arial MT"/>
                <a:cs typeface="Arial MT"/>
              </a:rPr>
              <a:t>Function</a:t>
            </a:r>
            <a:endParaRPr lang="en-US" sz="1800" dirty="0">
              <a:solidFill>
                <a:schemeClr val="tx2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24490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501801"/>
            <a:ext cx="7639711" cy="1477328"/>
          </a:xfrm>
        </p:spPr>
        <p:txBody>
          <a:bodyPr/>
          <a:lstStyle/>
          <a:p>
            <a:pPr algn="just"/>
            <a:r>
              <a:rPr lang="en-US" spc="-5" dirty="0">
                <a:solidFill>
                  <a:srgbClr val="1F487C"/>
                </a:solidFill>
                <a:latin typeface="Carlito"/>
                <a:cs typeface="Carlito"/>
              </a:rPr>
              <a:t>Solution </a:t>
            </a:r>
            <a:r>
              <a:rPr lang="en-US" spc="-10" dirty="0">
                <a:solidFill>
                  <a:srgbClr val="1F487C"/>
                </a:solidFill>
                <a:latin typeface="Carlito"/>
                <a:cs typeface="Carlito"/>
              </a:rPr>
              <a:t>Quality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is 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measured by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the </a:t>
            </a:r>
            <a:r>
              <a:rPr lang="en-US" spc="-25" dirty="0">
                <a:solidFill>
                  <a:srgbClr val="00AF50"/>
                </a:solidFill>
                <a:latin typeface="Carlito"/>
                <a:cs typeface="Carlito"/>
              </a:rPr>
              <a:t>Path </a:t>
            </a:r>
            <a:r>
              <a:rPr lang="en-US" spc="-15" dirty="0">
                <a:solidFill>
                  <a:srgbClr val="00AF50"/>
                </a:solidFill>
                <a:latin typeface="Carlito"/>
                <a:cs typeface="Carlito"/>
              </a:rPr>
              <a:t>cost  </a:t>
            </a:r>
            <a:r>
              <a:rPr lang="en-US" spc="-5" dirty="0">
                <a:solidFill>
                  <a:srgbClr val="00AF50"/>
                </a:solidFill>
                <a:latin typeface="Carlito"/>
                <a:cs typeface="Carlito"/>
              </a:rPr>
              <a:t>function</a:t>
            </a:r>
            <a:r>
              <a:rPr lang="en-US" spc="-5" dirty="0">
                <a:latin typeface="Carlito"/>
                <a:cs typeface="Carlito"/>
              </a:rPr>
              <a:t>, 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and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an </a:t>
            </a:r>
            <a:r>
              <a:rPr lang="en-US" spc="-5" dirty="0">
                <a:solidFill>
                  <a:srgbClr val="244060"/>
                </a:solidFill>
                <a:latin typeface="Carlito"/>
                <a:cs typeface="Carlito"/>
              </a:rPr>
              <a:t>Optimal solution 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has </a:t>
            </a:r>
            <a:r>
              <a:rPr lang="en-US" dirty="0">
                <a:solidFill>
                  <a:schemeClr val="tx1"/>
                </a:solidFill>
                <a:latin typeface="Carlito"/>
                <a:cs typeface="Carlito"/>
              </a:rPr>
              <a:t>the </a:t>
            </a:r>
            <a:r>
              <a:rPr lang="en-US" spc="-15" dirty="0">
                <a:solidFill>
                  <a:srgbClr val="00AF50"/>
                </a:solidFill>
                <a:latin typeface="Carlito"/>
                <a:cs typeface="Carlito"/>
              </a:rPr>
              <a:t>lowest  </a:t>
            </a:r>
            <a:r>
              <a:rPr lang="en-US" spc="-10" dirty="0">
                <a:solidFill>
                  <a:srgbClr val="00AF50"/>
                </a:solidFill>
                <a:latin typeface="Carlito"/>
                <a:cs typeface="Carlito"/>
              </a:rPr>
              <a:t>path </a:t>
            </a:r>
            <a:r>
              <a:rPr lang="en-US" spc="-20" dirty="0">
                <a:solidFill>
                  <a:srgbClr val="00AF50"/>
                </a:solidFill>
                <a:latin typeface="Carlito"/>
                <a:cs typeface="Carlito"/>
              </a:rPr>
              <a:t>cost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among all</a:t>
            </a:r>
            <a:r>
              <a:rPr lang="en-US" spc="55" dirty="0">
                <a:solidFill>
                  <a:schemeClr val="tx1"/>
                </a:solidFill>
                <a:latin typeface="Carlito"/>
                <a:cs typeface="Carlito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solutions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380493" y="381000"/>
            <a:ext cx="8763507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spc="-100" dirty="0">
                <a:solidFill>
                  <a:srgbClr val="1F487C"/>
                </a:solidFill>
                <a:latin typeface="Caladea"/>
                <a:cs typeface="Caladea"/>
              </a:rPr>
              <a:t>N</a:t>
            </a:r>
            <a:r>
              <a:rPr sz="4600" spc="-165" dirty="0">
                <a:solidFill>
                  <a:srgbClr val="1F487C"/>
                </a:solidFill>
                <a:latin typeface="Caladea"/>
                <a:cs typeface="Caladea"/>
              </a:rPr>
              <a:t>O</a:t>
            </a:r>
            <a:r>
              <a:rPr sz="4600" spc="-105" dirty="0">
                <a:solidFill>
                  <a:srgbClr val="1F487C"/>
                </a:solidFill>
                <a:latin typeface="Caladea"/>
                <a:cs typeface="Caladea"/>
              </a:rPr>
              <a:t>T</a:t>
            </a:r>
            <a:r>
              <a:rPr sz="4600" spc="-5" dirty="0">
                <a:solidFill>
                  <a:srgbClr val="1F487C"/>
                </a:solidFill>
                <a:latin typeface="Caladea"/>
                <a:cs typeface="Caladea"/>
              </a:rPr>
              <a:t>E</a:t>
            </a:r>
            <a:endParaRPr sz="4600" dirty="0">
              <a:latin typeface="Caladea"/>
              <a:cs typeface="Caladea"/>
            </a:endParaRPr>
          </a:p>
        </p:txBody>
      </p:sp>
    </p:spTree>
    <p:extLst>
      <p:ext uri="{BB962C8B-B14F-4D97-AF65-F5344CB8AC3E}">
        <p14:creationId xmlns:p14="http://schemas.microsoft.com/office/powerpoint/2010/main" val="131257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115" y="228600"/>
            <a:ext cx="5912485" cy="1107996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4 Queens Problem Example</a:t>
            </a:r>
          </a:p>
        </p:txBody>
      </p:sp>
      <p:sp>
        <p:nvSpPr>
          <p:cNvPr id="6" name="object 2"/>
          <p:cNvSpPr/>
          <p:nvPr/>
        </p:nvSpPr>
        <p:spPr>
          <a:xfrm>
            <a:off x="914400" y="1219200"/>
            <a:ext cx="6915150" cy="4865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09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914400" y="1295400"/>
            <a:ext cx="7041630" cy="4647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381000"/>
            <a:ext cx="43470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4 Queens Problem Example………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85047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57200" y="1219200"/>
            <a:ext cx="7981950" cy="5279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57200"/>
            <a:ext cx="43470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4 Queens Problem Example………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28157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92" y="59737"/>
            <a:ext cx="8992615" cy="626695"/>
          </a:xfrm>
          <a:prstGeom prst="rect">
            <a:avLst/>
          </a:prstGeom>
        </p:spPr>
        <p:txBody>
          <a:bodyPr vert="horz" wrap="square" lIns="0" tIns="252334" rIns="0" bIns="0" rtlCol="0">
            <a:spAutoFit/>
          </a:bodyPr>
          <a:lstStyle/>
          <a:p>
            <a:pPr marL="986790">
              <a:lnSpc>
                <a:spcPts val="2855"/>
              </a:lnSpc>
            </a:pPr>
            <a:r>
              <a:rPr sz="2400" u="sng" dirty="0">
                <a:solidFill>
                  <a:schemeClr val="tx2"/>
                </a:solidFill>
              </a:rPr>
              <a:t>The</a:t>
            </a:r>
            <a:r>
              <a:rPr sz="2400" u="sng" spc="3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chemeClr val="tx2"/>
                </a:solidFill>
              </a:rPr>
              <a:t>8-</a:t>
            </a:r>
            <a:r>
              <a:rPr sz="2400" u="sng" spc="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chemeClr val="tx2"/>
                </a:solidFill>
              </a:rPr>
              <a:t>P</a:t>
            </a:r>
            <a:r>
              <a:rPr sz="2400" u="sng" spc="-10" dirty="0">
                <a:solidFill>
                  <a:schemeClr val="tx2"/>
                </a:solidFill>
              </a:rPr>
              <a:t>u</a:t>
            </a:r>
            <a:r>
              <a:rPr sz="2400" u="sng" dirty="0">
                <a:solidFill>
                  <a:schemeClr val="tx2"/>
                </a:solidFill>
              </a:rPr>
              <a:t>zzle</a:t>
            </a:r>
            <a:r>
              <a:rPr sz="2400" u="sng" spc="-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chemeClr val="tx2"/>
                </a:solidFill>
              </a:rPr>
              <a:t>E</a:t>
            </a:r>
            <a:r>
              <a:rPr sz="2400" u="sng" spc="-10" dirty="0">
                <a:solidFill>
                  <a:schemeClr val="tx2"/>
                </a:solidFill>
              </a:rPr>
              <a:t>x</a:t>
            </a:r>
            <a:r>
              <a:rPr sz="2400" u="sng" spc="-5" dirty="0">
                <a:solidFill>
                  <a:schemeClr val="tx2"/>
                </a:solidFill>
              </a:rPr>
              <a:t>am</a:t>
            </a:r>
            <a:r>
              <a:rPr sz="2400" u="sng" spc="-10" dirty="0">
                <a:solidFill>
                  <a:schemeClr val="tx2"/>
                </a:solidFill>
              </a:rPr>
              <a:t>p</a:t>
            </a:r>
            <a:r>
              <a:rPr sz="2400" u="sng" dirty="0">
                <a:solidFill>
                  <a:schemeClr val="tx2"/>
                </a:solidFill>
              </a:rPr>
              <a:t>le</a:t>
            </a:r>
            <a:endParaRPr sz="2400" u="sng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686432"/>
            <a:ext cx="7925434" cy="6174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State:</a:t>
            </a:r>
            <a:r>
              <a:rPr sz="2800" spc="4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10" dirty="0">
                <a:latin typeface="Arial"/>
                <a:cs typeface="Arial"/>
              </a:rPr>
              <a:t>h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spc="-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cati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g</a:t>
            </a:r>
            <a:r>
              <a:rPr sz="2400" spc="-10" dirty="0">
                <a:latin typeface="Arial"/>
                <a:cs typeface="Arial"/>
              </a:rPr>
              <a:t>h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til</a:t>
            </a:r>
            <a:r>
              <a:rPr sz="2400" spc="-1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s,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b</a:t>
            </a:r>
            <a:r>
              <a:rPr sz="2400" spc="-10" dirty="0">
                <a:latin typeface="Arial"/>
                <a:cs typeface="Arial"/>
              </a:rPr>
              <a:t>l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k</a:t>
            </a:r>
          </a:p>
          <a:p>
            <a:pPr>
              <a:lnSpc>
                <a:spcPct val="100000"/>
              </a:lnSpc>
              <a:spcBef>
                <a:spcPts val="28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US" sz="2800" spc="-15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In</a:t>
            </a:r>
            <a:r>
              <a:rPr sz="2800" spc="-5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ti</a:t>
            </a: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l</a:t>
            </a:r>
            <a:r>
              <a:rPr sz="2800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Stat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e:</a:t>
            </a:r>
            <a:r>
              <a:rPr sz="2800" spc="3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{(</a:t>
            </a:r>
            <a:r>
              <a:rPr lang="en-US" sz="2400" spc="-20" dirty="0">
                <a:latin typeface="Arial"/>
                <a:cs typeface="Arial"/>
              </a:rPr>
              <a:t>2</a:t>
            </a:r>
            <a:r>
              <a:rPr sz="2400" spc="-20" dirty="0">
                <a:latin typeface="Arial"/>
                <a:cs typeface="Arial"/>
              </a:rPr>
              <a:t>,0)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8</a:t>
            </a:r>
            <a:r>
              <a:rPr sz="2400" dirty="0">
                <a:latin typeface="Arial"/>
                <a:cs typeface="Arial"/>
              </a:rPr>
              <a:t>,1</a:t>
            </a:r>
            <a:r>
              <a:rPr sz="2400" spc="5" dirty="0">
                <a:latin typeface="Arial"/>
                <a:cs typeface="Arial"/>
              </a:rPr>
              <a:t>)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,2</a:t>
            </a:r>
            <a:r>
              <a:rPr sz="2400" spc="5" dirty="0">
                <a:latin typeface="Arial"/>
                <a:cs typeface="Arial"/>
              </a:rPr>
              <a:t>)</a:t>
            </a:r>
            <a:r>
              <a:rPr sz="2400" spc="-10" dirty="0">
                <a:latin typeface="Arial"/>
                <a:cs typeface="Arial"/>
              </a:rPr>
              <a:t>,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,3),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6</a:t>
            </a:r>
            <a:r>
              <a:rPr sz="2400" dirty="0">
                <a:latin typeface="Arial"/>
                <a:cs typeface="Arial"/>
              </a:rPr>
              <a:t>,4),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4</a:t>
            </a:r>
            <a:r>
              <a:rPr sz="2400" dirty="0">
                <a:latin typeface="Arial"/>
                <a:cs typeface="Arial"/>
              </a:rPr>
              <a:t>,5),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7</a:t>
            </a:r>
            <a:r>
              <a:rPr sz="2400" dirty="0">
                <a:latin typeface="Arial"/>
                <a:cs typeface="Arial"/>
              </a:rPr>
              <a:t>,6),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,7),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5</a:t>
            </a:r>
            <a:r>
              <a:rPr sz="2400" dirty="0">
                <a:latin typeface="Arial"/>
                <a:cs typeface="Arial"/>
              </a:rPr>
              <a:t>,8)}</a:t>
            </a: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393700" marR="5080" indent="-381000">
              <a:lnSpc>
                <a:spcPct val="78900"/>
              </a:lnSpc>
            </a:pPr>
            <a:r>
              <a:rPr sz="2800" spc="-20" dirty="0">
                <a:solidFill>
                  <a:schemeClr val="tx2"/>
                </a:solidFill>
                <a:latin typeface="Arial"/>
                <a:cs typeface="Arial"/>
              </a:rPr>
              <a:t>Suc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2800" spc="-2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so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800" spc="8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chemeClr val="tx2"/>
                </a:solidFill>
                <a:latin typeface="Arial"/>
                <a:cs typeface="Arial"/>
              </a:rPr>
              <a:t>Fun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cti</a:t>
            </a: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o</a:t>
            </a:r>
            <a:r>
              <a:rPr sz="2800" spc="-25" dirty="0">
                <a:solidFill>
                  <a:schemeClr val="tx2"/>
                </a:solidFill>
                <a:latin typeface="Arial"/>
                <a:cs typeface="Arial"/>
              </a:rPr>
              <a:t>n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:</a:t>
            </a:r>
            <a:r>
              <a:rPr sz="2800" spc="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f</a:t>
            </a:r>
            <a:r>
              <a:rPr sz="2800" spc="-15" dirty="0">
                <a:latin typeface="Arial"/>
                <a:cs typeface="Arial"/>
              </a:rPr>
              <a:t>o</a:t>
            </a:r>
            <a:r>
              <a:rPr sz="2800" spc="-25" dirty="0">
                <a:latin typeface="Arial"/>
                <a:cs typeface="Arial"/>
              </a:rPr>
              <a:t>u</a:t>
            </a:r>
            <a:r>
              <a:rPr sz="2800" spc="-10" dirty="0">
                <a:latin typeface="Arial"/>
                <a:cs typeface="Arial"/>
              </a:rPr>
              <a:t>r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a</a:t>
            </a:r>
            <a:r>
              <a:rPr sz="2800" spc="-5" dirty="0">
                <a:latin typeface="Arial"/>
                <a:cs typeface="Arial"/>
              </a:rPr>
              <a:t>c</a:t>
            </a:r>
            <a:r>
              <a:rPr sz="2800" spc="-10" dirty="0">
                <a:latin typeface="Arial"/>
                <a:cs typeface="Arial"/>
              </a:rPr>
              <a:t>ti</a:t>
            </a:r>
            <a:r>
              <a:rPr sz="2800" spc="-15" dirty="0">
                <a:latin typeface="Arial"/>
                <a:cs typeface="Arial"/>
              </a:rPr>
              <a:t>o</a:t>
            </a:r>
            <a:r>
              <a:rPr sz="2800" spc="-25" dirty="0">
                <a:latin typeface="Arial"/>
                <a:cs typeface="Arial"/>
              </a:rPr>
              <a:t>n</a:t>
            </a:r>
            <a:r>
              <a:rPr sz="2800" spc="-15" dirty="0">
                <a:latin typeface="Arial"/>
                <a:cs typeface="Arial"/>
              </a:rPr>
              <a:t>s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(</a:t>
            </a:r>
            <a:r>
              <a:rPr sz="2800" spc="-15" dirty="0">
                <a:latin typeface="Arial"/>
                <a:cs typeface="Arial"/>
              </a:rPr>
              <a:t>bla</a:t>
            </a:r>
            <a:r>
              <a:rPr sz="2800" spc="-20" dirty="0">
                <a:latin typeface="Arial"/>
                <a:cs typeface="Arial"/>
              </a:rPr>
              <a:t>nk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mo</a:t>
            </a:r>
            <a:r>
              <a:rPr sz="2800" spc="-10" dirty="0">
                <a:latin typeface="Arial"/>
                <a:cs typeface="Arial"/>
              </a:rPr>
              <a:t>v</a:t>
            </a:r>
            <a:r>
              <a:rPr sz="2800" spc="-25" dirty="0">
                <a:latin typeface="Arial"/>
                <a:cs typeface="Arial"/>
              </a:rPr>
              <a:t>e</a:t>
            </a:r>
            <a:r>
              <a:rPr sz="2800" spc="-15" dirty="0">
                <a:latin typeface="Arial"/>
                <a:cs typeface="Arial"/>
              </a:rPr>
              <a:t>s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L</a:t>
            </a:r>
            <a:r>
              <a:rPr sz="2800" spc="-15" dirty="0">
                <a:latin typeface="Arial"/>
                <a:cs typeface="Arial"/>
              </a:rPr>
              <a:t>e</a:t>
            </a:r>
            <a:r>
              <a:rPr sz="2800" spc="-10" dirty="0">
                <a:latin typeface="Arial"/>
                <a:cs typeface="Arial"/>
              </a:rPr>
              <a:t>ft,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Rig</a:t>
            </a:r>
            <a:r>
              <a:rPr sz="2800" spc="-15" dirty="0">
                <a:latin typeface="Arial"/>
                <a:cs typeface="Arial"/>
              </a:rPr>
              <a:t>h</a:t>
            </a:r>
            <a:r>
              <a:rPr sz="2800" spc="-10" dirty="0">
                <a:latin typeface="Arial"/>
                <a:cs typeface="Arial"/>
              </a:rPr>
              <a:t>t,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Arial"/>
                <a:cs typeface="Arial"/>
              </a:rPr>
              <a:t>U</a:t>
            </a:r>
            <a:r>
              <a:rPr sz="2800" spc="-15" dirty="0">
                <a:latin typeface="Arial"/>
                <a:cs typeface="Arial"/>
              </a:rPr>
              <a:t>p</a:t>
            </a:r>
            <a:r>
              <a:rPr sz="2800" spc="-10" dirty="0">
                <a:latin typeface="Arial"/>
                <a:cs typeface="Arial"/>
              </a:rPr>
              <a:t>,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Down</a:t>
            </a:r>
            <a:r>
              <a:rPr sz="2800" spc="-5" dirty="0">
                <a:latin typeface="Arial"/>
                <a:cs typeface="Arial"/>
              </a:rPr>
              <a:t>)</a:t>
            </a:r>
            <a:r>
              <a:rPr sz="2800" spc="-10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Goal</a:t>
            </a:r>
            <a:r>
              <a:rPr sz="2800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385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800" spc="-55" dirty="0">
                <a:solidFill>
                  <a:schemeClr val="tx2"/>
                </a:solidFill>
                <a:latin typeface="Arial"/>
                <a:cs typeface="Arial"/>
              </a:rPr>
              <a:t>es</a:t>
            </a:r>
            <a:r>
              <a:rPr sz="2800" spc="-65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:</a:t>
            </a:r>
            <a:r>
              <a:rPr sz="2800" spc="-2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d</a:t>
            </a:r>
            <a:r>
              <a:rPr sz="2800" spc="-15" dirty="0">
                <a:latin typeface="Arial"/>
                <a:cs typeface="Arial"/>
              </a:rPr>
              <a:t>ete</a:t>
            </a:r>
            <a:r>
              <a:rPr sz="2800" dirty="0">
                <a:latin typeface="Arial"/>
                <a:cs typeface="Arial"/>
              </a:rPr>
              <a:t>r</a:t>
            </a:r>
            <a:r>
              <a:rPr sz="2800" spc="-20" dirty="0">
                <a:latin typeface="Arial"/>
                <a:cs typeface="Arial"/>
              </a:rPr>
              <a:t>mine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a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gi</a:t>
            </a:r>
            <a:r>
              <a:rPr sz="2800" spc="-10" dirty="0">
                <a:latin typeface="Arial"/>
                <a:cs typeface="Arial"/>
              </a:rPr>
              <a:t>v</a:t>
            </a:r>
            <a:r>
              <a:rPr sz="2800" spc="-25" dirty="0">
                <a:latin typeface="Arial"/>
                <a:cs typeface="Arial"/>
              </a:rPr>
              <a:t>e</a:t>
            </a:r>
            <a:r>
              <a:rPr sz="2800" spc="-20" dirty="0">
                <a:latin typeface="Arial"/>
                <a:cs typeface="Arial"/>
              </a:rPr>
              <a:t>n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t</a:t>
            </a:r>
            <a:r>
              <a:rPr sz="2800" spc="-20" dirty="0">
                <a:latin typeface="Arial"/>
                <a:cs typeface="Arial"/>
              </a:rPr>
              <a:t>ate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Arial"/>
                <a:cs typeface="Arial"/>
              </a:rPr>
              <a:t>is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a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g</a:t>
            </a:r>
            <a:r>
              <a:rPr sz="2800" spc="-25" dirty="0">
                <a:latin typeface="Arial"/>
                <a:cs typeface="Arial"/>
              </a:rPr>
              <a:t>o</a:t>
            </a:r>
            <a:r>
              <a:rPr sz="2800" spc="-15" dirty="0">
                <a:latin typeface="Arial"/>
                <a:cs typeface="Arial"/>
              </a:rPr>
              <a:t>a</a:t>
            </a:r>
            <a:r>
              <a:rPr sz="2800" spc="-10" dirty="0">
                <a:latin typeface="Arial"/>
                <a:cs typeface="Arial"/>
              </a:rPr>
              <a:t>l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t</a:t>
            </a:r>
            <a:r>
              <a:rPr sz="2800" spc="-20" dirty="0">
                <a:latin typeface="Arial"/>
                <a:cs typeface="Arial"/>
              </a:rPr>
              <a:t>at</a:t>
            </a:r>
            <a:r>
              <a:rPr sz="2800" spc="-10" dirty="0">
                <a:latin typeface="Arial"/>
                <a:cs typeface="Arial"/>
              </a:rPr>
              <a:t>e.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0"/>
              </a:spcBef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Path</a:t>
            </a:r>
            <a:r>
              <a:rPr sz="2800" spc="6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chemeClr val="tx2"/>
                </a:solidFill>
                <a:latin typeface="Arial"/>
                <a:cs typeface="Arial"/>
              </a:rPr>
              <a:t>Co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st:</a:t>
            </a:r>
            <a:r>
              <a:rPr sz="2800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each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st</a:t>
            </a:r>
            <a:r>
              <a:rPr sz="2800" spc="-15" dirty="0">
                <a:latin typeface="Arial"/>
                <a:cs typeface="Arial"/>
              </a:rPr>
              <a:t>e</a:t>
            </a:r>
            <a:r>
              <a:rPr sz="2800" spc="-20" dirty="0">
                <a:latin typeface="Arial"/>
                <a:cs typeface="Arial"/>
              </a:rPr>
              <a:t>p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c</a:t>
            </a:r>
            <a:r>
              <a:rPr sz="2800" spc="-25" dirty="0">
                <a:latin typeface="Arial"/>
                <a:cs typeface="Arial"/>
              </a:rPr>
              <a:t>o</a:t>
            </a:r>
            <a:r>
              <a:rPr sz="2800" spc="-5" dirty="0">
                <a:latin typeface="Arial"/>
                <a:cs typeface="Arial"/>
              </a:rPr>
              <a:t>s</a:t>
            </a:r>
            <a:r>
              <a:rPr sz="2800" spc="-15" dirty="0">
                <a:latin typeface="Arial"/>
                <a:cs typeface="Arial"/>
              </a:rPr>
              <a:t>ts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1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Soluti</a:t>
            </a:r>
            <a:r>
              <a:rPr sz="2800" spc="-25" dirty="0">
                <a:solidFill>
                  <a:schemeClr val="tx2"/>
                </a:solidFill>
                <a:latin typeface="Arial"/>
                <a:cs typeface="Arial"/>
              </a:rPr>
              <a:t>o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n:</a:t>
            </a:r>
            <a:r>
              <a:rPr sz="2800" spc="3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{(</a:t>
            </a:r>
            <a:r>
              <a:rPr lang="en-US" sz="2400" spc="-20" dirty="0">
                <a:latin typeface="Arial"/>
                <a:cs typeface="Arial"/>
              </a:rPr>
              <a:t>1</a:t>
            </a:r>
            <a:r>
              <a:rPr sz="2400" spc="-20" dirty="0">
                <a:latin typeface="Arial"/>
                <a:cs typeface="Arial"/>
              </a:rPr>
              <a:t>,0)</a:t>
            </a:r>
            <a:r>
              <a:rPr sz="2400" spc="-2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spc="-10" dirty="0">
                <a:latin typeface="Arial"/>
                <a:cs typeface="Arial"/>
              </a:rPr>
              <a:t>2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1</a:t>
            </a:r>
            <a:r>
              <a:rPr sz="2400" spc="-10" dirty="0">
                <a:latin typeface="Arial"/>
                <a:cs typeface="Arial"/>
              </a:rPr>
              <a:t>)</a:t>
            </a:r>
            <a:r>
              <a:rPr sz="2400" spc="-2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spc="-10" dirty="0">
                <a:latin typeface="Arial"/>
                <a:cs typeface="Arial"/>
              </a:rPr>
              <a:t>3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20" dirty="0">
                <a:latin typeface="Arial"/>
                <a:cs typeface="Arial"/>
              </a:rPr>
              <a:t>8</a:t>
            </a:r>
            <a:r>
              <a:rPr sz="2400" spc="-2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20" dirty="0">
                <a:latin typeface="Arial"/>
                <a:cs typeface="Arial"/>
              </a:rPr>
              <a:t>-</a:t>
            </a:r>
            <a:r>
              <a:rPr sz="2400" spc="-2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4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5" dirty="0">
                <a:latin typeface="Arial"/>
                <a:cs typeface="Arial"/>
              </a:rPr>
              <a:t>4</a:t>
            </a:r>
            <a:r>
              <a:rPr sz="2400" spc="-5" dirty="0">
                <a:latin typeface="Arial"/>
                <a:cs typeface="Arial"/>
              </a:rPr>
              <a:t>,5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5" dirty="0">
                <a:latin typeface="Arial"/>
                <a:cs typeface="Arial"/>
              </a:rPr>
              <a:t>7</a:t>
            </a:r>
            <a:r>
              <a:rPr sz="2400" spc="-5" dirty="0">
                <a:latin typeface="Arial"/>
                <a:cs typeface="Arial"/>
              </a:rPr>
              <a:t>,6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5" dirty="0">
                <a:latin typeface="Arial"/>
                <a:cs typeface="Arial"/>
              </a:rPr>
              <a:t>6</a:t>
            </a:r>
            <a:r>
              <a:rPr sz="2400" spc="-5" dirty="0">
                <a:latin typeface="Arial"/>
                <a:cs typeface="Arial"/>
              </a:rPr>
              <a:t>,7)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5" dirty="0">
                <a:latin typeface="Arial"/>
                <a:cs typeface="Arial"/>
              </a:rPr>
              <a:t>5</a:t>
            </a:r>
            <a:r>
              <a:rPr sz="2400" spc="-5" dirty="0">
                <a:latin typeface="Arial"/>
                <a:cs typeface="Arial"/>
              </a:rPr>
              <a:t>,8)}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572691"/>
              </p:ext>
            </p:extLst>
          </p:nvPr>
        </p:nvGraphicFramePr>
        <p:xfrm>
          <a:off x="7097121" y="1158898"/>
          <a:ext cx="1524000" cy="1431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7317402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8827475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40084827"/>
                    </a:ext>
                  </a:extLst>
                </a:gridCol>
              </a:tblGrid>
              <a:tr h="40812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854266"/>
                  </a:ext>
                </a:extLst>
              </a:tr>
              <a:tr h="511888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717"/>
                  </a:ext>
                </a:extLst>
              </a:tr>
              <a:tr h="511888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2448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39475"/>
              </p:ext>
            </p:extLst>
          </p:nvPr>
        </p:nvGraphicFramePr>
        <p:xfrm>
          <a:off x="5277793" y="1143000"/>
          <a:ext cx="15240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7317402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8827475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4008482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85426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71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2448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2089" y="2661813"/>
            <a:ext cx="12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7274" y="2661813"/>
            <a:ext cx="12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28600"/>
          <a:ext cx="1828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694692" y="228600"/>
          <a:ext cx="1819371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457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6457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6457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820387" y="2209800"/>
          <a:ext cx="1828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3721645" y="2198914"/>
          <a:ext cx="1797132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44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599044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599044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/>
        </p:nvGraphicFramePr>
        <p:xfrm>
          <a:off x="838200" y="4343400"/>
          <a:ext cx="1828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3694692" y="4349338"/>
          <a:ext cx="1819371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457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6457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6457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sp>
        <p:nvSpPr>
          <p:cNvPr id="2" name="Right Arrow 1"/>
          <p:cNvSpPr/>
          <p:nvPr/>
        </p:nvSpPr>
        <p:spPr>
          <a:xfrm>
            <a:off x="2777322" y="943525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8184627" flipV="1">
            <a:off x="2686600" y="4118717"/>
            <a:ext cx="988492" cy="2325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2903043" y="2869306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8184627" flipV="1">
            <a:off x="2665971" y="1946623"/>
            <a:ext cx="881864" cy="2451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2903043" y="5079105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618944" y="1981201"/>
          <a:ext cx="183925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085">
                  <a:extLst>
                    <a:ext uri="{9D8B030D-6E8A-4147-A177-3AD203B41FA5}">
                      <a16:colId xmlns:a16="http://schemas.microsoft.com/office/drawing/2014/main" val="2731740204"/>
                    </a:ext>
                  </a:extLst>
                </a:gridCol>
                <a:gridCol w="613085">
                  <a:extLst>
                    <a:ext uri="{9D8B030D-6E8A-4147-A177-3AD203B41FA5}">
                      <a16:colId xmlns:a16="http://schemas.microsoft.com/office/drawing/2014/main" val="2188274751"/>
                    </a:ext>
                  </a:extLst>
                </a:gridCol>
                <a:gridCol w="613085">
                  <a:extLst>
                    <a:ext uri="{9D8B030D-6E8A-4147-A177-3AD203B41FA5}">
                      <a16:colId xmlns:a16="http://schemas.microsoft.com/office/drawing/2014/main" val="1640084827"/>
                    </a:ext>
                  </a:extLst>
                </a:gridCol>
              </a:tblGrid>
              <a:tr h="49953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854266"/>
                  </a:ext>
                </a:extLst>
              </a:tr>
              <a:tr h="626534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717"/>
                  </a:ext>
                </a:extLst>
              </a:tr>
              <a:tr h="626534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2448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239000" y="3865671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83033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3310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14325"/>
            <a:ext cx="8992615" cy="861774"/>
          </a:xfrm>
        </p:spPr>
        <p:txBody>
          <a:bodyPr/>
          <a:lstStyle/>
          <a:p>
            <a:r>
              <a:rPr lang="en-US" spc="-5" dirty="0">
                <a:solidFill>
                  <a:schemeClr val="tx2"/>
                </a:solidFill>
              </a:rPr>
              <a:t>A </a:t>
            </a:r>
            <a:r>
              <a:rPr lang="en-US" spc="-140" dirty="0">
                <a:solidFill>
                  <a:schemeClr val="tx2"/>
                </a:solidFill>
              </a:rPr>
              <a:t>Touring </a:t>
            </a:r>
            <a:r>
              <a:rPr lang="en-US" spc="-80" dirty="0">
                <a:solidFill>
                  <a:schemeClr val="tx2"/>
                </a:solidFill>
              </a:rPr>
              <a:t>Agent</a:t>
            </a:r>
            <a:r>
              <a:rPr lang="en-US" spc="-555" dirty="0">
                <a:solidFill>
                  <a:schemeClr val="tx2"/>
                </a:solidFill>
              </a:rPr>
              <a:t> </a:t>
            </a:r>
            <a:r>
              <a:rPr lang="en-US" spc="-100" dirty="0">
                <a:solidFill>
                  <a:schemeClr val="tx2"/>
                </a:solidFill>
              </a:rPr>
              <a:t>Problem</a:t>
            </a:r>
            <a:br>
              <a:rPr lang="en-US" spc="-100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4" name="object 3"/>
          <p:cNvGrpSpPr/>
          <p:nvPr/>
        </p:nvGrpSpPr>
        <p:grpSpPr>
          <a:xfrm>
            <a:off x="537208" y="1392555"/>
            <a:ext cx="8069580" cy="3712845"/>
            <a:chOff x="368808" y="1711451"/>
            <a:chExt cx="8069580" cy="3712845"/>
          </a:xfrm>
        </p:grpSpPr>
        <p:sp>
          <p:nvSpPr>
            <p:cNvPr id="5" name="object 4"/>
            <p:cNvSpPr/>
            <p:nvPr/>
          </p:nvSpPr>
          <p:spPr>
            <a:xfrm>
              <a:off x="5639561" y="2591561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200" y="0"/>
                  </a:moveTo>
                  <a:lnTo>
                    <a:pt x="399855" y="2077"/>
                  </a:lnTo>
                  <a:lnTo>
                    <a:pt x="344634" y="8143"/>
                  </a:lnTo>
                  <a:lnTo>
                    <a:pt x="291967" y="17948"/>
                  </a:lnTo>
                  <a:lnTo>
                    <a:pt x="242280" y="31243"/>
                  </a:lnTo>
                  <a:lnTo>
                    <a:pt x="196004" y="47776"/>
                  </a:lnTo>
                  <a:lnTo>
                    <a:pt x="153566" y="67300"/>
                  </a:lnTo>
                  <a:lnTo>
                    <a:pt x="115396" y="89563"/>
                  </a:lnTo>
                  <a:lnTo>
                    <a:pt x="81922" y="114317"/>
                  </a:lnTo>
                  <a:lnTo>
                    <a:pt x="53573" y="141311"/>
                  </a:lnTo>
                  <a:lnTo>
                    <a:pt x="13965" y="201023"/>
                  </a:lnTo>
                  <a:lnTo>
                    <a:pt x="0" y="266700"/>
                  </a:lnTo>
                  <a:lnTo>
                    <a:pt x="3562" y="300159"/>
                  </a:lnTo>
                  <a:lnTo>
                    <a:pt x="30778" y="363103"/>
                  </a:lnTo>
                  <a:lnTo>
                    <a:pt x="81922" y="419082"/>
                  </a:lnTo>
                  <a:lnTo>
                    <a:pt x="115396" y="443836"/>
                  </a:lnTo>
                  <a:lnTo>
                    <a:pt x="153566" y="466099"/>
                  </a:lnTo>
                  <a:lnTo>
                    <a:pt x="196004" y="485623"/>
                  </a:lnTo>
                  <a:lnTo>
                    <a:pt x="242280" y="502156"/>
                  </a:lnTo>
                  <a:lnTo>
                    <a:pt x="291967" y="515451"/>
                  </a:lnTo>
                  <a:lnTo>
                    <a:pt x="344634" y="525256"/>
                  </a:lnTo>
                  <a:lnTo>
                    <a:pt x="399855" y="531322"/>
                  </a:lnTo>
                  <a:lnTo>
                    <a:pt x="457200" y="533400"/>
                  </a:lnTo>
                  <a:lnTo>
                    <a:pt x="514544" y="531322"/>
                  </a:lnTo>
                  <a:lnTo>
                    <a:pt x="569765" y="525256"/>
                  </a:lnTo>
                  <a:lnTo>
                    <a:pt x="622432" y="515451"/>
                  </a:lnTo>
                  <a:lnTo>
                    <a:pt x="672119" y="502156"/>
                  </a:lnTo>
                  <a:lnTo>
                    <a:pt x="718395" y="485623"/>
                  </a:lnTo>
                  <a:lnTo>
                    <a:pt x="760833" y="466099"/>
                  </a:lnTo>
                  <a:lnTo>
                    <a:pt x="799003" y="443836"/>
                  </a:lnTo>
                  <a:lnTo>
                    <a:pt x="832477" y="419082"/>
                  </a:lnTo>
                  <a:lnTo>
                    <a:pt x="860826" y="392088"/>
                  </a:lnTo>
                  <a:lnTo>
                    <a:pt x="900434" y="332376"/>
                  </a:lnTo>
                  <a:lnTo>
                    <a:pt x="914399" y="266700"/>
                  </a:lnTo>
                  <a:lnTo>
                    <a:pt x="910837" y="233240"/>
                  </a:lnTo>
                  <a:lnTo>
                    <a:pt x="883621" y="170296"/>
                  </a:lnTo>
                  <a:lnTo>
                    <a:pt x="832477" y="114317"/>
                  </a:lnTo>
                  <a:lnTo>
                    <a:pt x="799003" y="89563"/>
                  </a:lnTo>
                  <a:lnTo>
                    <a:pt x="760833" y="67300"/>
                  </a:lnTo>
                  <a:lnTo>
                    <a:pt x="718395" y="47776"/>
                  </a:lnTo>
                  <a:lnTo>
                    <a:pt x="672119" y="31243"/>
                  </a:lnTo>
                  <a:lnTo>
                    <a:pt x="622432" y="17948"/>
                  </a:lnTo>
                  <a:lnTo>
                    <a:pt x="569765" y="8143"/>
                  </a:lnTo>
                  <a:lnTo>
                    <a:pt x="514544" y="207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/>
            <p:cNvSpPr/>
            <p:nvPr/>
          </p:nvSpPr>
          <p:spPr>
            <a:xfrm>
              <a:off x="5639561" y="2591561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0" y="266700"/>
                  </a:moveTo>
                  <a:lnTo>
                    <a:pt x="13965" y="201023"/>
                  </a:lnTo>
                  <a:lnTo>
                    <a:pt x="53573" y="141311"/>
                  </a:lnTo>
                  <a:lnTo>
                    <a:pt x="81922" y="114317"/>
                  </a:lnTo>
                  <a:lnTo>
                    <a:pt x="115396" y="89563"/>
                  </a:lnTo>
                  <a:lnTo>
                    <a:pt x="153566" y="67300"/>
                  </a:lnTo>
                  <a:lnTo>
                    <a:pt x="196004" y="47776"/>
                  </a:lnTo>
                  <a:lnTo>
                    <a:pt x="242280" y="31243"/>
                  </a:lnTo>
                  <a:lnTo>
                    <a:pt x="291967" y="17948"/>
                  </a:lnTo>
                  <a:lnTo>
                    <a:pt x="344634" y="8143"/>
                  </a:lnTo>
                  <a:lnTo>
                    <a:pt x="399855" y="2077"/>
                  </a:lnTo>
                  <a:lnTo>
                    <a:pt x="457200" y="0"/>
                  </a:lnTo>
                  <a:lnTo>
                    <a:pt x="514544" y="2077"/>
                  </a:lnTo>
                  <a:lnTo>
                    <a:pt x="569765" y="8143"/>
                  </a:lnTo>
                  <a:lnTo>
                    <a:pt x="622432" y="17948"/>
                  </a:lnTo>
                  <a:lnTo>
                    <a:pt x="672119" y="31243"/>
                  </a:lnTo>
                  <a:lnTo>
                    <a:pt x="718395" y="47776"/>
                  </a:lnTo>
                  <a:lnTo>
                    <a:pt x="760833" y="67300"/>
                  </a:lnTo>
                  <a:lnTo>
                    <a:pt x="799003" y="89563"/>
                  </a:lnTo>
                  <a:lnTo>
                    <a:pt x="832477" y="114317"/>
                  </a:lnTo>
                  <a:lnTo>
                    <a:pt x="860826" y="141311"/>
                  </a:lnTo>
                  <a:lnTo>
                    <a:pt x="900434" y="201023"/>
                  </a:lnTo>
                  <a:lnTo>
                    <a:pt x="914399" y="266700"/>
                  </a:lnTo>
                  <a:lnTo>
                    <a:pt x="910837" y="300159"/>
                  </a:lnTo>
                  <a:lnTo>
                    <a:pt x="883621" y="363103"/>
                  </a:lnTo>
                  <a:lnTo>
                    <a:pt x="832477" y="419082"/>
                  </a:lnTo>
                  <a:lnTo>
                    <a:pt x="799003" y="443836"/>
                  </a:lnTo>
                  <a:lnTo>
                    <a:pt x="760833" y="466099"/>
                  </a:lnTo>
                  <a:lnTo>
                    <a:pt x="718395" y="485623"/>
                  </a:lnTo>
                  <a:lnTo>
                    <a:pt x="672119" y="502156"/>
                  </a:lnTo>
                  <a:lnTo>
                    <a:pt x="622432" y="515451"/>
                  </a:lnTo>
                  <a:lnTo>
                    <a:pt x="569765" y="525256"/>
                  </a:lnTo>
                  <a:lnTo>
                    <a:pt x="514544" y="531322"/>
                  </a:lnTo>
                  <a:lnTo>
                    <a:pt x="457200" y="533400"/>
                  </a:lnTo>
                  <a:lnTo>
                    <a:pt x="399855" y="531322"/>
                  </a:lnTo>
                  <a:lnTo>
                    <a:pt x="344634" y="525256"/>
                  </a:lnTo>
                  <a:lnTo>
                    <a:pt x="291967" y="515451"/>
                  </a:lnTo>
                  <a:lnTo>
                    <a:pt x="242280" y="502156"/>
                  </a:lnTo>
                  <a:lnTo>
                    <a:pt x="196004" y="485623"/>
                  </a:lnTo>
                  <a:lnTo>
                    <a:pt x="153566" y="466099"/>
                  </a:lnTo>
                  <a:lnTo>
                    <a:pt x="115396" y="443836"/>
                  </a:lnTo>
                  <a:lnTo>
                    <a:pt x="81922" y="419082"/>
                  </a:lnTo>
                  <a:lnTo>
                    <a:pt x="53573" y="392088"/>
                  </a:lnTo>
                  <a:lnTo>
                    <a:pt x="13965" y="332376"/>
                  </a:lnTo>
                  <a:lnTo>
                    <a:pt x="0" y="266700"/>
                  </a:lnTo>
                  <a:close/>
                </a:path>
              </a:pathLst>
            </a:custGeom>
            <a:ln w="25908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/>
            <p:cNvSpPr/>
            <p:nvPr/>
          </p:nvSpPr>
          <p:spPr>
            <a:xfrm>
              <a:off x="381762" y="4725161"/>
              <a:ext cx="1905000" cy="685800"/>
            </a:xfrm>
            <a:custGeom>
              <a:avLst/>
              <a:gdLst/>
              <a:ahLst/>
              <a:cxnLst/>
              <a:rect l="l" t="t" r="r" b="b"/>
              <a:pathLst>
                <a:path w="1905000" h="685800">
                  <a:moveTo>
                    <a:pt x="952500" y="0"/>
                  </a:moveTo>
                  <a:lnTo>
                    <a:pt x="884476" y="861"/>
                  </a:lnTo>
                  <a:lnTo>
                    <a:pt x="817744" y="3405"/>
                  </a:lnTo>
                  <a:lnTo>
                    <a:pt x="752464" y="7575"/>
                  </a:lnTo>
                  <a:lnTo>
                    <a:pt x="688797" y="13312"/>
                  </a:lnTo>
                  <a:lnTo>
                    <a:pt x="626904" y="20559"/>
                  </a:lnTo>
                  <a:lnTo>
                    <a:pt x="566946" y="29257"/>
                  </a:lnTo>
                  <a:lnTo>
                    <a:pt x="509086" y="39348"/>
                  </a:lnTo>
                  <a:lnTo>
                    <a:pt x="453483" y="50774"/>
                  </a:lnTo>
                  <a:lnTo>
                    <a:pt x="400300" y="63477"/>
                  </a:lnTo>
                  <a:lnTo>
                    <a:pt x="349696" y="77399"/>
                  </a:lnTo>
                  <a:lnTo>
                    <a:pt x="301834" y="92482"/>
                  </a:lnTo>
                  <a:lnTo>
                    <a:pt x="256875" y="108668"/>
                  </a:lnTo>
                  <a:lnTo>
                    <a:pt x="214980" y="125899"/>
                  </a:lnTo>
                  <a:lnTo>
                    <a:pt x="176310" y="144116"/>
                  </a:lnTo>
                  <a:lnTo>
                    <a:pt x="141026" y="163262"/>
                  </a:lnTo>
                  <a:lnTo>
                    <a:pt x="81261" y="204109"/>
                  </a:lnTo>
                  <a:lnTo>
                    <a:pt x="36975" y="247973"/>
                  </a:lnTo>
                  <a:lnTo>
                    <a:pt x="9458" y="294392"/>
                  </a:lnTo>
                  <a:lnTo>
                    <a:pt x="0" y="342900"/>
                  </a:lnTo>
                  <a:lnTo>
                    <a:pt x="2391" y="367385"/>
                  </a:lnTo>
                  <a:lnTo>
                    <a:pt x="21040" y="414907"/>
                  </a:lnTo>
                  <a:lnTo>
                    <a:pt x="57103" y="460106"/>
                  </a:lnTo>
                  <a:lnTo>
                    <a:pt x="109289" y="502520"/>
                  </a:lnTo>
                  <a:lnTo>
                    <a:pt x="176310" y="541683"/>
                  </a:lnTo>
                  <a:lnTo>
                    <a:pt x="214980" y="559900"/>
                  </a:lnTo>
                  <a:lnTo>
                    <a:pt x="256875" y="577131"/>
                  </a:lnTo>
                  <a:lnTo>
                    <a:pt x="301834" y="593317"/>
                  </a:lnTo>
                  <a:lnTo>
                    <a:pt x="349696" y="608400"/>
                  </a:lnTo>
                  <a:lnTo>
                    <a:pt x="400300" y="622322"/>
                  </a:lnTo>
                  <a:lnTo>
                    <a:pt x="453483" y="635025"/>
                  </a:lnTo>
                  <a:lnTo>
                    <a:pt x="509086" y="646451"/>
                  </a:lnTo>
                  <a:lnTo>
                    <a:pt x="566946" y="656542"/>
                  </a:lnTo>
                  <a:lnTo>
                    <a:pt x="626904" y="665240"/>
                  </a:lnTo>
                  <a:lnTo>
                    <a:pt x="688797" y="672487"/>
                  </a:lnTo>
                  <a:lnTo>
                    <a:pt x="752464" y="678224"/>
                  </a:lnTo>
                  <a:lnTo>
                    <a:pt x="817744" y="682394"/>
                  </a:lnTo>
                  <a:lnTo>
                    <a:pt x="884476" y="684938"/>
                  </a:lnTo>
                  <a:lnTo>
                    <a:pt x="952500" y="685800"/>
                  </a:lnTo>
                  <a:lnTo>
                    <a:pt x="1020521" y="684938"/>
                  </a:lnTo>
                  <a:lnTo>
                    <a:pt x="1087252" y="682394"/>
                  </a:lnTo>
                  <a:lnTo>
                    <a:pt x="1152532" y="678224"/>
                  </a:lnTo>
                  <a:lnTo>
                    <a:pt x="1216198" y="672487"/>
                  </a:lnTo>
                  <a:lnTo>
                    <a:pt x="1278090" y="665240"/>
                  </a:lnTo>
                  <a:lnTo>
                    <a:pt x="1338047" y="656542"/>
                  </a:lnTo>
                  <a:lnTo>
                    <a:pt x="1395908" y="646451"/>
                  </a:lnTo>
                  <a:lnTo>
                    <a:pt x="1451510" y="635025"/>
                  </a:lnTo>
                  <a:lnTo>
                    <a:pt x="1504694" y="622322"/>
                  </a:lnTo>
                  <a:lnTo>
                    <a:pt x="1555297" y="608400"/>
                  </a:lnTo>
                  <a:lnTo>
                    <a:pt x="1603160" y="593317"/>
                  </a:lnTo>
                  <a:lnTo>
                    <a:pt x="1648119" y="577131"/>
                  </a:lnTo>
                  <a:lnTo>
                    <a:pt x="1690015" y="559900"/>
                  </a:lnTo>
                  <a:lnTo>
                    <a:pt x="1728686" y="541683"/>
                  </a:lnTo>
                  <a:lnTo>
                    <a:pt x="1763970" y="522537"/>
                  </a:lnTo>
                  <a:lnTo>
                    <a:pt x="1823736" y="481690"/>
                  </a:lnTo>
                  <a:lnTo>
                    <a:pt x="1868023" y="437826"/>
                  </a:lnTo>
                  <a:lnTo>
                    <a:pt x="1895540" y="391407"/>
                  </a:lnTo>
                  <a:lnTo>
                    <a:pt x="1905000" y="342900"/>
                  </a:lnTo>
                  <a:lnTo>
                    <a:pt x="1902608" y="318414"/>
                  </a:lnTo>
                  <a:lnTo>
                    <a:pt x="1883958" y="270892"/>
                  </a:lnTo>
                  <a:lnTo>
                    <a:pt x="1847895" y="225693"/>
                  </a:lnTo>
                  <a:lnTo>
                    <a:pt x="1795708" y="183279"/>
                  </a:lnTo>
                  <a:lnTo>
                    <a:pt x="1728686" y="144116"/>
                  </a:lnTo>
                  <a:lnTo>
                    <a:pt x="1690015" y="125899"/>
                  </a:lnTo>
                  <a:lnTo>
                    <a:pt x="1648119" y="108668"/>
                  </a:lnTo>
                  <a:lnTo>
                    <a:pt x="1603160" y="92482"/>
                  </a:lnTo>
                  <a:lnTo>
                    <a:pt x="1555297" y="77399"/>
                  </a:lnTo>
                  <a:lnTo>
                    <a:pt x="1504694" y="63477"/>
                  </a:lnTo>
                  <a:lnTo>
                    <a:pt x="1451510" y="50774"/>
                  </a:lnTo>
                  <a:lnTo>
                    <a:pt x="1395908" y="39348"/>
                  </a:lnTo>
                  <a:lnTo>
                    <a:pt x="1338047" y="29257"/>
                  </a:lnTo>
                  <a:lnTo>
                    <a:pt x="1278090" y="20559"/>
                  </a:lnTo>
                  <a:lnTo>
                    <a:pt x="1216198" y="13312"/>
                  </a:lnTo>
                  <a:lnTo>
                    <a:pt x="1152532" y="7575"/>
                  </a:lnTo>
                  <a:lnTo>
                    <a:pt x="1087252" y="3405"/>
                  </a:lnTo>
                  <a:lnTo>
                    <a:pt x="1020521" y="861"/>
                  </a:lnTo>
                  <a:lnTo>
                    <a:pt x="952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/>
            <p:cNvSpPr/>
            <p:nvPr/>
          </p:nvSpPr>
          <p:spPr>
            <a:xfrm>
              <a:off x="381762" y="4725161"/>
              <a:ext cx="1905000" cy="685800"/>
            </a:xfrm>
            <a:custGeom>
              <a:avLst/>
              <a:gdLst/>
              <a:ahLst/>
              <a:cxnLst/>
              <a:rect l="l" t="t" r="r" b="b"/>
              <a:pathLst>
                <a:path w="1905000" h="685800">
                  <a:moveTo>
                    <a:pt x="0" y="342900"/>
                  </a:moveTo>
                  <a:lnTo>
                    <a:pt x="9458" y="294392"/>
                  </a:lnTo>
                  <a:lnTo>
                    <a:pt x="36975" y="247973"/>
                  </a:lnTo>
                  <a:lnTo>
                    <a:pt x="81261" y="204109"/>
                  </a:lnTo>
                  <a:lnTo>
                    <a:pt x="141026" y="163262"/>
                  </a:lnTo>
                  <a:lnTo>
                    <a:pt x="176310" y="144116"/>
                  </a:lnTo>
                  <a:lnTo>
                    <a:pt x="214980" y="125899"/>
                  </a:lnTo>
                  <a:lnTo>
                    <a:pt x="256875" y="108668"/>
                  </a:lnTo>
                  <a:lnTo>
                    <a:pt x="301834" y="92482"/>
                  </a:lnTo>
                  <a:lnTo>
                    <a:pt x="349696" y="77399"/>
                  </a:lnTo>
                  <a:lnTo>
                    <a:pt x="400300" y="63477"/>
                  </a:lnTo>
                  <a:lnTo>
                    <a:pt x="453483" y="50774"/>
                  </a:lnTo>
                  <a:lnTo>
                    <a:pt x="509086" y="39348"/>
                  </a:lnTo>
                  <a:lnTo>
                    <a:pt x="566946" y="29257"/>
                  </a:lnTo>
                  <a:lnTo>
                    <a:pt x="626904" y="20559"/>
                  </a:lnTo>
                  <a:lnTo>
                    <a:pt x="688797" y="13312"/>
                  </a:lnTo>
                  <a:lnTo>
                    <a:pt x="752464" y="7575"/>
                  </a:lnTo>
                  <a:lnTo>
                    <a:pt x="817744" y="3405"/>
                  </a:lnTo>
                  <a:lnTo>
                    <a:pt x="884476" y="861"/>
                  </a:lnTo>
                  <a:lnTo>
                    <a:pt x="952500" y="0"/>
                  </a:lnTo>
                  <a:lnTo>
                    <a:pt x="1020521" y="861"/>
                  </a:lnTo>
                  <a:lnTo>
                    <a:pt x="1087252" y="3405"/>
                  </a:lnTo>
                  <a:lnTo>
                    <a:pt x="1152532" y="7575"/>
                  </a:lnTo>
                  <a:lnTo>
                    <a:pt x="1216198" y="13312"/>
                  </a:lnTo>
                  <a:lnTo>
                    <a:pt x="1278090" y="20559"/>
                  </a:lnTo>
                  <a:lnTo>
                    <a:pt x="1338047" y="29257"/>
                  </a:lnTo>
                  <a:lnTo>
                    <a:pt x="1395908" y="39348"/>
                  </a:lnTo>
                  <a:lnTo>
                    <a:pt x="1451510" y="50774"/>
                  </a:lnTo>
                  <a:lnTo>
                    <a:pt x="1504694" y="63477"/>
                  </a:lnTo>
                  <a:lnTo>
                    <a:pt x="1555297" y="77399"/>
                  </a:lnTo>
                  <a:lnTo>
                    <a:pt x="1603160" y="92482"/>
                  </a:lnTo>
                  <a:lnTo>
                    <a:pt x="1648119" y="108668"/>
                  </a:lnTo>
                  <a:lnTo>
                    <a:pt x="1690015" y="125899"/>
                  </a:lnTo>
                  <a:lnTo>
                    <a:pt x="1728686" y="144116"/>
                  </a:lnTo>
                  <a:lnTo>
                    <a:pt x="1763970" y="163262"/>
                  </a:lnTo>
                  <a:lnTo>
                    <a:pt x="1823736" y="204109"/>
                  </a:lnTo>
                  <a:lnTo>
                    <a:pt x="1868023" y="247973"/>
                  </a:lnTo>
                  <a:lnTo>
                    <a:pt x="1895540" y="294392"/>
                  </a:lnTo>
                  <a:lnTo>
                    <a:pt x="1905000" y="342900"/>
                  </a:lnTo>
                  <a:lnTo>
                    <a:pt x="1902608" y="367385"/>
                  </a:lnTo>
                  <a:lnTo>
                    <a:pt x="1883958" y="414907"/>
                  </a:lnTo>
                  <a:lnTo>
                    <a:pt x="1847895" y="460106"/>
                  </a:lnTo>
                  <a:lnTo>
                    <a:pt x="1795708" y="502520"/>
                  </a:lnTo>
                  <a:lnTo>
                    <a:pt x="1728686" y="541683"/>
                  </a:lnTo>
                  <a:lnTo>
                    <a:pt x="1690015" y="559900"/>
                  </a:lnTo>
                  <a:lnTo>
                    <a:pt x="1648119" y="577131"/>
                  </a:lnTo>
                  <a:lnTo>
                    <a:pt x="1603160" y="593317"/>
                  </a:lnTo>
                  <a:lnTo>
                    <a:pt x="1555297" y="608400"/>
                  </a:lnTo>
                  <a:lnTo>
                    <a:pt x="1504694" y="622322"/>
                  </a:lnTo>
                  <a:lnTo>
                    <a:pt x="1451510" y="635025"/>
                  </a:lnTo>
                  <a:lnTo>
                    <a:pt x="1395908" y="646451"/>
                  </a:lnTo>
                  <a:lnTo>
                    <a:pt x="1338047" y="656542"/>
                  </a:lnTo>
                  <a:lnTo>
                    <a:pt x="1278090" y="665240"/>
                  </a:lnTo>
                  <a:lnTo>
                    <a:pt x="1216198" y="672487"/>
                  </a:lnTo>
                  <a:lnTo>
                    <a:pt x="1152532" y="678224"/>
                  </a:lnTo>
                  <a:lnTo>
                    <a:pt x="1087252" y="682394"/>
                  </a:lnTo>
                  <a:lnTo>
                    <a:pt x="1020521" y="684938"/>
                  </a:lnTo>
                  <a:lnTo>
                    <a:pt x="952500" y="685800"/>
                  </a:lnTo>
                  <a:lnTo>
                    <a:pt x="884476" y="684938"/>
                  </a:lnTo>
                  <a:lnTo>
                    <a:pt x="817744" y="682394"/>
                  </a:lnTo>
                  <a:lnTo>
                    <a:pt x="752464" y="678224"/>
                  </a:lnTo>
                  <a:lnTo>
                    <a:pt x="688797" y="672487"/>
                  </a:lnTo>
                  <a:lnTo>
                    <a:pt x="626904" y="665240"/>
                  </a:lnTo>
                  <a:lnTo>
                    <a:pt x="566946" y="656542"/>
                  </a:lnTo>
                  <a:lnTo>
                    <a:pt x="509086" y="646451"/>
                  </a:lnTo>
                  <a:lnTo>
                    <a:pt x="453483" y="635025"/>
                  </a:lnTo>
                  <a:lnTo>
                    <a:pt x="400300" y="622322"/>
                  </a:lnTo>
                  <a:lnTo>
                    <a:pt x="349696" y="608400"/>
                  </a:lnTo>
                  <a:lnTo>
                    <a:pt x="301834" y="593317"/>
                  </a:lnTo>
                  <a:lnTo>
                    <a:pt x="256875" y="577131"/>
                  </a:lnTo>
                  <a:lnTo>
                    <a:pt x="214980" y="559900"/>
                  </a:lnTo>
                  <a:lnTo>
                    <a:pt x="176310" y="541683"/>
                  </a:lnTo>
                  <a:lnTo>
                    <a:pt x="141026" y="522537"/>
                  </a:lnTo>
                  <a:lnTo>
                    <a:pt x="81261" y="481690"/>
                  </a:lnTo>
                  <a:lnTo>
                    <a:pt x="36975" y="437826"/>
                  </a:lnTo>
                  <a:lnTo>
                    <a:pt x="9458" y="391407"/>
                  </a:lnTo>
                  <a:lnTo>
                    <a:pt x="0" y="342900"/>
                  </a:lnTo>
                  <a:close/>
                </a:path>
              </a:pathLst>
            </a:custGeom>
            <a:ln w="25908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/>
            <p:cNvSpPr/>
            <p:nvPr/>
          </p:nvSpPr>
          <p:spPr>
            <a:xfrm>
              <a:off x="661416" y="1711451"/>
              <a:ext cx="7322058" cy="33718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/>
            <p:cNvSpPr/>
            <p:nvPr/>
          </p:nvSpPr>
          <p:spPr>
            <a:xfrm>
              <a:off x="2089403" y="2671571"/>
              <a:ext cx="6348984" cy="26151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/>
            <p:cNvSpPr/>
            <p:nvPr/>
          </p:nvSpPr>
          <p:spPr>
            <a:xfrm>
              <a:off x="2286634" y="2724911"/>
              <a:ext cx="6077585" cy="2428240"/>
            </a:xfrm>
            <a:custGeom>
              <a:avLst/>
              <a:gdLst/>
              <a:ahLst/>
              <a:cxnLst/>
              <a:rect l="l" t="t" r="r" b="b"/>
              <a:pathLst>
                <a:path w="6077584" h="2428240">
                  <a:moveTo>
                    <a:pt x="149181" y="2256663"/>
                  </a:moveTo>
                  <a:lnTo>
                    <a:pt x="141985" y="2259203"/>
                  </a:lnTo>
                  <a:lnTo>
                    <a:pt x="0" y="2343150"/>
                  </a:lnTo>
                  <a:lnTo>
                    <a:pt x="143001" y="2425446"/>
                  </a:lnTo>
                  <a:lnTo>
                    <a:pt x="150195" y="2427819"/>
                  </a:lnTo>
                  <a:lnTo>
                    <a:pt x="157495" y="2427287"/>
                  </a:lnTo>
                  <a:lnTo>
                    <a:pt x="164058" y="2424088"/>
                  </a:lnTo>
                  <a:lnTo>
                    <a:pt x="169037" y="2418461"/>
                  </a:lnTo>
                  <a:lnTo>
                    <a:pt x="171428" y="2411267"/>
                  </a:lnTo>
                  <a:lnTo>
                    <a:pt x="170926" y="2403967"/>
                  </a:lnTo>
                  <a:lnTo>
                    <a:pt x="167733" y="2397404"/>
                  </a:lnTo>
                  <a:lnTo>
                    <a:pt x="162051" y="2392426"/>
                  </a:lnTo>
                  <a:lnTo>
                    <a:pt x="109122" y="2361946"/>
                  </a:lnTo>
                  <a:lnTo>
                    <a:pt x="37972" y="2361946"/>
                  </a:lnTo>
                  <a:lnTo>
                    <a:pt x="37718" y="2323846"/>
                  </a:lnTo>
                  <a:lnTo>
                    <a:pt x="108143" y="2323445"/>
                  </a:lnTo>
                  <a:lnTo>
                    <a:pt x="161416" y="2291969"/>
                  </a:lnTo>
                  <a:lnTo>
                    <a:pt x="170614" y="2273002"/>
                  </a:lnTo>
                  <a:lnTo>
                    <a:pt x="168147" y="2265807"/>
                  </a:lnTo>
                  <a:lnTo>
                    <a:pt x="163095" y="2260203"/>
                  </a:lnTo>
                  <a:lnTo>
                    <a:pt x="156495" y="2257075"/>
                  </a:lnTo>
                  <a:lnTo>
                    <a:pt x="149181" y="2256663"/>
                  </a:lnTo>
                  <a:close/>
                </a:path>
                <a:path w="6077584" h="2428240">
                  <a:moveTo>
                    <a:pt x="108143" y="2323445"/>
                  </a:moveTo>
                  <a:lnTo>
                    <a:pt x="37718" y="2323846"/>
                  </a:lnTo>
                  <a:lnTo>
                    <a:pt x="37972" y="2361946"/>
                  </a:lnTo>
                  <a:lnTo>
                    <a:pt x="108366" y="2361510"/>
                  </a:lnTo>
                  <a:lnTo>
                    <a:pt x="104490" y="2359279"/>
                  </a:lnTo>
                  <a:lnTo>
                    <a:pt x="47497" y="2359279"/>
                  </a:lnTo>
                  <a:lnTo>
                    <a:pt x="47370" y="2326386"/>
                  </a:lnTo>
                  <a:lnTo>
                    <a:pt x="103167" y="2326386"/>
                  </a:lnTo>
                  <a:lnTo>
                    <a:pt x="108143" y="2323445"/>
                  </a:lnTo>
                  <a:close/>
                </a:path>
                <a:path w="6077584" h="2428240">
                  <a:moveTo>
                    <a:pt x="108366" y="2361510"/>
                  </a:moveTo>
                  <a:lnTo>
                    <a:pt x="37972" y="2361946"/>
                  </a:lnTo>
                  <a:lnTo>
                    <a:pt x="109122" y="2361946"/>
                  </a:lnTo>
                  <a:lnTo>
                    <a:pt x="108366" y="2361510"/>
                  </a:lnTo>
                  <a:close/>
                </a:path>
                <a:path w="6077584" h="2428240">
                  <a:moveTo>
                    <a:pt x="6030998" y="1229995"/>
                  </a:moveTo>
                  <a:lnTo>
                    <a:pt x="6006592" y="1280540"/>
                  </a:lnTo>
                  <a:lnTo>
                    <a:pt x="5966206" y="1331595"/>
                  </a:lnTo>
                  <a:lnTo>
                    <a:pt x="5909564" y="1383411"/>
                  </a:lnTo>
                  <a:lnTo>
                    <a:pt x="5875273" y="1409445"/>
                  </a:lnTo>
                  <a:lnTo>
                    <a:pt x="5836920" y="1435481"/>
                  </a:lnTo>
                  <a:lnTo>
                    <a:pt x="5794883" y="1461515"/>
                  </a:lnTo>
                  <a:lnTo>
                    <a:pt x="5749163" y="1487551"/>
                  </a:lnTo>
                  <a:lnTo>
                    <a:pt x="5699633" y="1513458"/>
                  </a:lnTo>
                  <a:lnTo>
                    <a:pt x="5646546" y="1539113"/>
                  </a:lnTo>
                  <a:lnTo>
                    <a:pt x="5590032" y="1564894"/>
                  </a:lnTo>
                  <a:lnTo>
                    <a:pt x="5529961" y="1590294"/>
                  </a:lnTo>
                  <a:lnTo>
                    <a:pt x="5466588" y="1615567"/>
                  </a:lnTo>
                  <a:lnTo>
                    <a:pt x="5399913" y="1640586"/>
                  </a:lnTo>
                  <a:lnTo>
                    <a:pt x="5330063" y="1665351"/>
                  </a:lnTo>
                  <a:lnTo>
                    <a:pt x="5257038" y="1690115"/>
                  </a:lnTo>
                  <a:lnTo>
                    <a:pt x="5180838" y="1714373"/>
                  </a:lnTo>
                  <a:lnTo>
                    <a:pt x="5101844" y="1738502"/>
                  </a:lnTo>
                  <a:lnTo>
                    <a:pt x="5019801" y="1762252"/>
                  </a:lnTo>
                  <a:lnTo>
                    <a:pt x="4934839" y="1785746"/>
                  </a:lnTo>
                  <a:lnTo>
                    <a:pt x="4847209" y="1808988"/>
                  </a:lnTo>
                  <a:lnTo>
                    <a:pt x="4663694" y="1854327"/>
                  </a:lnTo>
                  <a:lnTo>
                    <a:pt x="4470019" y="1898269"/>
                  </a:lnTo>
                  <a:lnTo>
                    <a:pt x="4266438" y="1940687"/>
                  </a:lnTo>
                  <a:lnTo>
                    <a:pt x="4053840" y="1981581"/>
                  </a:lnTo>
                  <a:lnTo>
                    <a:pt x="3832605" y="2020570"/>
                  </a:lnTo>
                  <a:lnTo>
                    <a:pt x="3603243" y="2057781"/>
                  </a:lnTo>
                  <a:lnTo>
                    <a:pt x="3245357" y="2109724"/>
                  </a:lnTo>
                  <a:lnTo>
                    <a:pt x="2872486" y="2157095"/>
                  </a:lnTo>
                  <a:lnTo>
                    <a:pt x="2486405" y="2199259"/>
                  </a:lnTo>
                  <a:lnTo>
                    <a:pt x="2222754" y="2224405"/>
                  </a:lnTo>
                  <a:lnTo>
                    <a:pt x="1954529" y="2246884"/>
                  </a:lnTo>
                  <a:lnTo>
                    <a:pt x="1682623" y="2266696"/>
                  </a:lnTo>
                  <a:lnTo>
                    <a:pt x="1407160" y="2283714"/>
                  </a:lnTo>
                  <a:lnTo>
                    <a:pt x="1129156" y="2298065"/>
                  </a:lnTo>
                  <a:lnTo>
                    <a:pt x="848867" y="2309241"/>
                  </a:lnTo>
                  <a:lnTo>
                    <a:pt x="566801" y="2317496"/>
                  </a:lnTo>
                  <a:lnTo>
                    <a:pt x="283590" y="2322449"/>
                  </a:lnTo>
                  <a:lnTo>
                    <a:pt x="108143" y="2323445"/>
                  </a:lnTo>
                  <a:lnTo>
                    <a:pt x="75628" y="2342658"/>
                  </a:lnTo>
                  <a:lnTo>
                    <a:pt x="108366" y="2361510"/>
                  </a:lnTo>
                  <a:lnTo>
                    <a:pt x="284352" y="2360422"/>
                  </a:lnTo>
                  <a:lnTo>
                    <a:pt x="567944" y="2355469"/>
                  </a:lnTo>
                  <a:lnTo>
                    <a:pt x="850391" y="2347341"/>
                  </a:lnTo>
                  <a:lnTo>
                    <a:pt x="1131062" y="2336038"/>
                  </a:lnTo>
                  <a:lnTo>
                    <a:pt x="1409573" y="2321814"/>
                  </a:lnTo>
                  <a:lnTo>
                    <a:pt x="1685289" y="2304669"/>
                  </a:lnTo>
                  <a:lnTo>
                    <a:pt x="1957831" y="2284730"/>
                  </a:lnTo>
                  <a:lnTo>
                    <a:pt x="2226310" y="2262251"/>
                  </a:lnTo>
                  <a:lnTo>
                    <a:pt x="2490469" y="2237105"/>
                  </a:lnTo>
                  <a:lnTo>
                    <a:pt x="2877057" y="2194941"/>
                  </a:lnTo>
                  <a:lnTo>
                    <a:pt x="3250565" y="2147570"/>
                  </a:lnTo>
                  <a:lnTo>
                    <a:pt x="3609213" y="2095373"/>
                  </a:lnTo>
                  <a:lnTo>
                    <a:pt x="3839082" y="2058035"/>
                  </a:lnTo>
                  <a:lnTo>
                    <a:pt x="4060952" y="2018919"/>
                  </a:lnTo>
                  <a:lnTo>
                    <a:pt x="4274058" y="1978025"/>
                  </a:lnTo>
                  <a:lnTo>
                    <a:pt x="4478273" y="1935480"/>
                  </a:lnTo>
                  <a:lnTo>
                    <a:pt x="4672711" y="1891283"/>
                  </a:lnTo>
                  <a:lnTo>
                    <a:pt x="4856988" y="1845818"/>
                  </a:lnTo>
                  <a:lnTo>
                    <a:pt x="4944998" y="1822450"/>
                  </a:lnTo>
                  <a:lnTo>
                    <a:pt x="5030343" y="1798827"/>
                  </a:lnTo>
                  <a:lnTo>
                    <a:pt x="5112893" y="1774952"/>
                  </a:lnTo>
                  <a:lnTo>
                    <a:pt x="5192521" y="1750695"/>
                  </a:lnTo>
                  <a:lnTo>
                    <a:pt x="5269103" y="1726183"/>
                  </a:lnTo>
                  <a:lnTo>
                    <a:pt x="5342763" y="1701292"/>
                  </a:lnTo>
                  <a:lnTo>
                    <a:pt x="5413247" y="1676273"/>
                  </a:lnTo>
                  <a:lnTo>
                    <a:pt x="5480685" y="1651000"/>
                  </a:lnTo>
                  <a:lnTo>
                    <a:pt x="5544820" y="1625345"/>
                  </a:lnTo>
                  <a:lnTo>
                    <a:pt x="5605780" y="1599564"/>
                  </a:lnTo>
                  <a:lnTo>
                    <a:pt x="5663311" y="1573402"/>
                  </a:lnTo>
                  <a:lnTo>
                    <a:pt x="5717286" y="1547114"/>
                  </a:lnTo>
                  <a:lnTo>
                    <a:pt x="5767959" y="1520698"/>
                  </a:lnTo>
                  <a:lnTo>
                    <a:pt x="5814948" y="1493901"/>
                  </a:lnTo>
                  <a:lnTo>
                    <a:pt x="5858510" y="1466977"/>
                  </a:lnTo>
                  <a:lnTo>
                    <a:pt x="5898261" y="1439671"/>
                  </a:lnTo>
                  <a:lnTo>
                    <a:pt x="5934329" y="1412367"/>
                  </a:lnTo>
                  <a:lnTo>
                    <a:pt x="5966587" y="1384554"/>
                  </a:lnTo>
                  <a:lnTo>
                    <a:pt x="5995162" y="1356487"/>
                  </a:lnTo>
                  <a:lnTo>
                    <a:pt x="6039866" y="1299210"/>
                  </a:lnTo>
                  <a:lnTo>
                    <a:pt x="6066917" y="1242695"/>
                  </a:lnTo>
                  <a:lnTo>
                    <a:pt x="6067297" y="1241806"/>
                  </a:lnTo>
                  <a:lnTo>
                    <a:pt x="6067806" y="1240027"/>
                  </a:lnTo>
                  <a:lnTo>
                    <a:pt x="6069966" y="1231138"/>
                  </a:lnTo>
                  <a:lnTo>
                    <a:pt x="6030721" y="1231138"/>
                  </a:lnTo>
                  <a:lnTo>
                    <a:pt x="6030998" y="1229995"/>
                  </a:lnTo>
                  <a:close/>
                </a:path>
                <a:path w="6077584" h="2428240">
                  <a:moveTo>
                    <a:pt x="47370" y="2326386"/>
                  </a:moveTo>
                  <a:lnTo>
                    <a:pt x="47497" y="2359279"/>
                  </a:lnTo>
                  <a:lnTo>
                    <a:pt x="75628" y="2342658"/>
                  </a:lnTo>
                  <a:lnTo>
                    <a:pt x="47370" y="2326386"/>
                  </a:lnTo>
                  <a:close/>
                </a:path>
                <a:path w="6077584" h="2428240">
                  <a:moveTo>
                    <a:pt x="75628" y="2342658"/>
                  </a:moveTo>
                  <a:lnTo>
                    <a:pt x="47497" y="2359279"/>
                  </a:lnTo>
                  <a:lnTo>
                    <a:pt x="104490" y="2359279"/>
                  </a:lnTo>
                  <a:lnTo>
                    <a:pt x="75628" y="2342658"/>
                  </a:lnTo>
                  <a:close/>
                </a:path>
                <a:path w="6077584" h="2428240">
                  <a:moveTo>
                    <a:pt x="103167" y="2326386"/>
                  </a:moveTo>
                  <a:lnTo>
                    <a:pt x="47370" y="2326386"/>
                  </a:lnTo>
                  <a:lnTo>
                    <a:pt x="75628" y="2342658"/>
                  </a:lnTo>
                  <a:lnTo>
                    <a:pt x="103167" y="2326386"/>
                  </a:lnTo>
                  <a:close/>
                </a:path>
                <a:path w="6077584" h="2428240">
                  <a:moveTo>
                    <a:pt x="6031611" y="1228470"/>
                  </a:moveTo>
                  <a:lnTo>
                    <a:pt x="6030998" y="1229995"/>
                  </a:lnTo>
                  <a:lnTo>
                    <a:pt x="6030721" y="1231138"/>
                  </a:lnTo>
                  <a:lnTo>
                    <a:pt x="6031611" y="1228470"/>
                  </a:lnTo>
                  <a:close/>
                </a:path>
                <a:path w="6077584" h="2428240">
                  <a:moveTo>
                    <a:pt x="6070614" y="1228470"/>
                  </a:moveTo>
                  <a:lnTo>
                    <a:pt x="6031611" y="1228470"/>
                  </a:lnTo>
                  <a:lnTo>
                    <a:pt x="6030721" y="1231138"/>
                  </a:lnTo>
                  <a:lnTo>
                    <a:pt x="6069966" y="1231138"/>
                  </a:lnTo>
                  <a:lnTo>
                    <a:pt x="6070614" y="1228470"/>
                  </a:lnTo>
                  <a:close/>
                </a:path>
                <a:path w="6077584" h="2428240">
                  <a:moveTo>
                    <a:pt x="6036929" y="1205470"/>
                  </a:moveTo>
                  <a:lnTo>
                    <a:pt x="6030998" y="1229995"/>
                  </a:lnTo>
                  <a:lnTo>
                    <a:pt x="6031611" y="1228470"/>
                  </a:lnTo>
                  <a:lnTo>
                    <a:pt x="6070614" y="1228470"/>
                  </a:lnTo>
                  <a:lnTo>
                    <a:pt x="6074410" y="1212850"/>
                  </a:lnTo>
                  <a:lnTo>
                    <a:pt x="6074537" y="1211833"/>
                  </a:lnTo>
                  <a:lnTo>
                    <a:pt x="6074791" y="1210818"/>
                  </a:lnTo>
                  <a:lnTo>
                    <a:pt x="6074791" y="1209929"/>
                  </a:lnTo>
                  <a:lnTo>
                    <a:pt x="6075035" y="1206754"/>
                  </a:lnTo>
                  <a:lnTo>
                    <a:pt x="6036818" y="1206754"/>
                  </a:lnTo>
                  <a:lnTo>
                    <a:pt x="6036929" y="1205470"/>
                  </a:lnTo>
                  <a:close/>
                </a:path>
                <a:path w="6077584" h="2428240">
                  <a:moveTo>
                    <a:pt x="6037325" y="1203833"/>
                  </a:moveTo>
                  <a:lnTo>
                    <a:pt x="6036929" y="1205470"/>
                  </a:lnTo>
                  <a:lnTo>
                    <a:pt x="6036818" y="1206754"/>
                  </a:lnTo>
                  <a:lnTo>
                    <a:pt x="6037325" y="1203833"/>
                  </a:lnTo>
                  <a:close/>
                </a:path>
                <a:path w="6077584" h="2428240">
                  <a:moveTo>
                    <a:pt x="6075259" y="1203833"/>
                  </a:moveTo>
                  <a:lnTo>
                    <a:pt x="6037325" y="1203833"/>
                  </a:lnTo>
                  <a:lnTo>
                    <a:pt x="6036818" y="1206754"/>
                  </a:lnTo>
                  <a:lnTo>
                    <a:pt x="6075035" y="1206754"/>
                  </a:lnTo>
                  <a:lnTo>
                    <a:pt x="6075259" y="1203833"/>
                  </a:lnTo>
                  <a:close/>
                </a:path>
                <a:path w="6077584" h="2428240">
                  <a:moveTo>
                    <a:pt x="4247007" y="0"/>
                  </a:moveTo>
                  <a:lnTo>
                    <a:pt x="4246118" y="38100"/>
                  </a:lnTo>
                  <a:lnTo>
                    <a:pt x="4331081" y="39750"/>
                  </a:lnTo>
                  <a:lnTo>
                    <a:pt x="4415155" y="44703"/>
                  </a:lnTo>
                  <a:lnTo>
                    <a:pt x="4498720" y="52832"/>
                  </a:lnTo>
                  <a:lnTo>
                    <a:pt x="4581906" y="64008"/>
                  </a:lnTo>
                  <a:lnTo>
                    <a:pt x="4664456" y="78232"/>
                  </a:lnTo>
                  <a:lnTo>
                    <a:pt x="4746244" y="95123"/>
                  </a:lnTo>
                  <a:lnTo>
                    <a:pt x="4827016" y="114935"/>
                  </a:lnTo>
                  <a:lnTo>
                    <a:pt x="4906518" y="137160"/>
                  </a:lnTo>
                  <a:lnTo>
                    <a:pt x="4984876" y="162178"/>
                  </a:lnTo>
                  <a:lnTo>
                    <a:pt x="5061585" y="189484"/>
                  </a:lnTo>
                  <a:lnTo>
                    <a:pt x="5136769" y="219201"/>
                  </a:lnTo>
                  <a:lnTo>
                    <a:pt x="5210174" y="251078"/>
                  </a:lnTo>
                  <a:lnTo>
                    <a:pt x="5281548" y="284988"/>
                  </a:lnTo>
                  <a:lnTo>
                    <a:pt x="5350637" y="320928"/>
                  </a:lnTo>
                  <a:lnTo>
                    <a:pt x="5417566" y="358775"/>
                  </a:lnTo>
                  <a:lnTo>
                    <a:pt x="5481955" y="398399"/>
                  </a:lnTo>
                  <a:lnTo>
                    <a:pt x="5543676" y="439674"/>
                  </a:lnTo>
                  <a:lnTo>
                    <a:pt x="5602605" y="482600"/>
                  </a:lnTo>
                  <a:lnTo>
                    <a:pt x="5658485" y="526923"/>
                  </a:lnTo>
                  <a:lnTo>
                    <a:pt x="5711317" y="572515"/>
                  </a:lnTo>
                  <a:lnTo>
                    <a:pt x="5760593" y="619378"/>
                  </a:lnTo>
                  <a:lnTo>
                    <a:pt x="5806567" y="667258"/>
                  </a:lnTo>
                  <a:lnTo>
                    <a:pt x="5848858" y="716279"/>
                  </a:lnTo>
                  <a:lnTo>
                    <a:pt x="5887339" y="766063"/>
                  </a:lnTo>
                  <a:lnTo>
                    <a:pt x="5921629" y="816610"/>
                  </a:lnTo>
                  <a:lnTo>
                    <a:pt x="5952109" y="867790"/>
                  </a:lnTo>
                  <a:lnTo>
                    <a:pt x="5978144" y="919607"/>
                  </a:lnTo>
                  <a:lnTo>
                    <a:pt x="5999734" y="971676"/>
                  </a:lnTo>
                  <a:lnTo>
                    <a:pt x="6016751" y="1024001"/>
                  </a:lnTo>
                  <a:lnTo>
                    <a:pt x="6029070" y="1076706"/>
                  </a:lnTo>
                  <a:lnTo>
                    <a:pt x="6036437" y="1129283"/>
                  </a:lnTo>
                  <a:lnTo>
                    <a:pt x="6038976" y="1181989"/>
                  </a:lnTo>
                  <a:lnTo>
                    <a:pt x="6036929" y="1205470"/>
                  </a:lnTo>
                  <a:lnTo>
                    <a:pt x="6037325" y="1203833"/>
                  </a:lnTo>
                  <a:lnTo>
                    <a:pt x="6075259" y="1203833"/>
                  </a:lnTo>
                  <a:lnTo>
                    <a:pt x="6077076" y="1180211"/>
                  </a:lnTo>
                  <a:lnTo>
                    <a:pt x="6074283" y="1123950"/>
                  </a:lnTo>
                  <a:lnTo>
                    <a:pt x="6066155" y="1067943"/>
                  </a:lnTo>
                  <a:lnTo>
                    <a:pt x="6052946" y="1012189"/>
                  </a:lnTo>
                  <a:lnTo>
                    <a:pt x="6034913" y="956944"/>
                  </a:lnTo>
                  <a:lnTo>
                    <a:pt x="6012180" y="902335"/>
                  </a:lnTo>
                  <a:lnTo>
                    <a:pt x="5984874" y="848360"/>
                  </a:lnTo>
                  <a:lnTo>
                    <a:pt x="5953251" y="795147"/>
                  </a:lnTo>
                  <a:lnTo>
                    <a:pt x="5917438" y="742696"/>
                  </a:lnTo>
                  <a:lnTo>
                    <a:pt x="5877687" y="691388"/>
                  </a:lnTo>
                  <a:lnTo>
                    <a:pt x="5833998" y="640841"/>
                  </a:lnTo>
                  <a:lnTo>
                    <a:pt x="5786755" y="591692"/>
                  </a:lnTo>
                  <a:lnTo>
                    <a:pt x="5736082" y="543687"/>
                  </a:lnTo>
                  <a:lnTo>
                    <a:pt x="5682107" y="497077"/>
                  </a:lnTo>
                  <a:lnTo>
                    <a:pt x="5624957" y="451738"/>
                  </a:lnTo>
                  <a:lnTo>
                    <a:pt x="5564886" y="408050"/>
                  </a:lnTo>
                  <a:lnTo>
                    <a:pt x="5501894" y="366013"/>
                  </a:lnTo>
                  <a:lnTo>
                    <a:pt x="5436362" y="325627"/>
                  </a:lnTo>
                  <a:lnTo>
                    <a:pt x="5368290" y="287147"/>
                  </a:lnTo>
                  <a:lnTo>
                    <a:pt x="5297932" y="250571"/>
                  </a:lnTo>
                  <a:lnTo>
                    <a:pt x="5225288" y="216026"/>
                  </a:lnTo>
                  <a:lnTo>
                    <a:pt x="5150866" y="183768"/>
                  </a:lnTo>
                  <a:lnTo>
                    <a:pt x="5074412" y="153542"/>
                  </a:lnTo>
                  <a:lnTo>
                    <a:pt x="4996434" y="125857"/>
                  </a:lnTo>
                  <a:lnTo>
                    <a:pt x="4916805" y="100584"/>
                  </a:lnTo>
                  <a:lnTo>
                    <a:pt x="4836033" y="77850"/>
                  </a:lnTo>
                  <a:lnTo>
                    <a:pt x="4753864" y="57785"/>
                  </a:lnTo>
                  <a:lnTo>
                    <a:pt x="4670933" y="40639"/>
                  </a:lnTo>
                  <a:lnTo>
                    <a:pt x="4586986" y="26288"/>
                  </a:lnTo>
                  <a:lnTo>
                    <a:pt x="4502404" y="14986"/>
                  </a:lnTo>
                  <a:lnTo>
                    <a:pt x="4417314" y="6730"/>
                  </a:lnTo>
                  <a:lnTo>
                    <a:pt x="4331843" y="1777"/>
                  </a:lnTo>
                  <a:lnTo>
                    <a:pt x="4247007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29985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3601" y="6701790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4">
                <a:moveTo>
                  <a:pt x="0" y="0"/>
                </a:moveTo>
                <a:lnTo>
                  <a:pt x="254507" y="0"/>
                </a:lnTo>
              </a:path>
            </a:pathLst>
          </a:custGeom>
          <a:ln w="1498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34271" y="6356603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359616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74607" y="11430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34271" y="114300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7" y="11430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107" y="114300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107" y="6716268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107" y="6356603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359616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5692" y="59737"/>
            <a:ext cx="8992615" cy="611306"/>
          </a:xfrm>
          <a:prstGeom prst="rect">
            <a:avLst/>
          </a:prstGeom>
        </p:spPr>
        <p:txBody>
          <a:bodyPr vert="horz" wrap="square" lIns="0" tIns="239634" rIns="0" bIns="0" rtlCol="0">
            <a:spAutoFit/>
          </a:bodyPr>
          <a:lstStyle/>
          <a:p>
            <a:pPr marL="986790">
              <a:lnSpc>
                <a:spcPct val="100000"/>
              </a:lnSpc>
            </a:pP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blem</a:t>
            </a:r>
            <a:r>
              <a:rPr sz="2400" spc="1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  <a:r>
              <a:rPr sz="2400" spc="-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rmu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</a:t>
            </a:r>
            <a:r>
              <a:rPr sz="2400" spc="-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at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</a:t>
            </a:r>
            <a:r>
              <a:rPr sz="2400" spc="-2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2400" spc="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(The</a:t>
            </a:r>
            <a:r>
              <a:rPr sz="2400" spc="3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spc="-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  <a:r>
              <a:rPr sz="2400" spc="-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ia</a:t>
            </a:r>
            <a:r>
              <a:rPr sz="2400" spc="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Example)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8120" y="832103"/>
            <a:ext cx="8639810" cy="524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6655" marR="4237990" indent="-838835">
              <a:lnSpc>
                <a:spcPct val="121000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ate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00008F"/>
                </a:solidFill>
                <a:latin typeface="Arial"/>
                <a:cs typeface="Arial"/>
              </a:rPr>
              <a:t>W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re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gar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d</a:t>
            </a:r>
            <a:r>
              <a:rPr sz="2000" spc="-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pro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b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le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m</a:t>
            </a:r>
            <a:r>
              <a:rPr sz="2000" spc="2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5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</a:t>
            </a:r>
            <a:r>
              <a:rPr sz="20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p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ce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2000" spc="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he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1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4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</a:t>
            </a:r>
            <a:r>
              <a:rPr sz="20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1AFF"/>
                </a:solidFill>
                <a:latin typeface="Arial"/>
                <a:cs typeface="Arial"/>
              </a:rPr>
              <a:t>City</a:t>
            </a:r>
            <a:endParaRPr sz="2000">
              <a:latin typeface="Arial"/>
              <a:cs typeface="Arial"/>
            </a:endParaRPr>
          </a:p>
          <a:p>
            <a:pPr marL="338455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20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ta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the</a:t>
            </a:r>
            <a:r>
              <a:rPr sz="2000" spc="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to</a:t>
            </a:r>
            <a:r>
              <a:rPr sz="2000" spc="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spc="-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from</a:t>
            </a:r>
            <a:endParaRPr sz="2000">
              <a:latin typeface="Arial"/>
              <a:cs typeface="Arial"/>
            </a:endParaRPr>
          </a:p>
          <a:p>
            <a:pPr marL="1608455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In</a:t>
            </a:r>
            <a:r>
              <a:rPr sz="1800" spc="2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(Arad)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1850">
              <a:latin typeface="Times New Roman"/>
              <a:cs typeface="Times New Roman"/>
            </a:endParaRPr>
          </a:p>
          <a:p>
            <a:pPr marL="338455">
              <a:lnSpc>
                <a:spcPts val="2195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Suc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Fun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ti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de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ip</a:t>
            </a:r>
            <a:r>
              <a:rPr sz="2000" spc="-2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spc="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r>
              <a:rPr sz="2000" spc="4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the</a:t>
            </a:r>
            <a:r>
              <a:rPr sz="2000" spc="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po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sib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l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tio</a:t>
            </a:r>
            <a:r>
              <a:rPr sz="2000" spc="-20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s,</a:t>
            </a:r>
            <a:r>
              <a:rPr sz="2000" spc="-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giv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4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</a:t>
            </a:r>
            <a:r>
              <a:rPr sz="2000" spc="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x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2000" spc="4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S(X)</a:t>
            </a:r>
            <a:endParaRPr sz="2000">
              <a:latin typeface="Arial"/>
              <a:cs typeface="Arial"/>
            </a:endParaRPr>
          </a:p>
          <a:p>
            <a:pPr marR="1569720" algn="ctr">
              <a:lnSpc>
                <a:spcPts val="2170"/>
              </a:lnSpc>
            </a:pP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retu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rn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-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set</a:t>
            </a:r>
            <a:r>
              <a:rPr sz="2000" spc="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r>
              <a:rPr sz="2000" spc="4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&lt;a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2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2000" spc="-1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su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ss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&gt;</a:t>
            </a:r>
            <a:r>
              <a:rPr sz="2000" spc="-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ord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er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d</a:t>
            </a:r>
            <a:r>
              <a:rPr sz="2000" spc="-6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pair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95655">
              <a:lnSpc>
                <a:spcPts val="2105"/>
              </a:lnSpc>
            </a:pP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S(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x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)=</a:t>
            </a:r>
            <a:r>
              <a:rPr sz="1800" spc="3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{</a:t>
            </a:r>
            <a:r>
              <a:rPr sz="1800" spc="40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&lt;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G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o(S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b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u)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,</a:t>
            </a:r>
            <a:r>
              <a:rPr sz="1800" spc="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In(Si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b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u)</a:t>
            </a:r>
            <a:r>
              <a:rPr sz="1800" spc="-25" dirty="0">
                <a:solidFill>
                  <a:srgbClr val="FF1AFF"/>
                </a:solidFill>
                <a:latin typeface="Arial"/>
                <a:cs typeface="Arial"/>
              </a:rPr>
              <a:t>&gt;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,</a:t>
            </a:r>
            <a:r>
              <a:rPr sz="1800" spc="1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1AFF"/>
                </a:solidFill>
                <a:latin typeface="Arial"/>
                <a:cs typeface="Arial"/>
              </a:rPr>
              <a:t>&lt;G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o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(</a:t>
            </a:r>
            <a:r>
              <a:rPr sz="1800" spc="-85" dirty="0">
                <a:solidFill>
                  <a:srgbClr val="FF1AFF"/>
                </a:solidFill>
                <a:latin typeface="Arial"/>
                <a:cs typeface="Arial"/>
              </a:rPr>
              <a:t>T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m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oa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r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,</a:t>
            </a:r>
            <a:r>
              <a:rPr sz="1800" spc="70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(</a:t>
            </a:r>
            <a:r>
              <a:rPr sz="1800" spc="-85" dirty="0">
                <a:solidFill>
                  <a:srgbClr val="FF1AFF"/>
                </a:solidFill>
                <a:latin typeface="Arial"/>
                <a:cs typeface="Arial"/>
              </a:rPr>
              <a:t>T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m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oa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r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-25" dirty="0">
                <a:solidFill>
                  <a:srgbClr val="FF1AFF"/>
                </a:solidFill>
                <a:latin typeface="Arial"/>
                <a:cs typeface="Arial"/>
              </a:rPr>
              <a:t>&gt;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1545590">
              <a:lnSpc>
                <a:spcPts val="2130"/>
              </a:lnSpc>
            </a:pP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&lt;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G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o(Zer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d)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,I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n(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Z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er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25" dirty="0">
                <a:solidFill>
                  <a:srgbClr val="FF1AFF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)&gt;</a:t>
            </a:r>
            <a:r>
              <a:rPr sz="1800" spc="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3845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Goal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6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5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5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:</a:t>
            </a:r>
            <a:r>
              <a:rPr sz="2000" spc="-8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dete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m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-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gi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v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</a:t>
            </a:r>
            <a:r>
              <a:rPr sz="2000" spc="-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goa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l</a:t>
            </a:r>
            <a:r>
              <a:rPr sz="2000" spc="-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  <a:p>
            <a:pPr marL="97409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In(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b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u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1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Wingdings"/>
                <a:cs typeface="Wingdings"/>
              </a:rPr>
              <a:t>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o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.</a:t>
            </a:r>
            <a:r>
              <a:rPr sz="1800" spc="30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In(Z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ri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d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o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.….</a:t>
            </a:r>
            <a:r>
              <a:rPr sz="1800" spc="-30" dirty="0">
                <a:solidFill>
                  <a:srgbClr val="FF1A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(B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u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c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ha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r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e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t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-15" dirty="0">
                <a:solidFill>
                  <a:srgbClr val="FF1AFF"/>
                </a:solidFill>
                <a:latin typeface="Wingdings"/>
                <a:cs typeface="Wingdings"/>
              </a:rPr>
              <a:t></a:t>
            </a:r>
            <a:r>
              <a:rPr sz="1800" spc="-185" dirty="0">
                <a:solidFill>
                  <a:srgbClr val="FF1AFF"/>
                </a:solidFill>
                <a:latin typeface="Arial"/>
                <a:cs typeface="Arial"/>
              </a:rPr>
              <a:t>Y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e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</a:pPr>
            <a:endParaRPr sz="1700">
              <a:latin typeface="Times New Roman"/>
              <a:cs typeface="Times New Roman"/>
            </a:endParaRPr>
          </a:p>
          <a:p>
            <a:pPr marL="338455">
              <a:lnSpc>
                <a:spcPts val="2395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20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ost: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fun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2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spc="-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that</a:t>
            </a:r>
            <a:r>
              <a:rPr sz="20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sig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3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numeri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</a:t>
            </a:r>
            <a:r>
              <a:rPr sz="2000" spc="3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to</a:t>
            </a:r>
            <a:r>
              <a:rPr sz="2000" spc="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ea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h</a:t>
            </a:r>
            <a:r>
              <a:rPr sz="2000" spc="-6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path.</a:t>
            </a:r>
            <a:endParaRPr sz="2000">
              <a:latin typeface="Arial"/>
              <a:cs typeface="Arial"/>
            </a:endParaRPr>
          </a:p>
          <a:p>
            <a:pPr marL="1138555" indent="-342900">
              <a:lnSpc>
                <a:spcPts val="1910"/>
              </a:lnSpc>
              <a:buClr>
                <a:srgbClr val="00008F"/>
              </a:buClr>
              <a:buFont typeface="Arial"/>
              <a:buChar char="–"/>
              <a:tabLst>
                <a:tab pos="1139190" algn="l"/>
              </a:tabLst>
            </a:pP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e.g.,</a:t>
            </a:r>
            <a:r>
              <a:rPr sz="1600" spc="7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um</a:t>
            </a:r>
            <a:r>
              <a:rPr sz="1600" spc="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r>
              <a:rPr sz="1600" spc="4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d</a:t>
            </a:r>
            <a:r>
              <a:rPr sz="1600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sta</a:t>
            </a:r>
            <a:r>
              <a:rPr sz="1600" spc="-25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1600" spc="-25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1600" spc="-2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1600" spc="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numb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er</a:t>
            </a:r>
            <a:r>
              <a:rPr sz="1600" spc="2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r>
              <a:rPr sz="1600" spc="4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cti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on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16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exe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uted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1600" spc="1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et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c.</a:t>
            </a:r>
            <a:endParaRPr sz="1600">
              <a:latin typeface="Arial"/>
              <a:cs typeface="Arial"/>
            </a:endParaRPr>
          </a:p>
          <a:p>
            <a:pPr marL="1138555" indent="-342900">
              <a:lnSpc>
                <a:spcPts val="1914"/>
              </a:lnSpc>
              <a:buClr>
                <a:srgbClr val="00008F"/>
              </a:buClr>
              <a:buFont typeface="Arial"/>
              <a:buChar char="–"/>
              <a:tabLst>
                <a:tab pos="1139190" algn="l"/>
              </a:tabLst>
            </a:pPr>
            <a:r>
              <a:rPr sz="1600" i="1" spc="-10" dirty="0">
                <a:solidFill>
                  <a:srgbClr val="00008F"/>
                </a:solidFill>
                <a:latin typeface="Arial"/>
                <a:cs typeface="Arial"/>
              </a:rPr>
              <a:t>c(x,a,</a:t>
            </a:r>
            <a:r>
              <a:rPr sz="1600" i="1" spc="-5" dirty="0">
                <a:solidFill>
                  <a:srgbClr val="00008F"/>
                </a:solidFill>
                <a:latin typeface="Arial"/>
                <a:cs typeface="Arial"/>
              </a:rPr>
              <a:t>y</a:t>
            </a:r>
            <a:r>
              <a:rPr sz="1600" i="1" spc="-10" dirty="0">
                <a:solidFill>
                  <a:srgbClr val="00008F"/>
                </a:solidFill>
                <a:latin typeface="Arial"/>
                <a:cs typeface="Arial"/>
              </a:rPr>
              <a:t>)</a:t>
            </a:r>
            <a:r>
              <a:rPr sz="1600" i="1" spc="6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1600" spc="2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the</a:t>
            </a:r>
            <a:r>
              <a:rPr sz="16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Arial"/>
                <a:cs typeface="Arial"/>
              </a:rPr>
              <a:t>step</a:t>
            </a:r>
            <a:r>
              <a:rPr sz="1600" spc="55" dirty="0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Arial"/>
                <a:cs typeface="Arial"/>
              </a:rPr>
              <a:t>c</a:t>
            </a:r>
            <a:r>
              <a:rPr sz="1600" spc="-15" dirty="0">
                <a:solidFill>
                  <a:srgbClr val="7F007F"/>
                </a:solidFill>
                <a:latin typeface="Arial"/>
                <a:cs typeface="Arial"/>
              </a:rPr>
              <a:t>o</a:t>
            </a:r>
            <a:r>
              <a:rPr sz="1600" spc="-10" dirty="0">
                <a:solidFill>
                  <a:srgbClr val="7F007F"/>
                </a:solidFill>
                <a:latin typeface="Arial"/>
                <a:cs typeface="Arial"/>
              </a:rPr>
              <a:t>s</a:t>
            </a:r>
            <a:r>
              <a:rPr sz="1600" dirty="0">
                <a:solidFill>
                  <a:srgbClr val="7F007F"/>
                </a:solidFill>
                <a:latin typeface="Arial"/>
                <a:cs typeface="Arial"/>
              </a:rPr>
              <a:t>t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1600" spc="4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ss</a:t>
            </a:r>
            <a:r>
              <a:rPr sz="1600" spc="-20" dirty="0">
                <a:solidFill>
                  <a:srgbClr val="00008F"/>
                </a:solidFill>
                <a:latin typeface="Arial"/>
                <a:cs typeface="Arial"/>
              </a:rPr>
              <a:t>ume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d</a:t>
            </a:r>
            <a:r>
              <a:rPr sz="1600" spc="1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to</a:t>
            </a:r>
            <a:r>
              <a:rPr sz="16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be</a:t>
            </a:r>
            <a:r>
              <a:rPr sz="1600" spc="3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≥</a:t>
            </a:r>
            <a:r>
              <a:rPr sz="1600" spc="3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355" y="6110846"/>
            <a:ext cx="834326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Solu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ion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5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que</a:t>
            </a:r>
            <a:r>
              <a:rPr sz="2000" spc="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ce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tions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leadin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initia</a:t>
            </a:r>
            <a:r>
              <a:rPr sz="2000" dirty="0">
                <a:latin typeface="Arial"/>
                <a:cs typeface="Arial"/>
              </a:rPr>
              <a:t>l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goa</a:t>
            </a:r>
            <a:r>
              <a:rPr sz="2000" dirty="0">
                <a:latin typeface="Arial"/>
                <a:cs typeface="Arial"/>
              </a:rPr>
              <a:t>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</a:p>
        </p:txBody>
      </p:sp>
      <p:sp>
        <p:nvSpPr>
          <p:cNvPr id="14" name="object 14"/>
          <p:cNvSpPr/>
          <p:nvPr/>
        </p:nvSpPr>
        <p:spPr>
          <a:xfrm>
            <a:off x="198120" y="832103"/>
            <a:ext cx="8639556" cy="5244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08002" y="6445144"/>
            <a:ext cx="616439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{Ar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d</a:t>
            </a:r>
            <a:r>
              <a:rPr sz="1800" b="1" spc="2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Wingdings"/>
                <a:cs typeface="Wingdings"/>
              </a:rPr>
              <a:t>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Si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b</a:t>
            </a:r>
            <a:r>
              <a:rPr sz="1800" b="1" spc="-5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u</a:t>
            </a:r>
            <a:r>
              <a:rPr sz="1800" b="1" spc="2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Wingdings"/>
                <a:cs typeface="Wingdings"/>
              </a:rPr>
              <a:t></a:t>
            </a:r>
            <a:r>
              <a:rPr sz="18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mn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cu</a:t>
            </a:r>
            <a:r>
              <a:rPr sz="1800" b="1" spc="2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spc="-65" dirty="0">
                <a:solidFill>
                  <a:schemeClr val="tx2"/>
                </a:solidFill>
                <a:latin typeface="Arial"/>
                <a:cs typeface="Arial"/>
              </a:rPr>
              <a:t>V</a:t>
            </a:r>
            <a:r>
              <a:rPr sz="1800" b="1" spc="-20" dirty="0">
                <a:solidFill>
                  <a:schemeClr val="tx2"/>
                </a:solidFill>
                <a:latin typeface="Arial"/>
                <a:cs typeface="Arial"/>
              </a:rPr>
              <a:t>il</a:t>
            </a:r>
            <a:r>
              <a:rPr sz="1800" b="1" spc="-15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1800" b="1" spc="-20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1800" b="1" spc="6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Wingdings"/>
                <a:cs typeface="Wingdings"/>
              </a:rPr>
              <a:t></a:t>
            </a:r>
            <a:r>
              <a:rPr sz="18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Pit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sti</a:t>
            </a:r>
            <a:r>
              <a:rPr sz="1800" b="1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Wingdings"/>
                <a:cs typeface="Wingdings"/>
              </a:rPr>
              <a:t></a:t>
            </a:r>
            <a:r>
              <a:rPr sz="1800" b="1" spc="1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Bucharest}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21" y="304800"/>
            <a:ext cx="8992615" cy="430887"/>
          </a:xfrm>
        </p:spPr>
        <p:txBody>
          <a:bodyPr/>
          <a:lstStyle/>
          <a:p>
            <a:r>
              <a:rPr lang="en-US" spc="-100" dirty="0">
                <a:solidFill>
                  <a:schemeClr val="tx2"/>
                </a:solidFill>
              </a:rPr>
              <a:t>Problems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0"/>
            <a:ext cx="7202224" cy="2103140"/>
          </a:xfrm>
        </p:spPr>
        <p:txBody>
          <a:bodyPr/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25" dirty="0">
                <a:solidFill>
                  <a:schemeClr val="tx1"/>
                </a:solidFill>
                <a:latin typeface="Carlito"/>
                <a:cs typeface="Carlito"/>
              </a:rPr>
              <a:t>Vacuum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Cleaner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8-Puzzle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8-Queens</a:t>
            </a:r>
            <a:r>
              <a:rPr lang="en-US" spc="-60" dirty="0">
                <a:solidFill>
                  <a:schemeClr val="tx1"/>
                </a:solidFill>
                <a:latin typeface="Carlito"/>
                <a:cs typeface="Carlito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Problem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Robotic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Assembly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VLSI </a:t>
            </a:r>
            <a:r>
              <a:rPr lang="en-US" spc="-15" dirty="0">
                <a:solidFill>
                  <a:schemeClr val="tx1"/>
                </a:solidFill>
                <a:latin typeface="Carlito"/>
                <a:cs typeface="Carlito"/>
              </a:rPr>
              <a:t>Layout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05177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92" y="59737"/>
            <a:ext cx="8992615" cy="715709"/>
          </a:xfrm>
          <a:prstGeom prst="rect">
            <a:avLst/>
          </a:prstGeom>
        </p:spPr>
        <p:txBody>
          <a:bodyPr vert="horz" wrap="square" lIns="0" tIns="282067" rIns="0" bIns="0" rtlCol="0">
            <a:spAutoFit/>
          </a:bodyPr>
          <a:lstStyle/>
          <a:p>
            <a:pPr marL="439420">
              <a:lnSpc>
                <a:spcPct val="100000"/>
              </a:lnSpc>
            </a:pPr>
            <a:r>
              <a:rPr spc="-15" dirty="0">
                <a:solidFill>
                  <a:schemeClr val="tx2"/>
                </a:solidFill>
              </a:rPr>
              <a:t>Pr</a:t>
            </a:r>
            <a:r>
              <a:rPr spc="-30" dirty="0">
                <a:solidFill>
                  <a:schemeClr val="tx2"/>
                </a:solidFill>
              </a:rPr>
              <a:t>o</a:t>
            </a:r>
            <a:r>
              <a:rPr spc="-20" dirty="0">
                <a:solidFill>
                  <a:schemeClr val="tx2"/>
                </a:solidFill>
              </a:rPr>
              <a:t>blem</a:t>
            </a:r>
            <a:r>
              <a:rPr spc="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chemeClr val="tx2"/>
                </a:solidFill>
              </a:rPr>
              <a:t>F</a:t>
            </a:r>
            <a:r>
              <a:rPr spc="-35" dirty="0">
                <a:solidFill>
                  <a:schemeClr val="tx2"/>
                </a:solidFill>
              </a:rPr>
              <a:t>o</a:t>
            </a:r>
            <a:r>
              <a:rPr spc="-20" dirty="0">
                <a:solidFill>
                  <a:schemeClr val="tx2"/>
                </a:solidFill>
              </a:rPr>
              <a:t>rmulation</a:t>
            </a:r>
            <a:r>
              <a:rPr spc="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chemeClr val="tx2"/>
                </a:solidFill>
              </a:rPr>
              <a:t>(Rea</a:t>
            </a:r>
            <a:r>
              <a:rPr dirty="0">
                <a:solidFill>
                  <a:schemeClr val="tx2"/>
                </a:solidFill>
              </a:rPr>
              <a:t>l</a:t>
            </a:r>
            <a:r>
              <a:rPr spc="-10" dirty="0">
                <a:solidFill>
                  <a:schemeClr val="tx2"/>
                </a:solidFill>
              </a:rPr>
              <a:t>-life</a:t>
            </a:r>
            <a:r>
              <a:rPr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pc="-30" dirty="0">
                <a:solidFill>
                  <a:schemeClr val="tx2"/>
                </a:solidFill>
              </a:rPr>
              <a:t>A</a:t>
            </a:r>
            <a:r>
              <a:rPr spc="-35" dirty="0">
                <a:solidFill>
                  <a:schemeClr val="tx2"/>
                </a:solidFill>
              </a:rPr>
              <a:t>p</a:t>
            </a:r>
            <a:r>
              <a:rPr spc="-15" dirty="0">
                <a:solidFill>
                  <a:schemeClr val="tx2"/>
                </a:solidFill>
              </a:rPr>
              <a:t>plica</a:t>
            </a:r>
            <a:r>
              <a:rPr spc="-5" dirty="0">
                <a:solidFill>
                  <a:schemeClr val="tx2"/>
                </a:solidFill>
              </a:rPr>
              <a:t>t</a:t>
            </a:r>
            <a:r>
              <a:rPr spc="-15" dirty="0">
                <a:solidFill>
                  <a:schemeClr val="tx2"/>
                </a:solidFill>
              </a:rPr>
              <a:t>io</a:t>
            </a:r>
            <a:r>
              <a:rPr spc="-30" dirty="0">
                <a:solidFill>
                  <a:schemeClr val="tx2"/>
                </a:solidFill>
              </a:rPr>
              <a:t>n</a:t>
            </a:r>
            <a:r>
              <a:rPr spc="-20" dirty="0">
                <a:solidFill>
                  <a:schemeClr val="tx2"/>
                </a:solidFill>
              </a:rPr>
              <a:t>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80" y="3818774"/>
            <a:ext cx="28956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25" dirty="0">
                <a:solidFill>
                  <a:srgbClr val="00007F"/>
                </a:solidFill>
                <a:latin typeface="Arial"/>
                <a:cs typeface="Arial"/>
              </a:rPr>
              <a:t>Ro</a:t>
            </a:r>
            <a:r>
              <a:rPr sz="1600" spc="-30" dirty="0">
                <a:solidFill>
                  <a:srgbClr val="00007F"/>
                </a:solidFill>
                <a:latin typeface="Arial"/>
                <a:cs typeface="Arial"/>
              </a:rPr>
              <a:t>u</a:t>
            </a:r>
            <a:r>
              <a:rPr sz="1600" spc="-15" dirty="0">
                <a:solidFill>
                  <a:srgbClr val="00007F"/>
                </a:solidFill>
                <a:latin typeface="Arial"/>
                <a:cs typeface="Arial"/>
              </a:rPr>
              <a:t>te</a:t>
            </a:r>
            <a:r>
              <a:rPr sz="1600" spc="114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7F"/>
                </a:solidFill>
                <a:latin typeface="Arial"/>
                <a:cs typeface="Arial"/>
              </a:rPr>
              <a:t>Fin</a:t>
            </a:r>
            <a:r>
              <a:rPr sz="1600" spc="-35" dirty="0">
                <a:solidFill>
                  <a:srgbClr val="00007F"/>
                </a:solidFill>
                <a:latin typeface="Arial"/>
                <a:cs typeface="Arial"/>
              </a:rPr>
              <a:t>d</a:t>
            </a:r>
            <a:r>
              <a:rPr sz="1600" spc="-15" dirty="0">
                <a:solidFill>
                  <a:srgbClr val="00007F"/>
                </a:solidFill>
                <a:latin typeface="Arial"/>
                <a:cs typeface="Arial"/>
              </a:rPr>
              <a:t>ing</a:t>
            </a:r>
            <a:r>
              <a:rPr sz="1600" spc="15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0007F"/>
                </a:solidFill>
                <a:latin typeface="Arial"/>
                <a:cs typeface="Arial"/>
              </a:rPr>
              <a:t>Pro</a:t>
            </a:r>
            <a:r>
              <a:rPr sz="1600" spc="-30" dirty="0">
                <a:solidFill>
                  <a:srgbClr val="00007F"/>
                </a:solidFill>
                <a:latin typeface="Arial"/>
                <a:cs typeface="Arial"/>
              </a:rPr>
              <a:t>b</a:t>
            </a:r>
            <a:r>
              <a:rPr sz="1600" spc="-20" dirty="0">
                <a:solidFill>
                  <a:srgbClr val="00007F"/>
                </a:solidFill>
                <a:latin typeface="Arial"/>
                <a:cs typeface="Arial"/>
              </a:rPr>
              <a:t>lem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707" y="4383292"/>
            <a:ext cx="4599305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ates</a:t>
            </a:r>
            <a:endParaRPr sz="20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ations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l</a:t>
            </a:r>
            <a:r>
              <a:rPr sz="2000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sta</a:t>
            </a: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star</a:t>
            </a:r>
            <a:r>
              <a:rPr sz="2000" spc="-10" dirty="0">
                <a:latin typeface="Arial"/>
                <a:cs typeface="Arial"/>
              </a:rPr>
              <a:t>t</a:t>
            </a:r>
            <a:r>
              <a:rPr sz="2000" spc="-5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point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Suc</a:t>
            </a:r>
            <a:r>
              <a:rPr sz="2000" spc="5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000" spc="5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chemeClr val="tx2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000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func</a:t>
            </a:r>
            <a:r>
              <a:rPr sz="2000" spc="-15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io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n</a:t>
            </a:r>
            <a:r>
              <a:rPr sz="2000" spc="-3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(o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per</a:t>
            </a:r>
            <a:r>
              <a:rPr sz="20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or</a:t>
            </a:r>
            <a:r>
              <a:rPr sz="2000" spc="-25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move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on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atio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o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anot</a:t>
            </a:r>
            <a:r>
              <a:rPr sz="2000" spc="-10" dirty="0">
                <a:latin typeface="Arial"/>
                <a:cs typeface="Arial"/>
              </a:rPr>
              <a:t>h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79622" y="4383292"/>
            <a:ext cx="3954145" cy="2013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Arial"/>
              <a:buChar char="•"/>
              <a:tabLst>
                <a:tab pos="356235" algn="l"/>
              </a:tabLst>
            </a:pP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Goal</a:t>
            </a:r>
            <a:r>
              <a:rPr sz="2000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test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rrive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e</a:t>
            </a:r>
            <a:r>
              <a:rPr sz="2000" spc="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ation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Font typeface="Arial"/>
              <a:buChar char="•"/>
              <a:tabLst>
                <a:tab pos="356235" algn="l"/>
              </a:tabLst>
            </a:pP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P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at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r>
              <a:rPr sz="2000" spc="1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co</a:t>
            </a:r>
            <a:r>
              <a:rPr sz="2000" spc="5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may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quit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mplex</a:t>
            </a:r>
          </a:p>
          <a:p>
            <a:pPr marL="1155700" marR="5080" lvl="2" indent="-228600">
              <a:lnSpc>
                <a:spcPct val="102800"/>
              </a:lnSpc>
              <a:spcBef>
                <a:spcPts val="340"/>
              </a:spcBef>
              <a:buClr>
                <a:srgbClr val="00007F"/>
              </a:buClr>
              <a:buFont typeface="Arial"/>
              <a:buChar char="•"/>
              <a:tabLst>
                <a:tab pos="1156335" algn="l"/>
              </a:tabLst>
            </a:pPr>
            <a:r>
              <a:rPr sz="1800" dirty="0">
                <a:latin typeface="Arial"/>
                <a:cs typeface="Arial"/>
              </a:rPr>
              <a:t>mo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spc="-160" dirty="0">
                <a:latin typeface="Arial"/>
                <a:cs typeface="Arial"/>
              </a:rPr>
              <a:t>y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tim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trav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comf</a:t>
            </a:r>
            <a:r>
              <a:rPr sz="1800" spc="-10" dirty="0">
                <a:latin typeface="Arial"/>
                <a:cs typeface="Arial"/>
              </a:rPr>
              <a:t>ort,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sce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er</a:t>
            </a:r>
            <a:r>
              <a:rPr sz="1800" spc="-160" dirty="0">
                <a:latin typeface="Arial"/>
                <a:cs typeface="Arial"/>
              </a:rPr>
              <a:t>y</a:t>
            </a:r>
            <a:r>
              <a:rPr sz="1800" spc="-5" dirty="0">
                <a:latin typeface="Arial"/>
                <a:cs typeface="Arial"/>
              </a:rPr>
              <a:t>,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2479" y="1207753"/>
            <a:ext cx="157988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00"/>
              </a:lnSpc>
            </a:pPr>
            <a:r>
              <a:rPr sz="1800" b="1" spc="-5" dirty="0">
                <a:solidFill>
                  <a:schemeClr val="tx2"/>
                </a:solidFill>
                <a:cs typeface="Arial"/>
              </a:rPr>
              <a:t>C</a:t>
            </a:r>
            <a:r>
              <a:rPr sz="1800" b="1" spc="-10" dirty="0">
                <a:solidFill>
                  <a:schemeClr val="tx2"/>
                </a:solidFill>
                <a:cs typeface="Arial"/>
              </a:rPr>
              <a:t>a</a:t>
            </a:r>
            <a:r>
              <a:rPr sz="1800" b="1" dirty="0">
                <a:solidFill>
                  <a:schemeClr val="tx2"/>
                </a:solidFill>
                <a:cs typeface="Arial"/>
              </a:rPr>
              <a:t>r</a:t>
            </a:r>
            <a:r>
              <a:rPr sz="1800" b="1" dirty="0">
                <a:solidFill>
                  <a:schemeClr val="tx2"/>
                </a:solidFill>
                <a:cs typeface="Times New Roman"/>
              </a:rPr>
              <a:t> </a:t>
            </a:r>
            <a:r>
              <a:rPr sz="1800" b="1" spc="-5" dirty="0">
                <a:solidFill>
                  <a:schemeClr val="tx2"/>
                </a:solidFill>
                <a:cs typeface="Arial"/>
              </a:rPr>
              <a:t>Na</a:t>
            </a:r>
            <a:r>
              <a:rPr sz="1800" b="1" dirty="0">
                <a:solidFill>
                  <a:schemeClr val="tx2"/>
                </a:solidFill>
                <a:cs typeface="Arial"/>
              </a:rPr>
              <a:t>v</a:t>
            </a:r>
            <a:r>
              <a:rPr sz="1800" b="1" spc="-5" dirty="0">
                <a:solidFill>
                  <a:schemeClr val="tx2"/>
                </a:solidFill>
                <a:cs typeface="Arial"/>
              </a:rPr>
              <a:t>iga</a:t>
            </a:r>
            <a:r>
              <a:rPr sz="1800" b="1" dirty="0">
                <a:solidFill>
                  <a:schemeClr val="tx2"/>
                </a:solidFill>
                <a:cs typeface="Arial"/>
              </a:rPr>
              <a:t>t</a:t>
            </a:r>
            <a:r>
              <a:rPr sz="1800" b="1" spc="-5" dirty="0">
                <a:solidFill>
                  <a:schemeClr val="tx2"/>
                </a:solidFill>
                <a:cs typeface="Arial"/>
              </a:rPr>
              <a:t>io</a:t>
            </a:r>
            <a:r>
              <a:rPr sz="1800" b="1" dirty="0">
                <a:solidFill>
                  <a:schemeClr val="tx2"/>
                </a:solidFill>
                <a:cs typeface="Arial"/>
              </a:rPr>
              <a:t>n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94601"/>
            <a:ext cx="2895600" cy="212830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012" y="1477057"/>
            <a:ext cx="3010262" cy="2259703"/>
          </a:xfrm>
          <a:prstGeom prst="rect">
            <a:avLst/>
          </a:prstGeom>
        </p:spPr>
      </p:pic>
      <p:sp>
        <p:nvSpPr>
          <p:cNvPr id="17" name="object 3"/>
          <p:cNvSpPr txBox="1"/>
          <p:nvPr/>
        </p:nvSpPr>
        <p:spPr>
          <a:xfrm>
            <a:off x="5638800" y="3818774"/>
            <a:ext cx="155414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600" spc="-25" dirty="0">
                <a:solidFill>
                  <a:srgbClr val="00007F"/>
                </a:solidFill>
                <a:latin typeface="Arial"/>
                <a:cs typeface="Arial"/>
              </a:rPr>
              <a:t>Nearby Captain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799" y="0"/>
            <a:ext cx="8705977" cy="897091"/>
          </a:xfrm>
          <a:prstGeom prst="rect">
            <a:avLst/>
          </a:prstGeom>
        </p:spPr>
        <p:txBody>
          <a:bodyPr vert="horz" wrap="square" lIns="0" tIns="33977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80" dirty="0"/>
              <a:t> </a:t>
            </a:r>
            <a:r>
              <a:rPr spc="-10" dirty="0"/>
              <a:t>Formulation</a:t>
            </a:r>
            <a:r>
              <a:rPr spc="-90" dirty="0"/>
              <a:t> </a:t>
            </a:r>
            <a:r>
              <a:rPr spc="-20" dirty="0"/>
              <a:t>(Real-</a:t>
            </a:r>
            <a:r>
              <a:rPr dirty="0"/>
              <a:t>life</a:t>
            </a:r>
            <a:r>
              <a:rPr spc="-120" dirty="0"/>
              <a:t> </a:t>
            </a:r>
            <a:r>
              <a:rPr spc="-10" dirty="0"/>
              <a:t>Applications)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55" y="2142744"/>
            <a:ext cx="3572255" cy="23774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3755" y="1187680"/>
            <a:ext cx="8361680" cy="491553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800" b="1" spc="-45" dirty="0">
                <a:solidFill>
                  <a:srgbClr val="000080"/>
                </a:solidFill>
                <a:latin typeface="Arial"/>
                <a:cs typeface="Arial"/>
              </a:rPr>
              <a:t>Travel</a:t>
            </a:r>
            <a:r>
              <a:rPr sz="2800" b="1" spc="-15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80"/>
                </a:solidFill>
                <a:latin typeface="Arial"/>
                <a:cs typeface="Arial"/>
              </a:rPr>
              <a:t>Salesperson</a:t>
            </a:r>
            <a:r>
              <a:rPr sz="2800" b="1" spc="-11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0080"/>
                </a:solidFill>
                <a:latin typeface="Arial"/>
                <a:cs typeface="Arial"/>
              </a:rPr>
              <a:t>Problem</a:t>
            </a:r>
            <a:endParaRPr sz="2800" dirty="0">
              <a:latin typeface="Arial"/>
              <a:cs typeface="Arial"/>
            </a:endParaRPr>
          </a:p>
          <a:p>
            <a:pPr marL="3414395" indent="-342900">
              <a:lnSpc>
                <a:spcPct val="100000"/>
              </a:lnSpc>
              <a:spcBef>
                <a:spcPts val="620"/>
              </a:spcBef>
              <a:buChar char="•"/>
              <a:tabLst>
                <a:tab pos="3414395" algn="l"/>
              </a:tabLst>
            </a:pP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States</a:t>
            </a:r>
            <a:endParaRPr sz="2000" dirty="0">
              <a:latin typeface="Arial MT"/>
              <a:cs typeface="Arial MT"/>
            </a:endParaRPr>
          </a:p>
          <a:p>
            <a:pPr marL="3815079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3815079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locations</a:t>
            </a:r>
            <a:r>
              <a:rPr sz="18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/</a:t>
            </a:r>
            <a:r>
              <a:rPr sz="18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cities</a:t>
            </a:r>
            <a:endParaRPr sz="1800" dirty="0">
              <a:latin typeface="Arial MT"/>
              <a:cs typeface="Arial MT"/>
            </a:endParaRPr>
          </a:p>
          <a:p>
            <a:pPr marL="3815079" lvl="1" indent="-286385">
              <a:lnSpc>
                <a:spcPct val="100000"/>
              </a:lnSpc>
              <a:spcBef>
                <a:spcPts val="190"/>
              </a:spcBef>
              <a:buChar char="–"/>
              <a:tabLst>
                <a:tab pos="3815079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illegal</a:t>
            </a:r>
            <a:r>
              <a:rPr sz="1800" spc="-7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states</a:t>
            </a:r>
            <a:endParaRPr sz="1800" dirty="0">
              <a:latin typeface="Arial MT"/>
              <a:cs typeface="Arial MT"/>
            </a:endParaRPr>
          </a:p>
          <a:p>
            <a:pPr marL="4214495" lvl="2" indent="-228600">
              <a:lnSpc>
                <a:spcPct val="100000"/>
              </a:lnSpc>
              <a:spcBef>
                <a:spcPts val="215"/>
              </a:spcBef>
              <a:buChar char="•"/>
              <a:tabLst>
                <a:tab pos="4214495" algn="l"/>
              </a:tabLst>
            </a:pP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each</a:t>
            </a:r>
            <a:r>
              <a:rPr sz="16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city</a:t>
            </a:r>
            <a:r>
              <a:rPr sz="16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may</a:t>
            </a:r>
            <a:r>
              <a:rPr sz="1600" spc="-3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be</a:t>
            </a:r>
            <a:r>
              <a:rPr sz="1600" spc="-3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visited</a:t>
            </a:r>
            <a:r>
              <a:rPr sz="16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only</a:t>
            </a:r>
            <a:r>
              <a:rPr sz="1600" spc="-1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0080"/>
                </a:solidFill>
                <a:latin typeface="Arial MT"/>
                <a:cs typeface="Arial MT"/>
              </a:rPr>
              <a:t>once</a:t>
            </a:r>
            <a:endParaRPr sz="1600" dirty="0">
              <a:latin typeface="Arial MT"/>
              <a:cs typeface="Arial MT"/>
            </a:endParaRPr>
          </a:p>
          <a:p>
            <a:pPr marL="4214495" lvl="2" indent="-228600">
              <a:lnSpc>
                <a:spcPct val="100000"/>
              </a:lnSpc>
              <a:spcBef>
                <a:spcPts val="190"/>
              </a:spcBef>
              <a:buChar char="•"/>
              <a:tabLst>
                <a:tab pos="4214495" algn="l"/>
              </a:tabLst>
            </a:pP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visited</a:t>
            </a:r>
            <a:r>
              <a:rPr sz="1600" spc="-8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cities</a:t>
            </a:r>
            <a:r>
              <a:rPr sz="1600" spc="-7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must</a:t>
            </a:r>
            <a:r>
              <a:rPr sz="16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be</a:t>
            </a:r>
            <a:r>
              <a:rPr sz="16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kept</a:t>
            </a:r>
            <a:r>
              <a:rPr sz="16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as</a:t>
            </a: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state</a:t>
            </a:r>
            <a:r>
              <a:rPr sz="1600" spc="2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0080"/>
                </a:solidFill>
                <a:latin typeface="Arial MT"/>
                <a:cs typeface="Arial MT"/>
              </a:rPr>
              <a:t>information</a:t>
            </a:r>
            <a:endParaRPr sz="1600" dirty="0">
              <a:latin typeface="Arial MT"/>
              <a:cs typeface="Arial MT"/>
            </a:endParaRPr>
          </a:p>
          <a:p>
            <a:pPr marL="3414395" indent="-342900">
              <a:lnSpc>
                <a:spcPct val="100000"/>
              </a:lnSpc>
              <a:spcBef>
                <a:spcPts val="190"/>
              </a:spcBef>
              <a:buChar char="•"/>
              <a:tabLst>
                <a:tab pos="341439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Initial</a:t>
            </a:r>
            <a:r>
              <a:rPr sz="20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endParaRPr sz="2000" dirty="0">
              <a:latin typeface="Arial MT"/>
              <a:cs typeface="Arial MT"/>
            </a:endParaRPr>
          </a:p>
          <a:p>
            <a:pPr marL="3815079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3815079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starting</a:t>
            </a:r>
            <a:r>
              <a:rPr sz="1800" spc="-9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0080"/>
                </a:solidFill>
                <a:latin typeface="Arial MT"/>
                <a:cs typeface="Arial MT"/>
              </a:rPr>
              <a:t>point</a:t>
            </a:r>
            <a:endParaRPr sz="1800" dirty="0">
              <a:latin typeface="Arial MT"/>
              <a:cs typeface="Arial MT"/>
            </a:endParaRPr>
          </a:p>
          <a:p>
            <a:pPr marL="3815079" lvl="1" indent="-286385">
              <a:lnSpc>
                <a:spcPct val="100000"/>
              </a:lnSpc>
              <a:spcBef>
                <a:spcPts val="204"/>
              </a:spcBef>
              <a:buChar char="–"/>
              <a:tabLst>
                <a:tab pos="3815079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no</a:t>
            </a:r>
            <a:r>
              <a:rPr sz="18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cities</a:t>
            </a:r>
            <a:r>
              <a:rPr sz="18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visited</a:t>
            </a:r>
            <a:endParaRPr sz="1800" dirty="0">
              <a:latin typeface="Arial MT"/>
              <a:cs typeface="Arial MT"/>
            </a:endParaRPr>
          </a:p>
          <a:p>
            <a:pPr marL="3414395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41439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Successor</a:t>
            </a:r>
            <a:r>
              <a:rPr sz="20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0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(operators)</a:t>
            </a:r>
            <a:endParaRPr sz="2000" dirty="0">
              <a:latin typeface="Arial MT"/>
              <a:cs typeface="Arial MT"/>
            </a:endParaRPr>
          </a:p>
          <a:p>
            <a:pPr marL="3815079" lvl="1" indent="-286385">
              <a:lnSpc>
                <a:spcPct val="100000"/>
              </a:lnSpc>
              <a:spcBef>
                <a:spcPts val="200"/>
              </a:spcBef>
              <a:buChar char="–"/>
              <a:tabLst>
                <a:tab pos="3815079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move</a:t>
            </a:r>
            <a:r>
              <a:rPr sz="18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from</a:t>
            </a:r>
            <a:r>
              <a:rPr sz="18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one</a:t>
            </a:r>
            <a:r>
              <a:rPr sz="1800" spc="-3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location</a:t>
            </a:r>
            <a:r>
              <a:rPr sz="18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another</a:t>
            </a:r>
            <a:r>
              <a:rPr sz="18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0080"/>
                </a:solidFill>
                <a:latin typeface="Arial MT"/>
                <a:cs typeface="Arial MT"/>
              </a:rPr>
              <a:t>one</a:t>
            </a:r>
            <a:endParaRPr sz="1800" dirty="0">
              <a:latin typeface="Arial MT"/>
              <a:cs typeface="Arial MT"/>
            </a:endParaRPr>
          </a:p>
          <a:p>
            <a:pPr marL="3414395" indent="-342900">
              <a:lnSpc>
                <a:spcPct val="100000"/>
              </a:lnSpc>
              <a:spcBef>
                <a:spcPts val="200"/>
              </a:spcBef>
              <a:buChar char="•"/>
              <a:tabLst>
                <a:tab pos="341439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Goal</a:t>
            </a:r>
            <a:r>
              <a:rPr sz="20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test</a:t>
            </a:r>
            <a:endParaRPr sz="2000" dirty="0">
              <a:latin typeface="Arial MT"/>
              <a:cs typeface="Arial MT"/>
            </a:endParaRPr>
          </a:p>
          <a:p>
            <a:pPr marL="3815079" lvl="1" indent="-286385">
              <a:lnSpc>
                <a:spcPct val="100000"/>
              </a:lnSpc>
              <a:spcBef>
                <a:spcPts val="305"/>
              </a:spcBef>
              <a:buChar char="–"/>
              <a:tabLst>
                <a:tab pos="3815079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all</a:t>
            </a:r>
            <a:r>
              <a:rPr sz="18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locations</a:t>
            </a:r>
            <a:r>
              <a:rPr sz="1800" spc="-7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visited</a:t>
            </a:r>
            <a:endParaRPr sz="1800" dirty="0">
              <a:latin typeface="Arial MT"/>
              <a:cs typeface="Arial MT"/>
            </a:endParaRPr>
          </a:p>
          <a:p>
            <a:pPr marL="3815079" lvl="1" indent="-286385">
              <a:lnSpc>
                <a:spcPct val="100000"/>
              </a:lnSpc>
              <a:spcBef>
                <a:spcPts val="95"/>
              </a:spcBef>
              <a:buChar char="–"/>
              <a:tabLst>
                <a:tab pos="3815079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agent</a:t>
            </a:r>
            <a:r>
              <a:rPr sz="18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at</a:t>
            </a:r>
            <a:r>
              <a:rPr sz="1800" spc="-3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the</a:t>
            </a:r>
            <a:r>
              <a:rPr sz="18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initial</a:t>
            </a:r>
            <a:r>
              <a:rPr sz="1800" spc="-5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location</a:t>
            </a:r>
            <a:endParaRPr sz="1800" dirty="0">
              <a:latin typeface="Arial MT"/>
              <a:cs typeface="Arial MT"/>
            </a:endParaRPr>
          </a:p>
          <a:p>
            <a:pPr marL="3414395" indent="-342900">
              <a:lnSpc>
                <a:spcPct val="100000"/>
              </a:lnSpc>
              <a:spcBef>
                <a:spcPts val="200"/>
              </a:spcBef>
              <a:buChar char="•"/>
              <a:tabLst>
                <a:tab pos="341439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Path</a:t>
            </a:r>
            <a:r>
              <a:rPr sz="20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cost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0816" y="6138482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0" dirty="0">
                <a:solidFill>
                  <a:srgbClr val="000080"/>
                </a:solidFill>
                <a:latin typeface="Arial MT"/>
                <a:cs typeface="Arial MT"/>
              </a:rPr>
              <a:t>–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6694" y="6138482"/>
            <a:ext cx="275145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distance</a:t>
            </a:r>
            <a:r>
              <a:rPr sz="1800" spc="-10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between</a:t>
            </a:r>
            <a:r>
              <a:rPr sz="1800" spc="-8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locations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60892" y="6430467"/>
            <a:ext cx="3498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-8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spc="40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 MT"/>
                <a:cs typeface="Arial MT"/>
              </a:rPr>
              <a:t>13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669845" y="6356603"/>
            <a:ext cx="369570" cy="364490"/>
            <a:chOff x="8669845" y="6356603"/>
            <a:chExt cx="369570" cy="364490"/>
          </a:xfrm>
        </p:grpSpPr>
        <p:sp>
          <p:nvSpPr>
            <p:cNvPr id="4" name="object 4"/>
            <p:cNvSpPr/>
            <p:nvPr/>
          </p:nvSpPr>
          <p:spPr>
            <a:xfrm>
              <a:off x="9034271" y="6356603"/>
              <a:ext cx="0" cy="360045"/>
            </a:xfrm>
            <a:custGeom>
              <a:avLst/>
              <a:gdLst/>
              <a:ahLst/>
              <a:cxnLst/>
              <a:rect l="l" t="t" r="r" b="b"/>
              <a:pathLst>
                <a:path h="360045">
                  <a:moveTo>
                    <a:pt x="0" y="3596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74607" y="6449567"/>
              <a:ext cx="360045" cy="266700"/>
            </a:xfrm>
            <a:custGeom>
              <a:avLst/>
              <a:gdLst/>
              <a:ahLst/>
              <a:cxnLst/>
              <a:rect l="l" t="t" r="r" b="b"/>
              <a:pathLst>
                <a:path w="360045" h="266700">
                  <a:moveTo>
                    <a:pt x="0" y="133349"/>
                  </a:moveTo>
                  <a:lnTo>
                    <a:pt x="6731" y="91198"/>
                  </a:lnTo>
                  <a:lnTo>
                    <a:pt x="25653" y="54597"/>
                  </a:lnTo>
                  <a:lnTo>
                    <a:pt x="54483" y="25730"/>
                  </a:lnTo>
                  <a:lnTo>
                    <a:pt x="91059" y="6794"/>
                  </a:lnTo>
                  <a:lnTo>
                    <a:pt x="133223" y="0"/>
                  </a:lnTo>
                  <a:lnTo>
                    <a:pt x="226441" y="0"/>
                  </a:lnTo>
                  <a:lnTo>
                    <a:pt x="268477" y="6794"/>
                  </a:lnTo>
                  <a:lnTo>
                    <a:pt x="305053" y="25730"/>
                  </a:lnTo>
                  <a:lnTo>
                    <a:pt x="333883" y="54597"/>
                  </a:lnTo>
                  <a:lnTo>
                    <a:pt x="352806" y="91198"/>
                  </a:lnTo>
                  <a:lnTo>
                    <a:pt x="359664" y="133349"/>
                  </a:lnTo>
                  <a:lnTo>
                    <a:pt x="352806" y="175501"/>
                  </a:lnTo>
                  <a:lnTo>
                    <a:pt x="333883" y="212102"/>
                  </a:lnTo>
                  <a:lnTo>
                    <a:pt x="305053" y="240969"/>
                  </a:lnTo>
                  <a:lnTo>
                    <a:pt x="268477" y="259905"/>
                  </a:lnTo>
                  <a:lnTo>
                    <a:pt x="226441" y="266699"/>
                  </a:lnTo>
                  <a:lnTo>
                    <a:pt x="133223" y="266699"/>
                  </a:lnTo>
                  <a:lnTo>
                    <a:pt x="91059" y="259905"/>
                  </a:lnTo>
                  <a:lnTo>
                    <a:pt x="54483" y="240969"/>
                  </a:lnTo>
                  <a:lnTo>
                    <a:pt x="25653" y="212102"/>
                  </a:lnTo>
                  <a:lnTo>
                    <a:pt x="6731" y="175501"/>
                  </a:lnTo>
                  <a:lnTo>
                    <a:pt x="0" y="133349"/>
                  </a:lnTo>
                  <a:close/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107" y="635660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359664"/>
                </a:moveTo>
                <a:lnTo>
                  <a:pt x="0" y="359664"/>
                </a:lnTo>
              </a:path>
              <a:path w="360045" h="360045">
                <a:moveTo>
                  <a:pt x="1" y="359613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49858" y="1187680"/>
            <a:ext cx="7843520" cy="521271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800" b="1" dirty="0">
                <a:solidFill>
                  <a:srgbClr val="000080"/>
                </a:solidFill>
                <a:latin typeface="Arial"/>
                <a:cs typeface="Arial"/>
              </a:rPr>
              <a:t>VLSI</a:t>
            </a:r>
            <a:r>
              <a:rPr sz="2800" b="1" spc="-11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80"/>
                </a:solidFill>
                <a:latin typeface="Arial"/>
                <a:cs typeface="Arial"/>
              </a:rPr>
              <a:t>layout</a:t>
            </a:r>
            <a:r>
              <a:rPr sz="2800" b="1" spc="-3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0080"/>
                </a:solidFill>
                <a:latin typeface="Arial"/>
                <a:cs typeface="Arial"/>
              </a:rPr>
              <a:t>Problem</a:t>
            </a:r>
            <a:endParaRPr sz="2800">
              <a:latin typeface="Arial"/>
              <a:cs typeface="Arial"/>
            </a:endParaRPr>
          </a:p>
          <a:p>
            <a:pPr marL="2913380" indent="-343535">
              <a:lnSpc>
                <a:spcPct val="100000"/>
              </a:lnSpc>
              <a:spcBef>
                <a:spcPts val="620"/>
              </a:spcBef>
              <a:buChar char="•"/>
              <a:tabLst>
                <a:tab pos="2913380" algn="l"/>
              </a:tabLst>
            </a:pP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States</a:t>
            </a:r>
            <a:endParaRPr sz="2000">
              <a:latin typeface="Arial MT"/>
              <a:cs typeface="Arial MT"/>
            </a:endParaRPr>
          </a:p>
          <a:p>
            <a:pPr marL="3314065" lvl="1" indent="-286385">
              <a:lnSpc>
                <a:spcPct val="100000"/>
              </a:lnSpc>
              <a:spcBef>
                <a:spcPts val="215"/>
              </a:spcBef>
              <a:buChar char="–"/>
              <a:tabLst>
                <a:tab pos="3314065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positions</a:t>
            </a:r>
            <a:r>
              <a:rPr sz="1800" spc="-7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of</a:t>
            </a:r>
            <a:r>
              <a:rPr sz="1800" spc="-3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components,</a:t>
            </a:r>
            <a:r>
              <a:rPr sz="1800" spc="-7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wires</a:t>
            </a:r>
            <a:r>
              <a:rPr sz="1800" spc="-1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on</a:t>
            </a:r>
            <a:r>
              <a:rPr sz="18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a</a:t>
            </a:r>
            <a:r>
              <a:rPr sz="1800" spc="-4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0080"/>
                </a:solidFill>
                <a:latin typeface="Arial MT"/>
                <a:cs typeface="Arial MT"/>
              </a:rPr>
              <a:t>chip</a:t>
            </a:r>
            <a:endParaRPr sz="1800">
              <a:latin typeface="Arial MT"/>
              <a:cs typeface="Arial MT"/>
            </a:endParaRPr>
          </a:p>
          <a:p>
            <a:pPr marL="2913380" indent="-343535">
              <a:lnSpc>
                <a:spcPct val="100000"/>
              </a:lnSpc>
              <a:spcBef>
                <a:spcPts val="185"/>
              </a:spcBef>
              <a:buChar char="•"/>
              <a:tabLst>
                <a:tab pos="2913380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Initial</a:t>
            </a:r>
            <a:r>
              <a:rPr sz="20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endParaRPr sz="2000">
              <a:latin typeface="Arial MT"/>
              <a:cs typeface="Arial MT"/>
            </a:endParaRPr>
          </a:p>
          <a:p>
            <a:pPr marL="3314065" lvl="1" indent="-286385">
              <a:lnSpc>
                <a:spcPct val="100000"/>
              </a:lnSpc>
              <a:spcBef>
                <a:spcPts val="210"/>
              </a:spcBef>
              <a:buChar char="–"/>
              <a:tabLst>
                <a:tab pos="3314065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incremental:</a:t>
            </a:r>
            <a:r>
              <a:rPr sz="1800" spc="-9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no</a:t>
            </a:r>
            <a:r>
              <a:rPr sz="18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components</a:t>
            </a:r>
            <a:r>
              <a:rPr sz="1800" spc="-8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placed</a:t>
            </a:r>
            <a:endParaRPr sz="1800">
              <a:latin typeface="Arial MT"/>
              <a:cs typeface="Arial MT"/>
            </a:endParaRPr>
          </a:p>
          <a:p>
            <a:pPr marL="3314065" lvl="1" indent="-286385">
              <a:lnSpc>
                <a:spcPts val="2085"/>
              </a:lnSpc>
              <a:spcBef>
                <a:spcPts val="240"/>
              </a:spcBef>
              <a:buChar char="–"/>
              <a:tabLst>
                <a:tab pos="3314065" algn="l"/>
              </a:tabLst>
            </a:pP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complete-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state:</a:t>
            </a:r>
            <a:r>
              <a:rPr sz="1800" spc="-9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all</a:t>
            </a:r>
            <a:r>
              <a:rPr sz="18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components</a:t>
            </a:r>
            <a:r>
              <a:rPr sz="1800" spc="-7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placed</a:t>
            </a:r>
            <a:r>
              <a:rPr sz="18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(e.g.</a:t>
            </a:r>
            <a:endParaRPr sz="1800">
              <a:latin typeface="Arial MT"/>
              <a:cs typeface="Arial MT"/>
            </a:endParaRPr>
          </a:p>
          <a:p>
            <a:pPr marL="3314065">
              <a:lnSpc>
                <a:spcPts val="2085"/>
              </a:lnSpc>
            </a:pPr>
            <a:r>
              <a:rPr sz="1800" spc="-20" dirty="0">
                <a:solidFill>
                  <a:srgbClr val="000080"/>
                </a:solidFill>
                <a:latin typeface="Arial MT"/>
                <a:cs typeface="Arial MT"/>
              </a:rPr>
              <a:t>randomly,</a:t>
            </a:r>
            <a:r>
              <a:rPr sz="18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manually)</a:t>
            </a:r>
            <a:endParaRPr sz="1800">
              <a:latin typeface="Arial MT"/>
              <a:cs typeface="Arial MT"/>
            </a:endParaRPr>
          </a:p>
          <a:p>
            <a:pPr marL="2913380" indent="-343535">
              <a:lnSpc>
                <a:spcPct val="100000"/>
              </a:lnSpc>
              <a:spcBef>
                <a:spcPts val="185"/>
              </a:spcBef>
              <a:buChar char="•"/>
              <a:tabLst>
                <a:tab pos="2913380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Successor</a:t>
            </a:r>
            <a:r>
              <a:rPr sz="20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0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(operators)</a:t>
            </a:r>
            <a:endParaRPr sz="2000">
              <a:latin typeface="Arial MT"/>
              <a:cs typeface="Arial MT"/>
            </a:endParaRPr>
          </a:p>
          <a:p>
            <a:pPr marL="3314065" lvl="1" indent="-286385">
              <a:lnSpc>
                <a:spcPct val="100000"/>
              </a:lnSpc>
              <a:spcBef>
                <a:spcPts val="210"/>
              </a:spcBef>
              <a:buChar char="–"/>
              <a:tabLst>
                <a:tab pos="3314065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incremental:</a:t>
            </a:r>
            <a:r>
              <a:rPr sz="1800" spc="-10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place</a:t>
            </a:r>
            <a:r>
              <a:rPr sz="1800" spc="-7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components,</a:t>
            </a:r>
            <a:r>
              <a:rPr sz="1800" spc="-8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route</a:t>
            </a:r>
            <a:r>
              <a:rPr sz="18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0080"/>
                </a:solidFill>
                <a:latin typeface="Arial MT"/>
                <a:cs typeface="Arial MT"/>
              </a:rPr>
              <a:t>wire</a:t>
            </a:r>
            <a:endParaRPr sz="1800">
              <a:latin typeface="Arial MT"/>
              <a:cs typeface="Arial MT"/>
            </a:endParaRPr>
          </a:p>
          <a:p>
            <a:pPr marL="3314065" lvl="1" indent="-286385">
              <a:lnSpc>
                <a:spcPct val="100000"/>
              </a:lnSpc>
              <a:spcBef>
                <a:spcPts val="204"/>
              </a:spcBef>
              <a:buChar char="–"/>
              <a:tabLst>
                <a:tab pos="3314065" algn="l"/>
              </a:tabLst>
            </a:pP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complete-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state:</a:t>
            </a:r>
            <a:r>
              <a:rPr sz="1800" spc="-8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move</a:t>
            </a:r>
            <a:r>
              <a:rPr sz="18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component,</a:t>
            </a:r>
            <a:r>
              <a:rPr sz="18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move</a:t>
            </a:r>
            <a:r>
              <a:rPr sz="1800" spc="-8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0080"/>
                </a:solidFill>
                <a:latin typeface="Arial MT"/>
                <a:cs typeface="Arial MT"/>
              </a:rPr>
              <a:t>wire</a:t>
            </a:r>
            <a:endParaRPr sz="1800">
              <a:latin typeface="Arial MT"/>
              <a:cs typeface="Arial MT"/>
            </a:endParaRPr>
          </a:p>
          <a:p>
            <a:pPr marL="2913380" indent="-343535">
              <a:lnSpc>
                <a:spcPct val="100000"/>
              </a:lnSpc>
              <a:spcBef>
                <a:spcPts val="90"/>
              </a:spcBef>
              <a:buChar char="•"/>
              <a:tabLst>
                <a:tab pos="2913380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Goal</a:t>
            </a:r>
            <a:r>
              <a:rPr sz="20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test</a:t>
            </a:r>
            <a:endParaRPr sz="2000">
              <a:latin typeface="Arial MT"/>
              <a:cs typeface="Arial MT"/>
            </a:endParaRPr>
          </a:p>
          <a:p>
            <a:pPr marL="3314065" lvl="1" indent="-286385">
              <a:lnSpc>
                <a:spcPct val="100000"/>
              </a:lnSpc>
              <a:spcBef>
                <a:spcPts val="310"/>
              </a:spcBef>
              <a:buChar char="–"/>
              <a:tabLst>
                <a:tab pos="3314065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all</a:t>
            </a:r>
            <a:r>
              <a:rPr sz="18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components</a:t>
            </a:r>
            <a:r>
              <a:rPr sz="18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placed</a:t>
            </a:r>
            <a:endParaRPr sz="1800">
              <a:latin typeface="Arial MT"/>
              <a:cs typeface="Arial MT"/>
            </a:endParaRPr>
          </a:p>
          <a:p>
            <a:pPr marL="3314065" lvl="1" indent="-286385">
              <a:lnSpc>
                <a:spcPct val="100000"/>
              </a:lnSpc>
              <a:spcBef>
                <a:spcPts val="95"/>
              </a:spcBef>
              <a:buChar char="–"/>
              <a:tabLst>
                <a:tab pos="3314065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components</a:t>
            </a:r>
            <a:r>
              <a:rPr sz="1800" spc="-8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connected</a:t>
            </a:r>
            <a:r>
              <a:rPr sz="1800" spc="-7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as</a:t>
            </a:r>
            <a:r>
              <a:rPr sz="18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specified</a:t>
            </a:r>
            <a:endParaRPr sz="1800">
              <a:latin typeface="Arial MT"/>
              <a:cs typeface="Arial MT"/>
            </a:endParaRPr>
          </a:p>
          <a:p>
            <a:pPr marL="2913380" indent="-343535">
              <a:lnSpc>
                <a:spcPct val="100000"/>
              </a:lnSpc>
              <a:spcBef>
                <a:spcPts val="290"/>
              </a:spcBef>
              <a:buChar char="•"/>
              <a:tabLst>
                <a:tab pos="2913380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Path</a:t>
            </a:r>
            <a:r>
              <a:rPr sz="20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cost</a:t>
            </a:r>
            <a:endParaRPr sz="2000">
              <a:latin typeface="Arial MT"/>
              <a:cs typeface="Arial MT"/>
            </a:endParaRPr>
          </a:p>
          <a:p>
            <a:pPr marL="3314065" lvl="1" indent="-286385">
              <a:lnSpc>
                <a:spcPct val="100000"/>
              </a:lnSpc>
              <a:spcBef>
                <a:spcPts val="310"/>
              </a:spcBef>
              <a:buChar char="–"/>
              <a:tabLst>
                <a:tab pos="3314065" algn="l"/>
              </a:tabLst>
            </a:pPr>
            <a:r>
              <a:rPr sz="1800" dirty="0">
                <a:solidFill>
                  <a:srgbClr val="000080"/>
                </a:solidFill>
                <a:latin typeface="Arial MT"/>
                <a:cs typeface="Arial MT"/>
              </a:rPr>
              <a:t>maybe</a:t>
            </a:r>
            <a:r>
              <a:rPr sz="1800" spc="-4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80"/>
                </a:solidFill>
                <a:latin typeface="Arial MT"/>
                <a:cs typeface="Arial MT"/>
              </a:rPr>
              <a:t>complex</a:t>
            </a:r>
            <a:endParaRPr sz="1800">
              <a:latin typeface="Arial MT"/>
              <a:cs typeface="Arial MT"/>
            </a:endParaRPr>
          </a:p>
          <a:p>
            <a:pPr marL="3713479" lvl="2" indent="-228600">
              <a:lnSpc>
                <a:spcPct val="100000"/>
              </a:lnSpc>
              <a:spcBef>
                <a:spcPts val="260"/>
              </a:spcBef>
              <a:buChar char="•"/>
              <a:tabLst>
                <a:tab pos="3713479" algn="l"/>
              </a:tabLst>
            </a:pP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distance,</a:t>
            </a:r>
            <a:r>
              <a:rPr sz="1600" spc="-6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0080"/>
                </a:solidFill>
                <a:latin typeface="Arial MT"/>
                <a:cs typeface="Arial MT"/>
              </a:rPr>
              <a:t>capacity,</a:t>
            </a:r>
            <a:r>
              <a:rPr sz="1600" spc="-6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number</a:t>
            </a:r>
            <a:r>
              <a:rPr sz="1600" spc="-5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of</a:t>
            </a:r>
            <a:r>
              <a:rPr sz="1600" spc="-35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80"/>
                </a:solidFill>
                <a:latin typeface="Arial MT"/>
                <a:cs typeface="Arial MT"/>
              </a:rPr>
              <a:t>connections</a:t>
            </a:r>
            <a:r>
              <a:rPr sz="1600" spc="-80" dirty="0">
                <a:solidFill>
                  <a:srgbClr val="00008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00080"/>
                </a:solidFill>
                <a:latin typeface="Arial MT"/>
                <a:cs typeface="Arial MT"/>
              </a:rPr>
              <a:t>per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50994" y="6348171"/>
            <a:ext cx="1029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0080"/>
                </a:solidFill>
                <a:latin typeface="Arial MT"/>
                <a:cs typeface="Arial MT"/>
              </a:rPr>
              <a:t>component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324" y="1929383"/>
            <a:ext cx="2589276" cy="434035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011A5ADE-4FA6-65C4-052D-102BD29AA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39" y="241422"/>
            <a:ext cx="8545682" cy="1107996"/>
          </a:xfrm>
        </p:spPr>
        <p:txBody>
          <a:bodyPr/>
          <a:lstStyle/>
          <a:p>
            <a:r>
              <a:rPr lang="en-US" dirty="0"/>
              <a:t>Problem</a:t>
            </a:r>
            <a:r>
              <a:rPr lang="en-US" spc="-80" dirty="0"/>
              <a:t> </a:t>
            </a:r>
            <a:r>
              <a:rPr lang="en-US" spc="-10" dirty="0"/>
              <a:t>Formulation</a:t>
            </a:r>
            <a:r>
              <a:rPr lang="en-US" spc="-90" dirty="0"/>
              <a:t> </a:t>
            </a:r>
            <a:r>
              <a:rPr lang="en-US" spc="-20" dirty="0"/>
              <a:t>(Real-</a:t>
            </a:r>
            <a:r>
              <a:rPr lang="en-US" dirty="0"/>
              <a:t>life</a:t>
            </a:r>
            <a:r>
              <a:rPr lang="en-US" spc="-120" dirty="0"/>
              <a:t> </a:t>
            </a:r>
            <a:r>
              <a:rPr lang="en-US" spc="-10" dirty="0"/>
              <a:t>Applications)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53586"/>
            <a:ext cx="83820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80" dirty="0"/>
              <a:t> </a:t>
            </a:r>
            <a:r>
              <a:rPr spc="-10" dirty="0"/>
              <a:t>Formulation</a:t>
            </a:r>
            <a:r>
              <a:rPr spc="-95" dirty="0"/>
              <a:t> </a:t>
            </a:r>
            <a:r>
              <a:rPr spc="-20" dirty="0"/>
              <a:t>(Real-</a:t>
            </a:r>
            <a:r>
              <a:rPr dirty="0"/>
              <a:t>life</a:t>
            </a:r>
            <a:r>
              <a:rPr spc="-120" dirty="0"/>
              <a:t> </a:t>
            </a:r>
            <a:r>
              <a:rPr spc="-10" dirty="0"/>
              <a:t>Applications)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051" y="2429255"/>
            <a:ext cx="3857625" cy="3793490"/>
            <a:chOff x="35051" y="2429255"/>
            <a:chExt cx="3857625" cy="37934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1" y="3645408"/>
              <a:ext cx="3857244" cy="25770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511" y="2429255"/>
              <a:ext cx="1680972" cy="18348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36752" y="1087722"/>
            <a:ext cx="7950200" cy="5130165"/>
          </a:xfrm>
          <a:prstGeom prst="rect">
            <a:avLst/>
          </a:prstGeom>
        </p:spPr>
        <p:txBody>
          <a:bodyPr vert="horz" wrap="square" lIns="0" tIns="220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800" b="1" dirty="0">
                <a:solidFill>
                  <a:srgbClr val="000080"/>
                </a:solidFill>
                <a:latin typeface="Arial"/>
                <a:cs typeface="Arial"/>
              </a:rPr>
              <a:t>Robot</a:t>
            </a:r>
            <a:r>
              <a:rPr sz="2800" b="1" spc="-7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0080"/>
                </a:solidFill>
                <a:latin typeface="Arial"/>
                <a:cs typeface="Arial"/>
              </a:rPr>
              <a:t>Navigation</a:t>
            </a:r>
            <a:endParaRPr sz="2800">
              <a:latin typeface="Arial"/>
              <a:cs typeface="Arial"/>
            </a:endParaRPr>
          </a:p>
          <a:p>
            <a:pPr marL="3368675" indent="-342900">
              <a:lnSpc>
                <a:spcPct val="100000"/>
              </a:lnSpc>
              <a:spcBef>
                <a:spcPts val="1410"/>
              </a:spcBef>
              <a:buChar char="•"/>
              <a:tabLst>
                <a:tab pos="3368675" algn="l"/>
              </a:tabLst>
            </a:pP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States</a:t>
            </a:r>
            <a:endParaRPr sz="2400">
              <a:latin typeface="Arial MT"/>
              <a:cs typeface="Arial MT"/>
            </a:endParaRPr>
          </a:p>
          <a:p>
            <a:pPr marL="3769360" lvl="1" indent="-286385">
              <a:lnSpc>
                <a:spcPct val="100000"/>
              </a:lnSpc>
              <a:spcBef>
                <a:spcPts val="315"/>
              </a:spcBef>
              <a:buChar char="–"/>
              <a:tabLst>
                <a:tab pos="3769360" algn="l"/>
              </a:tabLst>
            </a:pP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locations</a:t>
            </a:r>
            <a:endParaRPr sz="2000">
              <a:latin typeface="Arial MT"/>
              <a:cs typeface="Arial MT"/>
            </a:endParaRPr>
          </a:p>
          <a:p>
            <a:pPr marL="3769360" lvl="1" indent="-286385">
              <a:lnSpc>
                <a:spcPct val="100000"/>
              </a:lnSpc>
              <a:spcBef>
                <a:spcPts val="195"/>
              </a:spcBef>
              <a:buChar char="–"/>
              <a:tabLst>
                <a:tab pos="3769360" algn="l"/>
              </a:tabLst>
            </a:pP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position</a:t>
            </a:r>
            <a:r>
              <a:rPr sz="2000" spc="-3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of</a:t>
            </a:r>
            <a:r>
              <a:rPr sz="2000" spc="-7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actuators</a:t>
            </a:r>
            <a:endParaRPr sz="2000">
              <a:latin typeface="Arial MT"/>
              <a:cs typeface="Arial MT"/>
            </a:endParaRPr>
          </a:p>
          <a:p>
            <a:pPr marL="3368675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336867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Initial</a:t>
            </a:r>
            <a:r>
              <a:rPr sz="240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endParaRPr sz="2400">
              <a:latin typeface="Arial MT"/>
              <a:cs typeface="Arial MT"/>
            </a:endParaRPr>
          </a:p>
          <a:p>
            <a:pPr marL="3769360" lvl="1" indent="-286385">
              <a:lnSpc>
                <a:spcPct val="100000"/>
              </a:lnSpc>
              <a:spcBef>
                <a:spcPts val="209"/>
              </a:spcBef>
              <a:buChar char="–"/>
              <a:tabLst>
                <a:tab pos="3769360" algn="l"/>
              </a:tabLst>
            </a:pP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start</a:t>
            </a:r>
            <a:r>
              <a:rPr sz="2000" spc="-9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position</a:t>
            </a:r>
            <a:r>
              <a:rPr sz="2000" spc="-3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(dependent</a:t>
            </a:r>
            <a:r>
              <a:rPr sz="2000" spc="-8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on</a:t>
            </a:r>
            <a:r>
              <a:rPr sz="2000" spc="-3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the</a:t>
            </a:r>
            <a:r>
              <a:rPr sz="2000" spc="-12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task)</a:t>
            </a:r>
            <a:endParaRPr sz="2000">
              <a:latin typeface="Arial MT"/>
              <a:cs typeface="Arial MT"/>
            </a:endParaRPr>
          </a:p>
          <a:p>
            <a:pPr marL="3368675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336867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Successor</a:t>
            </a:r>
            <a:r>
              <a:rPr sz="24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4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(operators)</a:t>
            </a:r>
            <a:endParaRPr sz="2400">
              <a:latin typeface="Arial MT"/>
              <a:cs typeface="Arial MT"/>
            </a:endParaRPr>
          </a:p>
          <a:p>
            <a:pPr marL="3769360" lvl="1" indent="-286385">
              <a:lnSpc>
                <a:spcPct val="100000"/>
              </a:lnSpc>
              <a:spcBef>
                <a:spcPts val="210"/>
              </a:spcBef>
              <a:buChar char="–"/>
              <a:tabLst>
                <a:tab pos="3769360" algn="l"/>
              </a:tabLst>
            </a:pP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movement,</a:t>
            </a:r>
            <a:r>
              <a:rPr sz="2000" spc="-9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actions</a:t>
            </a:r>
            <a:r>
              <a:rPr sz="2000" spc="-8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of</a:t>
            </a:r>
            <a:r>
              <a:rPr sz="2000" spc="-8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actuators</a:t>
            </a:r>
            <a:endParaRPr sz="2000">
              <a:latin typeface="Arial MT"/>
              <a:cs typeface="Arial MT"/>
            </a:endParaRPr>
          </a:p>
          <a:p>
            <a:pPr marL="3368675" indent="-342900">
              <a:lnSpc>
                <a:spcPct val="100000"/>
              </a:lnSpc>
              <a:spcBef>
                <a:spcPts val="284"/>
              </a:spcBef>
              <a:buChar char="•"/>
              <a:tabLst>
                <a:tab pos="336867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Goal</a:t>
            </a:r>
            <a:r>
              <a:rPr sz="24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test</a:t>
            </a:r>
            <a:endParaRPr sz="2400">
              <a:latin typeface="Arial MT"/>
              <a:cs typeface="Arial MT"/>
            </a:endParaRPr>
          </a:p>
          <a:p>
            <a:pPr marL="3769360" lvl="1" indent="-286385">
              <a:lnSpc>
                <a:spcPct val="100000"/>
              </a:lnSpc>
              <a:spcBef>
                <a:spcPts val="204"/>
              </a:spcBef>
              <a:buChar char="–"/>
              <a:tabLst>
                <a:tab pos="3769360" algn="l"/>
              </a:tabLst>
            </a:pP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task-dependent</a:t>
            </a:r>
            <a:endParaRPr sz="2000">
              <a:latin typeface="Arial MT"/>
              <a:cs typeface="Arial MT"/>
            </a:endParaRPr>
          </a:p>
          <a:p>
            <a:pPr marL="3368675" indent="-342900">
              <a:lnSpc>
                <a:spcPct val="100000"/>
              </a:lnSpc>
              <a:spcBef>
                <a:spcPts val="300"/>
              </a:spcBef>
              <a:buChar char="•"/>
              <a:tabLst>
                <a:tab pos="336867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Path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cost</a:t>
            </a:r>
            <a:endParaRPr sz="2400">
              <a:latin typeface="Arial MT"/>
              <a:cs typeface="Arial MT"/>
            </a:endParaRPr>
          </a:p>
          <a:p>
            <a:pPr marL="3769360" lvl="1" indent="-286385">
              <a:lnSpc>
                <a:spcPct val="100000"/>
              </a:lnSpc>
              <a:spcBef>
                <a:spcPts val="209"/>
              </a:spcBef>
              <a:buChar char="–"/>
              <a:tabLst>
                <a:tab pos="3769360" algn="l"/>
              </a:tabLst>
            </a:pP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maybe</a:t>
            </a:r>
            <a:r>
              <a:rPr sz="2000" spc="-6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very</a:t>
            </a:r>
            <a:r>
              <a:rPr sz="2000" spc="-6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complex</a:t>
            </a:r>
            <a:endParaRPr sz="2000">
              <a:latin typeface="Arial MT"/>
              <a:cs typeface="Arial MT"/>
            </a:endParaRPr>
          </a:p>
          <a:p>
            <a:pPr marL="4168775" lvl="2" indent="-228600">
              <a:lnSpc>
                <a:spcPct val="100000"/>
              </a:lnSpc>
              <a:spcBef>
                <a:spcPts val="305"/>
              </a:spcBef>
              <a:buChar char="•"/>
              <a:tabLst>
                <a:tab pos="4168775" algn="l"/>
              </a:tabLst>
            </a:pPr>
            <a:r>
              <a:rPr sz="1800" dirty="0">
                <a:solidFill>
                  <a:srgbClr val="403052"/>
                </a:solidFill>
                <a:latin typeface="Arial MT"/>
                <a:cs typeface="Arial MT"/>
              </a:rPr>
              <a:t>distance,</a:t>
            </a:r>
            <a:r>
              <a:rPr sz="1800" spc="-8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3052"/>
                </a:solidFill>
                <a:latin typeface="Arial MT"/>
                <a:cs typeface="Arial MT"/>
              </a:rPr>
              <a:t>energy</a:t>
            </a:r>
            <a:r>
              <a:rPr sz="1800" spc="-5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3052"/>
                </a:solidFill>
                <a:latin typeface="Arial MT"/>
                <a:cs typeface="Arial MT"/>
              </a:rPr>
              <a:t>consumption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21528" y="124575"/>
            <a:ext cx="9431719" cy="799885"/>
          </a:xfrm>
          <a:prstGeom prst="rect">
            <a:avLst/>
          </a:prstGeom>
        </p:spPr>
        <p:txBody>
          <a:bodyPr vert="horz" wrap="square" lIns="0" tIns="243509" rIns="0" bIns="0" rtlCol="0">
            <a:spAutoFit/>
          </a:bodyPr>
          <a:lstStyle/>
          <a:p>
            <a:pPr marL="98679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80" dirty="0"/>
              <a:t> </a:t>
            </a:r>
            <a:r>
              <a:rPr spc="-10" dirty="0"/>
              <a:t>Formulation</a:t>
            </a:r>
            <a:r>
              <a:rPr spc="-95" dirty="0"/>
              <a:t> </a:t>
            </a:r>
            <a:r>
              <a:rPr spc="-20" dirty="0"/>
              <a:t>(Real-</a:t>
            </a:r>
            <a:r>
              <a:rPr dirty="0"/>
              <a:t>life</a:t>
            </a:r>
            <a:r>
              <a:rPr spc="-120" dirty="0"/>
              <a:t> </a:t>
            </a:r>
            <a:r>
              <a:rPr spc="-10" dirty="0"/>
              <a:t>Applications)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127" y="2572511"/>
            <a:ext cx="2819400" cy="21427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21739" y="1296416"/>
            <a:ext cx="7510145" cy="4527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80"/>
                </a:solidFill>
                <a:latin typeface="Arial"/>
                <a:cs typeface="Arial"/>
              </a:rPr>
              <a:t>Automatic</a:t>
            </a:r>
            <a:r>
              <a:rPr sz="2800" b="1" spc="-105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0080"/>
                </a:solidFill>
                <a:latin typeface="Arial"/>
                <a:cs typeface="Arial"/>
              </a:rPr>
              <a:t>Assembly</a:t>
            </a:r>
            <a:r>
              <a:rPr sz="2800" b="1" spc="-18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0080"/>
                </a:solidFill>
                <a:latin typeface="Arial"/>
                <a:cs typeface="Arial"/>
              </a:rPr>
              <a:t>Sequencing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800">
              <a:latin typeface="Arial"/>
              <a:cs typeface="Arial"/>
            </a:endParaRPr>
          </a:p>
          <a:p>
            <a:pPr marL="3355340" indent="-342900">
              <a:lnSpc>
                <a:spcPct val="100000"/>
              </a:lnSpc>
              <a:buChar char="•"/>
              <a:tabLst>
                <a:tab pos="3355340" algn="l"/>
              </a:tabLst>
            </a:pP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States</a:t>
            </a:r>
            <a:endParaRPr sz="2400">
              <a:latin typeface="Arial MT"/>
              <a:cs typeface="Arial MT"/>
            </a:endParaRPr>
          </a:p>
          <a:p>
            <a:pPr marL="3756025" lvl="1" indent="-286385">
              <a:lnSpc>
                <a:spcPct val="100000"/>
              </a:lnSpc>
              <a:spcBef>
                <a:spcPts val="305"/>
              </a:spcBef>
              <a:buChar char="–"/>
              <a:tabLst>
                <a:tab pos="3756025" algn="l"/>
              </a:tabLst>
            </a:pP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location</a:t>
            </a:r>
            <a:r>
              <a:rPr sz="2000" spc="-4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of</a:t>
            </a:r>
            <a:r>
              <a:rPr sz="2000" spc="-8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components</a:t>
            </a:r>
            <a:endParaRPr sz="2000">
              <a:latin typeface="Arial MT"/>
              <a:cs typeface="Arial MT"/>
            </a:endParaRPr>
          </a:p>
          <a:p>
            <a:pPr marL="3355340" indent="-342900">
              <a:lnSpc>
                <a:spcPct val="100000"/>
              </a:lnSpc>
              <a:spcBef>
                <a:spcPts val="300"/>
              </a:spcBef>
              <a:buChar char="•"/>
              <a:tabLst>
                <a:tab pos="335534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Initial</a:t>
            </a:r>
            <a:r>
              <a:rPr sz="240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endParaRPr sz="2400">
              <a:latin typeface="Arial MT"/>
              <a:cs typeface="Arial MT"/>
            </a:endParaRPr>
          </a:p>
          <a:p>
            <a:pPr marL="3756025" lvl="1" indent="-286385">
              <a:lnSpc>
                <a:spcPct val="100000"/>
              </a:lnSpc>
              <a:spcBef>
                <a:spcPts val="204"/>
              </a:spcBef>
              <a:buChar char="–"/>
              <a:tabLst>
                <a:tab pos="3756025" algn="l"/>
              </a:tabLst>
            </a:pP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no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components</a:t>
            </a:r>
            <a:r>
              <a:rPr sz="2000" spc="-6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assembled</a:t>
            </a:r>
            <a:endParaRPr sz="2000">
              <a:latin typeface="Arial MT"/>
              <a:cs typeface="Arial MT"/>
            </a:endParaRPr>
          </a:p>
          <a:p>
            <a:pPr marL="3355340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3355340" algn="l"/>
              </a:tabLst>
            </a:pP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Successor</a:t>
            </a:r>
            <a:r>
              <a:rPr sz="2400" spc="-1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4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(operators)</a:t>
            </a:r>
            <a:endParaRPr sz="2400">
              <a:latin typeface="Arial MT"/>
              <a:cs typeface="Arial MT"/>
            </a:endParaRPr>
          </a:p>
          <a:p>
            <a:pPr marL="3756025" lvl="1" indent="-286385">
              <a:lnSpc>
                <a:spcPct val="100000"/>
              </a:lnSpc>
              <a:spcBef>
                <a:spcPts val="204"/>
              </a:spcBef>
              <a:buChar char="–"/>
              <a:tabLst>
                <a:tab pos="3756025" algn="l"/>
              </a:tabLst>
            </a:pP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place</a:t>
            </a:r>
            <a:r>
              <a:rPr sz="2000" spc="-2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component</a:t>
            </a:r>
            <a:endParaRPr sz="2000">
              <a:latin typeface="Arial MT"/>
              <a:cs typeface="Arial MT"/>
            </a:endParaRPr>
          </a:p>
          <a:p>
            <a:pPr marL="3355340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335534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Goal</a:t>
            </a:r>
            <a:r>
              <a:rPr sz="24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test</a:t>
            </a:r>
            <a:endParaRPr sz="2400">
              <a:latin typeface="Arial MT"/>
              <a:cs typeface="Arial MT"/>
            </a:endParaRPr>
          </a:p>
          <a:p>
            <a:pPr marL="3756025" lvl="1" indent="-286385">
              <a:lnSpc>
                <a:spcPct val="100000"/>
              </a:lnSpc>
              <a:spcBef>
                <a:spcPts val="210"/>
              </a:spcBef>
              <a:buChar char="–"/>
              <a:tabLst>
                <a:tab pos="3756025" algn="l"/>
              </a:tabLst>
            </a:pP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system</a:t>
            </a:r>
            <a:r>
              <a:rPr sz="2000" spc="-9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fully</a:t>
            </a:r>
            <a:r>
              <a:rPr sz="2000" spc="-6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assembled</a:t>
            </a:r>
            <a:endParaRPr sz="2000">
              <a:latin typeface="Arial MT"/>
              <a:cs typeface="Arial MT"/>
            </a:endParaRPr>
          </a:p>
          <a:p>
            <a:pPr marL="3355340" indent="-342900">
              <a:lnSpc>
                <a:spcPct val="100000"/>
              </a:lnSpc>
              <a:spcBef>
                <a:spcPts val="300"/>
              </a:spcBef>
              <a:buChar char="•"/>
              <a:tabLst>
                <a:tab pos="335534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Path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cost</a:t>
            </a:r>
            <a:endParaRPr sz="2400">
              <a:latin typeface="Arial MT"/>
              <a:cs typeface="Arial MT"/>
            </a:endParaRPr>
          </a:p>
          <a:p>
            <a:pPr marL="3756025" lvl="1" indent="-286385">
              <a:lnSpc>
                <a:spcPct val="100000"/>
              </a:lnSpc>
              <a:spcBef>
                <a:spcPts val="204"/>
              </a:spcBef>
              <a:buChar char="–"/>
              <a:tabLst>
                <a:tab pos="3756025" algn="l"/>
              </a:tabLst>
            </a:pP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number</a:t>
            </a:r>
            <a:r>
              <a:rPr sz="2000" spc="-7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3052"/>
                </a:solidFill>
                <a:latin typeface="Arial MT"/>
                <a:cs typeface="Arial MT"/>
              </a:rPr>
              <a:t>of</a:t>
            </a:r>
            <a:r>
              <a:rPr sz="2000" spc="-5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3052"/>
                </a:solidFill>
                <a:latin typeface="Arial MT"/>
                <a:cs typeface="Arial MT"/>
              </a:rPr>
              <a:t>moves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/>
        </p:nvGraphicFramePr>
        <p:xfrm>
          <a:off x="609600" y="228600"/>
          <a:ext cx="7924800" cy="617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object 17"/>
          <p:cNvSpPr txBox="1"/>
          <p:nvPr/>
        </p:nvSpPr>
        <p:spPr>
          <a:xfrm>
            <a:off x="990600" y="3124200"/>
            <a:ext cx="3096895" cy="22903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86995">
              <a:lnSpc>
                <a:spcPct val="100000"/>
              </a:lnSpc>
            </a:pP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Unin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fo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sz="2000" b="1" spc="-25" dirty="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earch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286385">
              <a:lnSpc>
                <a:spcPct val="100000"/>
              </a:lnSpc>
              <a:spcBef>
                <a:spcPts val="51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br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t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h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-fir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t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286385">
              <a:lnSpc>
                <a:spcPct val="100000"/>
              </a:lnSpc>
              <a:spcBef>
                <a:spcPts val="39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u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iform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cost</a:t>
            </a:r>
            <a:r>
              <a:rPr sz="1800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se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rch</a:t>
            </a:r>
          </a:p>
          <a:p>
            <a:pPr marL="525780" indent="-286385">
              <a:lnSpc>
                <a:spcPct val="100000"/>
              </a:lnSpc>
              <a:spcBef>
                <a:spcPts val="39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pt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h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first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286385">
              <a:lnSpc>
                <a:spcPct val="100000"/>
              </a:lnSpc>
              <a:spcBef>
                <a:spcPts val="50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dep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h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-l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ted</a:t>
            </a:r>
            <a:r>
              <a:rPr sz="1800" spc="-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rch</a:t>
            </a:r>
          </a:p>
          <a:p>
            <a:pPr marL="525780" indent="-286385">
              <a:lnSpc>
                <a:spcPct val="100000"/>
              </a:lnSpc>
              <a:spcBef>
                <a:spcPts val="39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iter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tive</a:t>
            </a:r>
            <a:r>
              <a:rPr sz="18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g</a:t>
            </a:r>
          </a:p>
          <a:p>
            <a:pPr marL="525780" indent="-286385">
              <a:lnSpc>
                <a:spcPct val="100000"/>
              </a:lnSpc>
              <a:spcBef>
                <a:spcPts val="300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bi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recti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l</a:t>
            </a:r>
            <a:r>
              <a:rPr sz="18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se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rch</a:t>
            </a:r>
          </a:p>
        </p:txBody>
      </p:sp>
      <p:sp>
        <p:nvSpPr>
          <p:cNvPr id="10" name="object 17"/>
          <p:cNvSpPr txBox="1"/>
          <p:nvPr/>
        </p:nvSpPr>
        <p:spPr>
          <a:xfrm>
            <a:off x="4876800" y="3103418"/>
            <a:ext cx="3096895" cy="9900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86995">
              <a:lnSpc>
                <a:spcPct val="100000"/>
              </a:lnSpc>
            </a:pPr>
            <a:r>
              <a:rPr lang="en-US" sz="2000" b="1" spc="-5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fo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sz="2000" b="1" spc="-25" dirty="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earch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286385">
              <a:lnSpc>
                <a:spcPct val="100000"/>
              </a:lnSpc>
              <a:spcBef>
                <a:spcPts val="51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lang="en-US" dirty="0">
                <a:solidFill>
                  <a:schemeClr val="tx1"/>
                </a:solidFill>
              </a:rPr>
              <a:t>Greedy best-first</a:t>
            </a:r>
          </a:p>
          <a:p>
            <a:pPr marL="525780" indent="-286385">
              <a:lnSpc>
                <a:spcPct val="100000"/>
              </a:lnSpc>
              <a:spcBef>
                <a:spcPts val="51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A*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667000" y="2438400"/>
            <a:ext cx="0" cy="685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400800" y="2438400"/>
            <a:ext cx="0" cy="685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2400" y="5414571"/>
            <a:ext cx="4419600" cy="169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marR="2152015" algn="ctr">
              <a:lnSpc>
                <a:spcPct val="100000"/>
              </a:lnSpc>
              <a:spcBef>
                <a:spcPts val="505"/>
              </a:spcBef>
              <a:buClr>
                <a:srgbClr val="000098"/>
              </a:buClr>
              <a:tabLst>
                <a:tab pos="286385" algn="l"/>
                <a:tab pos="756920" algn="l"/>
              </a:tabLst>
            </a:pPr>
            <a:r>
              <a:rPr lang="en-US" sz="1600" dirty="0">
                <a:latin typeface="Arial"/>
                <a:cs typeface="Arial"/>
              </a:rPr>
              <a:t>(blind</a:t>
            </a:r>
            <a:r>
              <a:rPr lang="en-US" sz="1600" spc="10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sear</a:t>
            </a:r>
            <a:r>
              <a:rPr lang="en-US" sz="1600" spc="-15" dirty="0">
                <a:latin typeface="Arial"/>
                <a:cs typeface="Arial"/>
              </a:rPr>
              <a:t>ch</a:t>
            </a:r>
            <a:r>
              <a:rPr lang="en-US" sz="1600" dirty="0">
                <a:latin typeface="Arial"/>
                <a:cs typeface="Arial"/>
              </a:rPr>
              <a:t>)</a:t>
            </a:r>
          </a:p>
          <a:p>
            <a:pPr marL="1155700" lvl="1" indent="-228600">
              <a:lnSpc>
                <a:spcPct val="100000"/>
              </a:lnSpc>
              <a:spcBef>
                <a:spcPts val="310"/>
              </a:spcBef>
              <a:buClr>
                <a:srgbClr val="000098"/>
              </a:buClr>
              <a:buFont typeface="Arial"/>
              <a:buChar char="•"/>
              <a:tabLst>
                <a:tab pos="1156335" algn="l"/>
              </a:tabLst>
            </a:pPr>
            <a:r>
              <a:rPr lang="en-US" sz="1600" spc="-5" dirty="0">
                <a:latin typeface="Arial"/>
                <a:cs typeface="Arial"/>
              </a:rPr>
              <a:t>n</a:t>
            </a:r>
            <a:r>
              <a:rPr lang="en-US" sz="1600" spc="-10" dirty="0">
                <a:latin typeface="Arial"/>
                <a:cs typeface="Arial"/>
              </a:rPr>
              <a:t>u</a:t>
            </a:r>
            <a:r>
              <a:rPr lang="en-US" sz="1600" dirty="0">
                <a:latin typeface="Arial"/>
                <a:cs typeface="Arial"/>
              </a:rPr>
              <a:t>mb</a:t>
            </a:r>
            <a:r>
              <a:rPr lang="en-US" sz="1600" spc="-10" dirty="0">
                <a:latin typeface="Arial"/>
                <a:cs typeface="Arial"/>
              </a:rPr>
              <a:t>e</a:t>
            </a:r>
            <a:r>
              <a:rPr lang="en-US" sz="1600" dirty="0">
                <a:latin typeface="Arial"/>
                <a:cs typeface="Arial"/>
              </a:rPr>
              <a:t>r</a:t>
            </a:r>
            <a:r>
              <a:rPr lang="en-US" sz="1600" spc="30" dirty="0">
                <a:latin typeface="Times New Roman"/>
                <a:cs typeface="Times New Roman"/>
              </a:rPr>
              <a:t> </a:t>
            </a:r>
            <a:r>
              <a:rPr lang="en-US" sz="1600" spc="-15" dirty="0">
                <a:latin typeface="Arial"/>
                <a:cs typeface="Arial"/>
              </a:rPr>
              <a:t>o</a:t>
            </a:r>
            <a:r>
              <a:rPr lang="en-US" sz="1600" spc="-5" dirty="0">
                <a:latin typeface="Arial"/>
                <a:cs typeface="Arial"/>
              </a:rPr>
              <a:t>f</a:t>
            </a:r>
            <a:r>
              <a:rPr lang="en-US" sz="1600" spc="25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ste</a:t>
            </a:r>
            <a:r>
              <a:rPr lang="en-US" sz="1600" spc="-10" dirty="0">
                <a:latin typeface="Arial"/>
                <a:cs typeface="Arial"/>
              </a:rPr>
              <a:t>ps,</a:t>
            </a:r>
            <a:r>
              <a:rPr lang="en-US" sz="1600" spc="2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p</a:t>
            </a:r>
            <a:r>
              <a:rPr lang="en-US" sz="1600" spc="-10" dirty="0">
                <a:latin typeface="Arial"/>
                <a:cs typeface="Arial"/>
              </a:rPr>
              <a:t>ath</a:t>
            </a:r>
            <a:r>
              <a:rPr lang="en-US" sz="1600" spc="40" dirty="0">
                <a:latin typeface="Times New Roman"/>
                <a:cs typeface="Times New Roman"/>
              </a:rPr>
              <a:t> </a:t>
            </a:r>
            <a:r>
              <a:rPr lang="en-US" sz="1600" spc="-10" dirty="0">
                <a:latin typeface="Arial"/>
                <a:cs typeface="Arial"/>
              </a:rPr>
              <a:t>cost</a:t>
            </a:r>
            <a:r>
              <a:rPr lang="en-US" sz="1600" spc="75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u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dirty="0">
                <a:latin typeface="Arial"/>
                <a:cs typeface="Arial"/>
              </a:rPr>
              <a:t>kn</a:t>
            </a:r>
            <a:r>
              <a:rPr lang="en-US" sz="1600" spc="-10" dirty="0">
                <a:latin typeface="Arial"/>
                <a:cs typeface="Arial"/>
              </a:rPr>
              <a:t>o</a:t>
            </a:r>
            <a:r>
              <a:rPr lang="en-US" sz="1600" spc="-40" dirty="0">
                <a:latin typeface="Arial"/>
                <a:cs typeface="Arial"/>
              </a:rPr>
              <a:t>w</a:t>
            </a:r>
            <a:r>
              <a:rPr lang="en-US" sz="1600" dirty="0">
                <a:latin typeface="Arial"/>
                <a:cs typeface="Arial"/>
              </a:rPr>
              <a:t>n</a:t>
            </a:r>
          </a:p>
          <a:p>
            <a:pPr marL="1155700" lvl="1" indent="-228600">
              <a:lnSpc>
                <a:spcPct val="100000"/>
              </a:lnSpc>
              <a:spcBef>
                <a:spcPts val="395"/>
              </a:spcBef>
              <a:buClr>
                <a:srgbClr val="000098"/>
              </a:buClr>
              <a:buFont typeface="Arial"/>
              <a:buChar char="•"/>
              <a:tabLst>
                <a:tab pos="1156335" algn="l"/>
              </a:tabLst>
            </a:pPr>
            <a:r>
              <a:rPr lang="en-US" sz="1600" spc="-5" dirty="0">
                <a:latin typeface="Arial"/>
                <a:cs typeface="Arial"/>
              </a:rPr>
              <a:t>a</a:t>
            </a:r>
            <a:r>
              <a:rPr lang="en-US" sz="1600" spc="-10" dirty="0">
                <a:latin typeface="Arial"/>
                <a:cs typeface="Arial"/>
              </a:rPr>
              <a:t>g</a:t>
            </a:r>
            <a:r>
              <a:rPr lang="en-US" sz="1600" spc="-5" dirty="0">
                <a:latin typeface="Arial"/>
                <a:cs typeface="Arial"/>
              </a:rPr>
              <a:t>e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spc="-5" dirty="0">
                <a:latin typeface="Arial"/>
                <a:cs typeface="Arial"/>
              </a:rPr>
              <a:t>t</a:t>
            </a:r>
            <a:r>
              <a:rPr lang="en-US" sz="1600" spc="30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kn</a:t>
            </a:r>
            <a:r>
              <a:rPr lang="en-US" sz="1600" spc="-10" dirty="0">
                <a:latin typeface="Arial"/>
                <a:cs typeface="Arial"/>
              </a:rPr>
              <a:t>o</a:t>
            </a:r>
            <a:r>
              <a:rPr lang="en-US" sz="1600" spc="-40" dirty="0">
                <a:latin typeface="Arial"/>
                <a:cs typeface="Arial"/>
              </a:rPr>
              <a:t>w</a:t>
            </a:r>
            <a:r>
              <a:rPr lang="en-US" sz="1600" dirty="0">
                <a:latin typeface="Arial"/>
                <a:cs typeface="Arial"/>
              </a:rPr>
              <a:t>s</a:t>
            </a:r>
            <a:r>
              <a:rPr lang="en-US" sz="1600" spc="60" dirty="0">
                <a:latin typeface="Times New Roman"/>
                <a:cs typeface="Times New Roman"/>
              </a:rPr>
              <a:t> </a:t>
            </a:r>
            <a:r>
              <a:rPr lang="en-US" sz="1600" spc="-40" dirty="0">
                <a:latin typeface="Arial"/>
                <a:cs typeface="Arial"/>
              </a:rPr>
              <a:t>w</a:t>
            </a:r>
            <a:r>
              <a:rPr lang="en-US" sz="1600" spc="-5" dirty="0">
                <a:latin typeface="Arial"/>
                <a:cs typeface="Arial"/>
              </a:rPr>
              <a:t>h</a:t>
            </a:r>
            <a:r>
              <a:rPr lang="en-US" sz="1600" spc="-10" dirty="0">
                <a:latin typeface="Arial"/>
                <a:cs typeface="Arial"/>
              </a:rPr>
              <a:t>e</a:t>
            </a:r>
            <a:r>
              <a:rPr lang="en-US" sz="1600" dirty="0">
                <a:latin typeface="Arial"/>
                <a:cs typeface="Arial"/>
              </a:rPr>
              <a:t>n</a:t>
            </a:r>
            <a:r>
              <a:rPr lang="en-US" sz="1600" spc="7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i</a:t>
            </a:r>
            <a:r>
              <a:rPr lang="en-US" sz="1600" dirty="0">
                <a:latin typeface="Arial"/>
                <a:cs typeface="Arial"/>
              </a:rPr>
              <a:t>t</a:t>
            </a:r>
            <a:r>
              <a:rPr lang="en-US" sz="1600" spc="40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re</a:t>
            </a:r>
            <a:r>
              <a:rPr lang="en-US" sz="1600" spc="-10" dirty="0">
                <a:latin typeface="Arial"/>
                <a:cs typeface="Arial"/>
              </a:rPr>
              <a:t>a</a:t>
            </a:r>
            <a:r>
              <a:rPr lang="en-US" sz="1600" dirty="0">
                <a:latin typeface="Arial"/>
                <a:cs typeface="Arial"/>
              </a:rPr>
              <a:t>ch</a:t>
            </a:r>
            <a:r>
              <a:rPr lang="en-US" sz="1600" spc="-10" dirty="0">
                <a:latin typeface="Arial"/>
                <a:cs typeface="Arial"/>
              </a:rPr>
              <a:t>e</a:t>
            </a:r>
            <a:r>
              <a:rPr lang="en-US" sz="1600" dirty="0">
                <a:latin typeface="Arial"/>
                <a:cs typeface="Arial"/>
              </a:rPr>
              <a:t>s</a:t>
            </a:r>
            <a:r>
              <a:rPr lang="en-US" sz="1600" spc="20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a</a:t>
            </a:r>
            <a:r>
              <a:rPr lang="en-US" sz="1600" spc="95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goal</a:t>
            </a:r>
            <a:endParaRPr lang="en-US" sz="16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468495" y="4343400"/>
            <a:ext cx="3352800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1805">
              <a:lnSpc>
                <a:spcPct val="100000"/>
              </a:lnSpc>
              <a:spcBef>
                <a:spcPts val="1080"/>
              </a:spcBef>
              <a:buClr>
                <a:srgbClr val="000098"/>
              </a:buClr>
              <a:tabLst>
                <a:tab pos="759460" algn="l"/>
              </a:tabLst>
            </a:pPr>
            <a:r>
              <a:rPr lang="en-US" sz="1600" dirty="0">
                <a:latin typeface="Arial"/>
                <a:cs typeface="Arial"/>
              </a:rPr>
              <a:t>(h</a:t>
            </a:r>
            <a:r>
              <a:rPr lang="en-US" sz="1600" spc="-5" dirty="0">
                <a:latin typeface="Arial"/>
                <a:cs typeface="Arial"/>
              </a:rPr>
              <a:t>euri</a:t>
            </a:r>
            <a:r>
              <a:rPr lang="en-US" sz="1600" spc="-10" dirty="0">
                <a:latin typeface="Arial"/>
                <a:cs typeface="Arial"/>
              </a:rPr>
              <a:t>s</a:t>
            </a:r>
            <a:r>
              <a:rPr lang="en-US" sz="1600" spc="-20" dirty="0">
                <a:latin typeface="Arial"/>
                <a:cs typeface="Arial"/>
              </a:rPr>
              <a:t>t</a:t>
            </a:r>
            <a:r>
              <a:rPr lang="en-US" sz="1600" spc="-5" dirty="0">
                <a:latin typeface="Arial"/>
                <a:cs typeface="Arial"/>
              </a:rPr>
              <a:t>i</a:t>
            </a:r>
            <a:r>
              <a:rPr lang="en-US" sz="1600" dirty="0">
                <a:latin typeface="Arial"/>
                <a:cs typeface="Arial"/>
              </a:rPr>
              <a:t>c</a:t>
            </a:r>
            <a:r>
              <a:rPr lang="en-US" sz="1600" spc="5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s</a:t>
            </a:r>
            <a:r>
              <a:rPr lang="en-US" sz="1600" spc="5" dirty="0">
                <a:latin typeface="Arial"/>
                <a:cs typeface="Arial"/>
              </a:rPr>
              <a:t>e</a:t>
            </a:r>
            <a:r>
              <a:rPr lang="en-US" sz="1600" spc="-5" dirty="0">
                <a:latin typeface="Arial"/>
                <a:cs typeface="Arial"/>
              </a:rPr>
              <a:t>ar</a:t>
            </a:r>
            <a:r>
              <a:rPr lang="en-US" sz="1600" spc="-15" dirty="0">
                <a:latin typeface="Arial"/>
                <a:cs typeface="Arial"/>
              </a:rPr>
              <a:t>c</a:t>
            </a:r>
            <a:r>
              <a:rPr lang="en-US" sz="1600" spc="-5" dirty="0">
                <a:latin typeface="Arial"/>
                <a:cs typeface="Arial"/>
              </a:rPr>
              <a:t>h)</a:t>
            </a:r>
            <a:endParaRPr lang="en-US" sz="1600" dirty="0">
              <a:latin typeface="Arial"/>
              <a:cs typeface="Arial"/>
            </a:endParaRPr>
          </a:p>
          <a:p>
            <a:pPr marL="1158240" lvl="1" indent="-229235">
              <a:lnSpc>
                <a:spcPct val="100000"/>
              </a:lnSpc>
              <a:spcBef>
                <a:spcPts val="305"/>
              </a:spcBef>
              <a:buClr>
                <a:srgbClr val="000098"/>
              </a:buClr>
              <a:buFont typeface="Arial"/>
              <a:buChar char="•"/>
              <a:tabLst>
                <a:tab pos="1158875" algn="l"/>
              </a:tabLst>
            </a:pPr>
            <a:r>
              <a:rPr lang="en-US" sz="1600" spc="-5" dirty="0">
                <a:latin typeface="Arial"/>
                <a:cs typeface="Arial"/>
              </a:rPr>
              <a:t>a</a:t>
            </a:r>
            <a:r>
              <a:rPr lang="en-US" sz="1600" spc="-10" dirty="0">
                <a:latin typeface="Arial"/>
                <a:cs typeface="Arial"/>
              </a:rPr>
              <a:t>g</a:t>
            </a:r>
            <a:r>
              <a:rPr lang="en-US" sz="1600" spc="-5" dirty="0">
                <a:latin typeface="Arial"/>
                <a:cs typeface="Arial"/>
              </a:rPr>
              <a:t>e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spc="-5" dirty="0">
                <a:latin typeface="Arial"/>
                <a:cs typeface="Arial"/>
              </a:rPr>
              <a:t>t</a:t>
            </a:r>
            <a:r>
              <a:rPr lang="en-US" sz="1600" spc="3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h</a:t>
            </a:r>
            <a:r>
              <a:rPr lang="en-US" sz="1600" spc="-10" dirty="0">
                <a:latin typeface="Arial"/>
                <a:cs typeface="Arial"/>
              </a:rPr>
              <a:t>a</a:t>
            </a:r>
            <a:r>
              <a:rPr lang="en-US" sz="1600" dirty="0">
                <a:latin typeface="Arial"/>
                <a:cs typeface="Arial"/>
              </a:rPr>
              <a:t>s</a:t>
            </a:r>
            <a:r>
              <a:rPr lang="en-US" sz="1600" spc="4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b</a:t>
            </a:r>
            <a:r>
              <a:rPr lang="en-US" sz="1600" spc="-10" dirty="0">
                <a:latin typeface="Arial"/>
                <a:cs typeface="Arial"/>
              </a:rPr>
              <a:t>a</a:t>
            </a:r>
            <a:r>
              <a:rPr lang="en-US" sz="1600" dirty="0">
                <a:latin typeface="Arial"/>
                <a:cs typeface="Arial"/>
              </a:rPr>
              <a:t>ckgr</a:t>
            </a:r>
            <a:r>
              <a:rPr lang="en-US" sz="1600" spc="-10" dirty="0">
                <a:latin typeface="Arial"/>
                <a:cs typeface="Arial"/>
              </a:rPr>
              <a:t>o</a:t>
            </a:r>
            <a:r>
              <a:rPr lang="en-US" sz="1600" spc="-5" dirty="0">
                <a:latin typeface="Arial"/>
                <a:cs typeface="Arial"/>
              </a:rPr>
              <a:t>u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dirty="0">
                <a:latin typeface="Arial"/>
                <a:cs typeface="Arial"/>
              </a:rPr>
              <a:t>d</a:t>
            </a:r>
            <a:r>
              <a:rPr lang="en-US" sz="1600" spc="1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i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dirty="0">
                <a:latin typeface="Arial"/>
                <a:cs typeface="Arial"/>
              </a:rPr>
              <a:t>formati</a:t>
            </a:r>
            <a:r>
              <a:rPr lang="en-US" sz="1600" spc="-15" dirty="0">
                <a:latin typeface="Arial"/>
                <a:cs typeface="Arial"/>
              </a:rPr>
              <a:t>o</a:t>
            </a:r>
            <a:r>
              <a:rPr lang="en-US" sz="1600" dirty="0">
                <a:latin typeface="Arial"/>
                <a:cs typeface="Arial"/>
              </a:rPr>
              <a:t>n</a:t>
            </a:r>
            <a:r>
              <a:rPr lang="en-US" sz="1600" spc="1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a</a:t>
            </a:r>
            <a:r>
              <a:rPr lang="en-US" sz="1600" spc="-10" dirty="0">
                <a:latin typeface="Arial"/>
                <a:cs typeface="Arial"/>
              </a:rPr>
              <a:t>b</a:t>
            </a:r>
            <a:r>
              <a:rPr lang="en-US" sz="1600" spc="-5" dirty="0">
                <a:latin typeface="Arial"/>
                <a:cs typeface="Arial"/>
              </a:rPr>
              <a:t>o</a:t>
            </a:r>
            <a:r>
              <a:rPr lang="en-US" sz="1600" spc="-10" dirty="0">
                <a:latin typeface="Arial"/>
                <a:cs typeface="Arial"/>
              </a:rPr>
              <a:t>u</a:t>
            </a:r>
            <a:r>
              <a:rPr lang="en-US" sz="1600" spc="-5" dirty="0">
                <a:latin typeface="Arial"/>
                <a:cs typeface="Arial"/>
              </a:rPr>
              <a:t>t</a:t>
            </a:r>
            <a:r>
              <a:rPr lang="en-US" sz="1600" spc="35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the</a:t>
            </a:r>
            <a:r>
              <a:rPr lang="en-US" sz="1600" spc="55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pr</a:t>
            </a:r>
            <a:r>
              <a:rPr lang="en-US" sz="1600" spc="-10" dirty="0">
                <a:latin typeface="Arial"/>
                <a:cs typeface="Arial"/>
              </a:rPr>
              <a:t>o</a:t>
            </a:r>
            <a:r>
              <a:rPr lang="en-US" sz="1600" spc="-5" dirty="0">
                <a:latin typeface="Arial"/>
                <a:cs typeface="Arial"/>
              </a:rPr>
              <a:t>b</a:t>
            </a:r>
            <a:r>
              <a:rPr lang="en-US" sz="1600" spc="-10" dirty="0">
                <a:latin typeface="Arial"/>
                <a:cs typeface="Arial"/>
              </a:rPr>
              <a:t>l</a:t>
            </a:r>
            <a:r>
              <a:rPr lang="en-US" sz="1600" spc="-5" dirty="0">
                <a:latin typeface="Arial"/>
                <a:cs typeface="Arial"/>
              </a:rPr>
              <a:t>em</a:t>
            </a:r>
            <a:endParaRPr lang="en-US" sz="1600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216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3100" y="5953868"/>
            <a:ext cx="91694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node</a:t>
            </a:r>
            <a:r>
              <a:rPr sz="2800" spc="-5" dirty="0">
                <a:solidFill>
                  <a:srgbClr val="000090"/>
                </a:solidFill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0892" y="6453645"/>
            <a:ext cx="29845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fld id="{81D60167-4931-47E6-BA6A-407CBD079E47}" type="slidenum">
              <a:rPr sz="1800" u="heavy" spc="-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21</a:t>
            </a:fld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2212" y="172193"/>
            <a:ext cx="8637905" cy="5781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Uninformed (Blind</a:t>
            </a:r>
            <a:r>
              <a:rPr sz="2800" b="1" spc="2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Search)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2645"/>
              </a:spcBef>
              <a:buChar char="•"/>
              <a:tabLst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Uninformed </a:t>
            </a:r>
            <a:r>
              <a:rPr sz="2800" spc="-5" dirty="0">
                <a:latin typeface="Arial"/>
                <a:cs typeface="Arial"/>
              </a:rPr>
              <a:t>Search </a:t>
            </a:r>
            <a:r>
              <a:rPr sz="2800" dirty="0">
                <a:latin typeface="Arial"/>
                <a:cs typeface="Arial"/>
              </a:rPr>
              <a:t>does </a:t>
            </a:r>
            <a:r>
              <a:rPr sz="2800" spc="-5" dirty="0">
                <a:latin typeface="Arial"/>
                <a:cs typeface="Arial"/>
              </a:rPr>
              <a:t>not contain </a:t>
            </a:r>
            <a:r>
              <a:rPr sz="2800" dirty="0">
                <a:latin typeface="Arial"/>
                <a:cs typeface="Arial"/>
              </a:rPr>
              <a:t>any 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domain knowledge </a:t>
            </a:r>
            <a:r>
              <a:rPr sz="2800" spc="-5" dirty="0">
                <a:latin typeface="Arial"/>
                <a:cs typeface="Arial"/>
              </a:rPr>
              <a:t>such as </a:t>
            </a:r>
            <a:r>
              <a:rPr sz="2800" dirty="0">
                <a:latin typeface="Arial"/>
                <a:cs typeface="Arial"/>
              </a:rPr>
              <a:t>closeness </a:t>
            </a:r>
            <a:r>
              <a:rPr sz="2800" spc="-5" dirty="0">
                <a:latin typeface="Arial"/>
                <a:cs typeface="Arial"/>
              </a:rPr>
              <a:t>or location of  </a:t>
            </a:r>
            <a:r>
              <a:rPr sz="2800" dirty="0">
                <a:latin typeface="Arial"/>
                <a:cs typeface="Arial"/>
              </a:rPr>
              <a:t>goal.</a:t>
            </a:r>
          </a:p>
          <a:p>
            <a:pPr>
              <a:lnSpc>
                <a:spcPct val="100000"/>
              </a:lnSpc>
              <a:spcBef>
                <a:spcPts val="15"/>
              </a:spcBef>
              <a:buChar char="•"/>
            </a:pPr>
            <a:endParaRPr sz="2650" dirty="0">
              <a:latin typeface="Arial"/>
              <a:cs typeface="Arial"/>
            </a:endParaRPr>
          </a:p>
          <a:p>
            <a:pPr marL="469900" marR="6350" indent="-457200" algn="just">
              <a:lnSpc>
                <a:spcPts val="3030"/>
              </a:lnSpc>
              <a:buChar char="•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It operates </a:t>
            </a:r>
            <a:r>
              <a:rPr sz="2800" spc="-5" dirty="0">
                <a:latin typeface="Arial"/>
                <a:cs typeface="Arial"/>
              </a:rPr>
              <a:t>in a </a:t>
            </a:r>
            <a:r>
              <a:rPr sz="2800" dirty="0">
                <a:latin typeface="Arial"/>
                <a:cs typeface="Arial"/>
              </a:rPr>
              <a:t>brute force </a:t>
            </a:r>
            <a:r>
              <a:rPr sz="2800" spc="-5" dirty="0">
                <a:latin typeface="Arial"/>
                <a:cs typeface="Arial"/>
              </a:rPr>
              <a:t>way, as </a:t>
            </a:r>
            <a:r>
              <a:rPr sz="2800" spc="-10" dirty="0">
                <a:latin typeface="Arial"/>
                <a:cs typeface="Arial"/>
              </a:rPr>
              <a:t>it </a:t>
            </a:r>
            <a:r>
              <a:rPr sz="2800" dirty="0">
                <a:latin typeface="Arial"/>
                <a:cs typeface="Arial"/>
              </a:rPr>
              <a:t>only </a:t>
            </a:r>
            <a:r>
              <a:rPr sz="2800" spc="-5" dirty="0">
                <a:latin typeface="Arial"/>
                <a:cs typeface="Arial"/>
              </a:rPr>
              <a:t>includes  </a:t>
            </a:r>
            <a:r>
              <a:rPr sz="2800" dirty="0">
                <a:latin typeface="Arial"/>
                <a:cs typeface="Arial"/>
              </a:rPr>
              <a:t>information about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how </a:t>
            </a:r>
            <a:r>
              <a:rPr sz="2800" spc="-5" dirty="0">
                <a:solidFill>
                  <a:schemeClr val="tx2"/>
                </a:solidFill>
                <a:latin typeface="Arial"/>
                <a:cs typeface="Arial"/>
              </a:rPr>
              <a:t>to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traverse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tree and how  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identify </a:t>
            </a:r>
            <a:r>
              <a:rPr sz="2800" spc="-5" dirty="0">
                <a:solidFill>
                  <a:schemeClr val="tx2"/>
                </a:solidFill>
                <a:latin typeface="Arial"/>
                <a:cs typeface="Arial"/>
              </a:rPr>
              <a:t>leaf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and goal</a:t>
            </a:r>
            <a:r>
              <a:rPr sz="2800" spc="3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nodes</a:t>
            </a:r>
            <a:r>
              <a:rPr sz="280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30"/>
              </a:spcBef>
              <a:buChar char="•"/>
            </a:pPr>
            <a:endParaRPr sz="2600" dirty="0">
              <a:latin typeface="Arial"/>
              <a:cs typeface="Arial"/>
            </a:endParaRPr>
          </a:p>
          <a:p>
            <a:pPr marL="469900" marR="5080" indent="-457200" algn="just">
              <a:lnSpc>
                <a:spcPts val="3020"/>
              </a:lnSpc>
              <a:buChar char="•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Uninformed Search applies </a:t>
            </a:r>
            <a:r>
              <a:rPr sz="2800" spc="-5" dirty="0">
                <a:latin typeface="Arial"/>
                <a:cs typeface="Arial"/>
              </a:rPr>
              <a:t>a way in which </a:t>
            </a:r>
            <a:r>
              <a:rPr sz="2800" dirty="0">
                <a:latin typeface="Arial"/>
                <a:cs typeface="Arial"/>
              </a:rPr>
              <a:t>search  tree </a:t>
            </a:r>
            <a:r>
              <a:rPr sz="2800" spc="-5" dirty="0">
                <a:latin typeface="Arial"/>
                <a:cs typeface="Arial"/>
              </a:rPr>
              <a:t>is searched without </a:t>
            </a:r>
            <a:r>
              <a:rPr sz="2800" dirty="0">
                <a:latin typeface="Arial"/>
                <a:cs typeface="Arial"/>
              </a:rPr>
              <a:t>any information, so </a:t>
            </a:r>
            <a:r>
              <a:rPr sz="2800" spc="-5" dirty="0">
                <a:latin typeface="Arial"/>
                <a:cs typeface="Arial"/>
              </a:rPr>
              <a:t>it </a:t>
            </a:r>
            <a:r>
              <a:rPr sz="2800" spc="-15" dirty="0">
                <a:latin typeface="Arial"/>
                <a:cs typeface="Arial"/>
              </a:rPr>
              <a:t>is  </a:t>
            </a:r>
            <a:r>
              <a:rPr sz="2800" spc="-5" dirty="0">
                <a:latin typeface="Arial"/>
                <a:cs typeface="Arial"/>
              </a:rPr>
              <a:t>called </a:t>
            </a:r>
            <a:r>
              <a:rPr sz="2800" spc="-5" dirty="0">
                <a:solidFill>
                  <a:schemeClr val="tx2"/>
                </a:solidFill>
                <a:latin typeface="Arial"/>
                <a:cs typeface="Arial"/>
              </a:rPr>
              <a:t>blind</a:t>
            </a:r>
            <a:r>
              <a:rPr sz="2800" spc="2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search.</a:t>
            </a:r>
          </a:p>
          <a:p>
            <a:pPr marL="469900" indent="-457200">
              <a:lnSpc>
                <a:spcPct val="100000"/>
              </a:lnSpc>
              <a:spcBef>
                <a:spcPts val="2655"/>
              </a:spcBef>
              <a:buChar char="•"/>
              <a:tabLst>
                <a:tab pos="469265" algn="l"/>
                <a:tab pos="469900" algn="l"/>
                <a:tab pos="850900" algn="l"/>
                <a:tab pos="2557780" algn="l"/>
                <a:tab pos="3512185" algn="l"/>
                <a:tab pos="4487545" algn="l"/>
                <a:tab pos="5324475" algn="l"/>
                <a:tab pos="5685790" algn="l"/>
                <a:tab pos="7272655" algn="l"/>
                <a:tab pos="7949565" algn="l"/>
              </a:tabLst>
            </a:pPr>
            <a:r>
              <a:rPr sz="2800" spc="-5" dirty="0">
                <a:latin typeface="Arial"/>
                <a:cs typeface="Arial"/>
              </a:rPr>
              <a:t>It	exami</a:t>
            </a:r>
            <a:r>
              <a:rPr sz="2800" spc="15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es</a:t>
            </a:r>
            <a:r>
              <a:rPr sz="2800" dirty="0">
                <a:latin typeface="Arial"/>
                <a:cs typeface="Arial"/>
              </a:rPr>
              <a:t>	eac</a:t>
            </a:r>
            <a:r>
              <a:rPr sz="2800" spc="-5" dirty="0">
                <a:latin typeface="Arial"/>
                <a:cs typeface="Arial"/>
              </a:rPr>
              <a:t>h</a:t>
            </a:r>
            <a:r>
              <a:rPr sz="2800" dirty="0">
                <a:latin typeface="Arial"/>
                <a:cs typeface="Arial"/>
              </a:rPr>
              <a:t>	nod</a:t>
            </a:r>
            <a:r>
              <a:rPr sz="2800" spc="-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u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til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it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achi</a:t>
            </a:r>
            <a:r>
              <a:rPr sz="2800" spc="5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v</a:t>
            </a:r>
            <a:r>
              <a:rPr sz="2800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the</a:t>
            </a:r>
            <a:r>
              <a:rPr sz="2800" dirty="0">
                <a:latin typeface="Arial"/>
                <a:cs typeface="Arial"/>
              </a:rPr>
              <a:t>	goal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573" y="304800"/>
            <a:ext cx="8220709" cy="11886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65"/>
              </a:lnSpc>
              <a:spcBef>
                <a:spcPts val="95"/>
              </a:spcBef>
            </a:pP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Evaluation of Search</a:t>
            </a:r>
            <a:r>
              <a:rPr sz="2800" b="1" spc="-4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Strategies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638175" marR="5080">
              <a:lnSpc>
                <a:spcPct val="77200"/>
              </a:lnSpc>
              <a:spcBef>
                <a:spcPts val="670"/>
              </a:spcBef>
            </a:pP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search </a:t>
            </a:r>
            <a:r>
              <a:rPr sz="2800" spc="-5" dirty="0">
                <a:latin typeface="Arial"/>
                <a:cs typeface="Arial"/>
              </a:rPr>
              <a:t>strategy is </a:t>
            </a:r>
            <a:r>
              <a:rPr sz="2800" dirty="0">
                <a:latin typeface="Arial"/>
                <a:cs typeface="Arial"/>
              </a:rPr>
              <a:t>defined </a:t>
            </a:r>
            <a:r>
              <a:rPr sz="2800" spc="-5" dirty="0">
                <a:latin typeface="Arial"/>
                <a:cs typeface="Arial"/>
              </a:rPr>
              <a:t>by </a:t>
            </a:r>
            <a:r>
              <a:rPr sz="2800" dirty="0">
                <a:latin typeface="Arial"/>
                <a:cs typeface="Arial"/>
              </a:rPr>
              <a:t>picking </a:t>
            </a:r>
            <a:r>
              <a:rPr sz="2800" spc="-5" dirty="0">
                <a:latin typeface="Arial"/>
                <a:cs typeface="Arial"/>
              </a:rPr>
              <a:t>the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order 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5" dirty="0">
                <a:latin typeface="Arial"/>
                <a:cs typeface="Arial"/>
              </a:rPr>
              <a:t>node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expansion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7494" y="1639246"/>
            <a:ext cx="6920865" cy="273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Strategies </a:t>
            </a:r>
            <a:r>
              <a:rPr sz="2800" spc="-5" dirty="0">
                <a:latin typeface="Arial"/>
                <a:cs typeface="Arial"/>
              </a:rPr>
              <a:t>are </a:t>
            </a:r>
            <a:r>
              <a:rPr sz="2800" dirty="0">
                <a:latin typeface="Arial"/>
                <a:cs typeface="Arial"/>
              </a:rPr>
              <a:t>evaluated </a:t>
            </a:r>
            <a:r>
              <a:rPr sz="2800" spc="-5" dirty="0">
                <a:latin typeface="Arial"/>
                <a:cs typeface="Arial"/>
              </a:rPr>
              <a:t>along the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following  </a:t>
            </a:r>
            <a:r>
              <a:rPr sz="2800" spc="-5" dirty="0">
                <a:latin typeface="Arial"/>
                <a:cs typeface="Arial"/>
              </a:rPr>
              <a:t>dimensions:</a:t>
            </a:r>
            <a:endParaRPr sz="2800" dirty="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225"/>
              </a:spcBef>
              <a:buChar char="•"/>
              <a:tabLst>
                <a:tab pos="1156335" algn="l"/>
              </a:tabLst>
            </a:pP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Completeness: </a:t>
            </a:r>
            <a:r>
              <a:rPr sz="1800" dirty="0">
                <a:latin typeface="Arial"/>
                <a:cs typeface="Arial"/>
              </a:rPr>
              <a:t>if </a:t>
            </a:r>
            <a:r>
              <a:rPr sz="1800" spc="-5" dirty="0">
                <a:latin typeface="Arial"/>
                <a:cs typeface="Arial"/>
              </a:rPr>
              <a:t>there is a solution, </a:t>
            </a:r>
            <a:r>
              <a:rPr sz="1800" spc="-25" dirty="0">
                <a:latin typeface="Arial"/>
                <a:cs typeface="Arial"/>
              </a:rPr>
              <a:t>will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be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found</a:t>
            </a:r>
            <a:endParaRPr sz="1800" dirty="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190"/>
              </a:spcBef>
              <a:buChar char="•"/>
              <a:tabLst>
                <a:tab pos="1156335" algn="l"/>
              </a:tabLst>
            </a:pPr>
            <a:r>
              <a:rPr sz="2400" spc="-45" dirty="0">
                <a:solidFill>
                  <a:schemeClr val="tx2"/>
                </a:solidFill>
                <a:latin typeface="Arial"/>
                <a:cs typeface="Arial"/>
              </a:rPr>
              <a:t>Time 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complexity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1800" spc="-5" dirty="0">
                <a:latin typeface="Arial"/>
                <a:cs typeface="Arial"/>
              </a:rPr>
              <a:t>How </a:t>
            </a:r>
            <a:r>
              <a:rPr sz="1800" spc="-10" dirty="0">
                <a:latin typeface="Arial"/>
                <a:cs typeface="Arial"/>
              </a:rPr>
              <a:t>long does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takes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find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</a:p>
          <a:p>
            <a:pPr marL="1155700">
              <a:lnSpc>
                <a:spcPct val="100000"/>
              </a:lnSpc>
              <a:spcBef>
                <a:spcPts val="30"/>
              </a:spcBef>
            </a:pPr>
            <a:r>
              <a:rPr sz="1800" spc="-5" dirty="0">
                <a:latin typeface="Arial"/>
                <a:cs typeface="Arial"/>
              </a:rPr>
              <a:t>solution</a:t>
            </a:r>
            <a:endParaRPr sz="1800" dirty="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275"/>
              </a:spcBef>
              <a:buChar char="•"/>
              <a:tabLst>
                <a:tab pos="1156335" algn="l"/>
              </a:tabLst>
            </a:pP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Space complexity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1800" spc="-5" dirty="0">
                <a:latin typeface="Arial"/>
                <a:cs typeface="Arial"/>
              </a:rPr>
              <a:t>memory required </a:t>
            </a:r>
            <a:r>
              <a:rPr sz="1800" dirty="0">
                <a:latin typeface="Arial"/>
                <a:cs typeface="Arial"/>
              </a:rPr>
              <a:t>for the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search</a:t>
            </a:r>
            <a:endParaRPr sz="1800" dirty="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204"/>
              </a:spcBef>
              <a:buChar char="•"/>
              <a:tabLst>
                <a:tab pos="1156335" algn="l"/>
              </a:tabLst>
            </a:pP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Optimality: </a:t>
            </a:r>
            <a:r>
              <a:rPr sz="1800" spc="-25" dirty="0">
                <a:latin typeface="Arial"/>
                <a:cs typeface="Arial"/>
              </a:rPr>
              <a:t>will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best solution be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found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4151" y="4372286"/>
            <a:ext cx="7412355" cy="2066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815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Arial"/>
                <a:cs typeface="Arial"/>
              </a:rPr>
              <a:t>Time </a:t>
            </a:r>
            <a:r>
              <a:rPr sz="2800" spc="-5" dirty="0">
                <a:latin typeface="Arial"/>
                <a:cs typeface="Arial"/>
              </a:rPr>
              <a:t>and </a:t>
            </a:r>
            <a:r>
              <a:rPr sz="2800" dirty="0">
                <a:latin typeface="Arial"/>
                <a:cs typeface="Arial"/>
              </a:rPr>
              <a:t>space complexity </a:t>
            </a:r>
            <a:r>
              <a:rPr sz="2800" spc="-5" dirty="0">
                <a:latin typeface="Arial"/>
                <a:cs typeface="Arial"/>
              </a:rPr>
              <a:t>are measured in  </a:t>
            </a:r>
            <a:r>
              <a:rPr sz="2800" dirty="0">
                <a:latin typeface="Arial"/>
                <a:cs typeface="Arial"/>
              </a:rPr>
              <a:t>terms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of</a:t>
            </a:r>
            <a:endParaRPr sz="2800" dirty="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i="1" spc="-5" dirty="0">
                <a:latin typeface="Arial"/>
                <a:cs typeface="Arial"/>
              </a:rPr>
              <a:t>b: </a:t>
            </a:r>
            <a:r>
              <a:rPr sz="2400" spc="-5" dirty="0">
                <a:latin typeface="Arial"/>
                <a:cs typeface="Arial"/>
              </a:rPr>
              <a:t>maximum branching </a:t>
            </a:r>
            <a:r>
              <a:rPr sz="2400" dirty="0">
                <a:latin typeface="Arial"/>
                <a:cs typeface="Arial"/>
              </a:rPr>
              <a:t>factor of the </a:t>
            </a:r>
            <a:r>
              <a:rPr sz="2400" spc="-5" dirty="0">
                <a:latin typeface="Arial"/>
                <a:cs typeface="Arial"/>
              </a:rPr>
              <a:t>search</a:t>
            </a:r>
            <a:r>
              <a:rPr sz="2400" spc="-1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tree</a:t>
            </a:r>
          </a:p>
          <a:p>
            <a:pPr marL="756285" indent="-287020">
              <a:lnSpc>
                <a:spcPct val="100000"/>
              </a:lnSpc>
              <a:spcBef>
                <a:spcPts val="300"/>
              </a:spcBef>
              <a:buFont typeface="Arial"/>
              <a:buChar char="–"/>
              <a:tabLst>
                <a:tab pos="756920" algn="l"/>
              </a:tabLst>
            </a:pPr>
            <a:r>
              <a:rPr sz="2400" i="1" spc="-5" dirty="0">
                <a:latin typeface="Arial"/>
                <a:cs typeface="Arial"/>
              </a:rPr>
              <a:t>d: </a:t>
            </a:r>
            <a:r>
              <a:rPr sz="2400" spc="-5" dirty="0">
                <a:latin typeface="Arial"/>
                <a:cs typeface="Arial"/>
              </a:rPr>
              <a:t>depth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the least-cost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solution</a:t>
            </a:r>
            <a:endParaRPr sz="2400" dirty="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04"/>
              </a:spcBef>
              <a:buFont typeface="Arial"/>
              <a:buChar char="–"/>
              <a:tabLst>
                <a:tab pos="756920" algn="l"/>
              </a:tabLst>
            </a:pPr>
            <a:r>
              <a:rPr sz="2400" i="1" spc="-10" dirty="0">
                <a:latin typeface="Arial"/>
                <a:cs typeface="Arial"/>
              </a:rPr>
              <a:t>m</a:t>
            </a:r>
            <a:r>
              <a:rPr sz="2400" spc="-10" dirty="0">
                <a:latin typeface="Arial"/>
                <a:cs typeface="Arial"/>
              </a:rPr>
              <a:t>: </a:t>
            </a:r>
            <a:r>
              <a:rPr sz="2400" spc="-5" dirty="0">
                <a:latin typeface="Arial"/>
                <a:cs typeface="Arial"/>
              </a:rPr>
              <a:t>maximum depth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state </a:t>
            </a:r>
            <a:r>
              <a:rPr sz="2400" spc="-5" dirty="0">
                <a:latin typeface="Arial"/>
                <a:cs typeface="Arial"/>
              </a:rPr>
              <a:t>space </a:t>
            </a:r>
            <a:r>
              <a:rPr sz="2400" dirty="0">
                <a:latin typeface="Arial"/>
                <a:cs typeface="Arial"/>
              </a:rPr>
              <a:t>(may </a:t>
            </a:r>
            <a:r>
              <a:rPr sz="2400" spc="-5" dirty="0">
                <a:latin typeface="Arial"/>
                <a:cs typeface="Arial"/>
              </a:rPr>
              <a:t>be</a:t>
            </a:r>
            <a:r>
              <a:rPr sz="2400" spc="-2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∞)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491" y="264922"/>
            <a:ext cx="571550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Searching</a:t>
            </a:r>
            <a:r>
              <a:rPr spc="-90" dirty="0"/>
              <a:t> </a:t>
            </a:r>
            <a:r>
              <a:rPr dirty="0"/>
              <a:t>for</a:t>
            </a:r>
            <a:r>
              <a:rPr spc="-150" dirty="0"/>
              <a:t> </a:t>
            </a:r>
            <a:r>
              <a:rPr spc="-10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985497"/>
            <a:ext cx="7522209" cy="5368777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5"/>
              </a:spcBef>
              <a:buFont typeface="Wingdings" pitchFamily="2" charset="2"/>
              <a:buChar char="Ø"/>
            </a:pP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Traversal</a:t>
            </a:r>
            <a:r>
              <a:rPr sz="24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search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space</a:t>
            </a:r>
            <a:endParaRPr sz="24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509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From</a:t>
            </a:r>
            <a:r>
              <a:rPr sz="20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initial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r>
              <a:rPr sz="20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goal</a:t>
            </a:r>
            <a:r>
              <a:rPr sz="20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Legal</a:t>
            </a:r>
            <a:r>
              <a:rPr sz="20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sequence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actions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0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defined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by</a:t>
            </a:r>
            <a:r>
              <a:rPr sz="20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successor</a:t>
            </a:r>
            <a:r>
              <a:rPr sz="2000" spc="-1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35"/>
              </a:spcBef>
              <a:buFont typeface="Arial MT"/>
              <a:buChar char="–"/>
            </a:pPr>
            <a:endParaRPr sz="20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Wingdings" pitchFamily="2" charset="2"/>
              <a:buChar char="Ø"/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General</a:t>
            </a:r>
            <a:r>
              <a:rPr sz="2400" spc="-10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procedure</a:t>
            </a:r>
            <a:endParaRPr sz="24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509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Check</a:t>
            </a:r>
            <a:r>
              <a:rPr sz="20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for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goal</a:t>
            </a:r>
            <a:r>
              <a:rPr sz="20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endParaRPr sz="20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50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Expand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current</a:t>
            </a:r>
            <a:r>
              <a:rPr sz="20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endParaRPr sz="2000" dirty="0">
              <a:latin typeface="Arial MT"/>
              <a:cs typeface="Arial MT"/>
            </a:endParaRPr>
          </a:p>
          <a:p>
            <a:pPr marL="1155065" lvl="1" indent="-227965">
              <a:lnSpc>
                <a:spcPct val="100000"/>
              </a:lnSpc>
              <a:spcBef>
                <a:spcPts val="405"/>
              </a:spcBef>
              <a:buChar char="•"/>
              <a:tabLst>
                <a:tab pos="1155065" algn="l"/>
              </a:tabLst>
            </a:pP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Determine</a:t>
            </a:r>
            <a:r>
              <a:rPr sz="18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18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set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8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reachable</a:t>
            </a:r>
            <a:r>
              <a:rPr sz="18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 MT"/>
                <a:cs typeface="Arial MT"/>
              </a:rPr>
              <a:t>states</a:t>
            </a:r>
            <a:endParaRPr sz="1800" dirty="0">
              <a:latin typeface="Arial MT"/>
              <a:cs typeface="Arial MT"/>
            </a:endParaRPr>
          </a:p>
          <a:p>
            <a:pPr marL="1155065" lvl="1" indent="-227965">
              <a:lnSpc>
                <a:spcPct val="100000"/>
              </a:lnSpc>
              <a:spcBef>
                <a:spcPts val="395"/>
              </a:spcBef>
              <a:buChar char="•"/>
              <a:tabLst>
                <a:tab pos="1155065" algn="l"/>
              </a:tabLst>
            </a:pP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Return</a:t>
            </a:r>
            <a:r>
              <a:rPr sz="18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“failure”</a:t>
            </a:r>
            <a:r>
              <a:rPr sz="1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18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set</a:t>
            </a:r>
            <a:r>
              <a:rPr sz="18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 MT"/>
                <a:cs typeface="Arial MT"/>
              </a:rPr>
              <a:t>empty</a:t>
            </a:r>
            <a:endParaRPr sz="18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40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Select</a:t>
            </a:r>
            <a:r>
              <a:rPr sz="20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one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from</a:t>
            </a:r>
            <a:r>
              <a:rPr sz="20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set</a:t>
            </a:r>
            <a:r>
              <a:rPr sz="20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reachable</a:t>
            </a:r>
            <a:r>
              <a:rPr sz="20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states</a:t>
            </a:r>
            <a:endParaRPr sz="20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Move</a:t>
            </a:r>
            <a:r>
              <a:rPr sz="20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selected</a:t>
            </a:r>
            <a:r>
              <a:rPr sz="20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endParaRPr lang="en-US"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Wingdings" pitchFamily="2" charset="2"/>
              <a:buChar char="Ø"/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1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search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tree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1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generated</a:t>
            </a:r>
            <a:endParaRPr sz="24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41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Nodes</a:t>
            </a:r>
            <a:r>
              <a:rPr sz="20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added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more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states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2000" spc="-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visited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890" y="265937"/>
            <a:ext cx="442010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Search</a:t>
            </a:r>
            <a:r>
              <a:rPr spc="-135" dirty="0"/>
              <a:t> </a:t>
            </a:r>
            <a:r>
              <a:rPr spc="-20" dirty="0"/>
              <a:t>Terminology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972429"/>
            <a:ext cx="8321675" cy="508825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Search</a:t>
            </a:r>
            <a:r>
              <a:rPr sz="2800" spc="-1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Arial MT"/>
                <a:cs typeface="Arial MT"/>
              </a:rPr>
              <a:t>Tree</a:t>
            </a:r>
            <a:endParaRPr sz="2800" dirty="0">
              <a:latin typeface="Arial MT"/>
              <a:cs typeface="Arial MT"/>
            </a:endParaRPr>
          </a:p>
          <a:p>
            <a:pPr marL="553085" indent="-227965">
              <a:lnSpc>
                <a:spcPct val="100000"/>
              </a:lnSpc>
              <a:spcBef>
                <a:spcPts val="315"/>
              </a:spcBef>
              <a:buChar char="–"/>
              <a:tabLst>
                <a:tab pos="553085" algn="l"/>
              </a:tabLst>
            </a:pP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Generated</a:t>
            </a:r>
            <a:r>
              <a:rPr sz="24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search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space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traversed</a:t>
            </a:r>
            <a:endParaRPr sz="2400" dirty="0">
              <a:latin typeface="Arial MT"/>
              <a:cs typeface="Arial MT"/>
            </a:endParaRPr>
          </a:p>
          <a:p>
            <a:pPr marL="911860" lvl="1" indent="-187325">
              <a:lnSpc>
                <a:spcPts val="2250"/>
              </a:lnSpc>
              <a:spcBef>
                <a:spcPts val="305"/>
              </a:spcBef>
              <a:buChar char="•"/>
              <a:tabLst>
                <a:tab pos="911860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search</a:t>
            </a:r>
            <a:r>
              <a:rPr sz="20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space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itself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is not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necessarily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tree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,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frequently</a:t>
            </a:r>
            <a:r>
              <a:rPr sz="20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it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 is</a:t>
            </a:r>
            <a:r>
              <a:rPr sz="2000" spc="-1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endParaRPr sz="2000" dirty="0">
              <a:latin typeface="Arial MT"/>
              <a:cs typeface="Arial MT"/>
            </a:endParaRPr>
          </a:p>
          <a:p>
            <a:pPr marL="913130">
              <a:lnSpc>
                <a:spcPts val="2250"/>
              </a:lnSpc>
            </a:pP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graph</a:t>
            </a:r>
            <a:endParaRPr sz="2000" dirty="0">
              <a:latin typeface="Arial MT"/>
              <a:cs typeface="Arial MT"/>
            </a:endParaRPr>
          </a:p>
          <a:p>
            <a:pPr marL="912494" lvl="1" indent="-187960">
              <a:lnSpc>
                <a:spcPct val="100000"/>
              </a:lnSpc>
              <a:spcBef>
                <a:spcPts val="300"/>
              </a:spcBef>
              <a:buChar char="•"/>
              <a:tabLst>
                <a:tab pos="912494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tree</a:t>
            </a:r>
            <a:r>
              <a:rPr sz="20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specifies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possible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paths</a:t>
            </a:r>
            <a:r>
              <a:rPr sz="20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through</a:t>
            </a:r>
            <a:r>
              <a:rPr sz="20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search</a:t>
            </a:r>
            <a:r>
              <a:rPr sz="2000" spc="-1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space</a:t>
            </a:r>
            <a:endParaRPr sz="2000" dirty="0">
              <a:latin typeface="Arial MT"/>
              <a:cs typeface="Arial MT"/>
            </a:endParaRPr>
          </a:p>
          <a:p>
            <a:pPr marL="553085" indent="-227965">
              <a:lnSpc>
                <a:spcPct val="100000"/>
              </a:lnSpc>
              <a:spcBef>
                <a:spcPts val="295"/>
              </a:spcBef>
              <a:buChar char="–"/>
              <a:tabLst>
                <a:tab pos="55308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Expansion</a:t>
            </a:r>
            <a:r>
              <a:rPr sz="24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9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nodes</a:t>
            </a:r>
            <a:endParaRPr sz="2400" dirty="0">
              <a:latin typeface="Arial MT"/>
              <a:cs typeface="Arial MT"/>
            </a:endParaRPr>
          </a:p>
          <a:p>
            <a:pPr marL="916305" lvl="1" indent="-228600">
              <a:lnSpc>
                <a:spcPts val="2250"/>
              </a:lnSpc>
              <a:spcBef>
                <a:spcPts val="209"/>
              </a:spcBef>
              <a:buChar char="•"/>
              <a:tabLst>
                <a:tab pos="91630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0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states</a:t>
            </a:r>
            <a:r>
              <a:rPr sz="20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explored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,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corresponding</a:t>
            </a:r>
            <a:r>
              <a:rPr sz="20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nodes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expanded</a:t>
            </a:r>
            <a:r>
              <a:rPr sz="20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by</a:t>
            </a:r>
            <a:endParaRPr sz="2000" dirty="0">
              <a:latin typeface="Arial MT"/>
              <a:cs typeface="Arial MT"/>
            </a:endParaRPr>
          </a:p>
          <a:p>
            <a:pPr marL="916305">
              <a:lnSpc>
                <a:spcPts val="2250"/>
              </a:lnSpc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applying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successor</a:t>
            </a:r>
            <a:r>
              <a:rPr sz="20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endParaRPr sz="2000" dirty="0">
              <a:latin typeface="Arial MT"/>
              <a:cs typeface="Arial MT"/>
            </a:endParaRPr>
          </a:p>
          <a:p>
            <a:pPr marL="1540510" lvl="2" indent="-229235">
              <a:lnSpc>
                <a:spcPct val="100000"/>
              </a:lnSpc>
              <a:spcBef>
                <a:spcPts val="204"/>
              </a:spcBef>
              <a:buChar char="–"/>
              <a:tabLst>
                <a:tab pos="1540510" algn="l"/>
              </a:tabLst>
            </a:pP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this</a:t>
            </a:r>
            <a:r>
              <a:rPr sz="16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generates</a:t>
            </a:r>
            <a:r>
              <a:rPr sz="16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16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new</a:t>
            </a:r>
            <a:r>
              <a:rPr sz="16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set</a:t>
            </a:r>
            <a:r>
              <a:rPr sz="16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16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(child)</a:t>
            </a:r>
            <a:r>
              <a:rPr sz="1600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nodes</a:t>
            </a:r>
            <a:endParaRPr sz="1600" dirty="0">
              <a:latin typeface="Arial MT"/>
              <a:cs typeface="Arial MT"/>
            </a:endParaRPr>
          </a:p>
          <a:p>
            <a:pPr marL="916305" lvl="1" indent="-228600">
              <a:lnSpc>
                <a:spcPct val="100000"/>
              </a:lnSpc>
              <a:spcBef>
                <a:spcPts val="285"/>
              </a:spcBef>
              <a:buChar char="•"/>
              <a:tabLst>
                <a:tab pos="91630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FF0000"/>
                </a:solidFill>
                <a:latin typeface="Arial"/>
                <a:cs typeface="Arial"/>
              </a:rPr>
              <a:t>fringe</a:t>
            </a:r>
            <a:r>
              <a:rPr sz="2000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(frontier/queue)</a:t>
            </a:r>
            <a:r>
              <a:rPr sz="20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set</a:t>
            </a:r>
            <a:r>
              <a:rPr sz="20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nodes</a:t>
            </a:r>
            <a:r>
              <a:rPr sz="20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sz="20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yet</a:t>
            </a:r>
            <a:r>
              <a:rPr sz="2000" spc="-1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visited</a:t>
            </a:r>
            <a:endParaRPr sz="2000" dirty="0">
              <a:latin typeface="Arial MT"/>
              <a:cs typeface="Arial MT"/>
            </a:endParaRPr>
          </a:p>
          <a:p>
            <a:pPr marL="1540510" lvl="2" indent="-229235">
              <a:lnSpc>
                <a:spcPct val="100000"/>
              </a:lnSpc>
              <a:spcBef>
                <a:spcPts val="220"/>
              </a:spcBef>
              <a:buChar char="–"/>
              <a:tabLst>
                <a:tab pos="1540510" algn="l"/>
              </a:tabLst>
            </a:pP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newly</a:t>
            </a:r>
            <a:r>
              <a:rPr sz="16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generated</a:t>
            </a:r>
            <a:r>
              <a:rPr sz="16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nodes</a:t>
            </a:r>
            <a:r>
              <a:rPr sz="16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16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added</a:t>
            </a:r>
            <a:r>
              <a:rPr sz="16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1600" spc="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Arial MT"/>
                <a:cs typeface="Arial MT"/>
              </a:rPr>
              <a:t>fringe</a:t>
            </a:r>
            <a:endParaRPr sz="1600" dirty="0">
              <a:latin typeface="Arial MT"/>
              <a:cs typeface="Arial MT"/>
            </a:endParaRPr>
          </a:p>
          <a:p>
            <a:pPr marL="553085" indent="-227965">
              <a:lnSpc>
                <a:spcPct val="100000"/>
              </a:lnSpc>
              <a:spcBef>
                <a:spcPts val="284"/>
              </a:spcBef>
              <a:buChar char="–"/>
              <a:tabLst>
                <a:tab pos="55308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Search</a:t>
            </a:r>
            <a:r>
              <a:rPr sz="2400" spc="-1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strategy</a:t>
            </a:r>
            <a:endParaRPr sz="2400" dirty="0">
              <a:latin typeface="Arial MT"/>
              <a:cs typeface="Arial MT"/>
            </a:endParaRPr>
          </a:p>
          <a:p>
            <a:pPr marL="916305" lvl="1" indent="-228600">
              <a:lnSpc>
                <a:spcPct val="100000"/>
              </a:lnSpc>
              <a:spcBef>
                <a:spcPts val="204"/>
              </a:spcBef>
              <a:buChar char="•"/>
              <a:tabLst>
                <a:tab pos="916305" algn="l"/>
              </a:tabLst>
            </a:pP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Determines</a:t>
            </a:r>
            <a:r>
              <a:rPr sz="20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selection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next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node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be</a:t>
            </a:r>
            <a:r>
              <a:rPr sz="2000" spc="-1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expanded</a:t>
            </a:r>
            <a:endParaRPr sz="2000" dirty="0">
              <a:latin typeface="Arial MT"/>
              <a:cs typeface="Arial MT"/>
            </a:endParaRPr>
          </a:p>
          <a:p>
            <a:pPr marL="916305" lvl="1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91630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Can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be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achieved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by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ordering</a:t>
            </a:r>
            <a:r>
              <a:rPr sz="20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nodes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1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fringe</a:t>
            </a:r>
            <a:endParaRPr sz="2000" dirty="0">
              <a:latin typeface="Arial MT"/>
              <a:cs typeface="Arial MT"/>
            </a:endParaRPr>
          </a:p>
          <a:p>
            <a:pPr marL="1540510" lvl="2" indent="-229235">
              <a:lnSpc>
                <a:spcPct val="100000"/>
              </a:lnSpc>
              <a:spcBef>
                <a:spcPts val="209"/>
              </a:spcBef>
              <a:buChar char="–"/>
              <a:tabLst>
                <a:tab pos="1540510" algn="l"/>
              </a:tabLst>
            </a:pP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e.g.</a:t>
            </a:r>
            <a:r>
              <a:rPr sz="1600" spc="-10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queue</a:t>
            </a:r>
            <a:r>
              <a:rPr sz="16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(FIFO), stack</a:t>
            </a:r>
            <a:r>
              <a:rPr sz="16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0000"/>
                </a:solidFill>
                <a:latin typeface="Arial MT"/>
                <a:cs typeface="Arial MT"/>
              </a:rPr>
              <a:t>(LIFO),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“best”</a:t>
            </a:r>
            <a:r>
              <a:rPr sz="16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node</a:t>
            </a:r>
            <a:r>
              <a:rPr sz="16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spc="-65" dirty="0">
                <a:solidFill>
                  <a:srgbClr val="000090"/>
                </a:solidFill>
                <a:latin typeface="Arial MT"/>
                <a:cs typeface="Arial MT"/>
              </a:rPr>
              <a:t>w.r.t.</a:t>
            </a:r>
            <a:r>
              <a:rPr sz="16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some</a:t>
            </a:r>
            <a:r>
              <a:rPr sz="16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0090"/>
                </a:solidFill>
                <a:latin typeface="Arial MT"/>
                <a:cs typeface="Arial MT"/>
              </a:rPr>
              <a:t>measure</a:t>
            </a:r>
            <a:r>
              <a:rPr sz="1600" spc="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0090"/>
                </a:solidFill>
                <a:latin typeface="Arial MT"/>
                <a:cs typeface="Arial MT"/>
              </a:rPr>
              <a:t>(cost)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490" y="219583"/>
            <a:ext cx="510590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Search</a:t>
            </a:r>
            <a:r>
              <a:rPr spc="-125" dirty="0"/>
              <a:t> </a:t>
            </a:r>
            <a:r>
              <a:rPr dirty="0"/>
              <a:t>Tree</a:t>
            </a:r>
            <a:r>
              <a:rPr spc="-140" dirty="0"/>
              <a:t> </a:t>
            </a:r>
            <a:r>
              <a:rPr dirty="0"/>
              <a:t>Vs</a:t>
            </a:r>
            <a:r>
              <a:rPr spc="-135" dirty="0"/>
              <a:t> </a:t>
            </a:r>
            <a:r>
              <a:rPr spc="-10" dirty="0"/>
              <a:t>Graph</a:t>
            </a:r>
            <a:r>
              <a:rPr spc="-145" dirty="0"/>
              <a:t> </a:t>
            </a:r>
            <a:r>
              <a:rPr spc="-20" dirty="0"/>
              <a:t>Tree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679285"/>
              </p:ext>
            </p:extLst>
          </p:nvPr>
        </p:nvGraphicFramePr>
        <p:xfrm>
          <a:off x="533400" y="797487"/>
          <a:ext cx="7772400" cy="582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BASIS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FOR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COMPARISON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TREE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CF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GRAPH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9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Path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two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vertices.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path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is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allowed.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9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Root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node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exactly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root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node.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Graph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doesn't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a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root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node.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Loops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loops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permitted.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Graph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loops.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Complexity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complex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complex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561975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comparatively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3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Traversal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techniques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Pre-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order,</a:t>
                      </a:r>
                      <a:r>
                        <a:rPr sz="20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In-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2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and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Post-order.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20" dirty="0">
                          <a:latin typeface="Calibri"/>
                          <a:cs typeface="Calibri"/>
                        </a:rPr>
                        <a:t>Breadth-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and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depth-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first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search.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89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0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edges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n-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(where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the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3708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nodes)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 defined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Model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type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Hierarchical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Network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002" y="2192570"/>
            <a:ext cx="675068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1</a:t>
            </a: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.</a:t>
            </a:r>
            <a:r>
              <a:rPr sz="2800" b="1" spc="7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Bre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adth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-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First</a:t>
            </a:r>
            <a:r>
              <a:rPr sz="2800" b="1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Sea</a:t>
            </a: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r>
              <a:rPr sz="2800" b="1" spc="6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(BFS)</a:t>
            </a:r>
            <a:r>
              <a:rPr sz="2800" b="1" spc="6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Alg</a:t>
            </a:r>
            <a:r>
              <a:rPr sz="2800" b="1" spc="-30" dirty="0">
                <a:solidFill>
                  <a:schemeClr val="tx2"/>
                </a:solidFill>
                <a:latin typeface="Arial"/>
                <a:cs typeface="Arial"/>
              </a:rPr>
              <a:t>o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ri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hm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292" y="175681"/>
            <a:ext cx="8153908" cy="6308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Bre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adth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-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First</a:t>
            </a:r>
            <a:r>
              <a:rPr sz="2800" b="1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Se</a:t>
            </a: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660400" marR="648335" indent="-342900">
              <a:lnSpc>
                <a:spcPct val="771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sz="2400" spc="-10" dirty="0">
                <a:latin typeface="Arial"/>
                <a:cs typeface="Arial"/>
              </a:rPr>
              <a:t>It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the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mo</a:t>
            </a:r>
            <a:r>
              <a:rPr sz="2400" spc="-10" dirty="0">
                <a:latin typeface="Arial"/>
                <a:cs typeface="Arial"/>
              </a:rPr>
              <a:t>st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c</a:t>
            </a:r>
            <a:r>
              <a:rPr sz="2400" spc="-30" dirty="0">
                <a:latin typeface="Arial"/>
                <a:cs typeface="Arial"/>
              </a:rPr>
              <a:t>omm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spc="-20" dirty="0">
                <a:latin typeface="Arial"/>
                <a:cs typeface="Arial"/>
              </a:rPr>
              <a:t>n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se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ch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stra</a:t>
            </a:r>
            <a:r>
              <a:rPr sz="2400" spc="-15" dirty="0">
                <a:latin typeface="Arial"/>
                <a:cs typeface="Arial"/>
              </a:rPr>
              <a:t>tegy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tra</a:t>
            </a:r>
            <a:r>
              <a:rPr sz="2400" spc="-15" dirty="0">
                <a:latin typeface="Arial"/>
                <a:cs typeface="Arial"/>
              </a:rPr>
              <a:t>ve</a:t>
            </a:r>
            <a:r>
              <a:rPr sz="2400" spc="-10" dirty="0">
                <a:latin typeface="Arial"/>
                <a:cs typeface="Arial"/>
              </a:rPr>
              <a:t>rs</a:t>
            </a:r>
            <a:r>
              <a:rPr sz="2400" spc="-15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g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a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tre</a:t>
            </a:r>
            <a:r>
              <a:rPr sz="2400" spc="-20" dirty="0">
                <a:latin typeface="Arial"/>
                <a:cs typeface="Arial"/>
              </a:rPr>
              <a:t>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or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gr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p</a:t>
            </a:r>
            <a:r>
              <a:rPr sz="2400" spc="15" dirty="0">
                <a:latin typeface="Arial"/>
                <a:cs typeface="Arial"/>
              </a:rPr>
              <a:t>h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  <a:buClr>
                <a:srgbClr val="00008F"/>
              </a:buClr>
              <a:buFont typeface="Arial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660400" marR="5080" indent="-342900">
              <a:lnSpc>
                <a:spcPct val="1000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sz="2400" spc="-15" dirty="0">
                <a:latin typeface="Arial"/>
                <a:cs typeface="Arial"/>
              </a:rPr>
              <a:t>This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spc="-25" dirty="0">
                <a:latin typeface="Arial"/>
                <a:cs typeface="Arial"/>
              </a:rPr>
              <a:t>g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ri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25" dirty="0">
                <a:latin typeface="Arial"/>
                <a:cs typeface="Arial"/>
              </a:rPr>
              <a:t>hm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se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ch</a:t>
            </a:r>
            <a:r>
              <a:rPr sz="2400" spc="-25" dirty="0">
                <a:latin typeface="Arial"/>
                <a:cs typeface="Arial"/>
              </a:rPr>
              <a:t>e</a:t>
            </a:r>
            <a:r>
              <a:rPr sz="2400" spc="-15" dirty="0">
                <a:latin typeface="Arial"/>
                <a:cs typeface="Arial"/>
              </a:rPr>
              <a:t>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4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chemeClr val="tx2"/>
                </a:solidFill>
                <a:latin typeface="Arial"/>
                <a:cs typeface="Arial"/>
              </a:rPr>
              <a:t>dt</a:t>
            </a:r>
            <a:r>
              <a:rPr sz="2400" spc="-1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r>
              <a:rPr sz="2400" spc="-20" dirty="0">
                <a:solidFill>
                  <a:schemeClr val="tx2"/>
                </a:solidFill>
                <a:latin typeface="Arial"/>
                <a:cs typeface="Arial"/>
              </a:rPr>
              <a:t>wise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</a:t>
            </a:r>
            <a:r>
              <a:rPr sz="2400" spc="-20" dirty="0">
                <a:latin typeface="Arial"/>
                <a:cs typeface="Arial"/>
              </a:rPr>
              <a:t>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a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tree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g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15" dirty="0">
                <a:latin typeface="Arial"/>
                <a:cs typeface="Arial"/>
              </a:rPr>
              <a:t>p</a:t>
            </a:r>
            <a:r>
              <a:rPr sz="2400" spc="-25" dirty="0">
                <a:latin typeface="Arial"/>
                <a:cs typeface="Arial"/>
              </a:rPr>
              <a:t>h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so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t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calle</a:t>
            </a:r>
            <a:r>
              <a:rPr sz="2400" spc="-20" dirty="0">
                <a:latin typeface="Arial"/>
                <a:cs typeface="Arial"/>
              </a:rPr>
              <a:t>d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4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chemeClr val="tx2"/>
                </a:solidFill>
                <a:latin typeface="Arial"/>
                <a:cs typeface="Arial"/>
              </a:rPr>
              <a:t>dt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h-</a:t>
            </a:r>
            <a:r>
              <a:rPr sz="2400" spc="-10" dirty="0">
                <a:solidFill>
                  <a:schemeClr val="tx2"/>
                </a:solidFill>
                <a:latin typeface="Arial"/>
                <a:cs typeface="Arial"/>
              </a:rPr>
              <a:t>fi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400" spc="-15" dirty="0">
                <a:solidFill>
                  <a:schemeClr val="tx2"/>
                </a:solidFill>
                <a:latin typeface="Arial"/>
                <a:cs typeface="Arial"/>
              </a:rPr>
              <a:t>st</a:t>
            </a:r>
            <a:r>
              <a:rPr sz="2400" spc="8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4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400" spc="-10" dirty="0">
                <a:solidFill>
                  <a:schemeClr val="tx2"/>
                </a:solidFill>
                <a:latin typeface="Arial"/>
                <a:cs typeface="Arial"/>
              </a:rPr>
              <a:t>rc</a:t>
            </a:r>
            <a:r>
              <a:rPr sz="240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"/>
              </a:spcBef>
              <a:buClr>
                <a:srgbClr val="00008F"/>
              </a:buClr>
              <a:buFont typeface="Arial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660400" marR="204470" indent="-342900">
              <a:lnSpc>
                <a:spcPct val="1000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sz="2400" spc="-20" dirty="0">
                <a:latin typeface="Arial"/>
                <a:cs typeface="Arial"/>
              </a:rPr>
              <a:t>B</a:t>
            </a:r>
            <a:r>
              <a:rPr sz="2400" spc="-30" dirty="0">
                <a:latin typeface="Arial"/>
                <a:cs typeface="Arial"/>
              </a:rPr>
              <a:t>F</a:t>
            </a:r>
            <a:r>
              <a:rPr sz="2400" spc="-20" dirty="0">
                <a:latin typeface="Arial"/>
                <a:cs typeface="Arial"/>
              </a:rPr>
              <a:t>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spc="-25" dirty="0">
                <a:latin typeface="Arial"/>
                <a:cs typeface="Arial"/>
              </a:rPr>
              <a:t>g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ri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25" dirty="0">
                <a:latin typeface="Arial"/>
                <a:cs typeface="Arial"/>
              </a:rPr>
              <a:t>hm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ts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se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chin</a:t>
            </a:r>
            <a:r>
              <a:rPr sz="2400" spc="-20" dirty="0">
                <a:latin typeface="Arial"/>
                <a:cs typeface="Arial"/>
              </a:rPr>
              <a:t>g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fro</a:t>
            </a:r>
            <a:r>
              <a:rPr sz="2400" spc="-25" dirty="0">
                <a:latin typeface="Arial"/>
                <a:cs typeface="Arial"/>
              </a:rPr>
              <a:t>m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the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spc="-20" dirty="0">
                <a:latin typeface="Arial"/>
                <a:cs typeface="Arial"/>
              </a:rPr>
              <a:t>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nod</a:t>
            </a:r>
            <a:r>
              <a:rPr sz="2400" spc="-20" dirty="0">
                <a:latin typeface="Arial"/>
                <a:cs typeface="Arial"/>
              </a:rPr>
              <a:t>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tre</a:t>
            </a:r>
            <a:r>
              <a:rPr sz="2400" spc="-20" dirty="0">
                <a:latin typeface="Arial"/>
                <a:cs typeface="Arial"/>
              </a:rPr>
              <a:t>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15" dirty="0">
                <a:latin typeface="Arial"/>
                <a:cs typeface="Arial"/>
              </a:rPr>
              <a:t>n</a:t>
            </a:r>
            <a:r>
              <a:rPr sz="2400" spc="-20" dirty="0">
                <a:latin typeface="Arial"/>
                <a:cs typeface="Arial"/>
              </a:rPr>
              <a:t>d</a:t>
            </a:r>
            <a:r>
              <a:rPr lang="en-US" sz="2400" spc="-20" dirty="0">
                <a:latin typeface="Arial"/>
                <a:cs typeface="Arial"/>
              </a:rPr>
              <a:t> further </a:t>
            </a:r>
            <a:r>
              <a:rPr lang="en-US" sz="2400" dirty="0">
                <a:latin typeface="Arial" panose="020B0604020202020204" pitchFamily="34" charset="0"/>
              </a:rPr>
              <a:t>are traversed in </a:t>
            </a:r>
            <a:r>
              <a:rPr lang="en-US" sz="2400" i="1" dirty="0">
                <a:solidFill>
                  <a:schemeClr val="tx2"/>
                </a:solidFill>
                <a:latin typeface="Arial" panose="020B0604020202020204" pitchFamily="34" charset="0"/>
              </a:rPr>
              <a:t>level-order</a:t>
            </a:r>
            <a:r>
              <a:rPr lang="en-US" sz="2400" dirty="0">
                <a:latin typeface="Arial" panose="020B0604020202020204" pitchFamily="34" charset="0"/>
              </a:rPr>
              <a:t>, where we visit every node on a level before going to a lower level.</a:t>
            </a:r>
          </a:p>
          <a:p>
            <a:pPr marL="317500" marR="204470">
              <a:lnSpc>
                <a:spcPct val="100000"/>
              </a:lnSpc>
              <a:buClr>
                <a:srgbClr val="00008F"/>
              </a:buClr>
              <a:tabLst>
                <a:tab pos="661035" algn="l"/>
              </a:tabLst>
            </a:pPr>
            <a:endParaRPr lang="en-US" sz="2400" dirty="0">
              <a:latin typeface="Arial" panose="020B0604020202020204" pitchFamily="34" charset="0"/>
            </a:endParaRPr>
          </a:p>
          <a:p>
            <a:pPr marL="660400" marR="204470" indent="-342900">
              <a:lnSpc>
                <a:spcPct val="1000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lang="en-US" sz="2400" dirty="0">
                <a:latin typeface="Roboto"/>
              </a:rPr>
              <a:t>It starts at the tree root (or some arbitrary node of a graph)</a:t>
            </a:r>
          </a:p>
          <a:p>
            <a:pPr marL="317500" marR="204470">
              <a:lnSpc>
                <a:spcPct val="100000"/>
              </a:lnSpc>
              <a:buClr>
                <a:srgbClr val="00008F"/>
              </a:buClr>
              <a:tabLst>
                <a:tab pos="661035" algn="l"/>
              </a:tabLst>
            </a:pPr>
            <a:endParaRPr lang="en-US" sz="2400" dirty="0">
              <a:latin typeface="Roboto"/>
            </a:endParaRPr>
          </a:p>
          <a:p>
            <a:pPr marL="660400" marR="204470" indent="-342900">
              <a:lnSpc>
                <a:spcPct val="1000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sz="2400" spc="-20" dirty="0">
                <a:latin typeface="Arial"/>
                <a:cs typeface="Arial"/>
              </a:rPr>
              <a:t>B</a:t>
            </a:r>
            <a:r>
              <a:rPr sz="2400" spc="-30" dirty="0">
                <a:latin typeface="Arial"/>
                <a:cs typeface="Arial"/>
              </a:rPr>
              <a:t>F</a:t>
            </a:r>
            <a:r>
              <a:rPr sz="2400" spc="-20" dirty="0">
                <a:latin typeface="Arial"/>
                <a:cs typeface="Arial"/>
              </a:rPr>
              <a:t>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imp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spc="-25" dirty="0">
                <a:latin typeface="Arial"/>
                <a:cs typeface="Arial"/>
              </a:rPr>
              <a:t>em</a:t>
            </a:r>
            <a:r>
              <a:rPr sz="2400" spc="-15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nt</a:t>
            </a:r>
            <a:r>
              <a:rPr sz="2400" spc="-10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u</a:t>
            </a:r>
            <a:r>
              <a:rPr sz="2400" spc="-10" dirty="0">
                <a:latin typeface="Arial"/>
                <a:cs typeface="Arial"/>
              </a:rPr>
              <a:t>s</a:t>
            </a:r>
            <a:r>
              <a:rPr sz="2400" spc="-15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g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FIFO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Que</a:t>
            </a:r>
            <a:r>
              <a:rPr sz="2400" spc="-15" dirty="0">
                <a:latin typeface="Arial"/>
                <a:cs typeface="Arial"/>
              </a:rPr>
              <a:t>u</a:t>
            </a:r>
            <a:r>
              <a:rPr sz="2400" spc="-20" dirty="0">
                <a:latin typeface="Arial"/>
                <a:cs typeface="Arial"/>
              </a:rPr>
              <a:t>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d</a:t>
            </a:r>
            <a:r>
              <a:rPr sz="2400" spc="-20" dirty="0">
                <a:latin typeface="Arial"/>
                <a:cs typeface="Arial"/>
              </a:rPr>
              <a:t>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10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uc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25" dirty="0">
                <a:latin typeface="Arial"/>
                <a:cs typeface="Arial"/>
              </a:rPr>
              <a:t>u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0" dirty="0">
                <a:latin typeface="Arial"/>
                <a:cs typeface="Arial"/>
              </a:rPr>
              <a:t>e.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066800"/>
            <a:ext cx="4648200" cy="5695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60818" y="1981200"/>
            <a:ext cx="381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For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e</a:t>
            </a:r>
            <a:r>
              <a:rPr lang="en-US" sz="2400" spc="-15" dirty="0">
                <a:latin typeface="Arial"/>
                <a:cs typeface="Arial"/>
              </a:rPr>
              <a:t>x</a:t>
            </a:r>
            <a:r>
              <a:rPr lang="en-US" sz="2400" spc="-5" dirty="0">
                <a:latin typeface="Arial"/>
                <a:cs typeface="Arial"/>
              </a:rPr>
              <a:t>ample</a:t>
            </a:r>
            <a:r>
              <a:rPr lang="en-US" sz="2400" dirty="0">
                <a:latin typeface="Arial"/>
                <a:cs typeface="Arial"/>
              </a:rPr>
              <a:t>,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Arial"/>
                <a:cs typeface="Arial"/>
              </a:rPr>
              <a:t>af</a:t>
            </a:r>
            <a:r>
              <a:rPr lang="en-US" sz="2400" spc="-5" dirty="0">
                <a:latin typeface="Arial"/>
                <a:cs typeface="Arial"/>
              </a:rPr>
              <a:t>te</a:t>
            </a:r>
            <a:r>
              <a:rPr lang="en-US" sz="2400" dirty="0">
                <a:latin typeface="Arial"/>
                <a:cs typeface="Arial"/>
              </a:rPr>
              <a:t>r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searchi</a:t>
            </a:r>
            <a:r>
              <a:rPr lang="en-US" sz="2400" spc="-15" dirty="0">
                <a:latin typeface="Arial"/>
                <a:cs typeface="Arial"/>
              </a:rPr>
              <a:t>n</a:t>
            </a:r>
            <a:r>
              <a:rPr lang="en-US" sz="2400" dirty="0">
                <a:latin typeface="Arial"/>
                <a:cs typeface="Arial"/>
              </a:rPr>
              <a:t>g</a:t>
            </a:r>
            <a:r>
              <a:rPr lang="en-US" sz="2400" spc="10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solidFill>
                  <a:schemeClr val="tx2"/>
                </a:solidFill>
                <a:latin typeface="Verdana"/>
                <a:cs typeface="Verdana"/>
              </a:rPr>
              <a:t>F</a:t>
            </a:r>
            <a:r>
              <a:rPr lang="en-US" sz="2400" spc="-10" dirty="0">
                <a:latin typeface="Arial"/>
                <a:cs typeface="Arial"/>
              </a:rPr>
              <a:t>,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then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solidFill>
                  <a:schemeClr val="tx2"/>
                </a:solidFill>
                <a:latin typeface="Verdana"/>
                <a:cs typeface="Verdana"/>
              </a:rPr>
              <a:t>B</a:t>
            </a:r>
            <a:r>
              <a:rPr lang="en-US" sz="2400" spc="-10" dirty="0">
                <a:latin typeface="Arial"/>
                <a:cs typeface="Arial"/>
              </a:rPr>
              <a:t>,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then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Verdana"/>
                <a:cs typeface="Verdana"/>
              </a:rPr>
              <a:t>G</a:t>
            </a:r>
            <a:r>
              <a:rPr lang="en-US" sz="2400" spc="-10" dirty="0">
                <a:latin typeface="Arial"/>
                <a:cs typeface="Arial"/>
              </a:rPr>
              <a:t>,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the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s</a:t>
            </a:r>
            <a:r>
              <a:rPr lang="en-US" sz="2400" spc="-5" dirty="0">
                <a:latin typeface="Arial"/>
                <a:cs typeface="Arial"/>
              </a:rPr>
              <a:t>earch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proceed</a:t>
            </a:r>
            <a:r>
              <a:rPr lang="en-US" sz="2400" dirty="0">
                <a:latin typeface="Arial"/>
                <a:cs typeface="Arial"/>
              </a:rPr>
              <a:t>s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w</a:t>
            </a:r>
            <a:r>
              <a:rPr lang="en-US" sz="2400" spc="-10" dirty="0">
                <a:latin typeface="Arial"/>
                <a:cs typeface="Arial"/>
              </a:rPr>
              <a:t>ith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spc="90" dirty="0">
                <a:solidFill>
                  <a:schemeClr val="tx2"/>
                </a:solidFill>
                <a:cs typeface="Times New Roman"/>
              </a:rPr>
              <a:t>A,</a:t>
            </a:r>
            <a:r>
              <a:rPr lang="en-US" sz="2400" spc="-25" dirty="0">
                <a:solidFill>
                  <a:schemeClr val="tx2"/>
                </a:solidFill>
                <a:cs typeface="Verdana"/>
              </a:rPr>
              <a:t>D</a:t>
            </a:r>
            <a:r>
              <a:rPr lang="en-US" sz="2400" spc="-10" dirty="0">
                <a:solidFill>
                  <a:schemeClr val="tx2"/>
                </a:solidFill>
                <a:cs typeface="Arial"/>
              </a:rPr>
              <a:t>,</a:t>
            </a:r>
            <a:r>
              <a:rPr lang="en-US" sz="2400" spc="245" dirty="0">
                <a:solidFill>
                  <a:schemeClr val="tx2"/>
                </a:solidFill>
                <a:cs typeface="Times New Roman"/>
              </a:rPr>
              <a:t> </a:t>
            </a:r>
            <a:r>
              <a:rPr lang="en-US" sz="2400" spc="-10" dirty="0">
                <a:solidFill>
                  <a:schemeClr val="tx2"/>
                </a:solidFill>
                <a:cs typeface="Verdana"/>
              </a:rPr>
              <a:t>I</a:t>
            </a:r>
            <a:r>
              <a:rPr lang="en-US" sz="2400" spc="-10" dirty="0">
                <a:solidFill>
                  <a:schemeClr val="tx2"/>
                </a:solidFill>
                <a:cs typeface="Arial"/>
              </a:rPr>
              <a:t>,</a:t>
            </a:r>
            <a:r>
              <a:rPr lang="en-US" sz="2400" spc="245" dirty="0">
                <a:solidFill>
                  <a:schemeClr val="tx2"/>
                </a:solidFill>
                <a:cs typeface="Times New Roman"/>
              </a:rPr>
              <a:t> </a:t>
            </a:r>
            <a:r>
              <a:rPr lang="en-US" sz="2400" spc="-15" dirty="0">
                <a:solidFill>
                  <a:schemeClr val="tx2"/>
                </a:solidFill>
                <a:cs typeface="Verdana"/>
              </a:rPr>
              <a:t>C</a:t>
            </a:r>
            <a:r>
              <a:rPr lang="en-US" sz="2400" spc="-10" dirty="0">
                <a:solidFill>
                  <a:schemeClr val="tx2"/>
                </a:solidFill>
                <a:cs typeface="Arial"/>
              </a:rPr>
              <a:t>,</a:t>
            </a:r>
            <a:r>
              <a:rPr lang="en-US" sz="2400" spc="245" dirty="0">
                <a:solidFill>
                  <a:schemeClr val="tx2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chemeClr val="tx2"/>
                </a:solidFill>
                <a:cs typeface="Verdana"/>
              </a:rPr>
              <a:t>E,H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0818" y="4114800"/>
            <a:ext cx="3505200" cy="1182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lang="en-US" sz="2400" spc="-5" dirty="0">
                <a:latin typeface="Arial"/>
                <a:cs typeface="Arial"/>
              </a:rPr>
              <a:t>N</a:t>
            </a:r>
            <a:r>
              <a:rPr lang="en-US" sz="2400" spc="-10" dirty="0">
                <a:latin typeface="Arial"/>
                <a:cs typeface="Arial"/>
              </a:rPr>
              <a:t>o</a:t>
            </a:r>
            <a:r>
              <a:rPr lang="en-US" sz="2400" spc="-5" dirty="0">
                <a:latin typeface="Arial"/>
                <a:cs typeface="Arial"/>
              </a:rPr>
              <a:t>d</a:t>
            </a:r>
            <a:r>
              <a:rPr lang="en-US" sz="2400" dirty="0">
                <a:latin typeface="Arial"/>
                <a:cs typeface="Arial"/>
              </a:rPr>
              <a:t>e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ar</a:t>
            </a:r>
            <a:r>
              <a:rPr lang="en-US" sz="2400" dirty="0">
                <a:latin typeface="Arial"/>
                <a:cs typeface="Arial"/>
              </a:rPr>
              <a:t>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e</a:t>
            </a:r>
            <a:r>
              <a:rPr lang="en-US" sz="2400" spc="-10" dirty="0">
                <a:latin typeface="Arial"/>
                <a:cs typeface="Arial"/>
              </a:rPr>
              <a:t>x</a:t>
            </a:r>
            <a:r>
              <a:rPr lang="en-US" sz="2400" spc="-5" dirty="0">
                <a:latin typeface="Arial"/>
                <a:cs typeface="Arial"/>
              </a:rPr>
              <a:t>p</a:t>
            </a:r>
            <a:r>
              <a:rPr lang="en-US" sz="2400" spc="-10" dirty="0">
                <a:latin typeface="Arial"/>
                <a:cs typeface="Arial"/>
              </a:rPr>
              <a:t>l</a:t>
            </a:r>
            <a:r>
              <a:rPr lang="en-US" sz="2400" spc="-5" dirty="0">
                <a:latin typeface="Arial"/>
                <a:cs typeface="Arial"/>
              </a:rPr>
              <a:t>ore</a:t>
            </a:r>
            <a:r>
              <a:rPr lang="en-US" sz="2400" dirty="0">
                <a:latin typeface="Arial"/>
                <a:cs typeface="Arial"/>
              </a:rPr>
              <a:t>d</a:t>
            </a:r>
            <a:r>
              <a:rPr lang="en-US" sz="2400" spc="1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i</a:t>
            </a:r>
            <a:r>
              <a:rPr lang="en-US" sz="2400" dirty="0">
                <a:latin typeface="Arial"/>
                <a:cs typeface="Arial"/>
              </a:rPr>
              <a:t>n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the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L</a:t>
            </a:r>
            <a:r>
              <a:rPr lang="en-US" sz="2400" spc="-5" dirty="0">
                <a:latin typeface="Arial"/>
                <a:cs typeface="Arial"/>
              </a:rPr>
              <a:t>evel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orde</a:t>
            </a:r>
            <a:r>
              <a:rPr lang="en-US" sz="2400" dirty="0">
                <a:latin typeface="Arial"/>
                <a:cs typeface="Arial"/>
              </a:rPr>
              <a:t>r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solidFill>
                  <a:schemeClr val="tx2"/>
                </a:solidFill>
                <a:latin typeface="Verdana"/>
                <a:cs typeface="Verdana"/>
              </a:rPr>
              <a:t>F,B,G,A,D,I,C,E,H</a:t>
            </a:r>
            <a:endParaRPr lang="en-US" sz="2400" dirty="0">
              <a:solidFill>
                <a:schemeClr val="tx2"/>
              </a:solidFill>
              <a:latin typeface="Verdana"/>
              <a:cs typeface="Verdan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30480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Example: BFS</a:t>
            </a:r>
          </a:p>
        </p:txBody>
      </p:sp>
    </p:spTree>
    <p:extLst>
      <p:ext uri="{BB962C8B-B14F-4D97-AF65-F5344CB8AC3E}">
        <p14:creationId xmlns:p14="http://schemas.microsoft.com/office/powerpoint/2010/main" val="287168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00584" y="6356603"/>
            <a:ext cx="8503920" cy="501650"/>
            <a:chOff x="100584" y="6356603"/>
            <a:chExt cx="8503920" cy="501650"/>
          </a:xfrm>
        </p:grpSpPr>
        <p:sp>
          <p:nvSpPr>
            <p:cNvPr id="9" name="object 9"/>
            <p:cNvSpPr/>
            <p:nvPr/>
          </p:nvSpPr>
          <p:spPr>
            <a:xfrm>
              <a:off x="102108" y="635660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613" y="359664"/>
                  </a:moveTo>
                  <a:lnTo>
                    <a:pt x="0" y="359664"/>
                  </a:lnTo>
                </a:path>
                <a:path w="360045" h="360045">
                  <a:moveTo>
                    <a:pt x="1" y="3596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7868" y="6544055"/>
              <a:ext cx="8136890" cy="314325"/>
            </a:xfrm>
            <a:custGeom>
              <a:avLst/>
              <a:gdLst/>
              <a:ahLst/>
              <a:cxnLst/>
              <a:rect l="l" t="t" r="r" b="b"/>
              <a:pathLst>
                <a:path w="8136890" h="314325">
                  <a:moveTo>
                    <a:pt x="8136635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8136635" y="313943"/>
                  </a:lnTo>
                  <a:lnTo>
                    <a:pt x="8136635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2891" y="285368"/>
            <a:ext cx="3197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Example:</a:t>
            </a:r>
            <a:r>
              <a:rPr sz="2800" b="1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Romania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891" y="1182115"/>
            <a:ext cx="591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5" dirty="0">
                <a:solidFill>
                  <a:srgbClr val="000080"/>
                </a:solidFill>
                <a:latin typeface="Arial"/>
                <a:cs typeface="Arial"/>
              </a:rPr>
              <a:t>You </a:t>
            </a:r>
            <a:r>
              <a:rPr sz="2400" spc="-5" dirty="0">
                <a:solidFill>
                  <a:srgbClr val="000080"/>
                </a:solidFill>
                <a:latin typeface="Arial"/>
                <a:cs typeface="Arial"/>
              </a:rPr>
              <a:t>are in Arad and want </a:t>
            </a:r>
            <a:r>
              <a:rPr sz="2400" dirty="0">
                <a:solidFill>
                  <a:srgbClr val="00008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000080"/>
                </a:solidFill>
                <a:latin typeface="Arial"/>
                <a:cs typeface="Arial"/>
              </a:rPr>
              <a:t>go </a:t>
            </a:r>
            <a:r>
              <a:rPr sz="2400" dirty="0">
                <a:solidFill>
                  <a:srgbClr val="000080"/>
                </a:solidFill>
                <a:latin typeface="Arial"/>
                <a:cs typeface="Arial"/>
              </a:rPr>
              <a:t>to</a:t>
            </a:r>
            <a:r>
              <a:rPr sz="2400" spc="-31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80"/>
                </a:solidFill>
                <a:latin typeface="Arial"/>
                <a:cs typeface="Arial"/>
              </a:rPr>
              <a:t>Bucharest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130" y="6321653"/>
            <a:ext cx="78828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80"/>
                </a:solidFill>
                <a:latin typeface="Wingdings"/>
                <a:cs typeface="Wingdings"/>
              </a:rPr>
              <a:t>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0"/>
                </a:solidFill>
                <a:latin typeface="Arial"/>
                <a:cs typeface="Arial"/>
              </a:rPr>
              <a:t>How to design an intelligent agent to find the way between</a:t>
            </a:r>
            <a:r>
              <a:rPr sz="2000" spc="-409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80"/>
                </a:solidFill>
                <a:latin typeface="Arial"/>
                <a:cs typeface="Arial"/>
              </a:rPr>
              <a:t>2 cities?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33748" y="1827963"/>
            <a:ext cx="6613049" cy="4045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7" y="635660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359664"/>
                </a:moveTo>
                <a:lnTo>
                  <a:pt x="0" y="359664"/>
                </a:lnTo>
              </a:path>
              <a:path w="360045" h="360045">
                <a:moveTo>
                  <a:pt x="1" y="359613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60246" y="382025"/>
            <a:ext cx="5924296" cy="799885"/>
          </a:xfrm>
          <a:prstGeom prst="rect">
            <a:avLst/>
          </a:prstGeom>
        </p:spPr>
        <p:txBody>
          <a:bodyPr vert="horz" wrap="square" lIns="0" tIns="243509" rIns="0" bIns="0" rtlCol="0">
            <a:spAutoFit/>
          </a:bodyPr>
          <a:lstStyle/>
          <a:p>
            <a:pPr marL="98679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Breadth-</a:t>
            </a:r>
            <a:r>
              <a:rPr dirty="0"/>
              <a:t>First</a:t>
            </a:r>
            <a:r>
              <a:rPr spc="-30" dirty="0"/>
              <a:t> </a:t>
            </a:r>
            <a:r>
              <a:rPr dirty="0"/>
              <a:t>Snapshot</a:t>
            </a:r>
            <a:r>
              <a:rPr spc="-100" dirty="0"/>
              <a:t> </a:t>
            </a:r>
            <a:r>
              <a:rPr spc="-50" dirty="0"/>
              <a:t>1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10" name="object 10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736850" y="1531619"/>
            <a:ext cx="2146300" cy="1294130"/>
            <a:chOff x="2736850" y="1531619"/>
            <a:chExt cx="2146300" cy="1294130"/>
          </a:xfrm>
        </p:grpSpPr>
        <p:sp>
          <p:nvSpPr>
            <p:cNvPr id="13" name="object 13"/>
            <p:cNvSpPr/>
            <p:nvPr/>
          </p:nvSpPr>
          <p:spPr>
            <a:xfrm>
              <a:off x="3886200" y="18287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71800" y="1828799"/>
              <a:ext cx="1905000" cy="990600"/>
            </a:xfrm>
            <a:custGeom>
              <a:avLst/>
              <a:gdLst/>
              <a:ahLst/>
              <a:cxnLst/>
              <a:rect l="l" t="t" r="r" b="b"/>
              <a:pathLst>
                <a:path w="1905000" h="990600">
                  <a:moveTo>
                    <a:pt x="1905000" y="838200"/>
                  </a:moveTo>
                  <a:lnTo>
                    <a:pt x="1897252" y="790066"/>
                  </a:lnTo>
                  <a:lnTo>
                    <a:pt x="1875536" y="748157"/>
                  </a:lnTo>
                  <a:lnTo>
                    <a:pt x="1842642" y="715263"/>
                  </a:lnTo>
                  <a:lnTo>
                    <a:pt x="1800733" y="693547"/>
                  </a:lnTo>
                  <a:lnTo>
                    <a:pt x="1752600" y="685800"/>
                  </a:lnTo>
                  <a:lnTo>
                    <a:pt x="1704466" y="693547"/>
                  </a:lnTo>
                  <a:lnTo>
                    <a:pt x="1662557" y="715263"/>
                  </a:lnTo>
                  <a:lnTo>
                    <a:pt x="1629664" y="748157"/>
                  </a:lnTo>
                  <a:lnTo>
                    <a:pt x="1607947" y="790066"/>
                  </a:lnTo>
                  <a:lnTo>
                    <a:pt x="1600200" y="838200"/>
                  </a:lnTo>
                  <a:lnTo>
                    <a:pt x="1607947" y="886333"/>
                  </a:lnTo>
                  <a:lnTo>
                    <a:pt x="1629664" y="928242"/>
                  </a:lnTo>
                  <a:lnTo>
                    <a:pt x="1662557" y="961136"/>
                  </a:lnTo>
                  <a:lnTo>
                    <a:pt x="1704466" y="982852"/>
                  </a:lnTo>
                  <a:lnTo>
                    <a:pt x="1752600" y="990600"/>
                  </a:lnTo>
                  <a:lnTo>
                    <a:pt x="1800733" y="982852"/>
                  </a:lnTo>
                  <a:lnTo>
                    <a:pt x="1842642" y="961136"/>
                  </a:lnTo>
                  <a:lnTo>
                    <a:pt x="1875536" y="928242"/>
                  </a:lnTo>
                  <a:lnTo>
                    <a:pt x="1897252" y="886333"/>
                  </a:lnTo>
                  <a:lnTo>
                    <a:pt x="1905000" y="838200"/>
                  </a:lnTo>
                  <a:close/>
                </a:path>
                <a:path w="1905000" h="990600">
                  <a:moveTo>
                    <a:pt x="762000" y="0"/>
                  </a:moveTo>
                  <a:lnTo>
                    <a:pt x="0" y="762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6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6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7" y="275335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5"/>
                  </a:lnTo>
                  <a:lnTo>
                    <a:pt x="275336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7" y="29463"/>
                  </a:lnTo>
                  <a:lnTo>
                    <a:pt x="104266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2"/>
                  </a:lnTo>
                  <a:lnTo>
                    <a:pt x="242442" y="275335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7" y="275335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1" name="object 21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77464" y="6365847"/>
            <a:ext cx="144780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5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[]</a:t>
            </a:r>
            <a:r>
              <a:rPr sz="1600" spc="-1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-5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[2,3]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7" y="635660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359664"/>
                </a:moveTo>
                <a:lnTo>
                  <a:pt x="0" y="359664"/>
                </a:lnTo>
              </a:path>
              <a:path w="360045" h="360045">
                <a:moveTo>
                  <a:pt x="1" y="359613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974850" y="1531619"/>
            <a:ext cx="2908300" cy="2299970"/>
            <a:chOff x="1974850" y="1531619"/>
            <a:chExt cx="2908300" cy="2299970"/>
          </a:xfrm>
        </p:grpSpPr>
        <p:sp>
          <p:nvSpPr>
            <p:cNvPr id="10" name="object 10"/>
            <p:cNvSpPr/>
            <p:nvPr/>
          </p:nvSpPr>
          <p:spPr>
            <a:xfrm>
              <a:off x="2209800" y="2743200"/>
              <a:ext cx="609600" cy="838200"/>
            </a:xfrm>
            <a:custGeom>
              <a:avLst/>
              <a:gdLst/>
              <a:ahLst/>
              <a:cxnLst/>
              <a:rect l="l" t="t" r="r" b="b"/>
              <a:pathLst>
                <a:path w="609600" h="838200">
                  <a:moveTo>
                    <a:pt x="0" y="83820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81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1200" y="1828799"/>
              <a:ext cx="1752600" cy="1996439"/>
            </a:xfrm>
            <a:custGeom>
              <a:avLst/>
              <a:gdLst/>
              <a:ahLst/>
              <a:cxnLst/>
              <a:rect l="l" t="t" r="r" b="b"/>
              <a:pathLst>
                <a:path w="1752600" h="1996439">
                  <a:moveTo>
                    <a:pt x="0" y="1844039"/>
                  </a:moveTo>
                  <a:lnTo>
                    <a:pt x="7747" y="1795907"/>
                  </a:lnTo>
                  <a:lnTo>
                    <a:pt x="29463" y="1753997"/>
                  </a:lnTo>
                  <a:lnTo>
                    <a:pt x="62356" y="1721103"/>
                  </a:lnTo>
                  <a:lnTo>
                    <a:pt x="104267" y="1699387"/>
                  </a:lnTo>
                  <a:lnTo>
                    <a:pt x="152400" y="1691639"/>
                  </a:lnTo>
                  <a:lnTo>
                    <a:pt x="200532" y="1699387"/>
                  </a:lnTo>
                  <a:lnTo>
                    <a:pt x="242443" y="1721103"/>
                  </a:lnTo>
                  <a:lnTo>
                    <a:pt x="275336" y="1753997"/>
                  </a:lnTo>
                  <a:lnTo>
                    <a:pt x="297052" y="1795907"/>
                  </a:lnTo>
                  <a:lnTo>
                    <a:pt x="304800" y="1844039"/>
                  </a:lnTo>
                  <a:lnTo>
                    <a:pt x="297052" y="1892173"/>
                  </a:lnTo>
                  <a:lnTo>
                    <a:pt x="275336" y="1934083"/>
                  </a:lnTo>
                  <a:lnTo>
                    <a:pt x="242443" y="1966976"/>
                  </a:lnTo>
                  <a:lnTo>
                    <a:pt x="200532" y="1988693"/>
                  </a:lnTo>
                  <a:lnTo>
                    <a:pt x="152400" y="1996439"/>
                  </a:lnTo>
                  <a:lnTo>
                    <a:pt x="104267" y="1988693"/>
                  </a:lnTo>
                  <a:lnTo>
                    <a:pt x="62356" y="1966976"/>
                  </a:lnTo>
                  <a:lnTo>
                    <a:pt x="29463" y="1934083"/>
                  </a:lnTo>
                  <a:lnTo>
                    <a:pt x="7747" y="1892173"/>
                  </a:lnTo>
                  <a:lnTo>
                    <a:pt x="0" y="1844039"/>
                  </a:lnTo>
                  <a:close/>
                </a:path>
                <a:path w="1752600" h="1996439">
                  <a:moveTo>
                    <a:pt x="1752600" y="0"/>
                  </a:moveTo>
                  <a:lnTo>
                    <a:pt x="990600" y="762000"/>
                  </a:lnTo>
                </a:path>
                <a:path w="1752600" h="1996439">
                  <a:moveTo>
                    <a:pt x="990600" y="990600"/>
                  </a:moveTo>
                  <a:lnTo>
                    <a:pt x="1219200" y="16764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0" y="1828799"/>
              <a:ext cx="1905000" cy="990600"/>
            </a:xfrm>
            <a:custGeom>
              <a:avLst/>
              <a:gdLst/>
              <a:ahLst/>
              <a:cxnLst/>
              <a:rect l="l" t="t" r="r" b="b"/>
              <a:pathLst>
                <a:path w="1905000" h="990600">
                  <a:moveTo>
                    <a:pt x="0" y="838200"/>
                  </a:moveTo>
                  <a:lnTo>
                    <a:pt x="7747" y="790066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7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6" y="748157"/>
                  </a:lnTo>
                  <a:lnTo>
                    <a:pt x="297052" y="790066"/>
                  </a:lnTo>
                  <a:lnTo>
                    <a:pt x="304800" y="838200"/>
                  </a:lnTo>
                  <a:lnTo>
                    <a:pt x="297052" y="886333"/>
                  </a:lnTo>
                  <a:lnTo>
                    <a:pt x="275336" y="928242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7" y="982852"/>
                  </a:lnTo>
                  <a:lnTo>
                    <a:pt x="62356" y="961136"/>
                  </a:lnTo>
                  <a:lnTo>
                    <a:pt x="29463" y="928242"/>
                  </a:lnTo>
                  <a:lnTo>
                    <a:pt x="7747" y="886333"/>
                  </a:lnTo>
                  <a:lnTo>
                    <a:pt x="0" y="838200"/>
                  </a:lnTo>
                  <a:close/>
                </a:path>
                <a:path w="1905000" h="990600">
                  <a:moveTo>
                    <a:pt x="1143000" y="0"/>
                  </a:moveTo>
                  <a:lnTo>
                    <a:pt x="1905000" y="762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6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7" y="275335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5"/>
                  </a:lnTo>
                  <a:lnTo>
                    <a:pt x="275336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7" y="29463"/>
                  </a:lnTo>
                  <a:lnTo>
                    <a:pt x="104266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2"/>
                  </a:lnTo>
                  <a:lnTo>
                    <a:pt x="242442" y="275335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7" y="275335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7" name="object 27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30" name="object 30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567685" y="6365847"/>
            <a:ext cx="155892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5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[3]</a:t>
            </a:r>
            <a:r>
              <a:rPr sz="1600" spc="-1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-6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[4,5]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6" name="object 8">
            <a:extLst>
              <a:ext uri="{FF2B5EF4-FFF2-40B4-BE49-F238E27FC236}">
                <a16:creationId xmlns:a16="http://schemas.microsoft.com/office/drawing/2014/main" id="{F3878064-1E8F-E574-AFB4-6C1E16FD3E8F}"/>
              </a:ext>
            </a:extLst>
          </p:cNvPr>
          <p:cNvSpPr txBox="1">
            <a:spLocks/>
          </p:cNvSpPr>
          <p:nvPr/>
        </p:nvSpPr>
        <p:spPr>
          <a:xfrm>
            <a:off x="1460246" y="335133"/>
            <a:ext cx="5924296" cy="799885"/>
          </a:xfrm>
          <a:prstGeom prst="rect">
            <a:avLst/>
          </a:prstGeom>
        </p:spPr>
        <p:txBody>
          <a:bodyPr vert="horz" wrap="square" lIns="0" tIns="243509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rlito"/>
                <a:ea typeface="+mj-ea"/>
                <a:cs typeface="Carlito"/>
              </a:defRPr>
            </a:lvl1pPr>
          </a:lstStyle>
          <a:p>
            <a:pPr marL="986790">
              <a:spcBef>
                <a:spcPts val="95"/>
              </a:spcBef>
            </a:pPr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kern="0" spc="-50" dirty="0"/>
              <a:t>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7" y="635660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359664"/>
                </a:moveTo>
                <a:lnTo>
                  <a:pt x="0" y="359664"/>
                </a:lnTo>
              </a:path>
              <a:path w="360045" h="360045">
                <a:moveTo>
                  <a:pt x="1" y="359613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974850" y="1822450"/>
            <a:ext cx="3690620" cy="2009139"/>
            <a:chOff x="1974850" y="1822450"/>
            <a:chExt cx="3690620" cy="2009139"/>
          </a:xfrm>
        </p:grpSpPr>
        <p:sp>
          <p:nvSpPr>
            <p:cNvPr id="10" name="object 10"/>
            <p:cNvSpPr/>
            <p:nvPr/>
          </p:nvSpPr>
          <p:spPr>
            <a:xfrm>
              <a:off x="2209800" y="2743200"/>
              <a:ext cx="609600" cy="838200"/>
            </a:xfrm>
            <a:custGeom>
              <a:avLst/>
              <a:gdLst/>
              <a:ahLst/>
              <a:cxnLst/>
              <a:rect l="l" t="t" r="r" b="b"/>
              <a:pathLst>
                <a:path w="609600" h="838200">
                  <a:moveTo>
                    <a:pt x="0" y="838200"/>
                  </a:moveTo>
                  <a:lnTo>
                    <a:pt x="609600" y="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81200" y="352043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81200" y="1828800"/>
              <a:ext cx="1752600" cy="1996439"/>
            </a:xfrm>
            <a:custGeom>
              <a:avLst/>
              <a:gdLst/>
              <a:ahLst/>
              <a:cxnLst/>
              <a:rect l="l" t="t" r="r" b="b"/>
              <a:pathLst>
                <a:path w="1752600" h="1996439">
                  <a:moveTo>
                    <a:pt x="0" y="1844039"/>
                  </a:moveTo>
                  <a:lnTo>
                    <a:pt x="7747" y="1795907"/>
                  </a:lnTo>
                  <a:lnTo>
                    <a:pt x="29463" y="1753997"/>
                  </a:lnTo>
                  <a:lnTo>
                    <a:pt x="62356" y="1721103"/>
                  </a:lnTo>
                  <a:lnTo>
                    <a:pt x="104267" y="1699387"/>
                  </a:lnTo>
                  <a:lnTo>
                    <a:pt x="152400" y="1691639"/>
                  </a:lnTo>
                  <a:lnTo>
                    <a:pt x="200532" y="1699387"/>
                  </a:lnTo>
                  <a:lnTo>
                    <a:pt x="242443" y="1721103"/>
                  </a:lnTo>
                  <a:lnTo>
                    <a:pt x="275336" y="1753997"/>
                  </a:lnTo>
                  <a:lnTo>
                    <a:pt x="297052" y="1795907"/>
                  </a:lnTo>
                  <a:lnTo>
                    <a:pt x="304800" y="1844039"/>
                  </a:lnTo>
                  <a:lnTo>
                    <a:pt x="297052" y="1892173"/>
                  </a:lnTo>
                  <a:lnTo>
                    <a:pt x="275336" y="1934083"/>
                  </a:lnTo>
                  <a:lnTo>
                    <a:pt x="242443" y="1966976"/>
                  </a:lnTo>
                  <a:lnTo>
                    <a:pt x="200532" y="1988693"/>
                  </a:lnTo>
                  <a:lnTo>
                    <a:pt x="152400" y="1996439"/>
                  </a:lnTo>
                  <a:lnTo>
                    <a:pt x="104267" y="1988693"/>
                  </a:lnTo>
                  <a:lnTo>
                    <a:pt x="62356" y="1966976"/>
                  </a:lnTo>
                  <a:lnTo>
                    <a:pt x="29463" y="1934083"/>
                  </a:lnTo>
                  <a:lnTo>
                    <a:pt x="7747" y="1892173"/>
                  </a:lnTo>
                  <a:lnTo>
                    <a:pt x="0" y="1844039"/>
                  </a:lnTo>
                  <a:close/>
                </a:path>
                <a:path w="1752600" h="1996439">
                  <a:moveTo>
                    <a:pt x="1752600" y="0"/>
                  </a:moveTo>
                  <a:lnTo>
                    <a:pt x="990600" y="762000"/>
                  </a:lnTo>
                </a:path>
                <a:path w="1752600" h="1996439">
                  <a:moveTo>
                    <a:pt x="990600" y="990600"/>
                  </a:moveTo>
                  <a:lnTo>
                    <a:pt x="1219200" y="16764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24200" y="352043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200" y="352043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200" y="1828800"/>
              <a:ext cx="2667000" cy="1752600"/>
            </a:xfrm>
            <a:custGeom>
              <a:avLst/>
              <a:gdLst/>
              <a:ahLst/>
              <a:cxnLst/>
              <a:rect l="l" t="t" r="r" b="b"/>
              <a:pathLst>
                <a:path w="2667000" h="1752600">
                  <a:moveTo>
                    <a:pt x="0" y="838200"/>
                  </a:moveTo>
                  <a:lnTo>
                    <a:pt x="7747" y="790066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7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6" y="748157"/>
                  </a:lnTo>
                  <a:lnTo>
                    <a:pt x="297052" y="790066"/>
                  </a:lnTo>
                  <a:lnTo>
                    <a:pt x="304800" y="838200"/>
                  </a:lnTo>
                  <a:lnTo>
                    <a:pt x="297052" y="886333"/>
                  </a:lnTo>
                  <a:lnTo>
                    <a:pt x="275336" y="928242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7" y="982852"/>
                  </a:lnTo>
                  <a:lnTo>
                    <a:pt x="62356" y="961136"/>
                  </a:lnTo>
                  <a:lnTo>
                    <a:pt x="29463" y="928242"/>
                  </a:lnTo>
                  <a:lnTo>
                    <a:pt x="7747" y="886333"/>
                  </a:lnTo>
                  <a:lnTo>
                    <a:pt x="0" y="838200"/>
                  </a:lnTo>
                  <a:close/>
                </a:path>
                <a:path w="2667000" h="1752600">
                  <a:moveTo>
                    <a:pt x="1143000" y="0"/>
                  </a:moveTo>
                  <a:lnTo>
                    <a:pt x="1905000" y="762000"/>
                  </a:lnTo>
                </a:path>
                <a:path w="2667000" h="1752600">
                  <a:moveTo>
                    <a:pt x="2057400" y="990600"/>
                  </a:moveTo>
                  <a:lnTo>
                    <a:pt x="2667000" y="1752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53811" y="352043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9600" y="2819400"/>
              <a:ext cx="1239520" cy="1005840"/>
            </a:xfrm>
            <a:custGeom>
              <a:avLst/>
              <a:gdLst/>
              <a:ahLst/>
              <a:cxnLst/>
              <a:rect l="l" t="t" r="r" b="b"/>
              <a:pathLst>
                <a:path w="1239520" h="1005839">
                  <a:moveTo>
                    <a:pt x="1239012" y="853439"/>
                  </a:moveTo>
                  <a:lnTo>
                    <a:pt x="1231264" y="805307"/>
                  </a:lnTo>
                  <a:lnTo>
                    <a:pt x="1209548" y="763397"/>
                  </a:lnTo>
                  <a:lnTo>
                    <a:pt x="1176654" y="730503"/>
                  </a:lnTo>
                  <a:lnTo>
                    <a:pt x="1134745" y="708787"/>
                  </a:lnTo>
                  <a:lnTo>
                    <a:pt x="1086612" y="701039"/>
                  </a:lnTo>
                  <a:lnTo>
                    <a:pt x="1038478" y="708787"/>
                  </a:lnTo>
                  <a:lnTo>
                    <a:pt x="996569" y="730503"/>
                  </a:lnTo>
                  <a:lnTo>
                    <a:pt x="963676" y="763397"/>
                  </a:lnTo>
                  <a:lnTo>
                    <a:pt x="941959" y="805307"/>
                  </a:lnTo>
                  <a:lnTo>
                    <a:pt x="934212" y="853439"/>
                  </a:lnTo>
                  <a:lnTo>
                    <a:pt x="941959" y="901573"/>
                  </a:lnTo>
                  <a:lnTo>
                    <a:pt x="963676" y="943482"/>
                  </a:lnTo>
                  <a:lnTo>
                    <a:pt x="996569" y="976376"/>
                  </a:lnTo>
                  <a:lnTo>
                    <a:pt x="1038478" y="998093"/>
                  </a:lnTo>
                  <a:lnTo>
                    <a:pt x="1086612" y="1005839"/>
                  </a:lnTo>
                  <a:lnTo>
                    <a:pt x="1134745" y="998093"/>
                  </a:lnTo>
                  <a:lnTo>
                    <a:pt x="1176654" y="976376"/>
                  </a:lnTo>
                  <a:lnTo>
                    <a:pt x="1209548" y="943482"/>
                  </a:lnTo>
                  <a:lnTo>
                    <a:pt x="1231264" y="901573"/>
                  </a:lnTo>
                  <a:lnTo>
                    <a:pt x="1239012" y="853439"/>
                  </a:lnTo>
                  <a:close/>
                </a:path>
                <a:path w="1239520" h="1005839">
                  <a:moveTo>
                    <a:pt x="228600" y="0"/>
                  </a:moveTo>
                  <a:lnTo>
                    <a:pt x="0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29100" y="352043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29100" y="352043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7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6" y="297053"/>
                  </a:lnTo>
                  <a:lnTo>
                    <a:pt x="62357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19500" y="1562100"/>
            <a:ext cx="381000" cy="381000"/>
            <a:chOff x="3619500" y="1562100"/>
            <a:chExt cx="381000" cy="381000"/>
          </a:xfrm>
        </p:grpSpPr>
        <p:sp>
          <p:nvSpPr>
            <p:cNvPr id="31" name="object 31"/>
            <p:cNvSpPr/>
            <p:nvPr/>
          </p:nvSpPr>
          <p:spPr>
            <a:xfrm>
              <a:off x="3657600" y="1600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57600" y="1600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7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2"/>
                  </a:lnTo>
                  <a:lnTo>
                    <a:pt x="242442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7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34" name="object 34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37" name="object 37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577464" y="6365847"/>
            <a:ext cx="1729739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6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[4,5]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-6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B4B4B"/>
                </a:solidFill>
                <a:latin typeface="Arial MT"/>
                <a:cs typeface="Arial MT"/>
              </a:rPr>
              <a:t>[6,7]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1" name="Title 50">
            <a:extLst>
              <a:ext uri="{FF2B5EF4-FFF2-40B4-BE49-F238E27FC236}">
                <a16:creationId xmlns:a16="http://schemas.microsoft.com/office/drawing/2014/main" id="{DCDD0852-178F-D054-41BE-851F5F8C2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7" y="6356603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359664"/>
                </a:moveTo>
                <a:lnTo>
                  <a:pt x="0" y="359664"/>
                </a:lnTo>
              </a:path>
              <a:path w="360045" h="360045">
                <a:moveTo>
                  <a:pt x="1" y="359613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212850" y="1531619"/>
            <a:ext cx="4452620" cy="3275329"/>
            <a:chOff x="1212850" y="1531619"/>
            <a:chExt cx="4452620" cy="3275329"/>
          </a:xfrm>
        </p:grpSpPr>
        <p:sp>
          <p:nvSpPr>
            <p:cNvPr id="10" name="object 10"/>
            <p:cNvSpPr/>
            <p:nvPr/>
          </p:nvSpPr>
          <p:spPr>
            <a:xfrm>
              <a:off x="1447800" y="2743200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762000" y="838200"/>
                  </a:moveTo>
                  <a:lnTo>
                    <a:pt x="1371600" y="0"/>
                  </a:lnTo>
                </a:path>
                <a:path w="1371600" h="1828800">
                  <a:moveTo>
                    <a:pt x="0" y="1828800"/>
                  </a:moveTo>
                  <a:lnTo>
                    <a:pt x="609600" y="990600"/>
                  </a:lnTo>
                </a:path>
                <a:path w="1371600" h="1828800">
                  <a:moveTo>
                    <a:pt x="685800" y="1066800"/>
                  </a:moveTo>
                  <a:lnTo>
                    <a:pt x="609600" y="1752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024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3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2024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00" y="62356"/>
                  </a:lnTo>
                  <a:lnTo>
                    <a:pt x="7772" y="104267"/>
                  </a:lnTo>
                  <a:lnTo>
                    <a:pt x="0" y="152400"/>
                  </a:lnTo>
                  <a:lnTo>
                    <a:pt x="7772" y="200532"/>
                  </a:lnTo>
                  <a:lnTo>
                    <a:pt x="29400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72" y="104267"/>
                  </a:lnTo>
                  <a:lnTo>
                    <a:pt x="29400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00" y="242443"/>
                  </a:lnTo>
                  <a:lnTo>
                    <a:pt x="7772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81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1200" y="1828799"/>
              <a:ext cx="1752600" cy="1996439"/>
            </a:xfrm>
            <a:custGeom>
              <a:avLst/>
              <a:gdLst/>
              <a:ahLst/>
              <a:cxnLst/>
              <a:rect l="l" t="t" r="r" b="b"/>
              <a:pathLst>
                <a:path w="1752600" h="1996439">
                  <a:moveTo>
                    <a:pt x="0" y="1844039"/>
                  </a:moveTo>
                  <a:lnTo>
                    <a:pt x="7747" y="1795907"/>
                  </a:lnTo>
                  <a:lnTo>
                    <a:pt x="29463" y="1753997"/>
                  </a:lnTo>
                  <a:lnTo>
                    <a:pt x="62356" y="1721103"/>
                  </a:lnTo>
                  <a:lnTo>
                    <a:pt x="104267" y="1699387"/>
                  </a:lnTo>
                  <a:lnTo>
                    <a:pt x="152400" y="1691639"/>
                  </a:lnTo>
                  <a:lnTo>
                    <a:pt x="200532" y="1699387"/>
                  </a:lnTo>
                  <a:lnTo>
                    <a:pt x="242443" y="1721103"/>
                  </a:lnTo>
                  <a:lnTo>
                    <a:pt x="275336" y="1753997"/>
                  </a:lnTo>
                  <a:lnTo>
                    <a:pt x="297052" y="1795907"/>
                  </a:lnTo>
                  <a:lnTo>
                    <a:pt x="304800" y="1844039"/>
                  </a:lnTo>
                  <a:lnTo>
                    <a:pt x="297052" y="1892173"/>
                  </a:lnTo>
                  <a:lnTo>
                    <a:pt x="275336" y="1934083"/>
                  </a:lnTo>
                  <a:lnTo>
                    <a:pt x="242443" y="1966976"/>
                  </a:lnTo>
                  <a:lnTo>
                    <a:pt x="200532" y="1988693"/>
                  </a:lnTo>
                  <a:lnTo>
                    <a:pt x="152400" y="1996439"/>
                  </a:lnTo>
                  <a:lnTo>
                    <a:pt x="104267" y="1988693"/>
                  </a:lnTo>
                  <a:lnTo>
                    <a:pt x="62356" y="1966976"/>
                  </a:lnTo>
                  <a:lnTo>
                    <a:pt x="29463" y="1934083"/>
                  </a:lnTo>
                  <a:lnTo>
                    <a:pt x="7747" y="1892173"/>
                  </a:lnTo>
                  <a:lnTo>
                    <a:pt x="0" y="1844039"/>
                  </a:lnTo>
                  <a:close/>
                </a:path>
                <a:path w="1752600" h="1996439">
                  <a:moveTo>
                    <a:pt x="1752600" y="0"/>
                  </a:moveTo>
                  <a:lnTo>
                    <a:pt x="990600" y="762000"/>
                  </a:lnTo>
                </a:path>
                <a:path w="1752600" h="1996439">
                  <a:moveTo>
                    <a:pt x="990600" y="990600"/>
                  </a:moveTo>
                  <a:lnTo>
                    <a:pt x="1219200" y="16764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0" y="1828799"/>
              <a:ext cx="2667000" cy="1752600"/>
            </a:xfrm>
            <a:custGeom>
              <a:avLst/>
              <a:gdLst/>
              <a:ahLst/>
              <a:cxnLst/>
              <a:rect l="l" t="t" r="r" b="b"/>
              <a:pathLst>
                <a:path w="2667000" h="1752600">
                  <a:moveTo>
                    <a:pt x="0" y="838200"/>
                  </a:moveTo>
                  <a:lnTo>
                    <a:pt x="7747" y="790066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7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6" y="748157"/>
                  </a:lnTo>
                  <a:lnTo>
                    <a:pt x="297052" y="790066"/>
                  </a:lnTo>
                  <a:lnTo>
                    <a:pt x="304800" y="838200"/>
                  </a:lnTo>
                  <a:lnTo>
                    <a:pt x="297052" y="886333"/>
                  </a:lnTo>
                  <a:lnTo>
                    <a:pt x="275336" y="928242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7" y="982852"/>
                  </a:lnTo>
                  <a:lnTo>
                    <a:pt x="62356" y="961136"/>
                  </a:lnTo>
                  <a:lnTo>
                    <a:pt x="29463" y="928242"/>
                  </a:lnTo>
                  <a:lnTo>
                    <a:pt x="7747" y="886333"/>
                  </a:lnTo>
                  <a:lnTo>
                    <a:pt x="0" y="838200"/>
                  </a:lnTo>
                  <a:close/>
                </a:path>
                <a:path w="2667000" h="1752600">
                  <a:moveTo>
                    <a:pt x="1143000" y="0"/>
                  </a:moveTo>
                  <a:lnTo>
                    <a:pt x="1905000" y="762000"/>
                  </a:lnTo>
                </a:path>
                <a:path w="2667000" h="1752600">
                  <a:moveTo>
                    <a:pt x="2057400" y="990600"/>
                  </a:moveTo>
                  <a:lnTo>
                    <a:pt x="2667000" y="1752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3811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19600" y="2819400"/>
              <a:ext cx="1239520" cy="1005840"/>
            </a:xfrm>
            <a:custGeom>
              <a:avLst/>
              <a:gdLst/>
              <a:ahLst/>
              <a:cxnLst/>
              <a:rect l="l" t="t" r="r" b="b"/>
              <a:pathLst>
                <a:path w="1239520" h="1005839">
                  <a:moveTo>
                    <a:pt x="1239012" y="853439"/>
                  </a:moveTo>
                  <a:lnTo>
                    <a:pt x="1231264" y="805307"/>
                  </a:lnTo>
                  <a:lnTo>
                    <a:pt x="1209548" y="763397"/>
                  </a:lnTo>
                  <a:lnTo>
                    <a:pt x="1176654" y="730503"/>
                  </a:lnTo>
                  <a:lnTo>
                    <a:pt x="1134745" y="708787"/>
                  </a:lnTo>
                  <a:lnTo>
                    <a:pt x="1086612" y="701039"/>
                  </a:lnTo>
                  <a:lnTo>
                    <a:pt x="1038478" y="708787"/>
                  </a:lnTo>
                  <a:lnTo>
                    <a:pt x="996569" y="730503"/>
                  </a:lnTo>
                  <a:lnTo>
                    <a:pt x="963676" y="763397"/>
                  </a:lnTo>
                  <a:lnTo>
                    <a:pt x="941959" y="805307"/>
                  </a:lnTo>
                  <a:lnTo>
                    <a:pt x="934212" y="853439"/>
                  </a:lnTo>
                  <a:lnTo>
                    <a:pt x="941959" y="901573"/>
                  </a:lnTo>
                  <a:lnTo>
                    <a:pt x="963676" y="943482"/>
                  </a:lnTo>
                  <a:lnTo>
                    <a:pt x="996569" y="976376"/>
                  </a:lnTo>
                  <a:lnTo>
                    <a:pt x="1038478" y="998093"/>
                  </a:lnTo>
                  <a:lnTo>
                    <a:pt x="1086612" y="1005839"/>
                  </a:lnTo>
                  <a:lnTo>
                    <a:pt x="1134745" y="998093"/>
                  </a:lnTo>
                  <a:lnTo>
                    <a:pt x="1176654" y="976376"/>
                  </a:lnTo>
                  <a:lnTo>
                    <a:pt x="1209548" y="943482"/>
                  </a:lnTo>
                  <a:lnTo>
                    <a:pt x="1231264" y="901573"/>
                  </a:lnTo>
                  <a:lnTo>
                    <a:pt x="1239012" y="853439"/>
                  </a:lnTo>
                  <a:close/>
                </a:path>
                <a:path w="1239520" h="1005839">
                  <a:moveTo>
                    <a:pt x="228600" y="0"/>
                  </a:moveTo>
                  <a:lnTo>
                    <a:pt x="0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7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6" y="297053"/>
                  </a:lnTo>
                  <a:lnTo>
                    <a:pt x="62357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6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7" y="275335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5"/>
                  </a:lnTo>
                  <a:lnTo>
                    <a:pt x="275336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7" y="29463"/>
                  </a:lnTo>
                  <a:lnTo>
                    <a:pt x="104266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2"/>
                  </a:lnTo>
                  <a:lnTo>
                    <a:pt x="242442" y="275335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7" y="275335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39" name="object 39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42" name="object 42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577464" y="6365847"/>
            <a:ext cx="189865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6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[5,6,7]</a:t>
            </a:r>
            <a:r>
              <a:rPr sz="1600" spc="-2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-7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[8,9]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BCFAC14D-B3AE-B680-CC7F-347EAAA5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212850" y="1531619"/>
            <a:ext cx="4452620" cy="3275329"/>
            <a:chOff x="1212850" y="1531619"/>
            <a:chExt cx="4452620" cy="3275329"/>
          </a:xfrm>
        </p:grpSpPr>
        <p:sp>
          <p:nvSpPr>
            <p:cNvPr id="4" name="object 4"/>
            <p:cNvSpPr/>
            <p:nvPr/>
          </p:nvSpPr>
          <p:spPr>
            <a:xfrm>
              <a:off x="1447800" y="2743200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762000" y="838200"/>
                  </a:moveTo>
                  <a:lnTo>
                    <a:pt x="1371600" y="0"/>
                  </a:lnTo>
                </a:path>
                <a:path w="1371600" h="1828800">
                  <a:moveTo>
                    <a:pt x="0" y="1828800"/>
                  </a:moveTo>
                  <a:lnTo>
                    <a:pt x="609600" y="990600"/>
                  </a:lnTo>
                </a:path>
                <a:path w="1371600" h="1828800">
                  <a:moveTo>
                    <a:pt x="685800" y="1066800"/>
                  </a:moveTo>
                  <a:lnTo>
                    <a:pt x="609600" y="1752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024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3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024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00" y="62356"/>
                  </a:lnTo>
                  <a:lnTo>
                    <a:pt x="7772" y="104267"/>
                  </a:lnTo>
                  <a:lnTo>
                    <a:pt x="0" y="152400"/>
                  </a:lnTo>
                  <a:lnTo>
                    <a:pt x="7772" y="200532"/>
                  </a:lnTo>
                  <a:lnTo>
                    <a:pt x="29400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72" y="104267"/>
                  </a:lnTo>
                  <a:lnTo>
                    <a:pt x="29400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00" y="242443"/>
                  </a:lnTo>
                  <a:lnTo>
                    <a:pt x="7772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1828799"/>
              <a:ext cx="1752600" cy="2667000"/>
            </a:xfrm>
            <a:custGeom>
              <a:avLst/>
              <a:gdLst/>
              <a:ahLst/>
              <a:cxnLst/>
              <a:rect l="l" t="t" r="r" b="b"/>
              <a:pathLst>
                <a:path w="1752600" h="2667000">
                  <a:moveTo>
                    <a:pt x="0" y="1844039"/>
                  </a:moveTo>
                  <a:lnTo>
                    <a:pt x="7747" y="1795907"/>
                  </a:lnTo>
                  <a:lnTo>
                    <a:pt x="29463" y="1753997"/>
                  </a:lnTo>
                  <a:lnTo>
                    <a:pt x="62356" y="1721103"/>
                  </a:lnTo>
                  <a:lnTo>
                    <a:pt x="104267" y="1699387"/>
                  </a:lnTo>
                  <a:lnTo>
                    <a:pt x="152400" y="1691639"/>
                  </a:lnTo>
                  <a:lnTo>
                    <a:pt x="200532" y="1699387"/>
                  </a:lnTo>
                  <a:lnTo>
                    <a:pt x="242443" y="1721103"/>
                  </a:lnTo>
                  <a:lnTo>
                    <a:pt x="275336" y="1753997"/>
                  </a:lnTo>
                  <a:lnTo>
                    <a:pt x="297052" y="1795907"/>
                  </a:lnTo>
                  <a:lnTo>
                    <a:pt x="304800" y="1844039"/>
                  </a:lnTo>
                  <a:lnTo>
                    <a:pt x="297052" y="1892173"/>
                  </a:lnTo>
                  <a:lnTo>
                    <a:pt x="275336" y="1934083"/>
                  </a:lnTo>
                  <a:lnTo>
                    <a:pt x="242443" y="1966976"/>
                  </a:lnTo>
                  <a:lnTo>
                    <a:pt x="200532" y="1988693"/>
                  </a:lnTo>
                  <a:lnTo>
                    <a:pt x="152400" y="1996439"/>
                  </a:lnTo>
                  <a:lnTo>
                    <a:pt x="104267" y="1988693"/>
                  </a:lnTo>
                  <a:lnTo>
                    <a:pt x="62356" y="1966976"/>
                  </a:lnTo>
                  <a:lnTo>
                    <a:pt x="29463" y="1934083"/>
                  </a:lnTo>
                  <a:lnTo>
                    <a:pt x="7747" y="1892173"/>
                  </a:lnTo>
                  <a:lnTo>
                    <a:pt x="0" y="1844039"/>
                  </a:lnTo>
                  <a:close/>
                </a:path>
                <a:path w="1752600" h="2667000">
                  <a:moveTo>
                    <a:pt x="1752600" y="0"/>
                  </a:moveTo>
                  <a:lnTo>
                    <a:pt x="990600" y="762000"/>
                  </a:lnTo>
                </a:path>
                <a:path w="1752600" h="2667000">
                  <a:moveTo>
                    <a:pt x="990600" y="990600"/>
                  </a:moveTo>
                  <a:lnTo>
                    <a:pt x="1219200" y="1676400"/>
                  </a:lnTo>
                </a:path>
                <a:path w="1752600" h="2667000">
                  <a:moveTo>
                    <a:pt x="1219200" y="1981200"/>
                  </a:moveTo>
                  <a:lnTo>
                    <a:pt x="838200" y="2667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2803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2803" y="3809999"/>
              <a:ext cx="882650" cy="990600"/>
            </a:xfrm>
            <a:custGeom>
              <a:avLst/>
              <a:gdLst/>
              <a:ahLst/>
              <a:cxnLst/>
              <a:rect l="l" t="t" r="r" b="b"/>
              <a:pathLst>
                <a:path w="882650" h="990600">
                  <a:moveTo>
                    <a:pt x="0" y="838200"/>
                  </a:moveTo>
                  <a:lnTo>
                    <a:pt x="7746" y="790067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6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5" y="748157"/>
                  </a:lnTo>
                  <a:lnTo>
                    <a:pt x="297052" y="790067"/>
                  </a:lnTo>
                  <a:lnTo>
                    <a:pt x="304800" y="838200"/>
                  </a:lnTo>
                  <a:lnTo>
                    <a:pt x="297052" y="886332"/>
                  </a:lnTo>
                  <a:lnTo>
                    <a:pt x="275335" y="928243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6" y="982852"/>
                  </a:lnTo>
                  <a:lnTo>
                    <a:pt x="62356" y="961136"/>
                  </a:lnTo>
                  <a:lnTo>
                    <a:pt x="29463" y="928243"/>
                  </a:lnTo>
                  <a:lnTo>
                    <a:pt x="7746" y="886332"/>
                  </a:lnTo>
                  <a:lnTo>
                    <a:pt x="0" y="838200"/>
                  </a:lnTo>
                  <a:close/>
                </a:path>
                <a:path w="882650" h="990600">
                  <a:moveTo>
                    <a:pt x="729995" y="0"/>
                  </a:moveTo>
                  <a:lnTo>
                    <a:pt x="882395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6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2" y="29463"/>
                  </a:lnTo>
                  <a:lnTo>
                    <a:pt x="275335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3"/>
                  </a:lnTo>
                  <a:lnTo>
                    <a:pt x="242442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6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0" y="1828799"/>
              <a:ext cx="2667000" cy="1752600"/>
            </a:xfrm>
            <a:custGeom>
              <a:avLst/>
              <a:gdLst/>
              <a:ahLst/>
              <a:cxnLst/>
              <a:rect l="l" t="t" r="r" b="b"/>
              <a:pathLst>
                <a:path w="2667000" h="1752600">
                  <a:moveTo>
                    <a:pt x="0" y="838200"/>
                  </a:moveTo>
                  <a:lnTo>
                    <a:pt x="7747" y="790066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7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6" y="748157"/>
                  </a:lnTo>
                  <a:lnTo>
                    <a:pt x="297052" y="790066"/>
                  </a:lnTo>
                  <a:lnTo>
                    <a:pt x="304800" y="838200"/>
                  </a:lnTo>
                  <a:lnTo>
                    <a:pt x="297052" y="886333"/>
                  </a:lnTo>
                  <a:lnTo>
                    <a:pt x="275336" y="928242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7" y="982852"/>
                  </a:lnTo>
                  <a:lnTo>
                    <a:pt x="62356" y="961136"/>
                  </a:lnTo>
                  <a:lnTo>
                    <a:pt x="29463" y="928242"/>
                  </a:lnTo>
                  <a:lnTo>
                    <a:pt x="7747" y="886333"/>
                  </a:lnTo>
                  <a:lnTo>
                    <a:pt x="0" y="838200"/>
                  </a:lnTo>
                  <a:close/>
                </a:path>
                <a:path w="2667000" h="1752600">
                  <a:moveTo>
                    <a:pt x="1143000" y="0"/>
                  </a:moveTo>
                  <a:lnTo>
                    <a:pt x="1905000" y="762000"/>
                  </a:lnTo>
                </a:path>
                <a:path w="2667000" h="1752600">
                  <a:moveTo>
                    <a:pt x="2057400" y="990600"/>
                  </a:moveTo>
                  <a:lnTo>
                    <a:pt x="2667000" y="1752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53811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19600" y="2819400"/>
              <a:ext cx="1239520" cy="1005840"/>
            </a:xfrm>
            <a:custGeom>
              <a:avLst/>
              <a:gdLst/>
              <a:ahLst/>
              <a:cxnLst/>
              <a:rect l="l" t="t" r="r" b="b"/>
              <a:pathLst>
                <a:path w="1239520" h="1005839">
                  <a:moveTo>
                    <a:pt x="1239012" y="853439"/>
                  </a:moveTo>
                  <a:lnTo>
                    <a:pt x="1231264" y="805307"/>
                  </a:lnTo>
                  <a:lnTo>
                    <a:pt x="1209548" y="763397"/>
                  </a:lnTo>
                  <a:lnTo>
                    <a:pt x="1176654" y="730503"/>
                  </a:lnTo>
                  <a:lnTo>
                    <a:pt x="1134745" y="708787"/>
                  </a:lnTo>
                  <a:lnTo>
                    <a:pt x="1086612" y="701039"/>
                  </a:lnTo>
                  <a:lnTo>
                    <a:pt x="1038478" y="708787"/>
                  </a:lnTo>
                  <a:lnTo>
                    <a:pt x="996569" y="730503"/>
                  </a:lnTo>
                  <a:lnTo>
                    <a:pt x="963676" y="763397"/>
                  </a:lnTo>
                  <a:lnTo>
                    <a:pt x="941959" y="805307"/>
                  </a:lnTo>
                  <a:lnTo>
                    <a:pt x="934212" y="853439"/>
                  </a:lnTo>
                  <a:lnTo>
                    <a:pt x="941959" y="901573"/>
                  </a:lnTo>
                  <a:lnTo>
                    <a:pt x="963676" y="943482"/>
                  </a:lnTo>
                  <a:lnTo>
                    <a:pt x="996569" y="976376"/>
                  </a:lnTo>
                  <a:lnTo>
                    <a:pt x="1038478" y="998093"/>
                  </a:lnTo>
                  <a:lnTo>
                    <a:pt x="1086612" y="1005839"/>
                  </a:lnTo>
                  <a:lnTo>
                    <a:pt x="1134745" y="998093"/>
                  </a:lnTo>
                  <a:lnTo>
                    <a:pt x="1176654" y="976376"/>
                  </a:lnTo>
                  <a:lnTo>
                    <a:pt x="1209548" y="943482"/>
                  </a:lnTo>
                  <a:lnTo>
                    <a:pt x="1231264" y="901573"/>
                  </a:lnTo>
                  <a:lnTo>
                    <a:pt x="1239012" y="853439"/>
                  </a:lnTo>
                  <a:close/>
                </a:path>
                <a:path w="1239520" h="1005839">
                  <a:moveTo>
                    <a:pt x="228600" y="0"/>
                  </a:moveTo>
                  <a:lnTo>
                    <a:pt x="0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7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6" y="297053"/>
                  </a:lnTo>
                  <a:lnTo>
                    <a:pt x="62357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6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7" y="275335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5"/>
                  </a:lnTo>
                  <a:lnTo>
                    <a:pt x="275336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7" y="29463"/>
                  </a:lnTo>
                  <a:lnTo>
                    <a:pt x="104266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2"/>
                  </a:lnTo>
                  <a:lnTo>
                    <a:pt x="242442" y="275335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7" y="275335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39" name="object 39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42" name="object 42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577464" y="6357008"/>
            <a:ext cx="226695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6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[6,7,8,9]</a:t>
            </a:r>
            <a:r>
              <a:rPr sz="1600" spc="-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-30" dirty="0">
                <a:solidFill>
                  <a:srgbClr val="4B4B4B"/>
                </a:solidFill>
                <a:latin typeface="Arial MT"/>
                <a:cs typeface="Arial MT"/>
              </a:rPr>
              <a:t> [10,11]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AA06C570-3E26-0E02-A473-98D3ADDD6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212850" y="1531619"/>
            <a:ext cx="4452620" cy="3275329"/>
            <a:chOff x="1212850" y="1531619"/>
            <a:chExt cx="4452620" cy="3275329"/>
          </a:xfrm>
        </p:grpSpPr>
        <p:sp>
          <p:nvSpPr>
            <p:cNvPr id="4" name="object 4"/>
            <p:cNvSpPr/>
            <p:nvPr/>
          </p:nvSpPr>
          <p:spPr>
            <a:xfrm>
              <a:off x="1447800" y="2743200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762000" y="838200"/>
                  </a:moveTo>
                  <a:lnTo>
                    <a:pt x="1371600" y="0"/>
                  </a:lnTo>
                </a:path>
                <a:path w="1371600" h="1828800">
                  <a:moveTo>
                    <a:pt x="0" y="1828800"/>
                  </a:moveTo>
                  <a:lnTo>
                    <a:pt x="609600" y="990600"/>
                  </a:lnTo>
                </a:path>
                <a:path w="1371600" h="1828800">
                  <a:moveTo>
                    <a:pt x="685800" y="1066800"/>
                  </a:moveTo>
                  <a:lnTo>
                    <a:pt x="609600" y="1752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024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3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024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00" y="62356"/>
                  </a:lnTo>
                  <a:lnTo>
                    <a:pt x="7772" y="104267"/>
                  </a:lnTo>
                  <a:lnTo>
                    <a:pt x="0" y="152400"/>
                  </a:lnTo>
                  <a:lnTo>
                    <a:pt x="7772" y="200532"/>
                  </a:lnTo>
                  <a:lnTo>
                    <a:pt x="29400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72" y="104267"/>
                  </a:lnTo>
                  <a:lnTo>
                    <a:pt x="29400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00" y="242443"/>
                  </a:lnTo>
                  <a:lnTo>
                    <a:pt x="7772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1828799"/>
              <a:ext cx="1752600" cy="2667000"/>
            </a:xfrm>
            <a:custGeom>
              <a:avLst/>
              <a:gdLst/>
              <a:ahLst/>
              <a:cxnLst/>
              <a:rect l="l" t="t" r="r" b="b"/>
              <a:pathLst>
                <a:path w="1752600" h="2667000">
                  <a:moveTo>
                    <a:pt x="0" y="1844039"/>
                  </a:moveTo>
                  <a:lnTo>
                    <a:pt x="7747" y="1795907"/>
                  </a:lnTo>
                  <a:lnTo>
                    <a:pt x="29463" y="1753997"/>
                  </a:lnTo>
                  <a:lnTo>
                    <a:pt x="62356" y="1721103"/>
                  </a:lnTo>
                  <a:lnTo>
                    <a:pt x="104267" y="1699387"/>
                  </a:lnTo>
                  <a:lnTo>
                    <a:pt x="152400" y="1691639"/>
                  </a:lnTo>
                  <a:lnTo>
                    <a:pt x="200532" y="1699387"/>
                  </a:lnTo>
                  <a:lnTo>
                    <a:pt x="242443" y="1721103"/>
                  </a:lnTo>
                  <a:lnTo>
                    <a:pt x="275336" y="1753997"/>
                  </a:lnTo>
                  <a:lnTo>
                    <a:pt x="297052" y="1795907"/>
                  </a:lnTo>
                  <a:lnTo>
                    <a:pt x="304800" y="1844039"/>
                  </a:lnTo>
                  <a:lnTo>
                    <a:pt x="297052" y="1892173"/>
                  </a:lnTo>
                  <a:lnTo>
                    <a:pt x="275336" y="1934083"/>
                  </a:lnTo>
                  <a:lnTo>
                    <a:pt x="242443" y="1966976"/>
                  </a:lnTo>
                  <a:lnTo>
                    <a:pt x="200532" y="1988693"/>
                  </a:lnTo>
                  <a:lnTo>
                    <a:pt x="152400" y="1996439"/>
                  </a:lnTo>
                  <a:lnTo>
                    <a:pt x="104267" y="1988693"/>
                  </a:lnTo>
                  <a:lnTo>
                    <a:pt x="62356" y="1966976"/>
                  </a:lnTo>
                  <a:lnTo>
                    <a:pt x="29463" y="1934083"/>
                  </a:lnTo>
                  <a:lnTo>
                    <a:pt x="7747" y="1892173"/>
                  </a:lnTo>
                  <a:lnTo>
                    <a:pt x="0" y="1844039"/>
                  </a:lnTo>
                  <a:close/>
                </a:path>
                <a:path w="1752600" h="2667000">
                  <a:moveTo>
                    <a:pt x="1752600" y="0"/>
                  </a:moveTo>
                  <a:lnTo>
                    <a:pt x="990600" y="762000"/>
                  </a:lnTo>
                </a:path>
                <a:path w="1752600" h="2667000">
                  <a:moveTo>
                    <a:pt x="990600" y="990600"/>
                  </a:moveTo>
                  <a:lnTo>
                    <a:pt x="1219200" y="1676400"/>
                  </a:lnTo>
                </a:path>
                <a:path w="1752600" h="2667000">
                  <a:moveTo>
                    <a:pt x="1219200" y="1981200"/>
                  </a:moveTo>
                  <a:lnTo>
                    <a:pt x="838200" y="2667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2803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2803" y="3809999"/>
              <a:ext cx="882650" cy="990600"/>
            </a:xfrm>
            <a:custGeom>
              <a:avLst/>
              <a:gdLst/>
              <a:ahLst/>
              <a:cxnLst/>
              <a:rect l="l" t="t" r="r" b="b"/>
              <a:pathLst>
                <a:path w="882650" h="990600">
                  <a:moveTo>
                    <a:pt x="0" y="838200"/>
                  </a:moveTo>
                  <a:lnTo>
                    <a:pt x="7746" y="790067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6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5" y="748157"/>
                  </a:lnTo>
                  <a:lnTo>
                    <a:pt x="297052" y="790067"/>
                  </a:lnTo>
                  <a:lnTo>
                    <a:pt x="304800" y="838200"/>
                  </a:lnTo>
                  <a:lnTo>
                    <a:pt x="297052" y="886332"/>
                  </a:lnTo>
                  <a:lnTo>
                    <a:pt x="275335" y="928243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6" y="982852"/>
                  </a:lnTo>
                  <a:lnTo>
                    <a:pt x="62356" y="961136"/>
                  </a:lnTo>
                  <a:lnTo>
                    <a:pt x="29463" y="928243"/>
                  </a:lnTo>
                  <a:lnTo>
                    <a:pt x="7746" y="886332"/>
                  </a:lnTo>
                  <a:lnTo>
                    <a:pt x="0" y="838200"/>
                  </a:lnTo>
                  <a:close/>
                </a:path>
                <a:path w="882650" h="990600">
                  <a:moveTo>
                    <a:pt x="729995" y="0"/>
                  </a:moveTo>
                  <a:lnTo>
                    <a:pt x="882395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6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2" y="29463"/>
                  </a:lnTo>
                  <a:lnTo>
                    <a:pt x="275335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3"/>
                  </a:lnTo>
                  <a:lnTo>
                    <a:pt x="242442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6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0" y="1828799"/>
              <a:ext cx="2667000" cy="1752600"/>
            </a:xfrm>
            <a:custGeom>
              <a:avLst/>
              <a:gdLst/>
              <a:ahLst/>
              <a:cxnLst/>
              <a:rect l="l" t="t" r="r" b="b"/>
              <a:pathLst>
                <a:path w="2667000" h="1752600">
                  <a:moveTo>
                    <a:pt x="0" y="838200"/>
                  </a:moveTo>
                  <a:lnTo>
                    <a:pt x="7747" y="790066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7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6" y="748157"/>
                  </a:lnTo>
                  <a:lnTo>
                    <a:pt x="297052" y="790066"/>
                  </a:lnTo>
                  <a:lnTo>
                    <a:pt x="304800" y="838200"/>
                  </a:lnTo>
                  <a:lnTo>
                    <a:pt x="297052" y="886333"/>
                  </a:lnTo>
                  <a:lnTo>
                    <a:pt x="275336" y="928242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7" y="982852"/>
                  </a:lnTo>
                  <a:lnTo>
                    <a:pt x="62356" y="961136"/>
                  </a:lnTo>
                  <a:lnTo>
                    <a:pt x="29463" y="928242"/>
                  </a:lnTo>
                  <a:lnTo>
                    <a:pt x="7747" y="886333"/>
                  </a:lnTo>
                  <a:lnTo>
                    <a:pt x="0" y="838200"/>
                  </a:lnTo>
                  <a:close/>
                </a:path>
                <a:path w="2667000" h="1752600">
                  <a:moveTo>
                    <a:pt x="1143000" y="0"/>
                  </a:moveTo>
                  <a:lnTo>
                    <a:pt x="1905000" y="762000"/>
                  </a:lnTo>
                </a:path>
                <a:path w="2667000" h="1752600">
                  <a:moveTo>
                    <a:pt x="2057400" y="990600"/>
                  </a:moveTo>
                  <a:lnTo>
                    <a:pt x="2667000" y="1752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53811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91000" y="2819400"/>
              <a:ext cx="1468120" cy="1676400"/>
            </a:xfrm>
            <a:custGeom>
              <a:avLst/>
              <a:gdLst/>
              <a:ahLst/>
              <a:cxnLst/>
              <a:rect l="l" t="t" r="r" b="b"/>
              <a:pathLst>
                <a:path w="1468120" h="1676400">
                  <a:moveTo>
                    <a:pt x="1467612" y="853439"/>
                  </a:moveTo>
                  <a:lnTo>
                    <a:pt x="1459864" y="805307"/>
                  </a:lnTo>
                  <a:lnTo>
                    <a:pt x="1438148" y="763397"/>
                  </a:lnTo>
                  <a:lnTo>
                    <a:pt x="1405254" y="730503"/>
                  </a:lnTo>
                  <a:lnTo>
                    <a:pt x="1363345" y="708787"/>
                  </a:lnTo>
                  <a:lnTo>
                    <a:pt x="1315212" y="701039"/>
                  </a:lnTo>
                  <a:lnTo>
                    <a:pt x="1267078" y="708787"/>
                  </a:lnTo>
                  <a:lnTo>
                    <a:pt x="1225169" y="730503"/>
                  </a:lnTo>
                  <a:lnTo>
                    <a:pt x="1192276" y="763397"/>
                  </a:lnTo>
                  <a:lnTo>
                    <a:pt x="1170559" y="805307"/>
                  </a:lnTo>
                  <a:lnTo>
                    <a:pt x="1162812" y="853439"/>
                  </a:lnTo>
                  <a:lnTo>
                    <a:pt x="1170559" y="901573"/>
                  </a:lnTo>
                  <a:lnTo>
                    <a:pt x="1192276" y="943482"/>
                  </a:lnTo>
                  <a:lnTo>
                    <a:pt x="1225169" y="976376"/>
                  </a:lnTo>
                  <a:lnTo>
                    <a:pt x="1267078" y="998093"/>
                  </a:lnTo>
                  <a:lnTo>
                    <a:pt x="1315212" y="1005839"/>
                  </a:lnTo>
                  <a:lnTo>
                    <a:pt x="1363345" y="998093"/>
                  </a:lnTo>
                  <a:lnTo>
                    <a:pt x="1405254" y="976376"/>
                  </a:lnTo>
                  <a:lnTo>
                    <a:pt x="1438148" y="943482"/>
                  </a:lnTo>
                  <a:lnTo>
                    <a:pt x="1459864" y="901573"/>
                  </a:lnTo>
                  <a:lnTo>
                    <a:pt x="1467612" y="853439"/>
                  </a:lnTo>
                  <a:close/>
                </a:path>
                <a:path w="1468120" h="1676400">
                  <a:moveTo>
                    <a:pt x="457200" y="0"/>
                  </a:moveTo>
                  <a:lnTo>
                    <a:pt x="228600" y="685800"/>
                  </a:lnTo>
                </a:path>
                <a:path w="1468120" h="1676400">
                  <a:moveTo>
                    <a:pt x="152400" y="990600"/>
                  </a:moveTo>
                  <a:lnTo>
                    <a:pt x="0" y="16764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27932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27932" y="3809999"/>
              <a:ext cx="772795" cy="990600"/>
            </a:xfrm>
            <a:custGeom>
              <a:avLst/>
              <a:gdLst/>
              <a:ahLst/>
              <a:cxnLst/>
              <a:rect l="l" t="t" r="r" b="b"/>
              <a:pathLst>
                <a:path w="772795" h="990600">
                  <a:moveTo>
                    <a:pt x="0" y="838200"/>
                  </a:moveTo>
                  <a:lnTo>
                    <a:pt x="7746" y="790067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6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2" y="715263"/>
                  </a:lnTo>
                  <a:lnTo>
                    <a:pt x="275335" y="748157"/>
                  </a:lnTo>
                  <a:lnTo>
                    <a:pt x="297052" y="790067"/>
                  </a:lnTo>
                  <a:lnTo>
                    <a:pt x="304800" y="838200"/>
                  </a:lnTo>
                  <a:lnTo>
                    <a:pt x="297052" y="886332"/>
                  </a:lnTo>
                  <a:lnTo>
                    <a:pt x="275335" y="928243"/>
                  </a:lnTo>
                  <a:lnTo>
                    <a:pt x="242442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6" y="982852"/>
                  </a:lnTo>
                  <a:lnTo>
                    <a:pt x="62356" y="961136"/>
                  </a:lnTo>
                  <a:lnTo>
                    <a:pt x="29463" y="928243"/>
                  </a:lnTo>
                  <a:lnTo>
                    <a:pt x="7746" y="886332"/>
                  </a:lnTo>
                  <a:lnTo>
                    <a:pt x="0" y="838200"/>
                  </a:lnTo>
                  <a:close/>
                </a:path>
                <a:path w="772795" h="990600">
                  <a:moveTo>
                    <a:pt x="391667" y="0"/>
                  </a:moveTo>
                  <a:lnTo>
                    <a:pt x="772667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28971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28971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7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6" y="297053"/>
                  </a:lnTo>
                  <a:lnTo>
                    <a:pt x="62357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6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7" y="275335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5"/>
                  </a:lnTo>
                  <a:lnTo>
                    <a:pt x="275336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7" y="29463"/>
                  </a:lnTo>
                  <a:lnTo>
                    <a:pt x="104266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2"/>
                  </a:lnTo>
                  <a:lnTo>
                    <a:pt x="242442" y="275335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7" y="275335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45" name="object 45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48" name="object 48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577464" y="6357008"/>
            <a:ext cx="266255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6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800080"/>
                </a:solidFill>
                <a:latin typeface="Arial MT"/>
                <a:cs typeface="Arial MT"/>
              </a:rPr>
              <a:t>[7,8,9,10,11]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-3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[12,13]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2" name="Title 61">
            <a:extLst>
              <a:ext uri="{FF2B5EF4-FFF2-40B4-BE49-F238E27FC236}">
                <a16:creationId xmlns:a16="http://schemas.microsoft.com/office/drawing/2014/main" id="{CD940785-CBD2-2680-5DE7-0A6B1F2A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212850" y="1531619"/>
            <a:ext cx="5232400" cy="3275329"/>
            <a:chOff x="1212850" y="1531619"/>
            <a:chExt cx="5232400" cy="3275329"/>
          </a:xfrm>
        </p:grpSpPr>
        <p:sp>
          <p:nvSpPr>
            <p:cNvPr id="4" name="object 4"/>
            <p:cNvSpPr/>
            <p:nvPr/>
          </p:nvSpPr>
          <p:spPr>
            <a:xfrm>
              <a:off x="1447800" y="2743200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762000" y="838200"/>
                  </a:moveTo>
                  <a:lnTo>
                    <a:pt x="1371600" y="0"/>
                  </a:lnTo>
                </a:path>
                <a:path w="1371600" h="1828800">
                  <a:moveTo>
                    <a:pt x="0" y="1828800"/>
                  </a:moveTo>
                  <a:lnTo>
                    <a:pt x="609600" y="990600"/>
                  </a:lnTo>
                </a:path>
                <a:path w="1371600" h="1828800">
                  <a:moveTo>
                    <a:pt x="685800" y="1066800"/>
                  </a:moveTo>
                  <a:lnTo>
                    <a:pt x="609600" y="1752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024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3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024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00" y="62356"/>
                  </a:lnTo>
                  <a:lnTo>
                    <a:pt x="7772" y="104267"/>
                  </a:lnTo>
                  <a:lnTo>
                    <a:pt x="0" y="152400"/>
                  </a:lnTo>
                  <a:lnTo>
                    <a:pt x="7772" y="200532"/>
                  </a:lnTo>
                  <a:lnTo>
                    <a:pt x="29400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72" y="104267"/>
                  </a:lnTo>
                  <a:lnTo>
                    <a:pt x="29400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00" y="242443"/>
                  </a:lnTo>
                  <a:lnTo>
                    <a:pt x="7772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81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81200" y="1828799"/>
              <a:ext cx="1752600" cy="2667000"/>
            </a:xfrm>
            <a:custGeom>
              <a:avLst/>
              <a:gdLst/>
              <a:ahLst/>
              <a:cxnLst/>
              <a:rect l="l" t="t" r="r" b="b"/>
              <a:pathLst>
                <a:path w="1752600" h="2667000">
                  <a:moveTo>
                    <a:pt x="0" y="1844039"/>
                  </a:moveTo>
                  <a:lnTo>
                    <a:pt x="7747" y="1795907"/>
                  </a:lnTo>
                  <a:lnTo>
                    <a:pt x="29463" y="1753997"/>
                  </a:lnTo>
                  <a:lnTo>
                    <a:pt x="62356" y="1721103"/>
                  </a:lnTo>
                  <a:lnTo>
                    <a:pt x="104267" y="1699387"/>
                  </a:lnTo>
                  <a:lnTo>
                    <a:pt x="152400" y="1691639"/>
                  </a:lnTo>
                  <a:lnTo>
                    <a:pt x="200532" y="1699387"/>
                  </a:lnTo>
                  <a:lnTo>
                    <a:pt x="242443" y="1721103"/>
                  </a:lnTo>
                  <a:lnTo>
                    <a:pt x="275336" y="1753997"/>
                  </a:lnTo>
                  <a:lnTo>
                    <a:pt x="297052" y="1795907"/>
                  </a:lnTo>
                  <a:lnTo>
                    <a:pt x="304800" y="1844039"/>
                  </a:lnTo>
                  <a:lnTo>
                    <a:pt x="297052" y="1892173"/>
                  </a:lnTo>
                  <a:lnTo>
                    <a:pt x="275336" y="1934083"/>
                  </a:lnTo>
                  <a:lnTo>
                    <a:pt x="242443" y="1966976"/>
                  </a:lnTo>
                  <a:lnTo>
                    <a:pt x="200532" y="1988693"/>
                  </a:lnTo>
                  <a:lnTo>
                    <a:pt x="152400" y="1996439"/>
                  </a:lnTo>
                  <a:lnTo>
                    <a:pt x="104267" y="1988693"/>
                  </a:lnTo>
                  <a:lnTo>
                    <a:pt x="62356" y="1966976"/>
                  </a:lnTo>
                  <a:lnTo>
                    <a:pt x="29463" y="1934083"/>
                  </a:lnTo>
                  <a:lnTo>
                    <a:pt x="7747" y="1892173"/>
                  </a:lnTo>
                  <a:lnTo>
                    <a:pt x="0" y="1844039"/>
                  </a:lnTo>
                  <a:close/>
                </a:path>
                <a:path w="1752600" h="2667000">
                  <a:moveTo>
                    <a:pt x="1752600" y="0"/>
                  </a:moveTo>
                  <a:lnTo>
                    <a:pt x="990600" y="762000"/>
                  </a:lnTo>
                </a:path>
                <a:path w="1752600" h="2667000">
                  <a:moveTo>
                    <a:pt x="990600" y="990600"/>
                  </a:moveTo>
                  <a:lnTo>
                    <a:pt x="1219200" y="1676400"/>
                  </a:lnTo>
                </a:path>
                <a:path w="1752600" h="2667000">
                  <a:moveTo>
                    <a:pt x="1219200" y="1981200"/>
                  </a:moveTo>
                  <a:lnTo>
                    <a:pt x="838200" y="2667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2803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2803" y="3809999"/>
              <a:ext cx="882650" cy="990600"/>
            </a:xfrm>
            <a:custGeom>
              <a:avLst/>
              <a:gdLst/>
              <a:ahLst/>
              <a:cxnLst/>
              <a:rect l="l" t="t" r="r" b="b"/>
              <a:pathLst>
                <a:path w="882650" h="990600">
                  <a:moveTo>
                    <a:pt x="0" y="838200"/>
                  </a:moveTo>
                  <a:lnTo>
                    <a:pt x="7746" y="790067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6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5" y="748157"/>
                  </a:lnTo>
                  <a:lnTo>
                    <a:pt x="297052" y="790067"/>
                  </a:lnTo>
                  <a:lnTo>
                    <a:pt x="304800" y="838200"/>
                  </a:lnTo>
                  <a:lnTo>
                    <a:pt x="297052" y="886332"/>
                  </a:lnTo>
                  <a:lnTo>
                    <a:pt x="275335" y="928243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6" y="982852"/>
                  </a:lnTo>
                  <a:lnTo>
                    <a:pt x="62356" y="961136"/>
                  </a:lnTo>
                  <a:lnTo>
                    <a:pt x="29463" y="928243"/>
                  </a:lnTo>
                  <a:lnTo>
                    <a:pt x="7746" y="886332"/>
                  </a:lnTo>
                  <a:lnTo>
                    <a:pt x="0" y="838200"/>
                  </a:lnTo>
                  <a:close/>
                </a:path>
                <a:path w="882650" h="990600">
                  <a:moveTo>
                    <a:pt x="729995" y="0"/>
                  </a:moveTo>
                  <a:lnTo>
                    <a:pt x="882395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6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2" y="29463"/>
                  </a:lnTo>
                  <a:lnTo>
                    <a:pt x="275335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3"/>
                  </a:lnTo>
                  <a:lnTo>
                    <a:pt x="242442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6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0" y="1828799"/>
              <a:ext cx="3505200" cy="2743200"/>
            </a:xfrm>
            <a:custGeom>
              <a:avLst/>
              <a:gdLst/>
              <a:ahLst/>
              <a:cxnLst/>
              <a:rect l="l" t="t" r="r" b="b"/>
              <a:pathLst>
                <a:path w="3505200" h="2743200">
                  <a:moveTo>
                    <a:pt x="0" y="838200"/>
                  </a:moveTo>
                  <a:lnTo>
                    <a:pt x="7747" y="790066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7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6" y="748157"/>
                  </a:lnTo>
                  <a:lnTo>
                    <a:pt x="297052" y="790066"/>
                  </a:lnTo>
                  <a:lnTo>
                    <a:pt x="304800" y="838200"/>
                  </a:lnTo>
                  <a:lnTo>
                    <a:pt x="297052" y="886333"/>
                  </a:lnTo>
                  <a:lnTo>
                    <a:pt x="275336" y="928242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7" y="982852"/>
                  </a:lnTo>
                  <a:lnTo>
                    <a:pt x="62356" y="961136"/>
                  </a:lnTo>
                  <a:lnTo>
                    <a:pt x="29463" y="928242"/>
                  </a:lnTo>
                  <a:lnTo>
                    <a:pt x="7747" y="886333"/>
                  </a:lnTo>
                  <a:lnTo>
                    <a:pt x="0" y="838200"/>
                  </a:lnTo>
                  <a:close/>
                </a:path>
                <a:path w="3505200" h="2743200">
                  <a:moveTo>
                    <a:pt x="1143000" y="0"/>
                  </a:moveTo>
                  <a:lnTo>
                    <a:pt x="1905000" y="762000"/>
                  </a:lnTo>
                </a:path>
                <a:path w="3505200" h="2743200">
                  <a:moveTo>
                    <a:pt x="2057400" y="990600"/>
                  </a:moveTo>
                  <a:lnTo>
                    <a:pt x="2667000" y="1752600"/>
                  </a:lnTo>
                </a:path>
                <a:path w="3505200" h="2743200">
                  <a:moveTo>
                    <a:pt x="2819400" y="1905000"/>
                  </a:moveTo>
                  <a:lnTo>
                    <a:pt x="3505200" y="2743200"/>
                  </a:lnTo>
                </a:path>
                <a:path w="3505200" h="2743200">
                  <a:moveTo>
                    <a:pt x="2743200" y="1905000"/>
                  </a:moveTo>
                  <a:lnTo>
                    <a:pt x="2819400" y="2667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341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341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31535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31535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53811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91000" y="2819400"/>
              <a:ext cx="1468120" cy="1676400"/>
            </a:xfrm>
            <a:custGeom>
              <a:avLst/>
              <a:gdLst/>
              <a:ahLst/>
              <a:cxnLst/>
              <a:rect l="l" t="t" r="r" b="b"/>
              <a:pathLst>
                <a:path w="1468120" h="1676400">
                  <a:moveTo>
                    <a:pt x="1467612" y="853439"/>
                  </a:moveTo>
                  <a:lnTo>
                    <a:pt x="1459864" y="805307"/>
                  </a:lnTo>
                  <a:lnTo>
                    <a:pt x="1438148" y="763397"/>
                  </a:lnTo>
                  <a:lnTo>
                    <a:pt x="1405254" y="730503"/>
                  </a:lnTo>
                  <a:lnTo>
                    <a:pt x="1363345" y="708787"/>
                  </a:lnTo>
                  <a:lnTo>
                    <a:pt x="1315212" y="701039"/>
                  </a:lnTo>
                  <a:lnTo>
                    <a:pt x="1267078" y="708787"/>
                  </a:lnTo>
                  <a:lnTo>
                    <a:pt x="1225169" y="730503"/>
                  </a:lnTo>
                  <a:lnTo>
                    <a:pt x="1192276" y="763397"/>
                  </a:lnTo>
                  <a:lnTo>
                    <a:pt x="1170559" y="805307"/>
                  </a:lnTo>
                  <a:lnTo>
                    <a:pt x="1162812" y="853439"/>
                  </a:lnTo>
                  <a:lnTo>
                    <a:pt x="1170559" y="901573"/>
                  </a:lnTo>
                  <a:lnTo>
                    <a:pt x="1192276" y="943482"/>
                  </a:lnTo>
                  <a:lnTo>
                    <a:pt x="1225169" y="976376"/>
                  </a:lnTo>
                  <a:lnTo>
                    <a:pt x="1267078" y="998093"/>
                  </a:lnTo>
                  <a:lnTo>
                    <a:pt x="1315212" y="1005839"/>
                  </a:lnTo>
                  <a:lnTo>
                    <a:pt x="1363345" y="998093"/>
                  </a:lnTo>
                  <a:lnTo>
                    <a:pt x="1405254" y="976376"/>
                  </a:lnTo>
                  <a:lnTo>
                    <a:pt x="1438148" y="943482"/>
                  </a:lnTo>
                  <a:lnTo>
                    <a:pt x="1459864" y="901573"/>
                  </a:lnTo>
                  <a:lnTo>
                    <a:pt x="1467612" y="853439"/>
                  </a:lnTo>
                  <a:close/>
                </a:path>
                <a:path w="1468120" h="1676400">
                  <a:moveTo>
                    <a:pt x="457200" y="0"/>
                  </a:moveTo>
                  <a:lnTo>
                    <a:pt x="228600" y="685800"/>
                  </a:lnTo>
                </a:path>
                <a:path w="1468120" h="1676400">
                  <a:moveTo>
                    <a:pt x="152400" y="990600"/>
                  </a:moveTo>
                  <a:lnTo>
                    <a:pt x="0" y="16764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27932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27932" y="3809999"/>
              <a:ext cx="772795" cy="990600"/>
            </a:xfrm>
            <a:custGeom>
              <a:avLst/>
              <a:gdLst/>
              <a:ahLst/>
              <a:cxnLst/>
              <a:rect l="l" t="t" r="r" b="b"/>
              <a:pathLst>
                <a:path w="772795" h="990600">
                  <a:moveTo>
                    <a:pt x="0" y="838200"/>
                  </a:moveTo>
                  <a:lnTo>
                    <a:pt x="7746" y="790067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6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2" y="715263"/>
                  </a:lnTo>
                  <a:lnTo>
                    <a:pt x="275335" y="748157"/>
                  </a:lnTo>
                  <a:lnTo>
                    <a:pt x="297052" y="790067"/>
                  </a:lnTo>
                  <a:lnTo>
                    <a:pt x="304800" y="838200"/>
                  </a:lnTo>
                  <a:lnTo>
                    <a:pt x="297052" y="886332"/>
                  </a:lnTo>
                  <a:lnTo>
                    <a:pt x="275335" y="928243"/>
                  </a:lnTo>
                  <a:lnTo>
                    <a:pt x="242442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6" y="982852"/>
                  </a:lnTo>
                  <a:lnTo>
                    <a:pt x="62356" y="961136"/>
                  </a:lnTo>
                  <a:lnTo>
                    <a:pt x="29463" y="928243"/>
                  </a:lnTo>
                  <a:lnTo>
                    <a:pt x="7746" y="886332"/>
                  </a:lnTo>
                  <a:lnTo>
                    <a:pt x="0" y="838200"/>
                  </a:lnTo>
                  <a:close/>
                </a:path>
                <a:path w="772795" h="990600">
                  <a:moveTo>
                    <a:pt x="391667" y="0"/>
                  </a:moveTo>
                  <a:lnTo>
                    <a:pt x="772667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28971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28971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7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6" y="297053"/>
                  </a:lnTo>
                  <a:lnTo>
                    <a:pt x="62357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6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7" y="275335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5"/>
                  </a:lnTo>
                  <a:lnTo>
                    <a:pt x="275336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7" y="29463"/>
                  </a:lnTo>
                  <a:lnTo>
                    <a:pt x="104266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2"/>
                  </a:lnTo>
                  <a:lnTo>
                    <a:pt x="242442" y="275335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7" y="275335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51" name="object 5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54" name="object 5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577464" y="6357008"/>
            <a:ext cx="305244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6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800080"/>
                </a:solidFill>
                <a:latin typeface="Arial MT"/>
                <a:cs typeface="Arial MT"/>
              </a:rPr>
              <a:t>[8,9,10,11,12,13]</a:t>
            </a:r>
            <a:r>
              <a:rPr sz="1600" spc="-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-3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[14,15]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8" name="Title 67">
            <a:extLst>
              <a:ext uri="{FF2B5EF4-FFF2-40B4-BE49-F238E27FC236}">
                <a16:creationId xmlns:a16="http://schemas.microsoft.com/office/drawing/2014/main" id="{0F6F7F2B-7EE4-F736-9B0D-78089B48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0850" y="1531619"/>
            <a:ext cx="5994400" cy="4286250"/>
            <a:chOff x="450850" y="1531619"/>
            <a:chExt cx="5994400" cy="4286250"/>
          </a:xfrm>
        </p:grpSpPr>
        <p:sp>
          <p:nvSpPr>
            <p:cNvPr id="4" name="object 4"/>
            <p:cNvSpPr/>
            <p:nvPr/>
          </p:nvSpPr>
          <p:spPr>
            <a:xfrm>
              <a:off x="1447800" y="2743200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762000" y="838200"/>
                  </a:moveTo>
                  <a:lnTo>
                    <a:pt x="1371600" y="0"/>
                  </a:lnTo>
                </a:path>
                <a:path w="1371600" h="1828800">
                  <a:moveTo>
                    <a:pt x="0" y="1828800"/>
                  </a:moveTo>
                  <a:lnTo>
                    <a:pt x="609600" y="990600"/>
                  </a:lnTo>
                </a:path>
                <a:path w="1371600" h="1828800">
                  <a:moveTo>
                    <a:pt x="685800" y="1066800"/>
                  </a:moveTo>
                  <a:lnTo>
                    <a:pt x="609600" y="1752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20239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3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" y="4495799"/>
              <a:ext cx="1539240" cy="1066800"/>
            </a:xfrm>
            <a:custGeom>
              <a:avLst/>
              <a:gdLst/>
              <a:ahLst/>
              <a:cxnLst/>
              <a:rect l="l" t="t" r="r" b="b"/>
              <a:pathLst>
                <a:path w="1539239" h="1066800">
                  <a:moveTo>
                    <a:pt x="1234439" y="152400"/>
                  </a:moveTo>
                  <a:lnTo>
                    <a:pt x="1242187" y="104267"/>
                  </a:lnTo>
                  <a:lnTo>
                    <a:pt x="1263904" y="62356"/>
                  </a:lnTo>
                  <a:lnTo>
                    <a:pt x="1296797" y="29463"/>
                  </a:lnTo>
                  <a:lnTo>
                    <a:pt x="1338707" y="7747"/>
                  </a:lnTo>
                  <a:lnTo>
                    <a:pt x="1386839" y="0"/>
                  </a:lnTo>
                  <a:lnTo>
                    <a:pt x="1434973" y="7747"/>
                  </a:lnTo>
                  <a:lnTo>
                    <a:pt x="1476883" y="29463"/>
                  </a:lnTo>
                  <a:lnTo>
                    <a:pt x="1509776" y="62356"/>
                  </a:lnTo>
                  <a:lnTo>
                    <a:pt x="1531493" y="104267"/>
                  </a:lnTo>
                  <a:lnTo>
                    <a:pt x="1539239" y="152400"/>
                  </a:lnTo>
                  <a:lnTo>
                    <a:pt x="1531493" y="200532"/>
                  </a:lnTo>
                  <a:lnTo>
                    <a:pt x="1509776" y="242443"/>
                  </a:lnTo>
                  <a:lnTo>
                    <a:pt x="1476883" y="275336"/>
                  </a:lnTo>
                  <a:lnTo>
                    <a:pt x="1434973" y="297052"/>
                  </a:lnTo>
                  <a:lnTo>
                    <a:pt x="1386839" y="304800"/>
                  </a:lnTo>
                  <a:lnTo>
                    <a:pt x="1338707" y="297052"/>
                  </a:lnTo>
                  <a:lnTo>
                    <a:pt x="1296797" y="275336"/>
                  </a:lnTo>
                  <a:lnTo>
                    <a:pt x="1263904" y="242443"/>
                  </a:lnTo>
                  <a:lnTo>
                    <a:pt x="1242187" y="200532"/>
                  </a:lnTo>
                  <a:lnTo>
                    <a:pt x="1234439" y="152400"/>
                  </a:lnTo>
                  <a:close/>
                </a:path>
                <a:path w="1539239" h="1066800">
                  <a:moveTo>
                    <a:pt x="0" y="1066800"/>
                  </a:moveTo>
                  <a:lnTo>
                    <a:pt x="609600" y="228600"/>
                  </a:lnTo>
                </a:path>
                <a:path w="1539239" h="1066800">
                  <a:moveTo>
                    <a:pt x="685800" y="304800"/>
                  </a:moveTo>
                  <a:lnTo>
                    <a:pt x="381000" y="9906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6968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8" y="7746"/>
                  </a:lnTo>
                  <a:lnTo>
                    <a:pt x="62395" y="29463"/>
                  </a:lnTo>
                  <a:lnTo>
                    <a:pt x="29400" y="62356"/>
                  </a:lnTo>
                  <a:lnTo>
                    <a:pt x="7772" y="104228"/>
                  </a:lnTo>
                  <a:lnTo>
                    <a:pt x="0" y="152400"/>
                  </a:lnTo>
                  <a:lnTo>
                    <a:pt x="7772" y="200571"/>
                  </a:lnTo>
                  <a:lnTo>
                    <a:pt x="29400" y="242404"/>
                  </a:lnTo>
                  <a:lnTo>
                    <a:pt x="62395" y="275399"/>
                  </a:lnTo>
                  <a:lnTo>
                    <a:pt x="104228" y="297027"/>
                  </a:lnTo>
                  <a:lnTo>
                    <a:pt x="152400" y="304800"/>
                  </a:lnTo>
                  <a:lnTo>
                    <a:pt x="200571" y="297027"/>
                  </a:lnTo>
                  <a:lnTo>
                    <a:pt x="242404" y="275399"/>
                  </a:lnTo>
                  <a:lnTo>
                    <a:pt x="275399" y="242404"/>
                  </a:lnTo>
                  <a:lnTo>
                    <a:pt x="297027" y="200571"/>
                  </a:lnTo>
                  <a:lnTo>
                    <a:pt x="304800" y="152400"/>
                  </a:lnTo>
                  <a:lnTo>
                    <a:pt x="297027" y="104228"/>
                  </a:lnTo>
                  <a:lnTo>
                    <a:pt x="275399" y="62356"/>
                  </a:lnTo>
                  <a:lnTo>
                    <a:pt x="242404" y="29463"/>
                  </a:lnTo>
                  <a:lnTo>
                    <a:pt x="200571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86968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72" y="104228"/>
                  </a:lnTo>
                  <a:lnTo>
                    <a:pt x="29400" y="62356"/>
                  </a:lnTo>
                  <a:lnTo>
                    <a:pt x="62395" y="29463"/>
                  </a:lnTo>
                  <a:lnTo>
                    <a:pt x="104228" y="7746"/>
                  </a:lnTo>
                  <a:lnTo>
                    <a:pt x="152400" y="0"/>
                  </a:lnTo>
                  <a:lnTo>
                    <a:pt x="200571" y="7746"/>
                  </a:lnTo>
                  <a:lnTo>
                    <a:pt x="242404" y="29463"/>
                  </a:lnTo>
                  <a:lnTo>
                    <a:pt x="275399" y="62356"/>
                  </a:lnTo>
                  <a:lnTo>
                    <a:pt x="297027" y="104228"/>
                  </a:lnTo>
                  <a:lnTo>
                    <a:pt x="304800" y="152400"/>
                  </a:lnTo>
                  <a:lnTo>
                    <a:pt x="297027" y="200571"/>
                  </a:lnTo>
                  <a:lnTo>
                    <a:pt x="275399" y="242404"/>
                  </a:lnTo>
                  <a:lnTo>
                    <a:pt x="242404" y="275399"/>
                  </a:lnTo>
                  <a:lnTo>
                    <a:pt x="200571" y="297027"/>
                  </a:lnTo>
                  <a:lnTo>
                    <a:pt x="152400" y="304800"/>
                  </a:lnTo>
                  <a:lnTo>
                    <a:pt x="104228" y="297027"/>
                  </a:lnTo>
                  <a:lnTo>
                    <a:pt x="62395" y="275399"/>
                  </a:lnTo>
                  <a:lnTo>
                    <a:pt x="29400" y="242404"/>
                  </a:lnTo>
                  <a:lnTo>
                    <a:pt x="7772" y="200571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8" y="7746"/>
                  </a:lnTo>
                  <a:lnTo>
                    <a:pt x="62395" y="29463"/>
                  </a:lnTo>
                  <a:lnTo>
                    <a:pt x="29400" y="62356"/>
                  </a:lnTo>
                  <a:lnTo>
                    <a:pt x="7772" y="104228"/>
                  </a:lnTo>
                  <a:lnTo>
                    <a:pt x="0" y="152400"/>
                  </a:lnTo>
                  <a:lnTo>
                    <a:pt x="7772" y="200571"/>
                  </a:lnTo>
                  <a:lnTo>
                    <a:pt x="29400" y="242404"/>
                  </a:lnTo>
                  <a:lnTo>
                    <a:pt x="62395" y="275399"/>
                  </a:lnTo>
                  <a:lnTo>
                    <a:pt x="104228" y="297027"/>
                  </a:lnTo>
                  <a:lnTo>
                    <a:pt x="152400" y="304800"/>
                  </a:lnTo>
                  <a:lnTo>
                    <a:pt x="200571" y="297027"/>
                  </a:lnTo>
                  <a:lnTo>
                    <a:pt x="242404" y="275399"/>
                  </a:lnTo>
                  <a:lnTo>
                    <a:pt x="275399" y="242404"/>
                  </a:lnTo>
                  <a:lnTo>
                    <a:pt x="297027" y="200571"/>
                  </a:lnTo>
                  <a:lnTo>
                    <a:pt x="304800" y="152400"/>
                  </a:lnTo>
                  <a:lnTo>
                    <a:pt x="297027" y="104228"/>
                  </a:lnTo>
                  <a:lnTo>
                    <a:pt x="275399" y="62356"/>
                  </a:lnTo>
                  <a:lnTo>
                    <a:pt x="242404" y="29463"/>
                  </a:lnTo>
                  <a:lnTo>
                    <a:pt x="200571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72" y="104228"/>
                  </a:lnTo>
                  <a:lnTo>
                    <a:pt x="29400" y="62356"/>
                  </a:lnTo>
                  <a:lnTo>
                    <a:pt x="62395" y="29463"/>
                  </a:lnTo>
                  <a:lnTo>
                    <a:pt x="104228" y="7746"/>
                  </a:lnTo>
                  <a:lnTo>
                    <a:pt x="152400" y="0"/>
                  </a:lnTo>
                  <a:lnTo>
                    <a:pt x="200571" y="7746"/>
                  </a:lnTo>
                  <a:lnTo>
                    <a:pt x="242404" y="29463"/>
                  </a:lnTo>
                  <a:lnTo>
                    <a:pt x="275399" y="62356"/>
                  </a:lnTo>
                  <a:lnTo>
                    <a:pt x="297027" y="104228"/>
                  </a:lnTo>
                  <a:lnTo>
                    <a:pt x="304800" y="152400"/>
                  </a:lnTo>
                  <a:lnTo>
                    <a:pt x="297027" y="200571"/>
                  </a:lnTo>
                  <a:lnTo>
                    <a:pt x="275399" y="242404"/>
                  </a:lnTo>
                  <a:lnTo>
                    <a:pt x="242404" y="275399"/>
                  </a:lnTo>
                  <a:lnTo>
                    <a:pt x="200571" y="297027"/>
                  </a:lnTo>
                  <a:lnTo>
                    <a:pt x="152400" y="304800"/>
                  </a:lnTo>
                  <a:lnTo>
                    <a:pt x="104228" y="297027"/>
                  </a:lnTo>
                  <a:lnTo>
                    <a:pt x="62395" y="275399"/>
                  </a:lnTo>
                  <a:lnTo>
                    <a:pt x="29400" y="242404"/>
                  </a:lnTo>
                  <a:lnTo>
                    <a:pt x="7772" y="200571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00" y="62356"/>
                  </a:lnTo>
                  <a:lnTo>
                    <a:pt x="7772" y="104267"/>
                  </a:lnTo>
                  <a:lnTo>
                    <a:pt x="0" y="152400"/>
                  </a:lnTo>
                  <a:lnTo>
                    <a:pt x="7772" y="200532"/>
                  </a:lnTo>
                  <a:lnTo>
                    <a:pt x="29400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72" y="104267"/>
                  </a:lnTo>
                  <a:lnTo>
                    <a:pt x="29400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00" y="242443"/>
                  </a:lnTo>
                  <a:lnTo>
                    <a:pt x="7772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81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81200" y="1828799"/>
              <a:ext cx="1752600" cy="2667000"/>
            </a:xfrm>
            <a:custGeom>
              <a:avLst/>
              <a:gdLst/>
              <a:ahLst/>
              <a:cxnLst/>
              <a:rect l="l" t="t" r="r" b="b"/>
              <a:pathLst>
                <a:path w="1752600" h="2667000">
                  <a:moveTo>
                    <a:pt x="0" y="1844039"/>
                  </a:moveTo>
                  <a:lnTo>
                    <a:pt x="7747" y="1795907"/>
                  </a:lnTo>
                  <a:lnTo>
                    <a:pt x="29463" y="1753997"/>
                  </a:lnTo>
                  <a:lnTo>
                    <a:pt x="62356" y="1721103"/>
                  </a:lnTo>
                  <a:lnTo>
                    <a:pt x="104267" y="1699387"/>
                  </a:lnTo>
                  <a:lnTo>
                    <a:pt x="152400" y="1691639"/>
                  </a:lnTo>
                  <a:lnTo>
                    <a:pt x="200532" y="1699387"/>
                  </a:lnTo>
                  <a:lnTo>
                    <a:pt x="242443" y="1721103"/>
                  </a:lnTo>
                  <a:lnTo>
                    <a:pt x="275336" y="1753997"/>
                  </a:lnTo>
                  <a:lnTo>
                    <a:pt x="297052" y="1795907"/>
                  </a:lnTo>
                  <a:lnTo>
                    <a:pt x="304800" y="1844039"/>
                  </a:lnTo>
                  <a:lnTo>
                    <a:pt x="297052" y="1892173"/>
                  </a:lnTo>
                  <a:lnTo>
                    <a:pt x="275336" y="1934083"/>
                  </a:lnTo>
                  <a:lnTo>
                    <a:pt x="242443" y="1966976"/>
                  </a:lnTo>
                  <a:lnTo>
                    <a:pt x="200532" y="1988693"/>
                  </a:lnTo>
                  <a:lnTo>
                    <a:pt x="152400" y="1996439"/>
                  </a:lnTo>
                  <a:lnTo>
                    <a:pt x="104267" y="1988693"/>
                  </a:lnTo>
                  <a:lnTo>
                    <a:pt x="62356" y="1966976"/>
                  </a:lnTo>
                  <a:lnTo>
                    <a:pt x="29463" y="1934083"/>
                  </a:lnTo>
                  <a:lnTo>
                    <a:pt x="7747" y="1892173"/>
                  </a:lnTo>
                  <a:lnTo>
                    <a:pt x="0" y="1844039"/>
                  </a:lnTo>
                  <a:close/>
                </a:path>
                <a:path w="1752600" h="2667000">
                  <a:moveTo>
                    <a:pt x="1752600" y="0"/>
                  </a:moveTo>
                  <a:lnTo>
                    <a:pt x="990600" y="762000"/>
                  </a:lnTo>
                </a:path>
                <a:path w="1752600" h="2667000">
                  <a:moveTo>
                    <a:pt x="990600" y="990600"/>
                  </a:moveTo>
                  <a:lnTo>
                    <a:pt x="1219200" y="1676400"/>
                  </a:lnTo>
                </a:path>
                <a:path w="1752600" h="2667000">
                  <a:moveTo>
                    <a:pt x="1219200" y="1981200"/>
                  </a:moveTo>
                  <a:lnTo>
                    <a:pt x="838200" y="2667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2280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22804" y="3809999"/>
              <a:ext cx="882650" cy="990600"/>
            </a:xfrm>
            <a:custGeom>
              <a:avLst/>
              <a:gdLst/>
              <a:ahLst/>
              <a:cxnLst/>
              <a:rect l="l" t="t" r="r" b="b"/>
              <a:pathLst>
                <a:path w="882650" h="990600">
                  <a:moveTo>
                    <a:pt x="0" y="838200"/>
                  </a:moveTo>
                  <a:lnTo>
                    <a:pt x="7746" y="790067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6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5" y="748157"/>
                  </a:lnTo>
                  <a:lnTo>
                    <a:pt x="297052" y="790067"/>
                  </a:lnTo>
                  <a:lnTo>
                    <a:pt x="304800" y="838200"/>
                  </a:lnTo>
                  <a:lnTo>
                    <a:pt x="297052" y="886332"/>
                  </a:lnTo>
                  <a:lnTo>
                    <a:pt x="275335" y="928243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6" y="982852"/>
                  </a:lnTo>
                  <a:lnTo>
                    <a:pt x="62356" y="961136"/>
                  </a:lnTo>
                  <a:lnTo>
                    <a:pt x="29463" y="928243"/>
                  </a:lnTo>
                  <a:lnTo>
                    <a:pt x="7746" y="886332"/>
                  </a:lnTo>
                  <a:lnTo>
                    <a:pt x="0" y="838200"/>
                  </a:lnTo>
                  <a:close/>
                </a:path>
                <a:path w="882650" h="990600">
                  <a:moveTo>
                    <a:pt x="729995" y="0"/>
                  </a:moveTo>
                  <a:lnTo>
                    <a:pt x="882395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6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2" y="29463"/>
                  </a:lnTo>
                  <a:lnTo>
                    <a:pt x="275335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3"/>
                  </a:lnTo>
                  <a:lnTo>
                    <a:pt x="242442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6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0" y="1828799"/>
              <a:ext cx="3505200" cy="2743200"/>
            </a:xfrm>
            <a:custGeom>
              <a:avLst/>
              <a:gdLst/>
              <a:ahLst/>
              <a:cxnLst/>
              <a:rect l="l" t="t" r="r" b="b"/>
              <a:pathLst>
                <a:path w="3505200" h="2743200">
                  <a:moveTo>
                    <a:pt x="0" y="838200"/>
                  </a:moveTo>
                  <a:lnTo>
                    <a:pt x="7747" y="790066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7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6" y="748157"/>
                  </a:lnTo>
                  <a:lnTo>
                    <a:pt x="297052" y="790066"/>
                  </a:lnTo>
                  <a:lnTo>
                    <a:pt x="304800" y="838200"/>
                  </a:lnTo>
                  <a:lnTo>
                    <a:pt x="297052" y="886333"/>
                  </a:lnTo>
                  <a:lnTo>
                    <a:pt x="275336" y="928242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7" y="982852"/>
                  </a:lnTo>
                  <a:lnTo>
                    <a:pt x="62356" y="961136"/>
                  </a:lnTo>
                  <a:lnTo>
                    <a:pt x="29463" y="928242"/>
                  </a:lnTo>
                  <a:lnTo>
                    <a:pt x="7747" y="886333"/>
                  </a:lnTo>
                  <a:lnTo>
                    <a:pt x="0" y="838200"/>
                  </a:lnTo>
                  <a:close/>
                </a:path>
                <a:path w="3505200" h="2743200">
                  <a:moveTo>
                    <a:pt x="1143000" y="0"/>
                  </a:moveTo>
                  <a:lnTo>
                    <a:pt x="1905000" y="762000"/>
                  </a:lnTo>
                </a:path>
                <a:path w="3505200" h="2743200">
                  <a:moveTo>
                    <a:pt x="2057400" y="990600"/>
                  </a:moveTo>
                  <a:lnTo>
                    <a:pt x="2667000" y="1752600"/>
                  </a:lnTo>
                </a:path>
                <a:path w="3505200" h="2743200">
                  <a:moveTo>
                    <a:pt x="2819400" y="1905000"/>
                  </a:moveTo>
                  <a:lnTo>
                    <a:pt x="3505200" y="2743200"/>
                  </a:lnTo>
                </a:path>
                <a:path w="3505200" h="2743200">
                  <a:moveTo>
                    <a:pt x="2743200" y="1905000"/>
                  </a:moveTo>
                  <a:lnTo>
                    <a:pt x="2819400" y="2667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341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341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31535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31535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53811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91000" y="2819400"/>
              <a:ext cx="1468120" cy="1676400"/>
            </a:xfrm>
            <a:custGeom>
              <a:avLst/>
              <a:gdLst/>
              <a:ahLst/>
              <a:cxnLst/>
              <a:rect l="l" t="t" r="r" b="b"/>
              <a:pathLst>
                <a:path w="1468120" h="1676400">
                  <a:moveTo>
                    <a:pt x="1467612" y="853439"/>
                  </a:moveTo>
                  <a:lnTo>
                    <a:pt x="1459864" y="805307"/>
                  </a:lnTo>
                  <a:lnTo>
                    <a:pt x="1438148" y="763397"/>
                  </a:lnTo>
                  <a:lnTo>
                    <a:pt x="1405254" y="730503"/>
                  </a:lnTo>
                  <a:lnTo>
                    <a:pt x="1363345" y="708787"/>
                  </a:lnTo>
                  <a:lnTo>
                    <a:pt x="1315212" y="701039"/>
                  </a:lnTo>
                  <a:lnTo>
                    <a:pt x="1267078" y="708787"/>
                  </a:lnTo>
                  <a:lnTo>
                    <a:pt x="1225169" y="730503"/>
                  </a:lnTo>
                  <a:lnTo>
                    <a:pt x="1192276" y="763397"/>
                  </a:lnTo>
                  <a:lnTo>
                    <a:pt x="1170559" y="805307"/>
                  </a:lnTo>
                  <a:lnTo>
                    <a:pt x="1162812" y="853439"/>
                  </a:lnTo>
                  <a:lnTo>
                    <a:pt x="1170559" y="901573"/>
                  </a:lnTo>
                  <a:lnTo>
                    <a:pt x="1192276" y="943482"/>
                  </a:lnTo>
                  <a:lnTo>
                    <a:pt x="1225169" y="976376"/>
                  </a:lnTo>
                  <a:lnTo>
                    <a:pt x="1267078" y="998093"/>
                  </a:lnTo>
                  <a:lnTo>
                    <a:pt x="1315212" y="1005839"/>
                  </a:lnTo>
                  <a:lnTo>
                    <a:pt x="1363345" y="998093"/>
                  </a:lnTo>
                  <a:lnTo>
                    <a:pt x="1405254" y="976376"/>
                  </a:lnTo>
                  <a:lnTo>
                    <a:pt x="1438148" y="943482"/>
                  </a:lnTo>
                  <a:lnTo>
                    <a:pt x="1459864" y="901573"/>
                  </a:lnTo>
                  <a:lnTo>
                    <a:pt x="1467612" y="853439"/>
                  </a:lnTo>
                  <a:close/>
                </a:path>
                <a:path w="1468120" h="1676400">
                  <a:moveTo>
                    <a:pt x="457200" y="0"/>
                  </a:moveTo>
                  <a:lnTo>
                    <a:pt x="228600" y="685800"/>
                  </a:lnTo>
                </a:path>
                <a:path w="1468120" h="1676400">
                  <a:moveTo>
                    <a:pt x="152400" y="990600"/>
                  </a:moveTo>
                  <a:lnTo>
                    <a:pt x="0" y="16764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27932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27932" y="3809999"/>
              <a:ext cx="772795" cy="990600"/>
            </a:xfrm>
            <a:custGeom>
              <a:avLst/>
              <a:gdLst/>
              <a:ahLst/>
              <a:cxnLst/>
              <a:rect l="l" t="t" r="r" b="b"/>
              <a:pathLst>
                <a:path w="772795" h="990600">
                  <a:moveTo>
                    <a:pt x="0" y="838200"/>
                  </a:moveTo>
                  <a:lnTo>
                    <a:pt x="7746" y="790067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6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2" y="715263"/>
                  </a:lnTo>
                  <a:lnTo>
                    <a:pt x="275335" y="748157"/>
                  </a:lnTo>
                  <a:lnTo>
                    <a:pt x="297052" y="790067"/>
                  </a:lnTo>
                  <a:lnTo>
                    <a:pt x="304800" y="838200"/>
                  </a:lnTo>
                  <a:lnTo>
                    <a:pt x="297052" y="886332"/>
                  </a:lnTo>
                  <a:lnTo>
                    <a:pt x="275335" y="928243"/>
                  </a:lnTo>
                  <a:lnTo>
                    <a:pt x="242442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6" y="982852"/>
                  </a:lnTo>
                  <a:lnTo>
                    <a:pt x="62356" y="961136"/>
                  </a:lnTo>
                  <a:lnTo>
                    <a:pt x="29463" y="928243"/>
                  </a:lnTo>
                  <a:lnTo>
                    <a:pt x="7746" y="886332"/>
                  </a:lnTo>
                  <a:lnTo>
                    <a:pt x="0" y="838200"/>
                  </a:lnTo>
                  <a:close/>
                </a:path>
                <a:path w="772795" h="990600">
                  <a:moveTo>
                    <a:pt x="391667" y="0"/>
                  </a:moveTo>
                  <a:lnTo>
                    <a:pt x="772667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28971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28971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7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6" y="297053"/>
                  </a:lnTo>
                  <a:lnTo>
                    <a:pt x="62357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6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7" y="275335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5"/>
                  </a:lnTo>
                  <a:lnTo>
                    <a:pt x="275336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7" y="29463"/>
                  </a:lnTo>
                  <a:lnTo>
                    <a:pt x="104266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2"/>
                  </a:lnTo>
                  <a:lnTo>
                    <a:pt x="242442" y="275335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7" y="275335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55" name="object 55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58" name="object 58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35635" y="5818428"/>
            <a:ext cx="577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577464" y="6337808"/>
            <a:ext cx="34474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30" dirty="0">
                <a:solidFill>
                  <a:srgbClr val="800080"/>
                </a:solidFill>
                <a:latin typeface="Arial MT"/>
                <a:cs typeface="Arial MT"/>
              </a:rPr>
              <a:t> [9,10,11,12,13,14,15]</a:t>
            </a:r>
            <a:r>
              <a:rPr sz="1600" spc="3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5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[16,17]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3" name="Title 72">
            <a:extLst>
              <a:ext uri="{FF2B5EF4-FFF2-40B4-BE49-F238E27FC236}">
                <a16:creationId xmlns:a16="http://schemas.microsoft.com/office/drawing/2014/main" id="{5D3AB6FF-8AB8-A6F4-A26D-62CD6C70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50850" y="1531619"/>
            <a:ext cx="5994400" cy="4286250"/>
            <a:chOff x="450850" y="1531619"/>
            <a:chExt cx="5994400" cy="4286250"/>
          </a:xfrm>
        </p:grpSpPr>
        <p:sp>
          <p:nvSpPr>
            <p:cNvPr id="4" name="object 4"/>
            <p:cNvSpPr/>
            <p:nvPr/>
          </p:nvSpPr>
          <p:spPr>
            <a:xfrm>
              <a:off x="685800" y="2743200"/>
              <a:ext cx="2133600" cy="2819400"/>
            </a:xfrm>
            <a:custGeom>
              <a:avLst/>
              <a:gdLst/>
              <a:ahLst/>
              <a:cxnLst/>
              <a:rect l="l" t="t" r="r" b="b"/>
              <a:pathLst>
                <a:path w="2133600" h="2819400">
                  <a:moveTo>
                    <a:pt x="1524000" y="838200"/>
                  </a:moveTo>
                  <a:lnTo>
                    <a:pt x="2133600" y="0"/>
                  </a:lnTo>
                </a:path>
                <a:path w="2133600" h="2819400">
                  <a:moveTo>
                    <a:pt x="762000" y="1828800"/>
                  </a:moveTo>
                  <a:lnTo>
                    <a:pt x="1371600" y="990600"/>
                  </a:lnTo>
                </a:path>
                <a:path w="2133600" h="2819400">
                  <a:moveTo>
                    <a:pt x="1447800" y="1066800"/>
                  </a:moveTo>
                  <a:lnTo>
                    <a:pt x="1371600" y="1752600"/>
                  </a:lnTo>
                </a:path>
                <a:path w="2133600" h="2819400">
                  <a:moveTo>
                    <a:pt x="0" y="2819400"/>
                  </a:moveTo>
                  <a:lnTo>
                    <a:pt x="609600" y="1981200"/>
                  </a:lnTo>
                </a:path>
                <a:path w="2133600" h="2819400">
                  <a:moveTo>
                    <a:pt x="685800" y="2057400"/>
                  </a:moveTo>
                  <a:lnTo>
                    <a:pt x="381000" y="27432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86968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8" y="7746"/>
                  </a:lnTo>
                  <a:lnTo>
                    <a:pt x="62395" y="29463"/>
                  </a:lnTo>
                  <a:lnTo>
                    <a:pt x="29400" y="62356"/>
                  </a:lnTo>
                  <a:lnTo>
                    <a:pt x="7772" y="104228"/>
                  </a:lnTo>
                  <a:lnTo>
                    <a:pt x="0" y="152400"/>
                  </a:lnTo>
                  <a:lnTo>
                    <a:pt x="7772" y="200571"/>
                  </a:lnTo>
                  <a:lnTo>
                    <a:pt x="29400" y="242404"/>
                  </a:lnTo>
                  <a:lnTo>
                    <a:pt x="62395" y="275399"/>
                  </a:lnTo>
                  <a:lnTo>
                    <a:pt x="104228" y="297027"/>
                  </a:lnTo>
                  <a:lnTo>
                    <a:pt x="152400" y="304800"/>
                  </a:lnTo>
                  <a:lnTo>
                    <a:pt x="200571" y="297027"/>
                  </a:lnTo>
                  <a:lnTo>
                    <a:pt x="242404" y="275399"/>
                  </a:lnTo>
                  <a:lnTo>
                    <a:pt x="275399" y="242404"/>
                  </a:lnTo>
                  <a:lnTo>
                    <a:pt x="297027" y="200571"/>
                  </a:lnTo>
                  <a:lnTo>
                    <a:pt x="304800" y="152400"/>
                  </a:lnTo>
                  <a:lnTo>
                    <a:pt x="297027" y="104228"/>
                  </a:lnTo>
                  <a:lnTo>
                    <a:pt x="275399" y="62356"/>
                  </a:lnTo>
                  <a:lnTo>
                    <a:pt x="242404" y="29463"/>
                  </a:lnTo>
                  <a:lnTo>
                    <a:pt x="200571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6968" y="4800599"/>
              <a:ext cx="1170940" cy="1010919"/>
            </a:xfrm>
            <a:custGeom>
              <a:avLst/>
              <a:gdLst/>
              <a:ahLst/>
              <a:cxnLst/>
              <a:rect l="l" t="t" r="r" b="b"/>
              <a:pathLst>
                <a:path w="1170939" h="1010920">
                  <a:moveTo>
                    <a:pt x="0" y="858012"/>
                  </a:moveTo>
                  <a:lnTo>
                    <a:pt x="7772" y="809840"/>
                  </a:lnTo>
                  <a:lnTo>
                    <a:pt x="29400" y="767969"/>
                  </a:lnTo>
                  <a:lnTo>
                    <a:pt x="62395" y="735076"/>
                  </a:lnTo>
                  <a:lnTo>
                    <a:pt x="104228" y="713359"/>
                  </a:lnTo>
                  <a:lnTo>
                    <a:pt x="152400" y="705612"/>
                  </a:lnTo>
                  <a:lnTo>
                    <a:pt x="200571" y="713359"/>
                  </a:lnTo>
                  <a:lnTo>
                    <a:pt x="242404" y="735076"/>
                  </a:lnTo>
                  <a:lnTo>
                    <a:pt x="275399" y="767969"/>
                  </a:lnTo>
                  <a:lnTo>
                    <a:pt x="297027" y="809840"/>
                  </a:lnTo>
                  <a:lnTo>
                    <a:pt x="304800" y="858012"/>
                  </a:lnTo>
                  <a:lnTo>
                    <a:pt x="297027" y="906183"/>
                  </a:lnTo>
                  <a:lnTo>
                    <a:pt x="275399" y="948016"/>
                  </a:lnTo>
                  <a:lnTo>
                    <a:pt x="242404" y="981011"/>
                  </a:lnTo>
                  <a:lnTo>
                    <a:pt x="200571" y="1002639"/>
                  </a:lnTo>
                  <a:lnTo>
                    <a:pt x="152400" y="1010412"/>
                  </a:lnTo>
                  <a:lnTo>
                    <a:pt x="104228" y="1002639"/>
                  </a:lnTo>
                  <a:lnTo>
                    <a:pt x="62395" y="981011"/>
                  </a:lnTo>
                  <a:lnTo>
                    <a:pt x="29400" y="948016"/>
                  </a:lnTo>
                  <a:lnTo>
                    <a:pt x="7772" y="906183"/>
                  </a:lnTo>
                  <a:lnTo>
                    <a:pt x="0" y="858012"/>
                  </a:lnTo>
                  <a:close/>
                </a:path>
                <a:path w="1170939" h="1010920">
                  <a:moveTo>
                    <a:pt x="1094232" y="0"/>
                  </a:moveTo>
                  <a:lnTo>
                    <a:pt x="637032" y="762000"/>
                  </a:lnTo>
                </a:path>
                <a:path w="1170939" h="1010920">
                  <a:moveTo>
                    <a:pt x="1170432" y="0"/>
                  </a:moveTo>
                  <a:lnTo>
                    <a:pt x="1018032" y="762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18260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4" y="62356"/>
                  </a:lnTo>
                  <a:lnTo>
                    <a:pt x="7746" y="104228"/>
                  </a:lnTo>
                  <a:lnTo>
                    <a:pt x="0" y="152400"/>
                  </a:lnTo>
                  <a:lnTo>
                    <a:pt x="7746" y="200571"/>
                  </a:lnTo>
                  <a:lnTo>
                    <a:pt x="29464" y="242404"/>
                  </a:lnTo>
                  <a:lnTo>
                    <a:pt x="62356" y="275399"/>
                  </a:lnTo>
                  <a:lnTo>
                    <a:pt x="104267" y="297027"/>
                  </a:lnTo>
                  <a:lnTo>
                    <a:pt x="152400" y="304800"/>
                  </a:lnTo>
                  <a:lnTo>
                    <a:pt x="200533" y="297027"/>
                  </a:lnTo>
                  <a:lnTo>
                    <a:pt x="242443" y="275399"/>
                  </a:lnTo>
                  <a:lnTo>
                    <a:pt x="275336" y="242404"/>
                  </a:lnTo>
                  <a:lnTo>
                    <a:pt x="297053" y="200571"/>
                  </a:lnTo>
                  <a:lnTo>
                    <a:pt x="304800" y="152400"/>
                  </a:lnTo>
                  <a:lnTo>
                    <a:pt x="297053" y="104228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18260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6" y="104228"/>
                  </a:lnTo>
                  <a:lnTo>
                    <a:pt x="29464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28"/>
                  </a:lnTo>
                  <a:lnTo>
                    <a:pt x="304800" y="152400"/>
                  </a:lnTo>
                  <a:lnTo>
                    <a:pt x="297053" y="200571"/>
                  </a:lnTo>
                  <a:lnTo>
                    <a:pt x="275336" y="242404"/>
                  </a:lnTo>
                  <a:lnTo>
                    <a:pt x="242443" y="275399"/>
                  </a:lnTo>
                  <a:lnTo>
                    <a:pt x="200533" y="297027"/>
                  </a:lnTo>
                  <a:lnTo>
                    <a:pt x="152400" y="304800"/>
                  </a:lnTo>
                  <a:lnTo>
                    <a:pt x="104267" y="297027"/>
                  </a:lnTo>
                  <a:lnTo>
                    <a:pt x="62356" y="275399"/>
                  </a:lnTo>
                  <a:lnTo>
                    <a:pt x="29464" y="242404"/>
                  </a:lnTo>
                  <a:lnTo>
                    <a:pt x="7746" y="200571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48027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28"/>
                  </a:lnTo>
                  <a:lnTo>
                    <a:pt x="0" y="152400"/>
                  </a:lnTo>
                  <a:lnTo>
                    <a:pt x="7747" y="200571"/>
                  </a:lnTo>
                  <a:lnTo>
                    <a:pt x="29464" y="242404"/>
                  </a:lnTo>
                  <a:lnTo>
                    <a:pt x="62357" y="275399"/>
                  </a:lnTo>
                  <a:lnTo>
                    <a:pt x="104267" y="297027"/>
                  </a:lnTo>
                  <a:lnTo>
                    <a:pt x="152400" y="304800"/>
                  </a:lnTo>
                  <a:lnTo>
                    <a:pt x="200533" y="297027"/>
                  </a:lnTo>
                  <a:lnTo>
                    <a:pt x="242443" y="275399"/>
                  </a:lnTo>
                  <a:lnTo>
                    <a:pt x="275336" y="242404"/>
                  </a:lnTo>
                  <a:lnTo>
                    <a:pt x="297053" y="200571"/>
                  </a:lnTo>
                  <a:lnTo>
                    <a:pt x="304800" y="152400"/>
                  </a:lnTo>
                  <a:lnTo>
                    <a:pt x="297053" y="104228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48027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28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28"/>
                  </a:lnTo>
                  <a:lnTo>
                    <a:pt x="304800" y="152400"/>
                  </a:lnTo>
                  <a:lnTo>
                    <a:pt x="297053" y="200571"/>
                  </a:lnTo>
                  <a:lnTo>
                    <a:pt x="275336" y="242404"/>
                  </a:lnTo>
                  <a:lnTo>
                    <a:pt x="242443" y="275399"/>
                  </a:lnTo>
                  <a:lnTo>
                    <a:pt x="200533" y="297027"/>
                  </a:lnTo>
                  <a:lnTo>
                    <a:pt x="152400" y="304800"/>
                  </a:lnTo>
                  <a:lnTo>
                    <a:pt x="104267" y="297027"/>
                  </a:lnTo>
                  <a:lnTo>
                    <a:pt x="62357" y="275399"/>
                  </a:lnTo>
                  <a:lnTo>
                    <a:pt x="29464" y="242404"/>
                  </a:lnTo>
                  <a:lnTo>
                    <a:pt x="7747" y="200571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28" y="7746"/>
                  </a:lnTo>
                  <a:lnTo>
                    <a:pt x="62395" y="29463"/>
                  </a:lnTo>
                  <a:lnTo>
                    <a:pt x="29400" y="62356"/>
                  </a:lnTo>
                  <a:lnTo>
                    <a:pt x="7772" y="104228"/>
                  </a:lnTo>
                  <a:lnTo>
                    <a:pt x="0" y="152400"/>
                  </a:lnTo>
                  <a:lnTo>
                    <a:pt x="7772" y="200571"/>
                  </a:lnTo>
                  <a:lnTo>
                    <a:pt x="29400" y="242404"/>
                  </a:lnTo>
                  <a:lnTo>
                    <a:pt x="62395" y="275399"/>
                  </a:lnTo>
                  <a:lnTo>
                    <a:pt x="104228" y="297027"/>
                  </a:lnTo>
                  <a:lnTo>
                    <a:pt x="152400" y="304800"/>
                  </a:lnTo>
                  <a:lnTo>
                    <a:pt x="200571" y="297027"/>
                  </a:lnTo>
                  <a:lnTo>
                    <a:pt x="242404" y="275399"/>
                  </a:lnTo>
                  <a:lnTo>
                    <a:pt x="275399" y="242404"/>
                  </a:lnTo>
                  <a:lnTo>
                    <a:pt x="297027" y="200571"/>
                  </a:lnTo>
                  <a:lnTo>
                    <a:pt x="304800" y="152400"/>
                  </a:lnTo>
                  <a:lnTo>
                    <a:pt x="297027" y="104228"/>
                  </a:lnTo>
                  <a:lnTo>
                    <a:pt x="275399" y="62356"/>
                  </a:lnTo>
                  <a:lnTo>
                    <a:pt x="242404" y="29463"/>
                  </a:lnTo>
                  <a:lnTo>
                    <a:pt x="200571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7200" y="5506211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72" y="104228"/>
                  </a:lnTo>
                  <a:lnTo>
                    <a:pt x="29400" y="62356"/>
                  </a:lnTo>
                  <a:lnTo>
                    <a:pt x="62395" y="29463"/>
                  </a:lnTo>
                  <a:lnTo>
                    <a:pt x="104228" y="7746"/>
                  </a:lnTo>
                  <a:lnTo>
                    <a:pt x="152400" y="0"/>
                  </a:lnTo>
                  <a:lnTo>
                    <a:pt x="200571" y="7746"/>
                  </a:lnTo>
                  <a:lnTo>
                    <a:pt x="242404" y="29463"/>
                  </a:lnTo>
                  <a:lnTo>
                    <a:pt x="275399" y="62356"/>
                  </a:lnTo>
                  <a:lnTo>
                    <a:pt x="297027" y="104228"/>
                  </a:lnTo>
                  <a:lnTo>
                    <a:pt x="304800" y="152400"/>
                  </a:lnTo>
                  <a:lnTo>
                    <a:pt x="297027" y="200571"/>
                  </a:lnTo>
                  <a:lnTo>
                    <a:pt x="275399" y="242404"/>
                  </a:lnTo>
                  <a:lnTo>
                    <a:pt x="242404" y="275399"/>
                  </a:lnTo>
                  <a:lnTo>
                    <a:pt x="200571" y="297027"/>
                  </a:lnTo>
                  <a:lnTo>
                    <a:pt x="152400" y="304800"/>
                  </a:lnTo>
                  <a:lnTo>
                    <a:pt x="104228" y="297027"/>
                  </a:lnTo>
                  <a:lnTo>
                    <a:pt x="62395" y="275399"/>
                  </a:lnTo>
                  <a:lnTo>
                    <a:pt x="29400" y="242404"/>
                  </a:lnTo>
                  <a:lnTo>
                    <a:pt x="7772" y="200571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20239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3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20239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00" y="62356"/>
                  </a:lnTo>
                  <a:lnTo>
                    <a:pt x="7772" y="104267"/>
                  </a:lnTo>
                  <a:lnTo>
                    <a:pt x="0" y="152400"/>
                  </a:lnTo>
                  <a:lnTo>
                    <a:pt x="7772" y="200532"/>
                  </a:lnTo>
                  <a:lnTo>
                    <a:pt x="29400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7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72" y="104267"/>
                  </a:lnTo>
                  <a:lnTo>
                    <a:pt x="29400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7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3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00" y="242443"/>
                  </a:lnTo>
                  <a:lnTo>
                    <a:pt x="7772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81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81200" y="1828799"/>
              <a:ext cx="1752600" cy="2667000"/>
            </a:xfrm>
            <a:custGeom>
              <a:avLst/>
              <a:gdLst/>
              <a:ahLst/>
              <a:cxnLst/>
              <a:rect l="l" t="t" r="r" b="b"/>
              <a:pathLst>
                <a:path w="1752600" h="2667000">
                  <a:moveTo>
                    <a:pt x="0" y="1844039"/>
                  </a:moveTo>
                  <a:lnTo>
                    <a:pt x="7747" y="1795907"/>
                  </a:lnTo>
                  <a:lnTo>
                    <a:pt x="29463" y="1753997"/>
                  </a:lnTo>
                  <a:lnTo>
                    <a:pt x="62356" y="1721103"/>
                  </a:lnTo>
                  <a:lnTo>
                    <a:pt x="104267" y="1699387"/>
                  </a:lnTo>
                  <a:lnTo>
                    <a:pt x="152400" y="1691639"/>
                  </a:lnTo>
                  <a:lnTo>
                    <a:pt x="200532" y="1699387"/>
                  </a:lnTo>
                  <a:lnTo>
                    <a:pt x="242443" y="1721103"/>
                  </a:lnTo>
                  <a:lnTo>
                    <a:pt x="275336" y="1753997"/>
                  </a:lnTo>
                  <a:lnTo>
                    <a:pt x="297052" y="1795907"/>
                  </a:lnTo>
                  <a:lnTo>
                    <a:pt x="304800" y="1844039"/>
                  </a:lnTo>
                  <a:lnTo>
                    <a:pt x="297052" y="1892173"/>
                  </a:lnTo>
                  <a:lnTo>
                    <a:pt x="275336" y="1934083"/>
                  </a:lnTo>
                  <a:lnTo>
                    <a:pt x="242443" y="1966976"/>
                  </a:lnTo>
                  <a:lnTo>
                    <a:pt x="200532" y="1988693"/>
                  </a:lnTo>
                  <a:lnTo>
                    <a:pt x="152400" y="1996439"/>
                  </a:lnTo>
                  <a:lnTo>
                    <a:pt x="104267" y="1988693"/>
                  </a:lnTo>
                  <a:lnTo>
                    <a:pt x="62356" y="1966976"/>
                  </a:lnTo>
                  <a:lnTo>
                    <a:pt x="29463" y="1934083"/>
                  </a:lnTo>
                  <a:lnTo>
                    <a:pt x="7747" y="1892173"/>
                  </a:lnTo>
                  <a:lnTo>
                    <a:pt x="0" y="1844039"/>
                  </a:lnTo>
                  <a:close/>
                </a:path>
                <a:path w="1752600" h="2667000">
                  <a:moveTo>
                    <a:pt x="1752600" y="0"/>
                  </a:moveTo>
                  <a:lnTo>
                    <a:pt x="990600" y="762000"/>
                  </a:lnTo>
                </a:path>
                <a:path w="1752600" h="2667000">
                  <a:moveTo>
                    <a:pt x="990600" y="990600"/>
                  </a:moveTo>
                  <a:lnTo>
                    <a:pt x="1219200" y="1676400"/>
                  </a:lnTo>
                </a:path>
                <a:path w="1752600" h="2667000">
                  <a:moveTo>
                    <a:pt x="1219200" y="1981200"/>
                  </a:moveTo>
                  <a:lnTo>
                    <a:pt x="838200" y="2667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2280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22804" y="3809999"/>
              <a:ext cx="882650" cy="990600"/>
            </a:xfrm>
            <a:custGeom>
              <a:avLst/>
              <a:gdLst/>
              <a:ahLst/>
              <a:cxnLst/>
              <a:rect l="l" t="t" r="r" b="b"/>
              <a:pathLst>
                <a:path w="882650" h="990600">
                  <a:moveTo>
                    <a:pt x="0" y="838200"/>
                  </a:moveTo>
                  <a:lnTo>
                    <a:pt x="7746" y="790067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6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5" y="748157"/>
                  </a:lnTo>
                  <a:lnTo>
                    <a:pt x="297052" y="790067"/>
                  </a:lnTo>
                  <a:lnTo>
                    <a:pt x="304800" y="838200"/>
                  </a:lnTo>
                  <a:lnTo>
                    <a:pt x="297052" y="886332"/>
                  </a:lnTo>
                  <a:lnTo>
                    <a:pt x="275335" y="928243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6" y="982852"/>
                  </a:lnTo>
                  <a:lnTo>
                    <a:pt x="62356" y="961136"/>
                  </a:lnTo>
                  <a:lnTo>
                    <a:pt x="29463" y="928243"/>
                  </a:lnTo>
                  <a:lnTo>
                    <a:pt x="7746" y="886332"/>
                  </a:lnTo>
                  <a:lnTo>
                    <a:pt x="0" y="838200"/>
                  </a:lnTo>
                  <a:close/>
                </a:path>
                <a:path w="882650" h="990600">
                  <a:moveTo>
                    <a:pt x="729995" y="0"/>
                  </a:moveTo>
                  <a:lnTo>
                    <a:pt x="882395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23844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6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2" y="29463"/>
                  </a:lnTo>
                  <a:lnTo>
                    <a:pt x="275335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3"/>
                  </a:lnTo>
                  <a:lnTo>
                    <a:pt x="242442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6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242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3200" y="1828799"/>
              <a:ext cx="3505200" cy="2743200"/>
            </a:xfrm>
            <a:custGeom>
              <a:avLst/>
              <a:gdLst/>
              <a:ahLst/>
              <a:cxnLst/>
              <a:rect l="l" t="t" r="r" b="b"/>
              <a:pathLst>
                <a:path w="3505200" h="2743200">
                  <a:moveTo>
                    <a:pt x="0" y="838200"/>
                  </a:moveTo>
                  <a:lnTo>
                    <a:pt x="7747" y="790066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7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3" y="715263"/>
                  </a:lnTo>
                  <a:lnTo>
                    <a:pt x="275336" y="748157"/>
                  </a:lnTo>
                  <a:lnTo>
                    <a:pt x="297052" y="790066"/>
                  </a:lnTo>
                  <a:lnTo>
                    <a:pt x="304800" y="838200"/>
                  </a:lnTo>
                  <a:lnTo>
                    <a:pt x="297052" y="886333"/>
                  </a:lnTo>
                  <a:lnTo>
                    <a:pt x="275336" y="928242"/>
                  </a:lnTo>
                  <a:lnTo>
                    <a:pt x="242443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7" y="982852"/>
                  </a:lnTo>
                  <a:lnTo>
                    <a:pt x="62356" y="961136"/>
                  </a:lnTo>
                  <a:lnTo>
                    <a:pt x="29463" y="928242"/>
                  </a:lnTo>
                  <a:lnTo>
                    <a:pt x="7747" y="886333"/>
                  </a:lnTo>
                  <a:lnTo>
                    <a:pt x="0" y="838200"/>
                  </a:lnTo>
                  <a:close/>
                </a:path>
                <a:path w="3505200" h="2743200">
                  <a:moveTo>
                    <a:pt x="1143000" y="0"/>
                  </a:moveTo>
                  <a:lnTo>
                    <a:pt x="1905000" y="762000"/>
                  </a:lnTo>
                </a:path>
                <a:path w="3505200" h="2743200">
                  <a:moveTo>
                    <a:pt x="2057400" y="990600"/>
                  </a:moveTo>
                  <a:lnTo>
                    <a:pt x="2667000" y="1752600"/>
                  </a:lnTo>
                </a:path>
                <a:path w="3505200" h="2743200">
                  <a:moveTo>
                    <a:pt x="2819400" y="1905000"/>
                  </a:moveTo>
                  <a:lnTo>
                    <a:pt x="3505200" y="2743200"/>
                  </a:lnTo>
                </a:path>
                <a:path w="3505200" h="2743200">
                  <a:moveTo>
                    <a:pt x="2743200" y="1905000"/>
                  </a:moveTo>
                  <a:lnTo>
                    <a:pt x="2819400" y="26670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341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34100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31535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31535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53811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191000" y="2819400"/>
              <a:ext cx="1468120" cy="1676400"/>
            </a:xfrm>
            <a:custGeom>
              <a:avLst/>
              <a:gdLst/>
              <a:ahLst/>
              <a:cxnLst/>
              <a:rect l="l" t="t" r="r" b="b"/>
              <a:pathLst>
                <a:path w="1468120" h="1676400">
                  <a:moveTo>
                    <a:pt x="1467612" y="853439"/>
                  </a:moveTo>
                  <a:lnTo>
                    <a:pt x="1459864" y="805307"/>
                  </a:lnTo>
                  <a:lnTo>
                    <a:pt x="1438148" y="763397"/>
                  </a:lnTo>
                  <a:lnTo>
                    <a:pt x="1405254" y="730503"/>
                  </a:lnTo>
                  <a:lnTo>
                    <a:pt x="1363345" y="708787"/>
                  </a:lnTo>
                  <a:lnTo>
                    <a:pt x="1315212" y="701039"/>
                  </a:lnTo>
                  <a:lnTo>
                    <a:pt x="1267078" y="708787"/>
                  </a:lnTo>
                  <a:lnTo>
                    <a:pt x="1225169" y="730503"/>
                  </a:lnTo>
                  <a:lnTo>
                    <a:pt x="1192276" y="763397"/>
                  </a:lnTo>
                  <a:lnTo>
                    <a:pt x="1170559" y="805307"/>
                  </a:lnTo>
                  <a:lnTo>
                    <a:pt x="1162812" y="853439"/>
                  </a:lnTo>
                  <a:lnTo>
                    <a:pt x="1170559" y="901573"/>
                  </a:lnTo>
                  <a:lnTo>
                    <a:pt x="1192276" y="943482"/>
                  </a:lnTo>
                  <a:lnTo>
                    <a:pt x="1225169" y="976376"/>
                  </a:lnTo>
                  <a:lnTo>
                    <a:pt x="1267078" y="998093"/>
                  </a:lnTo>
                  <a:lnTo>
                    <a:pt x="1315212" y="1005839"/>
                  </a:lnTo>
                  <a:lnTo>
                    <a:pt x="1363345" y="998093"/>
                  </a:lnTo>
                  <a:lnTo>
                    <a:pt x="1405254" y="976376"/>
                  </a:lnTo>
                  <a:lnTo>
                    <a:pt x="1438148" y="943482"/>
                  </a:lnTo>
                  <a:lnTo>
                    <a:pt x="1459864" y="901573"/>
                  </a:lnTo>
                  <a:lnTo>
                    <a:pt x="1467612" y="853439"/>
                  </a:lnTo>
                  <a:close/>
                </a:path>
                <a:path w="1468120" h="1676400">
                  <a:moveTo>
                    <a:pt x="457200" y="0"/>
                  </a:moveTo>
                  <a:lnTo>
                    <a:pt x="228600" y="685800"/>
                  </a:lnTo>
                </a:path>
                <a:path w="1468120" h="1676400">
                  <a:moveTo>
                    <a:pt x="152400" y="990600"/>
                  </a:moveTo>
                  <a:lnTo>
                    <a:pt x="0" y="16764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27932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6" y="104267"/>
                  </a:lnTo>
                  <a:lnTo>
                    <a:pt x="0" y="152400"/>
                  </a:lnTo>
                  <a:lnTo>
                    <a:pt x="7746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5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27932" y="3809999"/>
              <a:ext cx="772795" cy="990600"/>
            </a:xfrm>
            <a:custGeom>
              <a:avLst/>
              <a:gdLst/>
              <a:ahLst/>
              <a:cxnLst/>
              <a:rect l="l" t="t" r="r" b="b"/>
              <a:pathLst>
                <a:path w="772795" h="990600">
                  <a:moveTo>
                    <a:pt x="0" y="838200"/>
                  </a:moveTo>
                  <a:lnTo>
                    <a:pt x="7746" y="790067"/>
                  </a:lnTo>
                  <a:lnTo>
                    <a:pt x="29463" y="748157"/>
                  </a:lnTo>
                  <a:lnTo>
                    <a:pt x="62356" y="715263"/>
                  </a:lnTo>
                  <a:lnTo>
                    <a:pt x="104266" y="693547"/>
                  </a:lnTo>
                  <a:lnTo>
                    <a:pt x="152400" y="685800"/>
                  </a:lnTo>
                  <a:lnTo>
                    <a:pt x="200532" y="693547"/>
                  </a:lnTo>
                  <a:lnTo>
                    <a:pt x="242442" y="715263"/>
                  </a:lnTo>
                  <a:lnTo>
                    <a:pt x="275335" y="748157"/>
                  </a:lnTo>
                  <a:lnTo>
                    <a:pt x="297052" y="790067"/>
                  </a:lnTo>
                  <a:lnTo>
                    <a:pt x="304800" y="838200"/>
                  </a:lnTo>
                  <a:lnTo>
                    <a:pt x="297052" y="886332"/>
                  </a:lnTo>
                  <a:lnTo>
                    <a:pt x="275335" y="928243"/>
                  </a:lnTo>
                  <a:lnTo>
                    <a:pt x="242442" y="961136"/>
                  </a:lnTo>
                  <a:lnTo>
                    <a:pt x="200532" y="982852"/>
                  </a:lnTo>
                  <a:lnTo>
                    <a:pt x="152400" y="990600"/>
                  </a:lnTo>
                  <a:lnTo>
                    <a:pt x="104266" y="982852"/>
                  </a:lnTo>
                  <a:lnTo>
                    <a:pt x="62356" y="961136"/>
                  </a:lnTo>
                  <a:lnTo>
                    <a:pt x="29463" y="928243"/>
                  </a:lnTo>
                  <a:lnTo>
                    <a:pt x="7746" y="886332"/>
                  </a:lnTo>
                  <a:lnTo>
                    <a:pt x="0" y="838200"/>
                  </a:lnTo>
                  <a:close/>
                </a:path>
                <a:path w="772795" h="990600">
                  <a:moveTo>
                    <a:pt x="391667" y="0"/>
                  </a:moveTo>
                  <a:lnTo>
                    <a:pt x="772667" y="68580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28971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28971" y="44957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7" y="275336"/>
                  </a:lnTo>
                  <a:lnTo>
                    <a:pt x="104266" y="297053"/>
                  </a:lnTo>
                  <a:lnTo>
                    <a:pt x="152400" y="304800"/>
                  </a:lnTo>
                  <a:lnTo>
                    <a:pt x="200533" y="297053"/>
                  </a:lnTo>
                  <a:lnTo>
                    <a:pt x="242442" y="275336"/>
                  </a:lnTo>
                  <a:lnTo>
                    <a:pt x="275336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29100" y="352044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7" y="29463"/>
                  </a:lnTo>
                  <a:lnTo>
                    <a:pt x="104266" y="7747"/>
                  </a:lnTo>
                  <a:lnTo>
                    <a:pt x="152400" y="0"/>
                  </a:lnTo>
                  <a:lnTo>
                    <a:pt x="200533" y="7747"/>
                  </a:lnTo>
                  <a:lnTo>
                    <a:pt x="242442" y="29463"/>
                  </a:lnTo>
                  <a:lnTo>
                    <a:pt x="275336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6" y="242443"/>
                  </a:lnTo>
                  <a:lnTo>
                    <a:pt x="242442" y="275336"/>
                  </a:lnTo>
                  <a:lnTo>
                    <a:pt x="200533" y="297053"/>
                  </a:lnTo>
                  <a:lnTo>
                    <a:pt x="152400" y="304800"/>
                  </a:lnTo>
                  <a:lnTo>
                    <a:pt x="104266" y="297053"/>
                  </a:lnTo>
                  <a:lnTo>
                    <a:pt x="62357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72000" y="25146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7052" y="104266"/>
                  </a:lnTo>
                  <a:lnTo>
                    <a:pt x="275336" y="62357"/>
                  </a:lnTo>
                  <a:lnTo>
                    <a:pt x="242442" y="29463"/>
                  </a:lnTo>
                  <a:lnTo>
                    <a:pt x="200533" y="7747"/>
                  </a:lnTo>
                  <a:lnTo>
                    <a:pt x="152400" y="0"/>
                  </a:lnTo>
                  <a:lnTo>
                    <a:pt x="104266" y="7747"/>
                  </a:lnTo>
                  <a:lnTo>
                    <a:pt x="62357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7" y="275336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6"/>
                  </a:lnTo>
                  <a:lnTo>
                    <a:pt x="275336" y="242442"/>
                  </a:lnTo>
                  <a:lnTo>
                    <a:pt x="297052" y="200533"/>
                  </a:lnTo>
                  <a:lnTo>
                    <a:pt x="304800" y="152400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6" y="7746"/>
                  </a:lnTo>
                  <a:lnTo>
                    <a:pt x="62357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7" y="275335"/>
                  </a:lnTo>
                  <a:lnTo>
                    <a:pt x="104266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2" y="275335"/>
                  </a:lnTo>
                  <a:lnTo>
                    <a:pt x="275336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6" y="62356"/>
                  </a:lnTo>
                  <a:lnTo>
                    <a:pt x="242442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57600" y="156971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7" y="29463"/>
                  </a:lnTo>
                  <a:lnTo>
                    <a:pt x="104266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2" y="29463"/>
                  </a:lnTo>
                  <a:lnTo>
                    <a:pt x="275336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6" y="242442"/>
                  </a:lnTo>
                  <a:lnTo>
                    <a:pt x="242442" y="275335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6" y="297052"/>
                  </a:lnTo>
                  <a:lnTo>
                    <a:pt x="62357" y="275335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762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59" name="object 59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62" name="object 62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35635" y="5818428"/>
            <a:ext cx="1415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577464" y="6337808"/>
            <a:ext cx="38404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5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800080"/>
                </a:solidFill>
                <a:latin typeface="Arial MT"/>
                <a:cs typeface="Arial MT"/>
              </a:rPr>
              <a:t>[10,11,12,13,14,15,16,17]</a:t>
            </a:r>
            <a:r>
              <a:rPr sz="1600" spc="1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3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[18,19]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7" name="Title 76">
            <a:extLst>
              <a:ext uri="{FF2B5EF4-FFF2-40B4-BE49-F238E27FC236}">
                <a16:creationId xmlns:a16="http://schemas.microsoft.com/office/drawing/2014/main" id="{28AA7AF0-1140-D1AE-B1F8-D1361F1C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9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5993891" cy="428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04213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4977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4977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558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558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558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5587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3161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3161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31614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31614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31614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31614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31614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31614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0" name="object 20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3" name="object 23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5635" y="5809284"/>
            <a:ext cx="2330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94229" y="6340855"/>
            <a:ext cx="41224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4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800080"/>
                </a:solidFill>
                <a:latin typeface="Arial MT"/>
                <a:cs typeface="Arial MT"/>
              </a:rPr>
              <a:t>[11,12,13,14,15,16,17,18,19]</a:t>
            </a:r>
            <a:r>
              <a:rPr sz="1600" spc="1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7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[20,21]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98B86A23-BB94-DDB5-502C-A7891110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10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5993891" cy="428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316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82672" y="6337808"/>
            <a:ext cx="4956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5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[12,</a:t>
            </a:r>
            <a:r>
              <a:rPr sz="1600" spc="-4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13,</a:t>
            </a:r>
            <a:r>
              <a:rPr sz="1600" spc="-3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14,</a:t>
            </a:r>
            <a:r>
              <a:rPr sz="1600" spc="-3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15,</a:t>
            </a:r>
            <a:r>
              <a:rPr sz="1600" spc="-3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16,</a:t>
            </a:r>
            <a:r>
              <a:rPr sz="1600" spc="-3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17,</a:t>
            </a:r>
            <a:r>
              <a:rPr sz="1600" spc="-4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18,</a:t>
            </a:r>
            <a:r>
              <a:rPr sz="1600" spc="-3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19,</a:t>
            </a:r>
            <a:r>
              <a:rPr sz="1600" spc="-3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20,</a:t>
            </a:r>
            <a:r>
              <a:rPr sz="1600" spc="-4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21]</a:t>
            </a:r>
            <a:r>
              <a:rPr sz="1600" spc="-3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15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[22,23]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B15E87FA-22D5-8F99-4429-B47CCC498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11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5993892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65872" y="4063110"/>
            <a:ext cx="1568450" cy="1491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660066"/>
                </a:solidFill>
                <a:latin typeface="Arial MT"/>
                <a:cs typeface="Arial MT"/>
              </a:rPr>
              <a:t>Note: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ct val="99200"/>
              </a:lnSpc>
              <a:spcBef>
                <a:spcPts val="100"/>
              </a:spcBef>
            </a:pP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The</a:t>
            </a:r>
            <a:r>
              <a:rPr sz="1600" spc="-45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r>
              <a:rPr sz="1600" spc="-45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node</a:t>
            </a:r>
            <a:r>
              <a:rPr sz="1600" spc="-25" dirty="0">
                <a:solidFill>
                  <a:srgbClr val="660066"/>
                </a:solidFill>
                <a:latin typeface="Arial MT"/>
                <a:cs typeface="Arial MT"/>
              </a:rPr>
              <a:t> is </a:t>
            </a: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“visible”</a:t>
            </a:r>
            <a:r>
              <a:rPr sz="1600" spc="-95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here,</a:t>
            </a:r>
            <a:r>
              <a:rPr sz="1600" spc="-110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660066"/>
                </a:solidFill>
                <a:latin typeface="Arial MT"/>
                <a:cs typeface="Arial MT"/>
              </a:rPr>
              <a:t>but </a:t>
            </a: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we</a:t>
            </a:r>
            <a:r>
              <a:rPr sz="1600" spc="-20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can</a:t>
            </a:r>
            <a:r>
              <a:rPr sz="1600" spc="-35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660066"/>
                </a:solidFill>
                <a:latin typeface="Arial MT"/>
                <a:cs typeface="Arial MT"/>
              </a:rPr>
              <a:t>not </a:t>
            </a: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perform</a:t>
            </a:r>
            <a:r>
              <a:rPr sz="1600" spc="-45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the</a:t>
            </a:r>
            <a:r>
              <a:rPr sz="1600" spc="-65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660066"/>
                </a:solidFill>
                <a:latin typeface="Arial MT"/>
                <a:cs typeface="Arial MT"/>
              </a:rPr>
              <a:t>goal </a:t>
            </a:r>
            <a:r>
              <a:rPr sz="1600" dirty="0">
                <a:solidFill>
                  <a:srgbClr val="660066"/>
                </a:solidFill>
                <a:latin typeface="Arial MT"/>
                <a:cs typeface="Arial MT"/>
              </a:rPr>
              <a:t>test</a:t>
            </a:r>
            <a:r>
              <a:rPr sz="1600" spc="-25" dirty="0">
                <a:solidFill>
                  <a:srgbClr val="66006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660066"/>
                </a:solidFill>
                <a:latin typeface="Arial MT"/>
                <a:cs typeface="Arial MT"/>
              </a:rPr>
              <a:t>yet.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635" y="5818428"/>
            <a:ext cx="4083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85720" y="6337808"/>
            <a:ext cx="4152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4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[13,14,15,16,17,18,19,20,21]</a:t>
            </a:r>
            <a:r>
              <a:rPr sz="1600" spc="-5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5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[22,23]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DBDCDC17-83E8-ECE4-6A0D-8C1749AB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12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5993892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0" name="object 20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3" name="object 23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5635" y="5818428"/>
            <a:ext cx="4921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87244" y="6337808"/>
            <a:ext cx="4999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5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[14,15,16,17,18,19,20,21,22,23,24,25]</a:t>
            </a:r>
            <a:r>
              <a:rPr sz="1600" spc="-6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6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[26,27]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A6DE1D90-03C1-1E22-B30B-B642EAC87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13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5993892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575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77464" y="6357008"/>
            <a:ext cx="528129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5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[15,16,17,18,19,20,21,22,23,24,25,26,27]</a:t>
            </a:r>
            <a:r>
              <a:rPr sz="1600" spc="-6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8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[28,29]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256F9372-FC78-D4FF-2719-D956712F8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14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6775704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77464" y="6357008"/>
            <a:ext cx="584517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5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[15,16,17,18,19,20,21,22,23,24,25,26,27,28,29]</a:t>
            </a:r>
            <a:r>
              <a:rPr sz="1600" spc="-7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B4B4B"/>
                </a:solidFill>
                <a:latin typeface="Arial MT"/>
                <a:cs typeface="Arial MT"/>
              </a:rPr>
              <a:t>+</a:t>
            </a:r>
            <a:r>
              <a:rPr sz="1600" spc="10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B4B4B"/>
                </a:solidFill>
                <a:latin typeface="Arial MT"/>
                <a:cs typeface="Arial MT"/>
              </a:rPr>
              <a:t>[30,31]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CA88CC52-BE08-5B5F-19D5-73B7C4208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15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6775704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86608" y="6357008"/>
            <a:ext cx="498856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2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[17,18,19,20,21,22,23,24,25,26,27,28,29,30,31]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6D8B7E6B-8F83-A771-3076-EBE457EDC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16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6775704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86608" y="6357008"/>
            <a:ext cx="470662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3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[18,19,20,21,22,23,24,25,26,27,28,29,30,31]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59E716D6-4C86-3D44-9678-7790B574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17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6775704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86989" y="6337808"/>
            <a:ext cx="44259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4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[19,20,21,22,23,24,25,26,27,28,29,30,31]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BA97005F-01ED-1087-DBA4-0EE30BF66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18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6775704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85466" y="6337808"/>
            <a:ext cx="4144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4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[20,21,22,23,24,25,26,27,28,29,30,31]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FE24A5A9-F302-F8E5-DFA4-218A8E3F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19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6775704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77464" y="6337808"/>
            <a:ext cx="3862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55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[21,22,23,24,25,26,27,28,29,30,31]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4DE71D3C-86F7-03F9-CFB9-77E69130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kern="0" spc="-50" dirty="0"/>
              <a:t>20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6775704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77464" y="6337808"/>
            <a:ext cx="358012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7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[22,23,24,25,26,27,28,29,30,31]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81CEF582-3621-CB6A-7F0D-1F37A1FA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kern="0" spc="-50" dirty="0"/>
              <a:t>21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6775704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77464" y="6357008"/>
            <a:ext cx="329946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7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[23,24,25,26,27,28,29,30,31]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4BF39946-798E-B39A-090D-59BBC617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22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31619"/>
            <a:ext cx="6775704" cy="4315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1" name="object 21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4" name="object 24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77464" y="6357008"/>
            <a:ext cx="301752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8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[24,25,26,27,28,29,30,31]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B233183A-CDFA-0CF0-2280-D2351E53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spc="-50" dirty="0"/>
              <a:t>23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104" y="1560575"/>
            <a:ext cx="6775704" cy="42870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7740" y="1613357"/>
            <a:ext cx="11048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394" y="2558922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1085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4339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4394" y="356501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7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03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885" y="4540757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000040"/>
                </a:solidFill>
                <a:latin typeface="Arial MT"/>
                <a:cs typeface="Arial MT"/>
              </a:rPr>
              <a:t>9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40939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26739" y="4540757"/>
            <a:ext cx="160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0040"/>
                </a:solidFill>
                <a:latin typeface="Arial MT"/>
                <a:cs typeface="Arial MT"/>
              </a:rPr>
              <a:t>11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2540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85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84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6394" y="45407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635" y="5821171"/>
            <a:ext cx="66744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850265" algn="l"/>
                <a:tab pos="1231265" algn="l"/>
                <a:tab pos="1688464" algn="l"/>
                <a:tab pos="2146300" algn="l"/>
                <a:tab pos="2527300" algn="l"/>
                <a:tab pos="2984500" algn="l"/>
                <a:tab pos="3441700" algn="l"/>
                <a:tab pos="3898900" algn="l"/>
                <a:tab pos="4279900" algn="l"/>
                <a:tab pos="4737100" algn="l"/>
                <a:tab pos="5194300" algn="l"/>
                <a:tab pos="5575300" algn="l"/>
                <a:tab pos="6033135" algn="l"/>
                <a:tab pos="6490335" algn="l"/>
              </a:tabLst>
            </a:pP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19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21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22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23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24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25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26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27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28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29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30</a:t>
            </a:r>
            <a:r>
              <a:rPr sz="1200" dirty="0">
                <a:solidFill>
                  <a:srgbClr val="000040"/>
                </a:solidFill>
                <a:latin typeface="Arial MT"/>
                <a:cs typeface="Arial MT"/>
              </a:rPr>
              <a:t>	</a:t>
            </a:r>
            <a:r>
              <a:rPr sz="1200" spc="-25" dirty="0">
                <a:solidFill>
                  <a:srgbClr val="000040"/>
                </a:solidFill>
                <a:latin typeface="Arial MT"/>
                <a:cs typeface="Arial MT"/>
              </a:rPr>
              <a:t>31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99375" y="4050919"/>
            <a:ext cx="1287780" cy="190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80"/>
              </a:lnSpc>
              <a:spcBef>
                <a:spcPts val="95"/>
              </a:spcBef>
            </a:pPr>
            <a:r>
              <a:rPr sz="1600" spc="50" dirty="0">
                <a:solidFill>
                  <a:srgbClr val="660066"/>
                </a:solidFill>
                <a:latin typeface="Arial MT"/>
                <a:cs typeface="Arial MT"/>
              </a:rPr>
              <a:t>Note: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2160"/>
              </a:lnSpc>
              <a:spcBef>
                <a:spcPts val="30"/>
              </a:spcBef>
            </a:pP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goal</a:t>
            </a:r>
            <a:r>
              <a:rPr sz="1800" spc="-80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660066"/>
                </a:solidFill>
                <a:latin typeface="Times New Roman"/>
                <a:cs typeface="Times New Roman"/>
              </a:rPr>
              <a:t>test </a:t>
            </a: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is</a:t>
            </a:r>
            <a:r>
              <a:rPr sz="1800" spc="-30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positive</a:t>
            </a:r>
            <a:r>
              <a:rPr sz="1800" spc="-5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660066"/>
                </a:solidFill>
                <a:latin typeface="Times New Roman"/>
                <a:cs typeface="Times New Roman"/>
              </a:rPr>
              <a:t>for </a:t>
            </a: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this</a:t>
            </a:r>
            <a:r>
              <a:rPr sz="1800" spc="-3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node,</a:t>
            </a:r>
            <a:r>
              <a:rPr sz="1800" spc="-9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660066"/>
                </a:solidFill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12700" marR="168275" algn="just">
              <a:lnSpc>
                <a:spcPts val="2160"/>
              </a:lnSpc>
              <a:spcBef>
                <a:spcPts val="5"/>
              </a:spcBef>
            </a:pP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a</a:t>
            </a:r>
            <a:r>
              <a:rPr sz="1800" spc="-10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solution</a:t>
            </a:r>
            <a:r>
              <a:rPr sz="1800" spc="-5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660066"/>
                </a:solidFill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found</a:t>
            </a:r>
            <a:r>
              <a:rPr sz="1800" spc="-3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660066"/>
                </a:solidFill>
                <a:latin typeface="Times New Roman"/>
                <a:cs typeface="Times New Roman"/>
              </a:rPr>
              <a:t>in</a:t>
            </a:r>
            <a:r>
              <a:rPr sz="1800" spc="-35" dirty="0">
                <a:solidFill>
                  <a:srgbClr val="660066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660066"/>
                </a:solidFill>
                <a:latin typeface="Times New Roman"/>
                <a:cs typeface="Times New Roman"/>
              </a:rPr>
              <a:t>24 </a:t>
            </a:r>
            <a:r>
              <a:rPr sz="1800" spc="-10" dirty="0">
                <a:solidFill>
                  <a:srgbClr val="660066"/>
                </a:solidFill>
                <a:latin typeface="Times New Roman"/>
                <a:cs typeface="Times New Roman"/>
              </a:rPr>
              <a:t>steps.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739885" y="1389633"/>
            <a:ext cx="317500" cy="317500"/>
            <a:chOff x="8739885" y="1389633"/>
            <a:chExt cx="317500" cy="317500"/>
          </a:xfrm>
        </p:grpSpPr>
        <p:sp>
          <p:nvSpPr>
            <p:cNvPr id="22" name="object 22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7" y="29463"/>
                  </a:lnTo>
                  <a:lnTo>
                    <a:pt x="29464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4" y="242442"/>
                  </a:lnTo>
                  <a:lnTo>
                    <a:pt x="62357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3" y="297052"/>
                  </a:lnTo>
                  <a:lnTo>
                    <a:pt x="242443" y="275336"/>
                  </a:lnTo>
                  <a:lnTo>
                    <a:pt x="275336" y="242442"/>
                  </a:lnTo>
                  <a:lnTo>
                    <a:pt x="297053" y="200532"/>
                  </a:lnTo>
                  <a:lnTo>
                    <a:pt x="304800" y="152400"/>
                  </a:lnTo>
                  <a:lnTo>
                    <a:pt x="297053" y="104266"/>
                  </a:lnTo>
                  <a:lnTo>
                    <a:pt x="275336" y="62356"/>
                  </a:lnTo>
                  <a:lnTo>
                    <a:pt x="242443" y="29463"/>
                  </a:lnTo>
                  <a:lnTo>
                    <a:pt x="200533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0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46235" y="1395983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4" y="62356"/>
                  </a:lnTo>
                  <a:lnTo>
                    <a:pt x="62357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3" y="7746"/>
                  </a:lnTo>
                  <a:lnTo>
                    <a:pt x="242443" y="29463"/>
                  </a:lnTo>
                  <a:lnTo>
                    <a:pt x="275336" y="62356"/>
                  </a:lnTo>
                  <a:lnTo>
                    <a:pt x="297053" y="104266"/>
                  </a:lnTo>
                  <a:lnTo>
                    <a:pt x="304800" y="152400"/>
                  </a:lnTo>
                  <a:lnTo>
                    <a:pt x="297053" y="200532"/>
                  </a:lnTo>
                  <a:lnTo>
                    <a:pt x="275336" y="242442"/>
                  </a:lnTo>
                  <a:lnTo>
                    <a:pt x="242443" y="275336"/>
                  </a:lnTo>
                  <a:lnTo>
                    <a:pt x="200533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7" y="275336"/>
                  </a:lnTo>
                  <a:lnTo>
                    <a:pt x="29464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8762745" y="1822450"/>
            <a:ext cx="317500" cy="1677035"/>
            <a:chOff x="8762745" y="1822450"/>
            <a:chExt cx="317500" cy="1677035"/>
          </a:xfrm>
        </p:grpSpPr>
        <p:sp>
          <p:nvSpPr>
            <p:cNvPr id="25" name="object 25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69095" y="1828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A1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69095" y="216865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3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3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69095" y="250850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3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3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7"/>
                  </a:lnTo>
                  <a:lnTo>
                    <a:pt x="62356" y="29464"/>
                  </a:lnTo>
                  <a:lnTo>
                    <a:pt x="29463" y="62357"/>
                  </a:lnTo>
                  <a:lnTo>
                    <a:pt x="7747" y="104267"/>
                  </a:lnTo>
                  <a:lnTo>
                    <a:pt x="0" y="152400"/>
                  </a:lnTo>
                  <a:lnTo>
                    <a:pt x="7747" y="200533"/>
                  </a:lnTo>
                  <a:lnTo>
                    <a:pt x="29463" y="242443"/>
                  </a:lnTo>
                  <a:lnTo>
                    <a:pt x="62356" y="275336"/>
                  </a:lnTo>
                  <a:lnTo>
                    <a:pt x="104267" y="297053"/>
                  </a:lnTo>
                  <a:lnTo>
                    <a:pt x="152400" y="304800"/>
                  </a:lnTo>
                  <a:lnTo>
                    <a:pt x="200532" y="297053"/>
                  </a:lnTo>
                  <a:lnTo>
                    <a:pt x="242443" y="275336"/>
                  </a:lnTo>
                  <a:lnTo>
                    <a:pt x="275335" y="242443"/>
                  </a:lnTo>
                  <a:lnTo>
                    <a:pt x="297052" y="200533"/>
                  </a:lnTo>
                  <a:lnTo>
                    <a:pt x="304800" y="152400"/>
                  </a:lnTo>
                  <a:lnTo>
                    <a:pt x="297052" y="104267"/>
                  </a:lnTo>
                  <a:lnTo>
                    <a:pt x="275335" y="62357"/>
                  </a:lnTo>
                  <a:lnTo>
                    <a:pt x="242443" y="29464"/>
                  </a:lnTo>
                  <a:lnTo>
                    <a:pt x="200532" y="7747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69095" y="284835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7"/>
                  </a:lnTo>
                  <a:lnTo>
                    <a:pt x="29463" y="62357"/>
                  </a:lnTo>
                  <a:lnTo>
                    <a:pt x="62356" y="29464"/>
                  </a:lnTo>
                  <a:lnTo>
                    <a:pt x="104267" y="7747"/>
                  </a:lnTo>
                  <a:lnTo>
                    <a:pt x="152400" y="0"/>
                  </a:lnTo>
                  <a:lnTo>
                    <a:pt x="200532" y="7747"/>
                  </a:lnTo>
                  <a:lnTo>
                    <a:pt x="242443" y="29464"/>
                  </a:lnTo>
                  <a:lnTo>
                    <a:pt x="275335" y="62357"/>
                  </a:lnTo>
                  <a:lnTo>
                    <a:pt x="297052" y="104267"/>
                  </a:lnTo>
                  <a:lnTo>
                    <a:pt x="304800" y="152400"/>
                  </a:lnTo>
                  <a:lnTo>
                    <a:pt x="297052" y="200533"/>
                  </a:lnTo>
                  <a:lnTo>
                    <a:pt x="275335" y="242443"/>
                  </a:lnTo>
                  <a:lnTo>
                    <a:pt x="242443" y="275336"/>
                  </a:lnTo>
                  <a:lnTo>
                    <a:pt x="200532" y="297053"/>
                  </a:lnTo>
                  <a:lnTo>
                    <a:pt x="152400" y="304800"/>
                  </a:lnTo>
                  <a:lnTo>
                    <a:pt x="104267" y="297053"/>
                  </a:lnTo>
                  <a:lnTo>
                    <a:pt x="62356" y="275336"/>
                  </a:lnTo>
                  <a:lnTo>
                    <a:pt x="29463" y="242443"/>
                  </a:lnTo>
                  <a:lnTo>
                    <a:pt x="7747" y="200533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4267" y="7746"/>
                  </a:lnTo>
                  <a:lnTo>
                    <a:pt x="62356" y="29463"/>
                  </a:lnTo>
                  <a:lnTo>
                    <a:pt x="29463" y="62356"/>
                  </a:lnTo>
                  <a:lnTo>
                    <a:pt x="7747" y="104266"/>
                  </a:lnTo>
                  <a:lnTo>
                    <a:pt x="0" y="152400"/>
                  </a:lnTo>
                  <a:lnTo>
                    <a:pt x="7747" y="200532"/>
                  </a:lnTo>
                  <a:lnTo>
                    <a:pt x="29463" y="242442"/>
                  </a:lnTo>
                  <a:lnTo>
                    <a:pt x="62356" y="275336"/>
                  </a:lnTo>
                  <a:lnTo>
                    <a:pt x="104267" y="297052"/>
                  </a:lnTo>
                  <a:lnTo>
                    <a:pt x="152400" y="304800"/>
                  </a:lnTo>
                  <a:lnTo>
                    <a:pt x="200532" y="297052"/>
                  </a:lnTo>
                  <a:lnTo>
                    <a:pt x="242443" y="275336"/>
                  </a:lnTo>
                  <a:lnTo>
                    <a:pt x="275335" y="242442"/>
                  </a:lnTo>
                  <a:lnTo>
                    <a:pt x="297052" y="200532"/>
                  </a:lnTo>
                  <a:lnTo>
                    <a:pt x="304800" y="152400"/>
                  </a:lnTo>
                  <a:lnTo>
                    <a:pt x="297052" y="104266"/>
                  </a:lnTo>
                  <a:lnTo>
                    <a:pt x="275335" y="62356"/>
                  </a:lnTo>
                  <a:lnTo>
                    <a:pt x="242443" y="29463"/>
                  </a:lnTo>
                  <a:lnTo>
                    <a:pt x="200532" y="774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69095" y="318820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152400"/>
                  </a:moveTo>
                  <a:lnTo>
                    <a:pt x="7747" y="104266"/>
                  </a:lnTo>
                  <a:lnTo>
                    <a:pt x="29463" y="62356"/>
                  </a:lnTo>
                  <a:lnTo>
                    <a:pt x="62356" y="29463"/>
                  </a:lnTo>
                  <a:lnTo>
                    <a:pt x="104267" y="7746"/>
                  </a:lnTo>
                  <a:lnTo>
                    <a:pt x="152400" y="0"/>
                  </a:lnTo>
                  <a:lnTo>
                    <a:pt x="200532" y="7746"/>
                  </a:lnTo>
                  <a:lnTo>
                    <a:pt x="242443" y="29463"/>
                  </a:lnTo>
                  <a:lnTo>
                    <a:pt x="275335" y="62356"/>
                  </a:lnTo>
                  <a:lnTo>
                    <a:pt x="297052" y="104266"/>
                  </a:lnTo>
                  <a:lnTo>
                    <a:pt x="304800" y="152400"/>
                  </a:lnTo>
                  <a:lnTo>
                    <a:pt x="297052" y="200532"/>
                  </a:lnTo>
                  <a:lnTo>
                    <a:pt x="275335" y="242442"/>
                  </a:lnTo>
                  <a:lnTo>
                    <a:pt x="242443" y="275336"/>
                  </a:lnTo>
                  <a:lnTo>
                    <a:pt x="200532" y="297052"/>
                  </a:lnTo>
                  <a:lnTo>
                    <a:pt x="152400" y="304800"/>
                  </a:lnTo>
                  <a:lnTo>
                    <a:pt x="104267" y="297052"/>
                  </a:lnTo>
                  <a:lnTo>
                    <a:pt x="62356" y="275336"/>
                  </a:lnTo>
                  <a:lnTo>
                    <a:pt x="29463" y="242442"/>
                  </a:lnTo>
                  <a:lnTo>
                    <a:pt x="7747" y="200532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724902" y="1366875"/>
            <a:ext cx="87312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000"/>
              </a:lnSpc>
              <a:spcBef>
                <a:spcPts val="100"/>
              </a:spcBef>
            </a:pPr>
            <a:r>
              <a:rPr sz="2000" spc="-10" dirty="0">
                <a:solidFill>
                  <a:srgbClr val="660066"/>
                </a:solidFill>
                <a:latin typeface="Arial MT"/>
                <a:cs typeface="Arial MT"/>
              </a:rPr>
              <a:t>Initial Visited Fringe Current Visible </a:t>
            </a:r>
            <a:r>
              <a:rPr sz="2000" spc="-20" dirty="0">
                <a:solidFill>
                  <a:srgbClr val="660066"/>
                </a:solidFill>
                <a:latin typeface="Arial MT"/>
                <a:cs typeface="Arial MT"/>
              </a:rPr>
              <a:t>Goal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97276" y="6337808"/>
            <a:ext cx="2734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800080"/>
                </a:solidFill>
                <a:latin typeface="Arial MT"/>
                <a:cs typeface="Arial MT"/>
              </a:rPr>
              <a:t>Fringe:</a:t>
            </a:r>
            <a:r>
              <a:rPr sz="1600" spc="-90" dirty="0">
                <a:solidFill>
                  <a:srgbClr val="80008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0080"/>
                </a:solidFill>
                <a:latin typeface="Arial MT"/>
                <a:cs typeface="Arial MT"/>
              </a:rPr>
              <a:t>[25,26,27,28,29,30,31]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FB030BAD-D97D-C348-4813-1E0665336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53998"/>
          </a:xfrm>
        </p:spPr>
        <p:txBody>
          <a:bodyPr/>
          <a:lstStyle/>
          <a:p>
            <a:r>
              <a:rPr lang="en-US" kern="0" spc="-25" dirty="0"/>
              <a:t>Breadth-</a:t>
            </a:r>
            <a:r>
              <a:rPr lang="en-US" kern="0" dirty="0"/>
              <a:t>First</a:t>
            </a:r>
            <a:r>
              <a:rPr lang="en-US" kern="0" spc="-30" dirty="0"/>
              <a:t> </a:t>
            </a:r>
            <a:r>
              <a:rPr lang="en-US" kern="0" dirty="0"/>
              <a:t>Snapshot</a:t>
            </a:r>
            <a:r>
              <a:rPr lang="en-US" kern="0" spc="-100" dirty="0"/>
              <a:t> </a:t>
            </a:r>
            <a:r>
              <a:rPr lang="en-US" kern="0" spc="-50" dirty="0"/>
              <a:t>24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6875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Properties of Breadth-First Search</a:t>
            </a:r>
            <a:r>
              <a:rPr sz="2800" b="1" spc="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(BFS)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4565" y="1179068"/>
            <a:ext cx="4852035" cy="1871923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3815" marR="5080">
              <a:lnSpc>
                <a:spcPct val="104000"/>
              </a:lnSpc>
              <a:spcBef>
                <a:spcPts val="5"/>
              </a:spcBef>
            </a:pPr>
            <a:r>
              <a:rPr sz="20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Completeness: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Yes </a:t>
            </a:r>
            <a:r>
              <a:rPr sz="2000" dirty="0">
                <a:latin typeface="Arial"/>
                <a:cs typeface="Arial"/>
              </a:rPr>
              <a:t>(if </a:t>
            </a:r>
            <a:r>
              <a:rPr sz="2000" i="1" dirty="0">
                <a:latin typeface="Arial"/>
                <a:cs typeface="Arial"/>
              </a:rPr>
              <a:t>b </a:t>
            </a:r>
            <a:r>
              <a:rPr sz="2000" dirty="0">
                <a:latin typeface="Arial"/>
                <a:cs typeface="Arial"/>
              </a:rPr>
              <a:t>is finite), a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solution  will be found </a:t>
            </a:r>
            <a:r>
              <a:rPr sz="2000" spc="-5" dirty="0">
                <a:latin typeface="Arial"/>
                <a:cs typeface="Arial"/>
              </a:rPr>
              <a:t>if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exists.</a:t>
            </a:r>
          </a:p>
          <a:p>
            <a:pPr marL="12700" marR="22225" indent="31115">
              <a:lnSpc>
                <a:spcPct val="174900"/>
              </a:lnSpc>
              <a:spcBef>
                <a:spcPts val="1205"/>
              </a:spcBef>
            </a:pPr>
            <a:r>
              <a:rPr sz="2000" spc="-4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Time </a:t>
            </a:r>
            <a:r>
              <a:rPr sz="200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Complexity: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(nodes until the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solution)  </a:t>
            </a:r>
            <a:r>
              <a:rPr sz="20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Optimality:</a:t>
            </a:r>
            <a:r>
              <a:rPr sz="2000" spc="-10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Yes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058" y="4079240"/>
            <a:ext cx="8210550" cy="170046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0800" marR="43180" algn="just">
              <a:lnSpc>
                <a:spcPts val="2400"/>
              </a:lnSpc>
              <a:spcBef>
                <a:spcPts val="580"/>
              </a:spcBef>
            </a:pPr>
            <a:r>
              <a:rPr sz="2400" spc="-5" dirty="0">
                <a:latin typeface="Arial"/>
                <a:cs typeface="Arial"/>
              </a:rPr>
              <a:t>Suppose the </a:t>
            </a:r>
            <a:r>
              <a:rPr sz="2400" dirty="0">
                <a:latin typeface="Arial"/>
                <a:cs typeface="Arial"/>
              </a:rPr>
              <a:t>branching </a:t>
            </a:r>
            <a:r>
              <a:rPr sz="2400" spc="-5" dirty="0">
                <a:latin typeface="Arial"/>
                <a:cs typeface="Arial"/>
              </a:rPr>
              <a:t>factor </a:t>
            </a:r>
            <a:r>
              <a:rPr sz="2400" spc="-10" dirty="0">
                <a:latin typeface="Arial"/>
                <a:cs typeface="Arial"/>
              </a:rPr>
              <a:t>b=</a:t>
            </a:r>
            <a:r>
              <a:rPr lang="en-US" sz="2400" spc="-10" dirty="0">
                <a:latin typeface="Arial"/>
                <a:cs typeface="Arial"/>
              </a:rPr>
              <a:t>3</a:t>
            </a:r>
            <a:r>
              <a:rPr sz="2400" spc="-1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goal is at depth  d=</a:t>
            </a:r>
            <a:r>
              <a:rPr lang="en-US" sz="2400" spc="-5" dirty="0">
                <a:latin typeface="Arial"/>
                <a:cs typeface="Arial"/>
              </a:rPr>
              <a:t>20</a:t>
            </a:r>
            <a:r>
              <a:rPr sz="2400" spc="-5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792480" marR="113664" indent="-285115" algn="just">
              <a:lnSpc>
                <a:spcPts val="2380"/>
              </a:lnSpc>
              <a:spcBef>
                <a:spcPts val="75"/>
              </a:spcBef>
            </a:pPr>
            <a:r>
              <a:rPr sz="2000" dirty="0">
                <a:latin typeface="Arial"/>
                <a:cs typeface="Arial"/>
              </a:rPr>
              <a:t>– </a:t>
            </a:r>
            <a:r>
              <a:rPr sz="2000" spc="-5" dirty="0">
                <a:latin typeface="Arial"/>
                <a:cs typeface="Arial"/>
              </a:rPr>
              <a:t>Then we need </a:t>
            </a:r>
            <a:r>
              <a:rPr lang="en-US" sz="2000" spc="-5" dirty="0">
                <a:latin typeface="Arial"/>
                <a:cs typeface="Arial"/>
              </a:rPr>
              <a:t>3</a:t>
            </a:r>
            <a:r>
              <a:rPr lang="en-US" sz="1950" spc="-7" baseline="19230" dirty="0">
                <a:latin typeface="Arial"/>
                <a:cs typeface="Arial"/>
              </a:rPr>
              <a:t>20</a:t>
            </a:r>
            <a:r>
              <a:rPr sz="1950" spc="-7" baseline="192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time to </a:t>
            </a:r>
            <a:r>
              <a:rPr sz="2000" spc="-5" dirty="0">
                <a:latin typeface="Arial"/>
                <a:cs typeface="Arial"/>
              </a:rPr>
              <a:t>finish. </a:t>
            </a:r>
            <a:endParaRPr lang="en-US" sz="2000" spc="-5" dirty="0">
              <a:latin typeface="Arial"/>
              <a:cs typeface="Arial"/>
            </a:endParaRPr>
          </a:p>
          <a:p>
            <a:pPr marL="792480" marR="113664" indent="-285115" algn="just">
              <a:lnSpc>
                <a:spcPts val="2380"/>
              </a:lnSpc>
              <a:spcBef>
                <a:spcPts val="75"/>
              </a:spcBef>
            </a:pPr>
            <a:endParaRPr sz="2000" dirty="0">
              <a:latin typeface="Arial"/>
              <a:cs typeface="Arial"/>
            </a:endParaRPr>
          </a:p>
          <a:p>
            <a:pPr marL="50800" algn="just">
              <a:lnSpc>
                <a:spcPct val="100000"/>
              </a:lnSpc>
            </a:pPr>
            <a:r>
              <a:rPr sz="2400" spc="-10" dirty="0">
                <a:latin typeface="Wingdings"/>
                <a:cs typeface="Wingdings"/>
              </a:rPr>
              <a:t></a:t>
            </a:r>
            <a:r>
              <a:rPr sz="2400" spc="-10" dirty="0">
                <a:latin typeface="Arial"/>
                <a:cs typeface="Arial"/>
              </a:rPr>
              <a:t>Not </a:t>
            </a:r>
            <a:r>
              <a:rPr sz="2400" spc="-5" dirty="0">
                <a:latin typeface="Arial"/>
                <a:cs typeface="Arial"/>
              </a:rPr>
              <a:t>suitable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searching large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graphs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65520" y="3278123"/>
            <a:ext cx="2528570" cy="562610"/>
            <a:chOff x="6065520" y="3278123"/>
            <a:chExt cx="2528570" cy="562610"/>
          </a:xfrm>
        </p:grpSpPr>
        <p:sp>
          <p:nvSpPr>
            <p:cNvPr id="6" name="object 6"/>
            <p:cNvSpPr/>
            <p:nvPr/>
          </p:nvSpPr>
          <p:spPr>
            <a:xfrm>
              <a:off x="6071616" y="3284219"/>
              <a:ext cx="2514600" cy="550545"/>
            </a:xfrm>
            <a:custGeom>
              <a:avLst/>
              <a:gdLst/>
              <a:ahLst/>
              <a:cxnLst/>
              <a:rect l="l" t="t" r="r" b="b"/>
              <a:pathLst>
                <a:path w="2514600" h="550545">
                  <a:moveTo>
                    <a:pt x="2514600" y="0"/>
                  </a:moveTo>
                  <a:lnTo>
                    <a:pt x="0" y="0"/>
                  </a:lnTo>
                  <a:lnTo>
                    <a:pt x="0" y="550163"/>
                  </a:lnTo>
                  <a:lnTo>
                    <a:pt x="2514600" y="550163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71870" y="3278123"/>
              <a:ext cx="2515870" cy="562610"/>
            </a:xfrm>
            <a:custGeom>
              <a:avLst/>
              <a:gdLst/>
              <a:ahLst/>
              <a:cxnLst/>
              <a:rect l="l" t="t" r="r" b="b"/>
              <a:pathLst>
                <a:path w="2515870" h="562610">
                  <a:moveTo>
                    <a:pt x="0" y="0"/>
                  </a:moveTo>
                  <a:lnTo>
                    <a:pt x="0" y="562356"/>
                  </a:lnTo>
                </a:path>
                <a:path w="2515870" h="562610">
                  <a:moveTo>
                    <a:pt x="2515615" y="0"/>
                  </a:moveTo>
                  <a:lnTo>
                    <a:pt x="2515615" y="562356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65520" y="3278377"/>
              <a:ext cx="2528570" cy="12700"/>
            </a:xfrm>
            <a:custGeom>
              <a:avLst/>
              <a:gdLst/>
              <a:ahLst/>
              <a:cxnLst/>
              <a:rect l="l" t="t" r="r" b="b"/>
              <a:pathLst>
                <a:path w="2528570" h="12700">
                  <a:moveTo>
                    <a:pt x="0" y="12192"/>
                  </a:moveTo>
                  <a:lnTo>
                    <a:pt x="2528315" y="12192"/>
                  </a:lnTo>
                  <a:lnTo>
                    <a:pt x="2528315" y="0"/>
                  </a:lnTo>
                  <a:lnTo>
                    <a:pt x="0" y="0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65520" y="3834129"/>
              <a:ext cx="2528570" cy="0"/>
            </a:xfrm>
            <a:custGeom>
              <a:avLst/>
              <a:gdLst/>
              <a:ahLst/>
              <a:cxnLst/>
              <a:rect l="l" t="t" r="r" b="b"/>
              <a:pathLst>
                <a:path w="2528570">
                  <a:moveTo>
                    <a:pt x="0" y="0"/>
                  </a:moveTo>
                  <a:lnTo>
                    <a:pt x="2528315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64579" y="3190113"/>
            <a:ext cx="97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</a:pPr>
            <a:r>
              <a:rPr sz="1200" spc="-5" dirty="0">
                <a:solidFill>
                  <a:srgbClr val="E36C09"/>
                </a:solidFill>
                <a:latin typeface="Arial"/>
                <a:cs typeface="Arial"/>
              </a:rPr>
              <a:t>b  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22033" y="3225164"/>
            <a:ext cx="1429385" cy="57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49200"/>
              </a:lnSpc>
              <a:spcBef>
                <a:spcPts val="100"/>
              </a:spcBef>
            </a:pPr>
            <a:r>
              <a:rPr sz="1200" spc="-10" dirty="0">
                <a:solidFill>
                  <a:srgbClr val="E36C09"/>
                </a:solidFill>
                <a:latin typeface="Arial"/>
                <a:cs typeface="Arial"/>
              </a:rPr>
              <a:t>Branching </a:t>
            </a:r>
            <a:r>
              <a:rPr sz="1200" dirty="0">
                <a:solidFill>
                  <a:srgbClr val="E36C09"/>
                </a:solidFill>
                <a:latin typeface="Arial"/>
                <a:cs typeface="Arial"/>
              </a:rPr>
              <a:t>Factor  The </a:t>
            </a:r>
            <a:r>
              <a:rPr sz="1200" spc="-10" dirty="0">
                <a:solidFill>
                  <a:srgbClr val="E36C09"/>
                </a:solidFill>
                <a:latin typeface="Arial"/>
                <a:cs typeface="Arial"/>
              </a:rPr>
              <a:t>depth </a:t>
            </a:r>
            <a:r>
              <a:rPr sz="1200" dirty="0">
                <a:solidFill>
                  <a:srgbClr val="E36C09"/>
                </a:solidFill>
                <a:latin typeface="Arial"/>
                <a:cs typeface="Arial"/>
              </a:rPr>
              <a:t>of the</a:t>
            </a:r>
            <a:r>
              <a:rPr sz="1200" spc="-210" dirty="0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E36C09"/>
                </a:solidFill>
                <a:latin typeface="Arial"/>
                <a:cs typeface="Arial"/>
              </a:rPr>
              <a:t>goal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57900" y="1283208"/>
            <a:ext cx="2430780" cy="1934210"/>
            <a:chOff x="6057900" y="1283208"/>
            <a:chExt cx="2430780" cy="1934210"/>
          </a:xfrm>
        </p:grpSpPr>
        <p:sp>
          <p:nvSpPr>
            <p:cNvPr id="13" name="object 13"/>
            <p:cNvSpPr/>
            <p:nvPr/>
          </p:nvSpPr>
          <p:spPr>
            <a:xfrm>
              <a:off x="6072377" y="1297686"/>
              <a:ext cx="2401824" cy="1905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72377" y="1297686"/>
              <a:ext cx="2402205" cy="1905000"/>
            </a:xfrm>
            <a:custGeom>
              <a:avLst/>
              <a:gdLst/>
              <a:ahLst/>
              <a:cxnLst/>
              <a:rect l="l" t="t" r="r" b="b"/>
              <a:pathLst>
                <a:path w="2402204" h="1905000">
                  <a:moveTo>
                    <a:pt x="0" y="1905000"/>
                  </a:moveTo>
                  <a:lnTo>
                    <a:pt x="2401824" y="1905000"/>
                  </a:lnTo>
                  <a:lnTo>
                    <a:pt x="2401824" y="0"/>
                  </a:lnTo>
                  <a:lnTo>
                    <a:pt x="0" y="0"/>
                  </a:lnTo>
                  <a:lnTo>
                    <a:pt x="0" y="19050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55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345" y="2198370"/>
            <a:ext cx="4743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chemeClr val="tx2"/>
                </a:solidFill>
                <a:latin typeface="Arial"/>
                <a:cs typeface="Arial"/>
              </a:rPr>
              <a:t>2- </a:t>
            </a:r>
            <a:r>
              <a:rPr b="1" dirty="0">
                <a:solidFill>
                  <a:schemeClr val="tx2"/>
                </a:solidFill>
                <a:latin typeface="Arial"/>
                <a:cs typeface="Arial"/>
              </a:rPr>
              <a:t>Uniform-Cost</a:t>
            </a:r>
            <a:r>
              <a:rPr b="1" spc="-12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chemeClr val="tx2"/>
                </a:solidFill>
                <a:latin typeface="Arial"/>
                <a:cs typeface="Arial"/>
              </a:rPr>
              <a:t>-First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56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380491" y="219583"/>
            <a:ext cx="3279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Uniform-Cost</a:t>
            </a:r>
            <a:r>
              <a:rPr sz="2800" b="1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-First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0491" y="914400"/>
            <a:ext cx="7739380" cy="5229893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69900" marR="5080" indent="-457200" algn="l">
              <a:lnSpc>
                <a:spcPct val="101099"/>
              </a:lnSpc>
              <a:spcBef>
                <a:spcPts val="60"/>
              </a:spcBef>
              <a:buFont typeface="Arial" panose="020B0604020202020204" pitchFamily="34" charset="0"/>
              <a:buChar char="•"/>
              <a:tabLst>
                <a:tab pos="3453765" algn="l"/>
              </a:tabLst>
            </a:pPr>
            <a:r>
              <a:rPr lang="en-US" sz="2800" dirty="0">
                <a:latin typeface="+mn-lt"/>
              </a:rPr>
              <a:t>The primary goal of the uniform-cost search is to find a path to the goal node which has 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the lowest cumulative cost.</a:t>
            </a:r>
            <a:br>
              <a:rPr lang="en-US" sz="2800" dirty="0">
                <a:solidFill>
                  <a:schemeClr val="tx2"/>
                </a:solidFill>
                <a:latin typeface="+mn-lt"/>
              </a:rPr>
            </a:br>
            <a:br>
              <a:rPr lang="en-US" sz="2800" dirty="0">
                <a:solidFill>
                  <a:schemeClr val="tx2"/>
                </a:solidFill>
                <a:latin typeface="+mn-lt"/>
              </a:rPr>
            </a:br>
            <a:r>
              <a:rPr lang="en-US" sz="2800" dirty="0">
                <a:latin typeface="+mn-lt"/>
              </a:rPr>
              <a:t>Uniform-cost search expands nodes according to their path costs form the root node.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 It can be used to solve any graph/tree where the optimal cost is in demand. 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Uniform cost search is equivalent 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to BFS algorithm </a:t>
            </a:r>
            <a:r>
              <a:rPr lang="en-US" sz="2800" dirty="0">
                <a:latin typeface="+mn-lt"/>
              </a:rPr>
              <a:t>if the 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path cost of all edges is the same</a:t>
            </a:r>
            <a:r>
              <a:rPr lang="en-US" sz="2800" dirty="0">
                <a:latin typeface="+mn-lt"/>
              </a:rPr>
              <a:t>.</a:t>
            </a:r>
            <a:endParaRPr sz="2400" dirty="0"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00450" y="895670"/>
            <a:ext cx="5900596" cy="56697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57</a:t>
            </a:fld>
            <a:endParaRPr spc="-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2310486"/>
            <a:ext cx="5665470" cy="7099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generalSearch(problem,</a:t>
            </a:r>
            <a:r>
              <a:rPr sz="2000" b="1" spc="-120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5050"/>
                </a:solidFill>
                <a:latin typeface="Courier New"/>
                <a:cs typeface="Courier New"/>
              </a:rPr>
              <a:t>priorityQueue</a:t>
            </a:r>
            <a:r>
              <a:rPr sz="2000" b="1" spc="-10" dirty="0">
                <a:solidFill>
                  <a:srgbClr val="CC330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#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nodes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tested: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expanded:</a:t>
            </a:r>
            <a:r>
              <a:rPr sz="1800" spc="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90600" y="3105150"/>
          <a:ext cx="3505835" cy="877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91440" marR="6108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Closed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Open</a:t>
                      </a: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{S}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251828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428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7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522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9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286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85809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2860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85028" y="5591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261" y="2502661"/>
            <a:ext cx="3911599" cy="4140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95566" y="2545842"/>
            <a:ext cx="470534" cy="53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1889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7325" y="6139412"/>
            <a:ext cx="20955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spc="-5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40" y="6448009"/>
            <a:ext cx="2413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58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725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9726" y="4972050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7325" y="4972050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3600" y="4972050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5106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3185" y="4355624"/>
            <a:ext cx="455295" cy="9975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25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  <a:p>
            <a:pPr marL="128270">
              <a:lnSpc>
                <a:spcPts val="2100"/>
              </a:lnSpc>
              <a:spcBef>
                <a:spcPts val="810"/>
              </a:spcBef>
            </a:pPr>
            <a:r>
              <a:rPr sz="2000" b="1" spc="-50" dirty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60"/>
              </a:lnSpc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8359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3355CC78-AB65-BE96-C691-60A9A5FE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Uniform-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Cost</a:t>
            </a:r>
            <a:r>
              <a:rPr lang="en-US" sz="36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lang="en-US" sz="36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(UCS)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51828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428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7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522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9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86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5809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2860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85028" y="5591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3444" y="2310486"/>
            <a:ext cx="5665470" cy="7099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generalSearch(problem,</a:t>
            </a:r>
            <a:r>
              <a:rPr sz="2000" b="1" spc="-120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5050"/>
                </a:solidFill>
                <a:latin typeface="Courier New"/>
                <a:cs typeface="Courier New"/>
              </a:rPr>
              <a:t>priorityQueue</a:t>
            </a:r>
            <a:r>
              <a:rPr sz="2000" b="1" spc="-10" dirty="0">
                <a:solidFill>
                  <a:srgbClr val="CC330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#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nodes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tested: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expanded:</a:t>
            </a:r>
            <a:r>
              <a:rPr sz="1800" spc="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90600" y="3105150"/>
          <a:ext cx="3505835" cy="1179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91440" marR="6108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Closed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Open</a:t>
                      </a: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{S:0}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not </a:t>
                      </a:r>
                      <a:r>
                        <a:rPr sz="1800" spc="-2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goal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</a:t>
                      </a:r>
                      <a:r>
                        <a:rPr sz="1800" spc="-1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B:2,C:4,A:5</a:t>
                      </a: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261" y="2502661"/>
            <a:ext cx="3911599" cy="4140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95566" y="2545842"/>
            <a:ext cx="470534" cy="53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1889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7325" y="6139412"/>
            <a:ext cx="20955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spc="-5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40" y="6448009"/>
            <a:ext cx="2413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59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725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9726" y="4972050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7325" y="4972050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3600" y="4972050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5106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3185" y="4355624"/>
            <a:ext cx="455295" cy="9975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25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  <a:p>
            <a:pPr marL="128270">
              <a:lnSpc>
                <a:spcPts val="2100"/>
              </a:lnSpc>
              <a:spcBef>
                <a:spcPts val="810"/>
              </a:spcBef>
            </a:pPr>
            <a:r>
              <a:rPr sz="2000" b="1" spc="-50" dirty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60"/>
              </a:lnSpc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8359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2CAD4B5D-CC09-185D-2956-CACCCAE1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Uniform-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Cost</a:t>
            </a:r>
            <a:r>
              <a:rPr lang="en-US" sz="36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lang="en-US" sz="36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(UCS)</a:t>
            </a: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1828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428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7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522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9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286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5809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860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5028" y="5591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444" y="2310486"/>
            <a:ext cx="5665470" cy="7099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generalSearch(problem,</a:t>
            </a:r>
            <a:r>
              <a:rPr sz="2000" b="1" spc="-120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5050"/>
                </a:solidFill>
                <a:latin typeface="Courier New"/>
                <a:cs typeface="Courier New"/>
              </a:rPr>
              <a:t>priorityQueue</a:t>
            </a:r>
            <a:r>
              <a:rPr sz="2000" b="1" spc="-10" dirty="0">
                <a:solidFill>
                  <a:srgbClr val="CC330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#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nodes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tested: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expanded:</a:t>
            </a:r>
            <a:r>
              <a:rPr sz="1800" spc="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90600" y="3105150"/>
          <a:ext cx="3505835" cy="1484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91440" marR="6108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Closed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Open</a:t>
                      </a: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{S}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{B:2,C:4,A:5}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4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not</a:t>
                      </a:r>
                      <a:r>
                        <a:rPr sz="1800" spc="-1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goal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{C:4,A:5</a:t>
                      </a:r>
                      <a:r>
                        <a:rPr sz="1800" spc="-1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,G:2+6</a:t>
                      </a: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261" y="2502661"/>
            <a:ext cx="3911599" cy="4140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95566" y="2545842"/>
            <a:ext cx="470534" cy="53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1889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7325" y="6139412"/>
            <a:ext cx="20955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spc="-5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40" y="6448009"/>
            <a:ext cx="2413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60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725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9726" y="4972050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7325" y="4972050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3600" y="4972050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5106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3185" y="4355624"/>
            <a:ext cx="455295" cy="9975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25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  <a:p>
            <a:pPr marL="128270">
              <a:lnSpc>
                <a:spcPts val="2100"/>
              </a:lnSpc>
              <a:spcBef>
                <a:spcPts val="810"/>
              </a:spcBef>
            </a:pPr>
            <a:r>
              <a:rPr sz="2000" b="1" spc="-50" dirty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60"/>
              </a:lnSpc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8359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AF966741-E825-42F4-5C6F-BE429F63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Uniform-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Cost</a:t>
            </a:r>
            <a:r>
              <a:rPr lang="en-US" sz="36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lang="en-US" sz="36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(UCS)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1828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428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7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522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9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286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5809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860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5028" y="5591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444" y="2310486"/>
            <a:ext cx="5665470" cy="7099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generalSearch(problem,</a:t>
            </a:r>
            <a:r>
              <a:rPr sz="2000" b="1" spc="-120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5050"/>
                </a:solidFill>
                <a:latin typeface="Courier New"/>
                <a:cs typeface="Courier New"/>
              </a:rPr>
              <a:t>priorityQueue</a:t>
            </a:r>
            <a:r>
              <a:rPr sz="2000" b="1" spc="-10" dirty="0">
                <a:solidFill>
                  <a:srgbClr val="CC330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#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nodes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tested: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expanded:</a:t>
            </a:r>
            <a:r>
              <a:rPr sz="1800" spc="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90600" y="3105150"/>
          <a:ext cx="3505835" cy="1807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91440" marR="6108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Closed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Open</a:t>
                      </a: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{S}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{B:2,C:4,A:5}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{C:4,A:5,G:8}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sz="1800" spc="-1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not</a:t>
                      </a:r>
                      <a:r>
                        <a:rPr sz="1800" spc="-1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goal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{A:5</a:t>
                      </a:r>
                      <a:r>
                        <a:rPr sz="1800" spc="-1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,F:4+2</a:t>
                      </a: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261" y="2502661"/>
            <a:ext cx="3911599" cy="4140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95566" y="2545842"/>
            <a:ext cx="470534" cy="53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1889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7325" y="6139412"/>
            <a:ext cx="20955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spc="-5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40" y="6448009"/>
            <a:ext cx="2413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61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725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9726" y="4972050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7325" y="4972050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3600" y="4972050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5106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3185" y="4355624"/>
            <a:ext cx="455295" cy="9975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25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  <a:p>
            <a:pPr marL="128270">
              <a:lnSpc>
                <a:spcPts val="2100"/>
              </a:lnSpc>
              <a:spcBef>
                <a:spcPts val="810"/>
              </a:spcBef>
            </a:pPr>
            <a:r>
              <a:rPr sz="2000" b="1" spc="-50" dirty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60"/>
              </a:lnSpc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8359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CE01C961-1403-B28C-11FE-9792BD6A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Uniform-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Cost</a:t>
            </a:r>
            <a:r>
              <a:rPr lang="en-US" sz="36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lang="en-US" sz="36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(UCS)</a:t>
            </a: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1828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428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7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522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9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286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5809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860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5028" y="5591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444" y="2310486"/>
            <a:ext cx="5665470" cy="7099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generalSearch(problem,</a:t>
            </a:r>
            <a:r>
              <a:rPr sz="2000" b="1" spc="-120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5050"/>
                </a:solidFill>
                <a:latin typeface="Courier New"/>
                <a:cs typeface="Courier New"/>
              </a:rPr>
              <a:t>priorityQueue</a:t>
            </a:r>
            <a:r>
              <a:rPr sz="2000" b="1" spc="-10" dirty="0">
                <a:solidFill>
                  <a:srgbClr val="CC330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#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nodes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tested: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expanded:</a:t>
            </a:r>
            <a:r>
              <a:rPr sz="1800" spc="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90600" y="3105150"/>
          <a:ext cx="3505835" cy="2383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91440" marR="6108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Closed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Open</a:t>
                      </a: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{S}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{B:2,C:4,A:5}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{C:4,A:5,G:8}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{A:5,F:6,G:8}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2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not </a:t>
                      </a:r>
                      <a:r>
                        <a:rPr sz="1800" spc="-2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goal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625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{F:6,G:8,</a:t>
                      </a:r>
                      <a:r>
                        <a:rPr sz="1800" spc="-1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E:5+4, D:5+9</a:t>
                      </a: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261" y="2502661"/>
            <a:ext cx="3911599" cy="4140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95566" y="2545842"/>
            <a:ext cx="470534" cy="53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1889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7325" y="6139412"/>
            <a:ext cx="20955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spc="-5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40" y="6448009"/>
            <a:ext cx="2413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62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725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9726" y="4972050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7325" y="4972050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3600" y="4972050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5106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3185" y="4355624"/>
            <a:ext cx="455295" cy="9975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25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  <a:p>
            <a:pPr marL="128270">
              <a:lnSpc>
                <a:spcPts val="2100"/>
              </a:lnSpc>
              <a:spcBef>
                <a:spcPts val="810"/>
              </a:spcBef>
            </a:pPr>
            <a:r>
              <a:rPr sz="2000" b="1" spc="-50" dirty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60"/>
              </a:lnSpc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8359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F89405C-679C-7BF1-28BB-28AF9AED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Uniform-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Cost</a:t>
            </a:r>
            <a:r>
              <a:rPr lang="en-US" sz="36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lang="en-US" sz="36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(UCS)</a:t>
            </a: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5809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2860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28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7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522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9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86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5028" y="5591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444" y="2310486"/>
            <a:ext cx="5665470" cy="7099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generalSearch(problem,</a:t>
            </a:r>
            <a:r>
              <a:rPr sz="2000" b="1" spc="-120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5050"/>
                </a:solidFill>
                <a:latin typeface="Courier New"/>
                <a:cs typeface="Courier New"/>
              </a:rPr>
              <a:t>priorityQueue</a:t>
            </a:r>
            <a:r>
              <a:rPr sz="2000" b="1" spc="-10" dirty="0">
                <a:solidFill>
                  <a:srgbClr val="CC330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#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nodes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tested: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expanded:</a:t>
            </a:r>
            <a:r>
              <a:rPr sz="1800" spc="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28650" y="3336925"/>
          <a:ext cx="4115435" cy="2430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Closed</a:t>
                      </a:r>
                      <a:r>
                        <a:rPr sz="1800" b="1" spc="-4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Open</a:t>
                      </a:r>
                      <a:r>
                        <a:rPr sz="1800" b="1" spc="-3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{S}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{B:2,C:4,A:5}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{C:4,A:5,G:8}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{A:5,F:6,G:8}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{F:6,G:8,E:9,D:14}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r>
                        <a:rPr sz="1800" spc="-2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not</a:t>
                      </a:r>
                      <a:r>
                        <a:rPr sz="1800" spc="-1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goal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20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</a:t>
                      </a:r>
                      <a:r>
                        <a:rPr sz="1800" spc="-1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G:4+2+1,</a:t>
                      </a: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G:8,E:9,D:1 </a:t>
                      </a:r>
                      <a:r>
                        <a:rPr sz="18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4}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261" y="2502661"/>
            <a:ext cx="3911599" cy="4140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95566" y="2545842"/>
            <a:ext cx="470534" cy="53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1889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7325" y="6139412"/>
            <a:ext cx="20955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spc="-5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40" y="6448009"/>
            <a:ext cx="2413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63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725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9726" y="4972050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7325" y="4972050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3600" y="4972050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5106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3185" y="4355624"/>
            <a:ext cx="455295" cy="9975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25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  <a:p>
            <a:pPr marL="128270">
              <a:lnSpc>
                <a:spcPts val="2100"/>
              </a:lnSpc>
              <a:spcBef>
                <a:spcPts val="810"/>
              </a:spcBef>
            </a:pPr>
            <a:r>
              <a:rPr sz="2000" b="1" spc="-50" dirty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60"/>
              </a:lnSpc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8359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03B7ECF4-EC9F-813A-90E1-F1F99FA8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Uniform-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Cost</a:t>
            </a:r>
            <a:r>
              <a:rPr lang="en-US" sz="36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lang="en-US" sz="36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(UCS)</a:t>
            </a: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1828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428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7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522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9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286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5809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860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5028" y="5591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444" y="2310486"/>
            <a:ext cx="5665470" cy="7099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generalSearch(problem,</a:t>
            </a:r>
            <a:r>
              <a:rPr sz="2000" b="1" spc="-120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5050"/>
                </a:solidFill>
                <a:latin typeface="Courier New"/>
                <a:cs typeface="Courier New"/>
              </a:rPr>
              <a:t>priorityQueue</a:t>
            </a:r>
            <a:r>
              <a:rPr sz="2000" b="1" spc="-10" dirty="0">
                <a:solidFill>
                  <a:srgbClr val="CC330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#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nodes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tested: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expanded:</a:t>
            </a:r>
            <a:r>
              <a:rPr sz="1800" spc="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90600" y="3105150"/>
          <a:ext cx="3505835" cy="302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91440" marR="6108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Closed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Open</a:t>
                      </a: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{S}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{B:2,C:4,A:5}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{C:4,A:5,G:8}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{A:5,F:6,G:8}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{F:6,G:8,E:9,D:14}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{G:7,G:8,E:9,D:14}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5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r>
                        <a:rPr sz="1800" spc="-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goal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{G:8,E:9,D:14}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r>
                        <a:rPr sz="1800" spc="-15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FF7B80"/>
                          </a:solidFill>
                          <a:latin typeface="Arial MT"/>
                          <a:cs typeface="Arial MT"/>
                        </a:rPr>
                        <a:t>expand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261" y="2502661"/>
            <a:ext cx="3911599" cy="4140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95566" y="2545842"/>
            <a:ext cx="470534" cy="53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1889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7325" y="6139412"/>
            <a:ext cx="20955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b="1" spc="-5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40" y="6448009"/>
            <a:ext cx="2413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64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725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9726" y="4972050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7325" y="4972050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3600" y="4972050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5106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3185" y="4355624"/>
            <a:ext cx="455295" cy="9975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25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  <a:p>
            <a:pPr marL="128270">
              <a:lnSpc>
                <a:spcPts val="2100"/>
              </a:lnSpc>
              <a:spcBef>
                <a:spcPts val="810"/>
              </a:spcBef>
            </a:pPr>
            <a:r>
              <a:rPr sz="2000" b="1" spc="-50" dirty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60"/>
              </a:lnSpc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8359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25B6C42B-118D-FE39-DAB6-AA68AB81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Uniform-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Cost</a:t>
            </a:r>
            <a:r>
              <a:rPr lang="en-US" sz="36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lang="en-US" sz="36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600" b="0" spc="-10" dirty="0">
                <a:solidFill>
                  <a:srgbClr val="000000"/>
                </a:solidFill>
                <a:latin typeface="Calibri"/>
                <a:cs typeface="Calibri"/>
              </a:rPr>
              <a:t>(UCS)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1828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428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7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522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9428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28609" y="33044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5809" y="4447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28609" y="482879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5028" y="559104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444" y="2310486"/>
            <a:ext cx="5665470" cy="7099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dirty="0">
                <a:solidFill>
                  <a:srgbClr val="CC3300"/>
                </a:solidFill>
                <a:latin typeface="Courier New"/>
                <a:cs typeface="Courier New"/>
              </a:rPr>
              <a:t>generalSearch(problem,</a:t>
            </a:r>
            <a:r>
              <a:rPr sz="2000" b="1" spc="-114" dirty="0">
                <a:solidFill>
                  <a:srgbClr val="CC33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5050"/>
                </a:solidFill>
                <a:latin typeface="Courier New"/>
                <a:cs typeface="Courier New"/>
              </a:rPr>
              <a:t>priorityQueue</a:t>
            </a:r>
            <a:r>
              <a:rPr sz="2000" b="1" spc="-10" dirty="0">
                <a:solidFill>
                  <a:srgbClr val="CC3300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#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nodes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tested:</a:t>
            </a:r>
            <a:r>
              <a:rPr sz="1800" spc="-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expanded:</a:t>
            </a:r>
            <a:r>
              <a:rPr sz="1800" spc="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4672" y="45789"/>
            <a:ext cx="7395209" cy="1123050"/>
          </a:xfrm>
          <a:prstGeom prst="rect">
            <a:avLst/>
          </a:prstGeom>
        </p:spPr>
        <p:txBody>
          <a:bodyPr vert="horz" wrap="square" lIns="0" tIns="563549" rIns="0" bIns="0" rtlCol="0">
            <a:spAutoFit/>
          </a:bodyPr>
          <a:lstStyle/>
          <a:p>
            <a:pPr marL="2018664">
              <a:lnSpc>
                <a:spcPct val="100000"/>
              </a:lnSpc>
              <a:spcBef>
                <a:spcPts val="100"/>
              </a:spcBef>
            </a:pPr>
            <a:r>
              <a:rPr sz="3600" b="0" spc="-10" dirty="0">
                <a:solidFill>
                  <a:srgbClr val="000000"/>
                </a:solidFill>
                <a:latin typeface="Calibri"/>
                <a:cs typeface="Calibri"/>
              </a:rPr>
              <a:t>Uniform-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Cost</a:t>
            </a:r>
            <a:r>
              <a:rPr sz="36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libri"/>
                <a:cs typeface="Calibri"/>
              </a:rPr>
              <a:t>Search</a:t>
            </a:r>
            <a:r>
              <a:rPr sz="36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Calibri"/>
                <a:cs typeface="Calibri"/>
              </a:rPr>
              <a:t>(UCS)</a:t>
            </a:r>
            <a:endParaRPr sz="3600" dirty="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90600" y="3105150"/>
          <a:ext cx="3505835" cy="2773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marL="91440" marR="6108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Closed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Open</a:t>
                      </a:r>
                      <a:r>
                        <a:rPr sz="1800" b="1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Node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25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{S}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{B:2,C:4,A:5}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{C:4,A:5,G:8}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{A:5,F:6,G:8}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{F:6,G:8,E:9,D:14}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{G:7,G:8,E:9,D:14}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9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solidFill>
                            <a:srgbClr val="111111"/>
                          </a:solidFill>
                          <a:latin typeface="Arial MT"/>
                          <a:cs typeface="Arial MT"/>
                        </a:rPr>
                        <a:t>{G:8,E:9,D:14}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261" y="2502661"/>
            <a:ext cx="3911599" cy="4140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95566" y="2545842"/>
            <a:ext cx="470534" cy="535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1889"/>
              </a:lnSpc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0540" y="6448009"/>
            <a:ext cx="241300" cy="194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65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1725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9726" y="4972050"/>
            <a:ext cx="19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7325" y="4972050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83600" y="4972050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25106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03185" y="4355624"/>
            <a:ext cx="455295" cy="9975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825"/>
              </a:spcBef>
            </a:pPr>
            <a:r>
              <a:rPr sz="1800" b="1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  <a:p>
            <a:pPr marL="128270">
              <a:lnSpc>
                <a:spcPts val="2100"/>
              </a:lnSpc>
              <a:spcBef>
                <a:spcPts val="810"/>
              </a:spcBef>
            </a:pPr>
            <a:r>
              <a:rPr sz="2000" b="1" spc="-50" dirty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60"/>
              </a:lnSpc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8359" y="3828363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7325" y="6115303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0428" y="5869025"/>
            <a:ext cx="16071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487C"/>
                </a:solidFill>
                <a:latin typeface="Arial"/>
                <a:cs typeface="Arial"/>
              </a:rPr>
              <a:t>path:</a:t>
            </a:r>
            <a:r>
              <a:rPr sz="2000" b="1" spc="-2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000" b="1" spc="-40" dirty="0">
                <a:latin typeface="Arial"/>
                <a:cs typeface="Arial"/>
              </a:rPr>
              <a:t>S,C,F,G </a:t>
            </a:r>
            <a:r>
              <a:rPr sz="2000" b="1" dirty="0">
                <a:solidFill>
                  <a:srgbClr val="1F487C"/>
                </a:solidFill>
                <a:latin typeface="Arial"/>
                <a:cs typeface="Arial"/>
              </a:rPr>
              <a:t>cost:</a:t>
            </a:r>
            <a:r>
              <a:rPr sz="2000" b="1" spc="-2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7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741393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Properties</a:t>
            </a:r>
            <a:r>
              <a:rPr spc="-10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25" dirty="0"/>
              <a:t>Uniform-</a:t>
            </a:r>
            <a:r>
              <a:rPr dirty="0"/>
              <a:t>cost</a:t>
            </a:r>
            <a:r>
              <a:rPr spc="-40" dirty="0"/>
              <a:t> </a:t>
            </a:r>
            <a:r>
              <a:rPr dirty="0"/>
              <a:t>Search</a:t>
            </a:r>
            <a:r>
              <a:rPr spc="-85" dirty="0"/>
              <a:t> </a:t>
            </a:r>
            <a:r>
              <a:rPr spc="-10" dirty="0"/>
              <a:t>(UCS)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271" y="1095197"/>
            <a:ext cx="7715884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400" u="sng" spc="-1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Completeness</a:t>
            </a:r>
            <a:r>
              <a:rPr sz="2400" spc="-110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spc="-130" dirty="0">
                <a:solidFill>
                  <a:srgbClr val="000090"/>
                </a:solidFill>
                <a:latin typeface="Arial MT"/>
                <a:cs typeface="Arial MT"/>
              </a:rPr>
              <a:t>Yes</a:t>
            </a:r>
            <a:r>
              <a:rPr sz="2400" spc="-114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(if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b</a:t>
            </a:r>
            <a:r>
              <a:rPr sz="2400" i="1" spc="-1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finite,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4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step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cost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9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positive)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>
              <a:latin typeface="Arial MT"/>
              <a:cs typeface="Arial MT"/>
            </a:endParaRPr>
          </a:p>
          <a:p>
            <a:pPr marL="76200" marR="94615">
              <a:lnSpc>
                <a:spcPct val="100000"/>
              </a:lnSpc>
              <a:tabLst>
                <a:tab pos="2207260" algn="l"/>
                <a:tab pos="2755265" algn="l"/>
              </a:tabLst>
            </a:pPr>
            <a:r>
              <a:rPr sz="2400" u="sng" spc="-25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Time</a:t>
            </a:r>
            <a:r>
              <a:rPr sz="2400" u="sng" spc="-13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1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Complexity</a:t>
            </a:r>
            <a:r>
              <a:rPr sz="2400" dirty="0">
                <a:solidFill>
                  <a:srgbClr val="CC0099"/>
                </a:solidFill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much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larger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than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0090"/>
                </a:solidFill>
                <a:latin typeface="Arial"/>
                <a:cs typeface="Arial"/>
              </a:rPr>
              <a:t>b</a:t>
            </a:r>
            <a:r>
              <a:rPr sz="1950" b="1" baseline="21367" dirty="0">
                <a:solidFill>
                  <a:srgbClr val="000090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,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just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0090"/>
                </a:solidFill>
                <a:latin typeface="Arial"/>
                <a:cs typeface="Arial"/>
              </a:rPr>
              <a:t>b</a:t>
            </a:r>
            <a:r>
              <a:rPr sz="1950" b="1" baseline="21367" dirty="0">
                <a:solidFill>
                  <a:srgbClr val="000090"/>
                </a:solidFill>
                <a:latin typeface="Arial"/>
                <a:cs typeface="Arial"/>
              </a:rPr>
              <a:t>d</a:t>
            </a:r>
            <a:r>
              <a:rPr sz="1950" b="1" spc="-15" baseline="21367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all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steps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have</a:t>
            </a:r>
            <a:r>
              <a:rPr sz="2400" spc="-1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	same</a:t>
            </a:r>
            <a:r>
              <a:rPr sz="2400" spc="-10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cost.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400" u="sng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Space</a:t>
            </a:r>
            <a:r>
              <a:rPr sz="2400" u="sng" spc="-8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Complexity:</a:t>
            </a:r>
            <a:r>
              <a:rPr sz="2400" spc="-55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as</a:t>
            </a:r>
            <a:r>
              <a:rPr sz="2400" spc="-1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above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842" y="3918330"/>
            <a:ext cx="20059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Optimality:</a:t>
            </a:r>
            <a:r>
              <a:rPr sz="2400" spc="-170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Yes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842" y="4576853"/>
            <a:ext cx="7642225" cy="1683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1100"/>
              </a:lnSpc>
              <a:spcBef>
                <a:spcPts val="95"/>
              </a:spcBef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Requires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that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goal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test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being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applied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when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node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is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removed</a:t>
            </a:r>
            <a:r>
              <a:rPr sz="2400" spc="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from</a:t>
            </a:r>
            <a:r>
              <a:rPr sz="2400" spc="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50" dirty="0">
                <a:solidFill>
                  <a:srgbClr val="000090"/>
                </a:solidFill>
                <a:latin typeface="Arial MT"/>
                <a:cs typeface="Arial MT"/>
              </a:rPr>
              <a:t> 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nodes</a:t>
            </a:r>
            <a:r>
              <a:rPr sz="2400" spc="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list</a:t>
            </a:r>
            <a:r>
              <a:rPr sz="2400" spc="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rather</a:t>
            </a:r>
            <a:r>
              <a:rPr sz="2400" spc="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than</a:t>
            </a:r>
            <a:r>
              <a:rPr sz="2400" spc="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when</a:t>
            </a:r>
            <a:r>
              <a:rPr sz="2400" spc="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node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first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generated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while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its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parent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node</a:t>
            </a:r>
            <a:r>
              <a:rPr sz="2400" spc="5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expanded.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99861" y="4099305"/>
            <a:ext cx="3275329" cy="696595"/>
            <a:chOff x="5499861" y="4099305"/>
            <a:chExt cx="3275329" cy="696595"/>
          </a:xfrm>
        </p:grpSpPr>
        <p:sp>
          <p:nvSpPr>
            <p:cNvPr id="7" name="object 7"/>
            <p:cNvSpPr/>
            <p:nvPr/>
          </p:nvSpPr>
          <p:spPr>
            <a:xfrm>
              <a:off x="5506211" y="4111751"/>
              <a:ext cx="3262629" cy="670560"/>
            </a:xfrm>
            <a:custGeom>
              <a:avLst/>
              <a:gdLst/>
              <a:ahLst/>
              <a:cxnLst/>
              <a:rect l="l" t="t" r="r" b="b"/>
              <a:pathLst>
                <a:path w="3262629" h="670560">
                  <a:moveTo>
                    <a:pt x="3262376" y="0"/>
                  </a:moveTo>
                  <a:lnTo>
                    <a:pt x="0" y="0"/>
                  </a:lnTo>
                  <a:lnTo>
                    <a:pt x="0" y="670179"/>
                  </a:lnTo>
                  <a:lnTo>
                    <a:pt x="3262376" y="670179"/>
                  </a:lnTo>
                  <a:lnTo>
                    <a:pt x="3262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06211" y="4105655"/>
              <a:ext cx="3262629" cy="683895"/>
            </a:xfrm>
            <a:custGeom>
              <a:avLst/>
              <a:gdLst/>
              <a:ahLst/>
              <a:cxnLst/>
              <a:rect l="l" t="t" r="r" b="b"/>
              <a:pathLst>
                <a:path w="3262629" h="683895">
                  <a:moveTo>
                    <a:pt x="0" y="0"/>
                  </a:moveTo>
                  <a:lnTo>
                    <a:pt x="0" y="683895"/>
                  </a:lnTo>
                </a:path>
                <a:path w="3262629" h="683895">
                  <a:moveTo>
                    <a:pt x="3262376" y="0"/>
                  </a:moveTo>
                  <a:lnTo>
                    <a:pt x="3262376" y="6838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00116" y="4105643"/>
              <a:ext cx="3268979" cy="684530"/>
            </a:xfrm>
            <a:custGeom>
              <a:avLst/>
              <a:gdLst/>
              <a:ahLst/>
              <a:cxnLst/>
              <a:rect l="l" t="t" r="r" b="b"/>
              <a:pathLst>
                <a:path w="3268979" h="684529">
                  <a:moveTo>
                    <a:pt x="3268472" y="671207"/>
                  </a:moveTo>
                  <a:lnTo>
                    <a:pt x="0" y="671207"/>
                  </a:lnTo>
                  <a:lnTo>
                    <a:pt x="0" y="683907"/>
                  </a:lnTo>
                  <a:lnTo>
                    <a:pt x="3268472" y="683907"/>
                  </a:lnTo>
                  <a:lnTo>
                    <a:pt x="3268472" y="671207"/>
                  </a:lnTo>
                  <a:close/>
                </a:path>
                <a:path w="3268979" h="684529">
                  <a:moveTo>
                    <a:pt x="3268472" y="0"/>
                  </a:moveTo>
                  <a:lnTo>
                    <a:pt x="0" y="0"/>
                  </a:lnTo>
                  <a:lnTo>
                    <a:pt x="0" y="12712"/>
                  </a:lnTo>
                  <a:lnTo>
                    <a:pt x="3268472" y="12712"/>
                  </a:lnTo>
                  <a:lnTo>
                    <a:pt x="3268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53734" y="4046372"/>
            <a:ext cx="1257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37500"/>
              </a:lnSpc>
              <a:spcBef>
                <a:spcPts val="100"/>
              </a:spcBef>
            </a:pPr>
            <a:r>
              <a:rPr sz="1600" spc="-50" dirty="0">
                <a:solidFill>
                  <a:srgbClr val="E36C09"/>
                </a:solidFill>
                <a:latin typeface="Arial MT"/>
                <a:cs typeface="Arial MT"/>
              </a:rPr>
              <a:t>b 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46825" y="4046372"/>
            <a:ext cx="19564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37500"/>
              </a:lnSpc>
              <a:spcBef>
                <a:spcPts val="100"/>
              </a:spcBef>
            </a:pPr>
            <a:r>
              <a:rPr sz="1600" dirty="0">
                <a:solidFill>
                  <a:srgbClr val="E36C09"/>
                </a:solidFill>
                <a:latin typeface="Arial MT"/>
                <a:cs typeface="Arial MT"/>
              </a:rPr>
              <a:t>Branching</a:t>
            </a:r>
            <a:r>
              <a:rPr sz="1600" spc="-11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E36C09"/>
                </a:solidFill>
                <a:latin typeface="Arial MT"/>
                <a:cs typeface="Arial MT"/>
              </a:rPr>
              <a:t>Factor </a:t>
            </a:r>
            <a:r>
              <a:rPr sz="1600" dirty="0">
                <a:solidFill>
                  <a:srgbClr val="E36C09"/>
                </a:solidFill>
                <a:latin typeface="Arial MT"/>
                <a:cs typeface="Arial MT"/>
              </a:rPr>
              <a:t>Depth</a:t>
            </a:r>
            <a:r>
              <a:rPr sz="1600" spc="-6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36C09"/>
                </a:solidFill>
                <a:latin typeface="Arial MT"/>
                <a:cs typeface="Arial MT"/>
              </a:rPr>
              <a:t>of</a:t>
            </a:r>
            <a:r>
              <a:rPr sz="1600" spc="-3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36C09"/>
                </a:solidFill>
                <a:latin typeface="Arial MT"/>
                <a:cs typeface="Arial MT"/>
              </a:rPr>
              <a:t>the</a:t>
            </a:r>
            <a:r>
              <a:rPr sz="1600" spc="-7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E36C09"/>
                </a:solidFill>
                <a:latin typeface="Arial MT"/>
                <a:cs typeface="Arial MT"/>
              </a:rPr>
              <a:t>goal/tree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12497" y="2304605"/>
            <a:ext cx="2244090" cy="1796414"/>
            <a:chOff x="6012497" y="2304605"/>
            <a:chExt cx="2244090" cy="1796414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1135" y="2333243"/>
              <a:ext cx="2089938" cy="173005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26784" y="2318892"/>
              <a:ext cx="2215515" cy="1767839"/>
            </a:xfrm>
            <a:custGeom>
              <a:avLst/>
              <a:gdLst/>
              <a:ahLst/>
              <a:cxnLst/>
              <a:rect l="l" t="t" r="r" b="b"/>
              <a:pathLst>
                <a:path w="2215515" h="1767839">
                  <a:moveTo>
                    <a:pt x="0" y="1767458"/>
                  </a:moveTo>
                  <a:lnTo>
                    <a:pt x="2215515" y="1767458"/>
                  </a:lnTo>
                  <a:lnTo>
                    <a:pt x="2215515" y="0"/>
                  </a:lnTo>
                  <a:lnTo>
                    <a:pt x="0" y="0"/>
                  </a:lnTo>
                  <a:lnTo>
                    <a:pt x="0" y="176745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5" dirty="0"/>
              <a:t> </a:t>
            </a: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5" dirty="0"/>
              <a:t> </a:t>
            </a:r>
            <a:fld id="{81D60167-4931-47E6-BA6A-407CBD079E47}" type="slidenum">
              <a:rPr spc="-25" dirty="0"/>
              <a:t>67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52400"/>
            <a:ext cx="6858000" cy="839255"/>
          </a:xfrm>
          <a:prstGeom prst="rect">
            <a:avLst/>
          </a:prstGeom>
        </p:spPr>
        <p:txBody>
          <a:bodyPr vert="horz" wrap="square" lIns="0" tIns="282498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Breadth-</a:t>
            </a:r>
            <a:r>
              <a:rPr dirty="0"/>
              <a:t>First</a:t>
            </a:r>
            <a:r>
              <a:rPr spc="50" dirty="0"/>
              <a:t> </a:t>
            </a:r>
            <a:r>
              <a:rPr dirty="0"/>
              <a:t>vs.</a:t>
            </a:r>
            <a:r>
              <a:rPr spc="-65" dirty="0"/>
              <a:t> </a:t>
            </a:r>
            <a:r>
              <a:rPr spc="-25" dirty="0"/>
              <a:t>Uniform-</a:t>
            </a:r>
            <a:r>
              <a:rPr spc="-20" dirty="0"/>
              <a:t>Cost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258" y="1261948"/>
            <a:ext cx="7976234" cy="5088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</a:pP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Breadth-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first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search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(BFS)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special</a:t>
            </a:r>
            <a:r>
              <a:rPr sz="2400" spc="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case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uniform-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cost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ts val="2745"/>
              </a:lnSpc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search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when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all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edge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costs</a:t>
            </a:r>
            <a:r>
              <a:rPr sz="2400" spc="-10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positive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4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identical.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Breadth-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first</a:t>
            </a:r>
            <a:r>
              <a:rPr sz="2400" spc="-1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always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expands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shallowest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node</a:t>
            </a:r>
            <a:endParaRPr sz="24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101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Only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optimal</a:t>
            </a:r>
            <a:r>
              <a:rPr sz="20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all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step-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costs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20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equal</a:t>
            </a:r>
            <a:endParaRPr sz="20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885"/>
              </a:spcBef>
            </a:pP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Uniform-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cost</a:t>
            </a:r>
            <a:r>
              <a:rPr sz="2400" spc="-114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considers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10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overall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path</a:t>
            </a:r>
            <a:r>
              <a:rPr sz="2400" spc="-10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cost</a:t>
            </a:r>
            <a:endParaRPr sz="24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91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Optimal</a:t>
            </a:r>
            <a:r>
              <a:rPr sz="20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for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any</a:t>
            </a:r>
            <a:r>
              <a:rPr sz="20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(reasonable)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cost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function</a:t>
            </a:r>
            <a:endParaRPr sz="2000" dirty="0">
              <a:latin typeface="Arial MT"/>
              <a:cs typeface="Arial MT"/>
            </a:endParaRPr>
          </a:p>
          <a:p>
            <a:pPr marL="1155700" lvl="1" indent="-228600">
              <a:lnSpc>
                <a:spcPct val="100000"/>
              </a:lnSpc>
              <a:spcBef>
                <a:spcPts val="1005"/>
              </a:spcBef>
              <a:buChar char="•"/>
              <a:tabLst>
                <a:tab pos="1155700" algn="l"/>
              </a:tabLst>
            </a:pPr>
            <a:r>
              <a:rPr sz="1800" spc="-10" dirty="0">
                <a:solidFill>
                  <a:srgbClr val="000090"/>
                </a:solidFill>
                <a:latin typeface="Arial MT"/>
                <a:cs typeface="Arial MT"/>
              </a:rPr>
              <a:t>non-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zero,</a:t>
            </a:r>
            <a:r>
              <a:rPr sz="18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90"/>
                </a:solidFill>
                <a:latin typeface="Arial MT"/>
                <a:cs typeface="Arial MT"/>
              </a:rPr>
              <a:t>positive</a:t>
            </a:r>
            <a:endParaRPr sz="18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89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Gets</a:t>
            </a:r>
            <a:r>
              <a:rPr sz="20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stuck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down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000" spc="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trees</a:t>
            </a:r>
            <a:r>
              <a:rPr sz="20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with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many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fruitless,</a:t>
            </a:r>
            <a:r>
              <a:rPr sz="20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short</a:t>
            </a:r>
            <a:r>
              <a:rPr sz="2000" spc="-1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branches</a:t>
            </a:r>
            <a:endParaRPr sz="2000" dirty="0">
              <a:latin typeface="Arial MT"/>
              <a:cs typeface="Arial MT"/>
            </a:endParaRPr>
          </a:p>
          <a:p>
            <a:pPr marL="1155700" lvl="1" indent="-228600">
              <a:lnSpc>
                <a:spcPct val="100000"/>
              </a:lnSpc>
              <a:spcBef>
                <a:spcPts val="1000"/>
              </a:spcBef>
              <a:buChar char="•"/>
              <a:tabLst>
                <a:tab pos="1155700" algn="l"/>
              </a:tabLst>
            </a:pP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low</a:t>
            </a:r>
            <a:r>
              <a:rPr sz="18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path</a:t>
            </a:r>
            <a:r>
              <a:rPr sz="18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cost,</a:t>
            </a:r>
            <a:r>
              <a:rPr sz="18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but</a:t>
            </a:r>
            <a:r>
              <a:rPr sz="18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no</a:t>
            </a:r>
            <a:r>
              <a:rPr sz="18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90"/>
                </a:solidFill>
                <a:latin typeface="Arial MT"/>
                <a:cs typeface="Arial MT"/>
              </a:rPr>
              <a:t>goal</a:t>
            </a:r>
            <a:r>
              <a:rPr sz="18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0090"/>
                </a:solidFill>
                <a:latin typeface="Arial MT"/>
                <a:cs typeface="Arial MT"/>
              </a:rPr>
              <a:t>node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Both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complete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for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non-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extreme</a:t>
            </a:r>
            <a:r>
              <a:rPr sz="2400" spc="-9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problems</a:t>
            </a:r>
            <a:endParaRPr sz="24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90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Finite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number</a:t>
            </a:r>
            <a:r>
              <a:rPr sz="20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0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branches</a:t>
            </a:r>
            <a:endParaRPr sz="20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101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Strictly</a:t>
            </a:r>
            <a:r>
              <a:rPr sz="20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positive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search</a:t>
            </a:r>
            <a:r>
              <a:rPr sz="2000" spc="-10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function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68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1873" y="3162045"/>
            <a:ext cx="3617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3- </a:t>
            </a:r>
            <a:r>
              <a:rPr sz="2800" b="1" spc="-5" dirty="0">
                <a:latin typeface="Arial"/>
                <a:cs typeface="Arial"/>
              </a:rPr>
              <a:t>Depth-First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Search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3201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Depth-First</a:t>
            </a:r>
            <a:r>
              <a:rPr sz="2800" b="1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1980" y="1746504"/>
            <a:ext cx="3596640" cy="3997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3813" y="5358180"/>
            <a:ext cx="2313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  <a:tab pos="1078865" algn="l"/>
                <a:tab pos="1612900" algn="l"/>
                <a:tab pos="2146300" algn="l"/>
              </a:tabLst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L	M	N	O	P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69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3944873" y="5358180"/>
            <a:ext cx="226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Q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7238" y="4519929"/>
            <a:ext cx="2171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H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2892" y="4519929"/>
            <a:ext cx="132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I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4892" y="4519929"/>
            <a:ext cx="8121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2300" algn="l"/>
              </a:tabLst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J	K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3892" y="3605276"/>
            <a:ext cx="9086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7865" algn="l"/>
              </a:tabLst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F	G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63039" y="3605276"/>
            <a:ext cx="186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8613" y="3605276"/>
            <a:ext cx="221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5838" y="2766822"/>
            <a:ext cx="2000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B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58692" y="2766822"/>
            <a:ext cx="2032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C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292" y="1851736"/>
            <a:ext cx="2000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90356" y="717931"/>
            <a:ext cx="7670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660066"/>
                </a:solidFill>
                <a:latin typeface="Arial"/>
                <a:cs typeface="Arial"/>
              </a:rPr>
              <a:t>Based </a:t>
            </a:r>
            <a:r>
              <a:rPr sz="1100" spc="-10" dirty="0">
                <a:solidFill>
                  <a:srgbClr val="660066"/>
                </a:solidFill>
                <a:latin typeface="Arial"/>
                <a:cs typeface="Arial"/>
              </a:rPr>
              <a:t>on</a:t>
            </a:r>
            <a:r>
              <a:rPr sz="1100" spc="-2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60066"/>
                </a:solidFill>
                <a:latin typeface="Arial"/>
                <a:cs typeface="Arial"/>
              </a:rPr>
              <a:t>[4]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72" y="1019499"/>
            <a:ext cx="4178035" cy="55023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286629" y="1726446"/>
            <a:ext cx="4374263" cy="444095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It will start searching from root node S, and traverse A, then B, then D and E, after traversing E, it will backtrack the tree as E has no other successor and still goal node is not found.</a:t>
            </a:r>
          </a:p>
          <a:p>
            <a:endParaRPr lang="en-US" dirty="0">
              <a:solidFill>
                <a:schemeClr val="tx1"/>
              </a:solidFill>
              <a:latin typeface="+mn-lt"/>
            </a:endParaRP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 After backtracking it will traverse node C and then G, and here it will terminate as it found goal node.</a:t>
            </a:r>
          </a:p>
          <a:p>
            <a:br>
              <a:rPr lang="en-US" dirty="0"/>
            </a:br>
            <a:endParaRPr spc="-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5494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Properties of Depth-First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9798" y="1218692"/>
            <a:ext cx="8459470" cy="37818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Complete: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No: fails in infinite-depth spaces, spaces with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loops</a:t>
            </a:r>
            <a:endParaRPr sz="2400" dirty="0">
              <a:latin typeface="Arial"/>
              <a:cs typeface="Arial"/>
            </a:endParaRPr>
          </a:p>
          <a:p>
            <a:pPr marL="1459865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60" dirty="0">
                <a:latin typeface="Arial"/>
                <a:cs typeface="Arial"/>
              </a:rPr>
              <a:t>Yes, </a:t>
            </a:r>
            <a:r>
              <a:rPr sz="2400" spc="-5" dirty="0">
                <a:latin typeface="Arial"/>
                <a:cs typeface="Arial"/>
              </a:rPr>
              <a:t>complete in finite</a:t>
            </a:r>
            <a:r>
              <a:rPr sz="2400" spc="-4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spaces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</a:pPr>
            <a:r>
              <a:rPr sz="2400" spc="-4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Time:</a:t>
            </a:r>
            <a:r>
              <a:rPr sz="2400" spc="-4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O(b</a:t>
            </a:r>
            <a:r>
              <a:rPr sz="2400" i="1" spc="-7" baseline="20833" dirty="0">
                <a:latin typeface="Arial"/>
                <a:cs typeface="Arial"/>
              </a:rPr>
              <a:t>m</a:t>
            </a:r>
            <a:r>
              <a:rPr sz="2400" i="1" spc="-5" dirty="0">
                <a:latin typeface="Arial"/>
                <a:cs typeface="Arial"/>
              </a:rPr>
              <a:t>)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terrible if </a:t>
            </a:r>
            <a:r>
              <a:rPr sz="2400" i="1" dirty="0">
                <a:latin typeface="Arial"/>
                <a:cs typeface="Arial"/>
              </a:rPr>
              <a:t>m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much </a:t>
            </a:r>
            <a:r>
              <a:rPr sz="2400" spc="-5" dirty="0">
                <a:latin typeface="Arial"/>
                <a:cs typeface="Arial"/>
              </a:rPr>
              <a:t>larger than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endParaRPr sz="2400" dirty="0">
              <a:latin typeface="Arial"/>
              <a:cs typeface="Arial"/>
            </a:endParaRPr>
          </a:p>
          <a:p>
            <a:pPr marL="546100">
              <a:lnSpc>
                <a:spcPct val="100000"/>
              </a:lnSpc>
              <a:spcBef>
                <a:spcPts val="509"/>
              </a:spcBef>
              <a:tabLst>
                <a:tab pos="902335" algn="l"/>
              </a:tabLst>
            </a:pPr>
            <a:r>
              <a:rPr sz="2000" dirty="0">
                <a:latin typeface="Arial"/>
                <a:cs typeface="Arial"/>
              </a:rPr>
              <a:t>–	but if solutions are dense, may be much </a:t>
            </a:r>
            <a:r>
              <a:rPr sz="2000" spc="-5" dirty="0">
                <a:latin typeface="Arial"/>
                <a:cs typeface="Arial"/>
              </a:rPr>
              <a:t>faster </a:t>
            </a:r>
            <a:r>
              <a:rPr sz="2000" dirty="0">
                <a:latin typeface="Arial"/>
                <a:cs typeface="Arial"/>
              </a:rPr>
              <a:t>than</a:t>
            </a:r>
            <a:r>
              <a:rPr sz="2000" spc="-40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breadth-first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</a:pPr>
            <a:r>
              <a:rPr sz="24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Space:</a:t>
            </a:r>
            <a:r>
              <a:rPr sz="2400" spc="-4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O(bm)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</a:pPr>
            <a:r>
              <a:rPr sz="24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Optimal:</a:t>
            </a:r>
            <a:r>
              <a:rPr sz="2400" spc="-7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57800" y="3770637"/>
            <a:ext cx="2382520" cy="1918970"/>
            <a:chOff x="5000244" y="3368040"/>
            <a:chExt cx="2382520" cy="1918970"/>
          </a:xfrm>
        </p:grpSpPr>
        <p:sp>
          <p:nvSpPr>
            <p:cNvPr id="6" name="object 6"/>
            <p:cNvSpPr/>
            <p:nvPr/>
          </p:nvSpPr>
          <p:spPr>
            <a:xfrm>
              <a:off x="5029200" y="3396996"/>
              <a:ext cx="2324100" cy="18608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14722" y="3382518"/>
              <a:ext cx="2353310" cy="1889760"/>
            </a:xfrm>
            <a:custGeom>
              <a:avLst/>
              <a:gdLst/>
              <a:ahLst/>
              <a:cxnLst/>
              <a:rect l="l" t="t" r="r" b="b"/>
              <a:pathLst>
                <a:path w="2353309" h="1889760">
                  <a:moveTo>
                    <a:pt x="0" y="1889760"/>
                  </a:moveTo>
                  <a:lnTo>
                    <a:pt x="2353055" y="1889760"/>
                  </a:lnTo>
                  <a:lnTo>
                    <a:pt x="2353055" y="0"/>
                  </a:lnTo>
                  <a:lnTo>
                    <a:pt x="0" y="0"/>
                  </a:lnTo>
                  <a:lnTo>
                    <a:pt x="0" y="188976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70</a:t>
            </a:fld>
            <a:endParaRPr spc="-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2819400"/>
            <a:ext cx="5791200" cy="430887"/>
          </a:xfrm>
        </p:spPr>
        <p:txBody>
          <a:bodyPr/>
          <a:lstStyle/>
          <a:p>
            <a:r>
              <a:rPr lang="en-US" sz="2800" b="1" dirty="0">
                <a:solidFill>
                  <a:schemeClr val="tx2"/>
                </a:solidFill>
              </a:rPr>
              <a:t>4- </a:t>
            </a:r>
            <a:r>
              <a:rPr lang="en-US" sz="2800" b="1" spc="-5" dirty="0">
                <a:solidFill>
                  <a:schemeClr val="tx2"/>
                </a:solidFill>
              </a:rPr>
              <a:t>Depth-Limited</a:t>
            </a:r>
            <a:r>
              <a:rPr lang="en-US" sz="2800" b="1" spc="-75" dirty="0">
                <a:solidFill>
                  <a:schemeClr val="tx2"/>
                </a:solidFill>
              </a:rPr>
              <a:t> </a:t>
            </a:r>
            <a:r>
              <a:rPr lang="en-US" sz="2800" b="1" spc="-5" dirty="0">
                <a:solidFill>
                  <a:schemeClr val="tx2"/>
                </a:solidFill>
              </a:rPr>
              <a:t>Search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5971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1"/>
            <a:ext cx="6934200" cy="8382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4- </a:t>
            </a:r>
            <a:r>
              <a:rPr lang="en-US" b="1" spc="-5" dirty="0">
                <a:solidFill>
                  <a:schemeClr val="tx2"/>
                </a:solidFill>
              </a:rPr>
              <a:t>Depth-Limited</a:t>
            </a:r>
            <a:r>
              <a:rPr lang="en-US" b="1" spc="-75" dirty="0">
                <a:solidFill>
                  <a:schemeClr val="tx2"/>
                </a:solidFill>
              </a:rPr>
              <a:t> </a:t>
            </a:r>
            <a:r>
              <a:rPr lang="en-US" b="1" spc="-5" dirty="0">
                <a:solidFill>
                  <a:schemeClr val="tx2"/>
                </a:solidFill>
              </a:rPr>
              <a:t>Search</a:t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2115" y="1296416"/>
            <a:ext cx="8319769" cy="480131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A depth-limited search algorithm is similar to depth-first search with </a:t>
            </a:r>
            <a:r>
              <a:rPr lang="en-US" dirty="0">
                <a:solidFill>
                  <a:schemeClr val="tx2"/>
                </a:solidFill>
              </a:rPr>
              <a:t>a predetermined limit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Depth-limited search can solve the drawback of the </a:t>
            </a:r>
            <a:r>
              <a:rPr lang="en-US" dirty="0">
                <a:solidFill>
                  <a:schemeClr val="tx2"/>
                </a:solidFill>
              </a:rPr>
              <a:t>infinite path</a:t>
            </a:r>
            <a:r>
              <a:rPr lang="en-US" dirty="0">
                <a:solidFill>
                  <a:schemeClr val="tx1"/>
                </a:solidFill>
              </a:rPr>
              <a:t> in the Depth-first search.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In this algorithm, the node at the depth limit will treat as it has </a:t>
            </a:r>
            <a:r>
              <a:rPr lang="en-US" dirty="0">
                <a:solidFill>
                  <a:schemeClr val="tx2"/>
                </a:solidFill>
              </a:rPr>
              <a:t>no successor nodes further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Depth-limited search can be terminated with two Conditions of failure: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Standard failure value: </a:t>
            </a:r>
            <a:r>
              <a:rPr lang="en-US" dirty="0">
                <a:solidFill>
                  <a:schemeClr val="tx1"/>
                </a:solidFill>
              </a:rPr>
              <a:t>It indicates that problem does not have any solution.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Cutoff failure value: </a:t>
            </a:r>
            <a:r>
              <a:rPr lang="en-US" dirty="0">
                <a:solidFill>
                  <a:schemeClr val="tx1"/>
                </a:solidFill>
              </a:rPr>
              <a:t>It defines no solution for the problem within a given depth limit.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3630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4990591" cy="57404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5638800" cy="459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802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1205" y="219583"/>
            <a:ext cx="2713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4-</a:t>
            </a:r>
            <a:r>
              <a:rPr sz="2800" b="1" spc="-8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Example</a:t>
            </a:r>
            <a:r>
              <a:rPr sz="2800" b="1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660066"/>
                </a:solidFill>
                <a:latin typeface="Arial"/>
                <a:cs typeface="Arial"/>
              </a:rPr>
              <a:t>DLS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91027" y="120396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89910" y="1230833"/>
            <a:ext cx="2901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A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5751" y="2468879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31619" y="2496439"/>
            <a:ext cx="274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B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75003" y="5125211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30"/>
                </a:lnTo>
                <a:lnTo>
                  <a:pt x="673549" y="434057"/>
                </a:lnTo>
                <a:lnTo>
                  <a:pt x="658850" y="476373"/>
                </a:lnTo>
                <a:lnTo>
                  <a:pt x="638979" y="515969"/>
                </a:lnTo>
                <a:lnTo>
                  <a:pt x="614345" y="552437"/>
                </a:lnTo>
                <a:lnTo>
                  <a:pt x="585358" y="585368"/>
                </a:lnTo>
                <a:lnTo>
                  <a:pt x="552426" y="614353"/>
                </a:lnTo>
                <a:lnTo>
                  <a:pt x="515958" y="638984"/>
                </a:lnTo>
                <a:lnTo>
                  <a:pt x="476363" y="658853"/>
                </a:lnTo>
                <a:lnTo>
                  <a:pt x="434048" y="673551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51"/>
                </a:lnTo>
                <a:lnTo>
                  <a:pt x="209436" y="658853"/>
                </a:lnTo>
                <a:lnTo>
                  <a:pt x="169841" y="638984"/>
                </a:lnTo>
                <a:lnTo>
                  <a:pt x="133373" y="614353"/>
                </a:lnTo>
                <a:lnTo>
                  <a:pt x="100441" y="585368"/>
                </a:lnTo>
                <a:lnTo>
                  <a:pt x="71454" y="552437"/>
                </a:lnTo>
                <a:lnTo>
                  <a:pt x="46820" y="515969"/>
                </a:lnTo>
                <a:lnTo>
                  <a:pt x="26949" y="476373"/>
                </a:lnTo>
                <a:lnTo>
                  <a:pt x="12250" y="434057"/>
                </a:lnTo>
                <a:lnTo>
                  <a:pt x="3130" y="389430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62202" y="5152745"/>
            <a:ext cx="310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H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53611" y="2468879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62527" y="2496439"/>
            <a:ext cx="269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75003" y="3788664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94205" y="3816172"/>
            <a:ext cx="2489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05984" y="3788664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92292" y="3816172"/>
            <a:ext cx="3143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G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05984" y="2468879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395340" y="2496439"/>
            <a:ext cx="306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91027" y="3820667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899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899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799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899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117342" y="3848861"/>
            <a:ext cx="235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F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17903" y="1546860"/>
            <a:ext cx="4030979" cy="3578225"/>
          </a:xfrm>
          <a:custGeom>
            <a:avLst/>
            <a:gdLst/>
            <a:ahLst/>
            <a:cxnLst/>
            <a:rect l="l" t="t" r="r" b="b"/>
            <a:pathLst>
              <a:path w="4030979" h="3578225">
                <a:moveTo>
                  <a:pt x="1473962" y="242315"/>
                </a:moveTo>
                <a:lnTo>
                  <a:pt x="893064" y="1022223"/>
                </a:lnTo>
              </a:path>
              <a:path w="4030979" h="3578225">
                <a:moveTo>
                  <a:pt x="496823" y="1591055"/>
                </a:moveTo>
                <a:lnTo>
                  <a:pt x="158496" y="2273172"/>
                </a:lnTo>
              </a:path>
              <a:path w="4030979" h="3578225">
                <a:moveTo>
                  <a:pt x="0" y="2927604"/>
                </a:moveTo>
                <a:lnTo>
                  <a:pt x="0" y="3577716"/>
                </a:lnTo>
              </a:path>
              <a:path w="4030979" h="3578225">
                <a:moveTo>
                  <a:pt x="893064" y="1507236"/>
                </a:moveTo>
                <a:lnTo>
                  <a:pt x="1605915" y="2273808"/>
                </a:lnTo>
              </a:path>
              <a:path w="4030979" h="3578225">
                <a:moveTo>
                  <a:pt x="993647" y="1264919"/>
                </a:moveTo>
                <a:lnTo>
                  <a:pt x="2235327" y="1264919"/>
                </a:lnTo>
              </a:path>
              <a:path w="4030979" h="3578225">
                <a:moveTo>
                  <a:pt x="1959864" y="242315"/>
                </a:moveTo>
                <a:lnTo>
                  <a:pt x="2579116" y="921892"/>
                </a:lnTo>
              </a:path>
              <a:path w="4030979" h="3578225">
                <a:moveTo>
                  <a:pt x="2058924" y="0"/>
                </a:moveTo>
                <a:lnTo>
                  <a:pt x="3787648" y="1022476"/>
                </a:lnTo>
              </a:path>
              <a:path w="4030979" h="3578225">
                <a:moveTo>
                  <a:pt x="4030980" y="1607819"/>
                </a:moveTo>
                <a:lnTo>
                  <a:pt x="4030980" y="2241804"/>
                </a:lnTo>
              </a:path>
              <a:path w="4030979" h="3578225">
                <a:moveTo>
                  <a:pt x="2579116" y="1607819"/>
                </a:moveTo>
                <a:lnTo>
                  <a:pt x="1959864" y="2374391"/>
                </a:lnTo>
              </a:path>
            </a:pathLst>
          </a:custGeom>
          <a:ln w="571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75628" y="653185"/>
            <a:ext cx="1608455" cy="119570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Depth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2</a:t>
            </a:r>
            <a:endParaRPr sz="28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1075"/>
              </a:spcBef>
            </a:pP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ABCFEDG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5" dirty="0"/>
              <a:t> </a:t>
            </a:r>
            <a:fld id="{81D60167-4931-47E6-BA6A-407CBD079E47}" type="slidenum">
              <a:rPr spc="-25" dirty="0"/>
              <a:t>74</a:t>
            </a:fld>
            <a:endParaRPr spc="-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6" y="211073"/>
            <a:ext cx="5503063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4-</a:t>
            </a:r>
            <a:r>
              <a:rPr spc="-40" dirty="0"/>
              <a:t> </a:t>
            </a:r>
            <a:r>
              <a:rPr spc="-25" dirty="0"/>
              <a:t>Depth-</a:t>
            </a:r>
            <a:r>
              <a:rPr dirty="0"/>
              <a:t>Limited</a:t>
            </a:r>
            <a:r>
              <a:rPr spc="-70" dirty="0"/>
              <a:t> </a:t>
            </a:r>
            <a:r>
              <a:rPr spc="-10" dirty="0"/>
              <a:t>Search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76600" y="6085319"/>
            <a:ext cx="2252345" cy="743585"/>
            <a:chOff x="3276600" y="6085319"/>
            <a:chExt cx="2252345" cy="743585"/>
          </a:xfrm>
        </p:grpSpPr>
        <p:sp>
          <p:nvSpPr>
            <p:cNvPr id="4" name="object 4"/>
            <p:cNvSpPr/>
            <p:nvPr/>
          </p:nvSpPr>
          <p:spPr>
            <a:xfrm>
              <a:off x="3288791" y="6097523"/>
              <a:ext cx="2240280" cy="731520"/>
            </a:xfrm>
            <a:custGeom>
              <a:avLst/>
              <a:gdLst/>
              <a:ahLst/>
              <a:cxnLst/>
              <a:rect l="l" t="t" r="r" b="b"/>
              <a:pathLst>
                <a:path w="2240279" h="731520">
                  <a:moveTo>
                    <a:pt x="2240026" y="0"/>
                  </a:moveTo>
                  <a:lnTo>
                    <a:pt x="0" y="0"/>
                  </a:lnTo>
                  <a:lnTo>
                    <a:pt x="0" y="731100"/>
                  </a:lnTo>
                  <a:lnTo>
                    <a:pt x="2240026" y="731100"/>
                  </a:lnTo>
                  <a:lnTo>
                    <a:pt x="224002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76600" y="6085331"/>
              <a:ext cx="2252345" cy="743585"/>
            </a:xfrm>
            <a:custGeom>
              <a:avLst/>
              <a:gdLst/>
              <a:ahLst/>
              <a:cxnLst/>
              <a:rect l="l" t="t" r="r" b="b"/>
              <a:pathLst>
                <a:path w="2252345" h="743584">
                  <a:moveTo>
                    <a:pt x="6350" y="0"/>
                  </a:moveTo>
                  <a:lnTo>
                    <a:pt x="6350" y="743290"/>
                  </a:lnTo>
                </a:path>
                <a:path w="2252345" h="743584">
                  <a:moveTo>
                    <a:pt x="2245867" y="0"/>
                  </a:moveTo>
                  <a:lnTo>
                    <a:pt x="2245867" y="743290"/>
                  </a:lnTo>
                </a:path>
                <a:path w="2252345" h="743584">
                  <a:moveTo>
                    <a:pt x="0" y="6337"/>
                  </a:moveTo>
                  <a:lnTo>
                    <a:pt x="2252091" y="6337"/>
                  </a:lnTo>
                </a:path>
                <a:path w="2252345" h="743584">
                  <a:moveTo>
                    <a:pt x="0" y="736950"/>
                  </a:moveTo>
                  <a:lnTo>
                    <a:pt x="2252091" y="7369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74390" y="6028131"/>
            <a:ext cx="2043430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32800"/>
              </a:lnSpc>
              <a:spcBef>
                <a:spcPts val="100"/>
              </a:spcBef>
              <a:tabLst>
                <a:tab pos="406400" algn="l"/>
              </a:tabLst>
            </a:pPr>
            <a:r>
              <a:rPr sz="1800" spc="-50" dirty="0">
                <a:solidFill>
                  <a:srgbClr val="E36C09"/>
                </a:solidFill>
                <a:latin typeface="Arial MT"/>
                <a:cs typeface="Arial MT"/>
              </a:rPr>
              <a:t>b</a:t>
            </a:r>
            <a:r>
              <a:rPr sz="1800" dirty="0">
                <a:solidFill>
                  <a:srgbClr val="E36C09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solidFill>
                  <a:srgbClr val="E36C09"/>
                </a:solidFill>
                <a:latin typeface="Arial MT"/>
                <a:cs typeface="Arial MT"/>
              </a:rPr>
              <a:t>branching</a:t>
            </a:r>
            <a:r>
              <a:rPr sz="1800" spc="-6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E36C09"/>
                </a:solidFill>
                <a:latin typeface="Arial MT"/>
                <a:cs typeface="Arial MT"/>
              </a:rPr>
              <a:t>factor </a:t>
            </a:r>
            <a:r>
              <a:rPr sz="1800" spc="-50" dirty="0">
                <a:solidFill>
                  <a:srgbClr val="E36C09"/>
                </a:solidFill>
                <a:latin typeface="Arial MT"/>
                <a:cs typeface="Arial MT"/>
              </a:rPr>
              <a:t>l</a:t>
            </a:r>
            <a:r>
              <a:rPr sz="1800" dirty="0">
                <a:solidFill>
                  <a:srgbClr val="E36C09"/>
                </a:solidFill>
                <a:latin typeface="Arial MT"/>
                <a:cs typeface="Arial MT"/>
              </a:rPr>
              <a:t>	depth</a:t>
            </a:r>
            <a:r>
              <a:rPr sz="1800" spc="-6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E36C09"/>
                </a:solidFill>
                <a:latin typeface="Arial MT"/>
                <a:cs typeface="Arial MT"/>
              </a:rPr>
              <a:t>limit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7705" y="968492"/>
            <a:ext cx="8682990" cy="49536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465"/>
              </a:spcBef>
            </a:pP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Similar</a:t>
            </a:r>
            <a:r>
              <a:rPr sz="28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8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90"/>
                </a:solidFill>
                <a:latin typeface="Arial MT"/>
                <a:cs typeface="Arial MT"/>
              </a:rPr>
              <a:t>depth-</a:t>
            </a: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first,</a:t>
            </a:r>
            <a:r>
              <a:rPr sz="28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but</a:t>
            </a:r>
            <a:r>
              <a:rPr sz="28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with</a:t>
            </a:r>
            <a:r>
              <a:rPr sz="28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8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90"/>
                </a:solidFill>
                <a:latin typeface="Arial MT"/>
                <a:cs typeface="Arial MT"/>
              </a:rPr>
              <a:t>limit</a:t>
            </a:r>
            <a:endParaRPr sz="2800">
              <a:latin typeface="Arial MT"/>
              <a:cs typeface="Arial MT"/>
            </a:endParaRPr>
          </a:p>
          <a:p>
            <a:pPr marL="1122045" indent="-285115">
              <a:lnSpc>
                <a:spcPct val="100000"/>
              </a:lnSpc>
              <a:spcBef>
                <a:spcPts val="315"/>
              </a:spcBef>
              <a:buChar char="–"/>
              <a:tabLst>
                <a:tab pos="112204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i.e.,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nodes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at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l</a:t>
            </a:r>
            <a:r>
              <a:rPr sz="2400" i="1" spc="-3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have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no</a:t>
            </a:r>
            <a:r>
              <a:rPr sz="24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successors</a:t>
            </a:r>
            <a:endParaRPr sz="2400">
              <a:latin typeface="Arial MT"/>
              <a:cs typeface="Arial MT"/>
            </a:endParaRPr>
          </a:p>
          <a:p>
            <a:pPr marL="1122045" indent="-285115">
              <a:lnSpc>
                <a:spcPct val="100000"/>
              </a:lnSpc>
              <a:spcBef>
                <a:spcPts val="305"/>
              </a:spcBef>
              <a:buChar char="–"/>
              <a:tabLst>
                <a:tab pos="112204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Overcomes</a:t>
            </a:r>
            <a:r>
              <a:rPr sz="2400" spc="-1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problems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with</a:t>
            </a:r>
            <a:r>
              <a:rPr sz="24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infinite</a:t>
            </a:r>
            <a:r>
              <a:rPr sz="2400" spc="-114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paths</a:t>
            </a:r>
            <a:endParaRPr sz="2400">
              <a:latin typeface="Arial MT"/>
              <a:cs typeface="Arial MT"/>
            </a:endParaRPr>
          </a:p>
          <a:p>
            <a:pPr marL="1121410" marR="432434" indent="-285115">
              <a:lnSpc>
                <a:spcPts val="2600"/>
              </a:lnSpc>
              <a:spcBef>
                <a:spcPts val="630"/>
              </a:spcBef>
              <a:buChar char="–"/>
              <a:tabLst>
                <a:tab pos="112331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Sometimes</a:t>
            </a:r>
            <a:r>
              <a:rPr sz="2400" spc="-9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limit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can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be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inferred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or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estimated 	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from</a:t>
            </a:r>
            <a:r>
              <a:rPr sz="2400" spc="-1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problem</a:t>
            </a:r>
            <a:r>
              <a:rPr sz="24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description</a:t>
            </a:r>
            <a:endParaRPr sz="2400">
              <a:latin typeface="Arial MT"/>
              <a:cs typeface="Arial MT"/>
            </a:endParaRPr>
          </a:p>
          <a:p>
            <a:pPr marL="1522095" lvl="1" indent="-227965">
              <a:lnSpc>
                <a:spcPts val="2300"/>
              </a:lnSpc>
              <a:spcBef>
                <a:spcPts val="170"/>
              </a:spcBef>
              <a:buChar char="•"/>
              <a:tabLst>
                <a:tab pos="152209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other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cases,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good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limit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only</a:t>
            </a:r>
            <a:r>
              <a:rPr sz="20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known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when</a:t>
            </a:r>
            <a:r>
              <a:rPr sz="2000" spc="-1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1522730">
              <a:lnSpc>
                <a:spcPts val="2300"/>
              </a:lnSpc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problem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solved</a:t>
            </a:r>
            <a:endParaRPr sz="2000">
              <a:latin typeface="Arial MT"/>
              <a:cs typeface="Arial MT"/>
            </a:endParaRPr>
          </a:p>
          <a:p>
            <a:pPr marL="1122045" indent="-285115">
              <a:lnSpc>
                <a:spcPct val="100000"/>
              </a:lnSpc>
              <a:spcBef>
                <a:spcPts val="200"/>
              </a:spcBef>
              <a:buChar char="–"/>
              <a:tabLst>
                <a:tab pos="112204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must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keep</a:t>
            </a:r>
            <a:r>
              <a:rPr sz="24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track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endParaRPr sz="2400">
              <a:latin typeface="Arial M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1800"/>
              </a:spcBef>
              <a:buChar char="•"/>
              <a:tabLst>
                <a:tab pos="381000" algn="l"/>
              </a:tabLst>
            </a:pPr>
            <a:r>
              <a:rPr sz="2400" u="heavy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Complete?</a:t>
            </a:r>
            <a:r>
              <a:rPr sz="2400" spc="-80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36C09"/>
                </a:solidFill>
                <a:latin typeface="Arial MT"/>
                <a:cs typeface="Arial MT"/>
              </a:rPr>
              <a:t>no</a:t>
            </a:r>
            <a:r>
              <a:rPr sz="2400" spc="-6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36C09"/>
                </a:solidFill>
                <a:latin typeface="Arial MT"/>
                <a:cs typeface="Arial MT"/>
              </a:rPr>
              <a:t>(if</a:t>
            </a:r>
            <a:r>
              <a:rPr sz="2400" spc="-6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36C09"/>
                </a:solidFill>
                <a:latin typeface="Arial MT"/>
                <a:cs typeface="Arial MT"/>
              </a:rPr>
              <a:t>goal</a:t>
            </a:r>
            <a:r>
              <a:rPr sz="2400" spc="-5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36C09"/>
                </a:solidFill>
                <a:latin typeface="Arial MT"/>
                <a:cs typeface="Arial MT"/>
              </a:rPr>
              <a:t>beyond</a:t>
            </a:r>
            <a:r>
              <a:rPr sz="2400" spc="-3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36C09"/>
                </a:solidFill>
                <a:latin typeface="Arial MT"/>
                <a:cs typeface="Arial MT"/>
              </a:rPr>
              <a:t>l</a:t>
            </a:r>
            <a:r>
              <a:rPr sz="2400" spc="-4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36C09"/>
                </a:solidFill>
                <a:latin typeface="Arial MT"/>
                <a:cs typeface="Arial MT"/>
              </a:rPr>
              <a:t>(l&lt;d),</a:t>
            </a:r>
            <a:r>
              <a:rPr sz="2400" spc="-10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36C09"/>
                </a:solidFill>
                <a:latin typeface="Arial MT"/>
                <a:cs typeface="Arial MT"/>
              </a:rPr>
              <a:t>or</a:t>
            </a:r>
            <a:r>
              <a:rPr sz="2400" spc="-5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36C09"/>
                </a:solidFill>
                <a:latin typeface="Arial MT"/>
                <a:cs typeface="Arial MT"/>
              </a:rPr>
              <a:t>infinite</a:t>
            </a:r>
            <a:r>
              <a:rPr sz="2400" spc="-8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E36C09"/>
                </a:solidFill>
                <a:latin typeface="Arial MT"/>
                <a:cs typeface="Arial MT"/>
              </a:rPr>
              <a:t>branch</a:t>
            </a:r>
            <a:r>
              <a:rPr sz="2400" spc="-6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E36C09"/>
                </a:solidFill>
                <a:latin typeface="Arial MT"/>
                <a:cs typeface="Arial MT"/>
              </a:rPr>
              <a:t>length)</a:t>
            </a:r>
            <a:endParaRPr sz="2400">
              <a:latin typeface="Arial M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605"/>
              </a:spcBef>
              <a:buChar char="•"/>
              <a:tabLst>
                <a:tab pos="381000" algn="l"/>
              </a:tabLst>
            </a:pPr>
            <a:r>
              <a:rPr sz="2400" u="heavy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Time?</a:t>
            </a:r>
            <a:r>
              <a:rPr sz="2400" spc="-160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CC0099"/>
                </a:solidFill>
                <a:latin typeface="Arial MT"/>
                <a:cs typeface="Arial MT"/>
              </a:rPr>
              <a:t>O(</a:t>
            </a:r>
            <a:r>
              <a:rPr sz="2400" i="1" spc="-20" dirty="0">
                <a:solidFill>
                  <a:srgbClr val="403052"/>
                </a:solidFill>
                <a:latin typeface="Arial"/>
                <a:cs typeface="Arial"/>
              </a:rPr>
              <a:t>b</a:t>
            </a:r>
            <a:r>
              <a:rPr sz="2400" i="1" spc="-30" baseline="20833" dirty="0">
                <a:solidFill>
                  <a:srgbClr val="403052"/>
                </a:solidFill>
                <a:latin typeface="Arial"/>
                <a:cs typeface="Arial"/>
              </a:rPr>
              <a:t>l)</a:t>
            </a:r>
            <a:endParaRPr sz="2400" baseline="20833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490"/>
              </a:spcBef>
              <a:buChar char="•"/>
              <a:tabLst>
                <a:tab pos="381000" algn="l"/>
              </a:tabLst>
            </a:pPr>
            <a:r>
              <a:rPr sz="2400" u="heavy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Space?</a:t>
            </a:r>
            <a:r>
              <a:rPr sz="2400" spc="-130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CC0099"/>
                </a:solidFill>
                <a:latin typeface="Arial MT"/>
                <a:cs typeface="Arial MT"/>
              </a:rPr>
              <a:t>O(</a:t>
            </a:r>
            <a:r>
              <a:rPr sz="2400" i="1" spc="-10" dirty="0">
                <a:solidFill>
                  <a:srgbClr val="403052"/>
                </a:solidFill>
                <a:latin typeface="Arial"/>
                <a:cs typeface="Arial"/>
              </a:rPr>
              <a:t>bl)</a:t>
            </a:r>
            <a:endParaRPr sz="240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605"/>
              </a:spcBef>
              <a:buChar char="•"/>
              <a:tabLst>
                <a:tab pos="381000" algn="l"/>
              </a:tabLst>
            </a:pPr>
            <a:r>
              <a:rPr sz="2400" u="heavy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Optimal?</a:t>
            </a:r>
            <a:r>
              <a:rPr sz="2400" spc="-80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3052"/>
                </a:solidFill>
                <a:latin typeface="Arial MT"/>
                <a:cs typeface="Arial MT"/>
              </a:rPr>
              <a:t>No</a:t>
            </a:r>
            <a:r>
              <a:rPr sz="2400" spc="-1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3052"/>
                </a:solidFill>
                <a:latin typeface="Arial MT"/>
                <a:cs typeface="Arial MT"/>
              </a:rPr>
              <a:t>(if</a:t>
            </a:r>
            <a:r>
              <a:rPr sz="2400" spc="-2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3052"/>
                </a:solidFill>
                <a:latin typeface="Arial MT"/>
                <a:cs typeface="Arial MT"/>
              </a:rPr>
              <a:t>l</a:t>
            </a:r>
            <a:r>
              <a:rPr sz="2400" spc="-35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03052"/>
                </a:solidFill>
                <a:latin typeface="Arial MT"/>
                <a:cs typeface="Arial MT"/>
              </a:rPr>
              <a:t>&lt;</a:t>
            </a:r>
            <a:r>
              <a:rPr sz="2400" spc="-40" dirty="0">
                <a:solidFill>
                  <a:srgbClr val="403052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03052"/>
                </a:solidFill>
                <a:latin typeface="Arial MT"/>
                <a:cs typeface="Arial MT"/>
              </a:rPr>
              <a:t>d)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58573" y="4718684"/>
            <a:ext cx="2486660" cy="1904364"/>
            <a:chOff x="5858573" y="4718684"/>
            <a:chExt cx="2486660" cy="1904364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7211" y="4747259"/>
              <a:ext cx="2429256" cy="18470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872860" y="4732972"/>
              <a:ext cx="2458085" cy="1875789"/>
            </a:xfrm>
            <a:custGeom>
              <a:avLst/>
              <a:gdLst/>
              <a:ahLst/>
              <a:cxnLst/>
              <a:rect l="l" t="t" r="r" b="b"/>
              <a:pathLst>
                <a:path w="2458084" h="1875790">
                  <a:moveTo>
                    <a:pt x="0" y="1875663"/>
                  </a:moveTo>
                  <a:lnTo>
                    <a:pt x="2457831" y="1875663"/>
                  </a:lnTo>
                  <a:lnTo>
                    <a:pt x="2457831" y="0"/>
                  </a:lnTo>
                  <a:lnTo>
                    <a:pt x="0" y="0"/>
                  </a:lnTo>
                  <a:lnTo>
                    <a:pt x="0" y="1875663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76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743200"/>
            <a:ext cx="7000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5- </a:t>
            </a:r>
            <a:r>
              <a:rPr sz="2800" b="1" dirty="0">
                <a:solidFill>
                  <a:schemeClr val="tx2"/>
                </a:solidFill>
                <a:latin typeface="Arial"/>
                <a:cs typeface="Arial"/>
              </a:rPr>
              <a:t>Iterative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Deepening Depth-First</a:t>
            </a:r>
            <a:r>
              <a:rPr sz="2800" b="1" spc="1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55" y="416004"/>
            <a:ext cx="7377545" cy="1107996"/>
          </a:xfrm>
        </p:spPr>
        <p:txBody>
          <a:bodyPr/>
          <a:lstStyle/>
          <a:p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5- </a:t>
            </a:r>
            <a:r>
              <a:rPr lang="en-US" b="1" dirty="0">
                <a:solidFill>
                  <a:schemeClr val="tx2"/>
                </a:solidFill>
                <a:latin typeface="Arial"/>
                <a:cs typeface="Arial"/>
              </a:rPr>
              <a:t>Iterative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Deepening Depth-First</a:t>
            </a:r>
            <a:r>
              <a:rPr lang="en-US" b="1" spc="1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99655" y="1828800"/>
            <a:ext cx="7620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iterative deepening algorithm is a combination of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DFS and BFS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algorithms. 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This search algorithm finds out the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best depth limit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and does it by gradually increasing the limit until a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goal is found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This algorithm performs depth-first search up to a certain "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depth limit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", and it keeps increasing the depth limit after each iteration until the goal node is found.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This Search algorithm combines the benefits of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Breadth-first search's fast search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 and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depth-first search's memory efficiency.</a:t>
            </a:r>
          </a:p>
          <a:p>
            <a:endParaRPr lang="en-US" dirty="0">
              <a:solidFill>
                <a:schemeClr val="tx2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iterative search algorithm is useful uninformed search when search space is large, and depth of goal node is unknown.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8346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07996"/>
          </a:xfrm>
        </p:spPr>
        <p:txBody>
          <a:bodyPr/>
          <a:lstStyle/>
          <a:p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5- </a:t>
            </a:r>
            <a:r>
              <a:rPr lang="en-US" b="1" dirty="0">
                <a:solidFill>
                  <a:schemeClr val="tx2"/>
                </a:solidFill>
                <a:latin typeface="Arial"/>
                <a:cs typeface="Arial"/>
              </a:rPr>
              <a:t>Iterative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Deepening Depth-First</a:t>
            </a:r>
            <a:r>
              <a:rPr lang="en-US" b="1" spc="1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0" y="1814323"/>
            <a:ext cx="3505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1'st Iteration-----&gt; A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2'nd Iteration----&gt; A, B, C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3'rd Iteration------&gt;A, B, D, E, C, F, G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4'th Iteration------&gt;A, B, D, H, I, E, C, F, K, G</a:t>
            </a:r>
            <a:br>
              <a:rPr lang="en-US" dirty="0"/>
            </a:b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In the fourth iteration, the algorithm will find the goal node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91" y="1600200"/>
            <a:ext cx="476316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79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6" y="211073"/>
            <a:ext cx="7408063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Iterative</a:t>
            </a:r>
            <a:r>
              <a:rPr spc="-95" dirty="0"/>
              <a:t> </a:t>
            </a:r>
            <a:r>
              <a:rPr dirty="0"/>
              <a:t>Deepening</a:t>
            </a:r>
            <a:r>
              <a:rPr spc="-105" dirty="0"/>
              <a:t> </a:t>
            </a:r>
            <a:r>
              <a:rPr spc="-20" dirty="0"/>
              <a:t>Depth-</a:t>
            </a:r>
            <a:r>
              <a:rPr dirty="0"/>
              <a:t>First</a:t>
            </a:r>
            <a:r>
              <a:rPr spc="-100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27" y="1151784"/>
            <a:ext cx="8456930" cy="211645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Applies</a:t>
            </a:r>
            <a:r>
              <a:rPr sz="28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90"/>
                </a:solidFill>
                <a:latin typeface="Arial MT"/>
                <a:cs typeface="Arial MT"/>
              </a:rPr>
              <a:t>LIMITED-</a:t>
            </a: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r>
              <a:rPr sz="2800" spc="-9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with</a:t>
            </a:r>
            <a:r>
              <a:rPr sz="2800" spc="-9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increasing</a:t>
            </a:r>
            <a:r>
              <a:rPr sz="28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r>
              <a:rPr sz="28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90"/>
                </a:solidFill>
                <a:latin typeface="Arial MT"/>
                <a:cs typeface="Arial MT"/>
              </a:rPr>
              <a:t>limits</a:t>
            </a:r>
            <a:endParaRPr sz="2800">
              <a:latin typeface="Arial MT"/>
              <a:cs typeface="Arial MT"/>
            </a:endParaRPr>
          </a:p>
          <a:p>
            <a:pPr marL="756285" marR="5080" indent="-342900">
              <a:lnSpc>
                <a:spcPct val="100899"/>
              </a:lnSpc>
              <a:spcBef>
                <a:spcPts val="434"/>
              </a:spcBef>
              <a:buChar char="•"/>
              <a:tabLst>
                <a:tab pos="75628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Combines</a:t>
            </a:r>
            <a:r>
              <a:rPr sz="24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advantages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BREADTH-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FIRST</a:t>
            </a:r>
            <a:r>
              <a:rPr sz="2400" spc="-114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DEPTH- FIRST</a:t>
            </a:r>
            <a:endParaRPr sz="2400">
              <a:latin typeface="Arial MT"/>
              <a:cs typeface="Arial MT"/>
            </a:endParaRPr>
          </a:p>
          <a:p>
            <a:pPr marL="756285" marR="866775" indent="-342900">
              <a:lnSpc>
                <a:spcPct val="101299"/>
              </a:lnSpc>
              <a:spcBef>
                <a:spcPts val="490"/>
              </a:spcBef>
              <a:buChar char="•"/>
              <a:tabLst>
                <a:tab pos="756285" algn="l"/>
              </a:tabLst>
            </a:pP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It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searches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0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(root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only),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then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that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fails</a:t>
            </a:r>
            <a:r>
              <a:rPr sz="24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it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searches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4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r>
              <a:rPr sz="24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1,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then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r>
              <a:rPr sz="24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2,</a:t>
            </a:r>
            <a:r>
              <a:rPr sz="24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90"/>
                </a:solidFill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3645408"/>
            <a:ext cx="8001000" cy="2209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5" dirty="0"/>
              <a:t> </a:t>
            </a: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078" y="530478"/>
            <a:ext cx="6814217" cy="799885"/>
          </a:xfrm>
          <a:prstGeom prst="rect">
            <a:avLst/>
          </a:prstGeom>
        </p:spPr>
        <p:txBody>
          <a:bodyPr vert="horz" wrap="square" lIns="0" tIns="243509" rIns="0" bIns="0" rtlCol="0">
            <a:spAutoFit/>
          </a:bodyPr>
          <a:lstStyle/>
          <a:p>
            <a:pPr marL="986790">
              <a:lnSpc>
                <a:spcPct val="100000"/>
              </a:lnSpc>
              <a:spcBef>
                <a:spcPts val="95"/>
              </a:spcBef>
            </a:pPr>
            <a:r>
              <a:rPr dirty="0"/>
              <a:t>Iterative</a:t>
            </a:r>
            <a:r>
              <a:rPr spc="-85" dirty="0"/>
              <a:t> </a:t>
            </a:r>
            <a:r>
              <a:rPr dirty="0"/>
              <a:t>deepening</a:t>
            </a:r>
            <a:r>
              <a:rPr spc="-90" dirty="0"/>
              <a:t> </a:t>
            </a:r>
            <a:r>
              <a:rPr dirty="0"/>
              <a:t>search</a:t>
            </a:r>
            <a:r>
              <a:rPr spc="-110" dirty="0"/>
              <a:t> </a:t>
            </a:r>
            <a:r>
              <a:rPr dirty="0"/>
              <a:t>l</a:t>
            </a:r>
            <a:r>
              <a:rPr spc="-125" dirty="0"/>
              <a:t> </a:t>
            </a:r>
            <a:r>
              <a:rPr spc="-25" dirty="0"/>
              <a:t>=0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078" y="2133600"/>
            <a:ext cx="8637842" cy="61896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5" dirty="0"/>
              <a:t> </a:t>
            </a:r>
            <a:fld id="{81D60167-4931-47E6-BA6A-407CBD079E47}" type="slidenum">
              <a:rPr spc="-25" dirty="0"/>
              <a:t>80</a:t>
            </a:fld>
            <a:endParaRPr spc="-2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24" y="530478"/>
            <a:ext cx="6944271" cy="799885"/>
          </a:xfrm>
          <a:prstGeom prst="rect">
            <a:avLst/>
          </a:prstGeom>
        </p:spPr>
        <p:txBody>
          <a:bodyPr vert="horz" wrap="square" lIns="0" tIns="243509" rIns="0" bIns="0" rtlCol="0">
            <a:spAutoFit/>
          </a:bodyPr>
          <a:lstStyle/>
          <a:p>
            <a:pPr marL="986790">
              <a:lnSpc>
                <a:spcPct val="100000"/>
              </a:lnSpc>
              <a:spcBef>
                <a:spcPts val="95"/>
              </a:spcBef>
            </a:pPr>
            <a:r>
              <a:rPr dirty="0"/>
              <a:t>Iterative</a:t>
            </a:r>
            <a:r>
              <a:rPr spc="-85" dirty="0"/>
              <a:t> </a:t>
            </a:r>
            <a:r>
              <a:rPr dirty="0"/>
              <a:t>deepening</a:t>
            </a:r>
            <a:r>
              <a:rPr spc="-90" dirty="0"/>
              <a:t> </a:t>
            </a:r>
            <a:r>
              <a:rPr dirty="0"/>
              <a:t>search</a:t>
            </a:r>
            <a:r>
              <a:rPr spc="-110" dirty="0"/>
              <a:t> </a:t>
            </a:r>
            <a:r>
              <a:rPr dirty="0"/>
              <a:t>l</a:t>
            </a:r>
            <a:r>
              <a:rPr spc="-125" dirty="0"/>
              <a:t> </a:t>
            </a:r>
            <a:r>
              <a:rPr spc="-25" dirty="0"/>
              <a:t>=1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024" y="2362200"/>
            <a:ext cx="8916475" cy="6053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5" dirty="0"/>
              <a:t> </a:t>
            </a: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30478"/>
            <a:ext cx="7067295" cy="799885"/>
          </a:xfrm>
          <a:prstGeom prst="rect">
            <a:avLst/>
          </a:prstGeom>
        </p:spPr>
        <p:txBody>
          <a:bodyPr vert="horz" wrap="square" lIns="0" tIns="243509" rIns="0" bIns="0" rtlCol="0">
            <a:spAutoFit/>
          </a:bodyPr>
          <a:lstStyle/>
          <a:p>
            <a:pPr marL="986790">
              <a:lnSpc>
                <a:spcPct val="100000"/>
              </a:lnSpc>
              <a:spcBef>
                <a:spcPts val="95"/>
              </a:spcBef>
            </a:pPr>
            <a:r>
              <a:rPr dirty="0"/>
              <a:t>Iterative</a:t>
            </a:r>
            <a:r>
              <a:rPr spc="-85" dirty="0"/>
              <a:t> </a:t>
            </a:r>
            <a:r>
              <a:rPr dirty="0"/>
              <a:t>deepening</a:t>
            </a:r>
            <a:r>
              <a:rPr spc="-90" dirty="0"/>
              <a:t> </a:t>
            </a:r>
            <a:r>
              <a:rPr dirty="0"/>
              <a:t>search</a:t>
            </a:r>
            <a:r>
              <a:rPr spc="-110" dirty="0"/>
              <a:t> </a:t>
            </a:r>
            <a:r>
              <a:rPr dirty="0"/>
              <a:t>l</a:t>
            </a:r>
            <a:r>
              <a:rPr spc="-125" dirty="0"/>
              <a:t> </a:t>
            </a:r>
            <a:r>
              <a:rPr spc="-25" dirty="0"/>
              <a:t>=2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98" y="2060389"/>
            <a:ext cx="9039827" cy="213061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5" dirty="0"/>
              <a:t> </a:t>
            </a:r>
            <a:fld id="{81D60167-4931-47E6-BA6A-407CBD079E47}" type="slidenum">
              <a:rPr spc="-25" dirty="0"/>
              <a:t>82</a:t>
            </a:fld>
            <a:endParaRPr spc="-2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530478"/>
            <a:ext cx="6838695" cy="799885"/>
          </a:xfrm>
          <a:prstGeom prst="rect">
            <a:avLst/>
          </a:prstGeom>
        </p:spPr>
        <p:txBody>
          <a:bodyPr vert="horz" wrap="square" lIns="0" tIns="243509" rIns="0" bIns="0" rtlCol="0">
            <a:spAutoFit/>
          </a:bodyPr>
          <a:lstStyle/>
          <a:p>
            <a:pPr marL="986790">
              <a:lnSpc>
                <a:spcPct val="100000"/>
              </a:lnSpc>
              <a:spcBef>
                <a:spcPts val="95"/>
              </a:spcBef>
            </a:pPr>
            <a:r>
              <a:rPr dirty="0"/>
              <a:t>Iterative</a:t>
            </a:r>
            <a:r>
              <a:rPr spc="-85" dirty="0"/>
              <a:t> </a:t>
            </a:r>
            <a:r>
              <a:rPr dirty="0"/>
              <a:t>deepening</a:t>
            </a:r>
            <a:r>
              <a:rPr spc="-90" dirty="0"/>
              <a:t> </a:t>
            </a:r>
            <a:r>
              <a:rPr dirty="0"/>
              <a:t>search</a:t>
            </a:r>
            <a:r>
              <a:rPr spc="-110" dirty="0"/>
              <a:t> </a:t>
            </a:r>
            <a:r>
              <a:rPr dirty="0"/>
              <a:t>l</a:t>
            </a:r>
            <a:r>
              <a:rPr spc="-125" dirty="0"/>
              <a:t> </a:t>
            </a:r>
            <a:r>
              <a:rPr spc="-25" dirty="0"/>
              <a:t>=3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34" y="1600200"/>
            <a:ext cx="8973498" cy="4508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5" dirty="0"/>
              <a:t> </a:t>
            </a:r>
            <a:fld id="{81D60167-4931-47E6-BA6A-407CBD079E47}" type="slidenum">
              <a:rPr spc="-25" dirty="0"/>
              <a:t>83</a:t>
            </a:fld>
            <a:endParaRPr spc="-2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14300" y="381849"/>
            <a:ext cx="9372600" cy="799885"/>
          </a:xfrm>
          <a:prstGeom prst="rect">
            <a:avLst/>
          </a:prstGeom>
        </p:spPr>
        <p:txBody>
          <a:bodyPr vert="horz" wrap="square" lIns="0" tIns="243509" rIns="0" bIns="0" rtlCol="0">
            <a:spAutoFit/>
          </a:bodyPr>
          <a:lstStyle/>
          <a:p>
            <a:pPr marL="986790">
              <a:lnSpc>
                <a:spcPct val="100000"/>
              </a:lnSpc>
              <a:spcBef>
                <a:spcPts val="95"/>
              </a:spcBef>
            </a:pPr>
            <a:r>
              <a:rPr dirty="0"/>
              <a:t>Properties</a:t>
            </a:r>
            <a:r>
              <a:rPr spc="-14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Iterative</a:t>
            </a:r>
            <a:r>
              <a:rPr spc="-110" dirty="0"/>
              <a:t> </a:t>
            </a:r>
            <a:r>
              <a:rPr dirty="0"/>
              <a:t>Deepening</a:t>
            </a:r>
            <a:r>
              <a:rPr spc="-90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4757" y="2013330"/>
            <a:ext cx="6409055" cy="3034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400" u="heavy" spc="-10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Complete:</a:t>
            </a:r>
            <a:r>
              <a:rPr sz="2400" spc="-114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spc="-130" dirty="0">
                <a:solidFill>
                  <a:srgbClr val="000090"/>
                </a:solidFill>
                <a:latin typeface="Arial MT"/>
                <a:cs typeface="Arial MT"/>
              </a:rPr>
              <a:t>Yes</a:t>
            </a:r>
            <a:r>
              <a:rPr sz="2400" spc="-1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(if</a:t>
            </a:r>
            <a:r>
              <a:rPr sz="24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b</a:t>
            </a:r>
            <a:r>
              <a:rPr sz="24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4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finite)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4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2400" u="heavy" spc="-25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Time:</a:t>
            </a:r>
            <a:r>
              <a:rPr sz="2400" spc="-50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0090"/>
                </a:solidFill>
                <a:latin typeface="Arial"/>
                <a:cs typeface="Arial"/>
              </a:rPr>
              <a:t>(d+1)b</a:t>
            </a:r>
            <a:r>
              <a:rPr sz="2400" i="1" spc="-15" baseline="20833" dirty="0">
                <a:solidFill>
                  <a:srgbClr val="000090"/>
                </a:solidFill>
                <a:latin typeface="Arial"/>
                <a:cs typeface="Arial"/>
              </a:rPr>
              <a:t>0</a:t>
            </a:r>
            <a:r>
              <a:rPr sz="2400" i="1" spc="-75" baseline="20833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+</a:t>
            </a:r>
            <a:r>
              <a:rPr sz="2400" i="1" spc="-2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d</a:t>
            </a:r>
            <a:r>
              <a:rPr sz="2400" i="1" spc="-3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b</a:t>
            </a:r>
            <a:r>
              <a:rPr sz="2400" i="1" baseline="20833" dirty="0">
                <a:solidFill>
                  <a:srgbClr val="000090"/>
                </a:solidFill>
                <a:latin typeface="Arial"/>
                <a:cs typeface="Arial"/>
              </a:rPr>
              <a:t>1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+</a:t>
            </a:r>
            <a:r>
              <a:rPr sz="2400" i="1" spc="-20" dirty="0">
                <a:solidFill>
                  <a:srgbClr val="000090"/>
                </a:solidFill>
                <a:latin typeface="Arial"/>
                <a:cs typeface="Arial"/>
              </a:rPr>
              <a:t> (d-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1)b</a:t>
            </a:r>
            <a:r>
              <a:rPr sz="2400" i="1" baseline="20833" dirty="0">
                <a:solidFill>
                  <a:srgbClr val="000090"/>
                </a:solidFill>
                <a:latin typeface="Arial"/>
                <a:cs typeface="Arial"/>
              </a:rPr>
              <a:t>2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+</a:t>
            </a:r>
            <a:r>
              <a:rPr sz="2400" i="1" spc="-4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…</a:t>
            </a:r>
            <a:r>
              <a:rPr sz="2400" i="1" spc="-2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+</a:t>
            </a:r>
            <a:r>
              <a:rPr sz="2400" i="1" spc="-1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b</a:t>
            </a:r>
            <a:r>
              <a:rPr sz="2400" i="1" baseline="20833" dirty="0">
                <a:solidFill>
                  <a:srgbClr val="000090"/>
                </a:solidFill>
                <a:latin typeface="Arial"/>
                <a:cs typeface="Arial"/>
              </a:rPr>
              <a:t>d</a:t>
            </a:r>
            <a:r>
              <a:rPr sz="2400" i="1" spc="-30" baseline="20833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90"/>
                </a:solidFill>
                <a:latin typeface="Arial"/>
                <a:cs typeface="Arial"/>
              </a:rPr>
              <a:t>=</a:t>
            </a:r>
            <a:r>
              <a:rPr sz="2400" i="1" spc="29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0090"/>
                </a:solidFill>
                <a:latin typeface="Arial"/>
                <a:cs typeface="Arial"/>
              </a:rPr>
              <a:t>O(b</a:t>
            </a:r>
            <a:r>
              <a:rPr sz="2400" i="1" spc="-15" baseline="20833" dirty="0">
                <a:solidFill>
                  <a:srgbClr val="000090"/>
                </a:solidFill>
                <a:latin typeface="Arial"/>
                <a:cs typeface="Arial"/>
              </a:rPr>
              <a:t>d</a:t>
            </a:r>
            <a:r>
              <a:rPr sz="2400" i="1" spc="-10" dirty="0">
                <a:solidFill>
                  <a:srgbClr val="000090"/>
                </a:solidFill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24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2400" u="heavy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Space:</a:t>
            </a:r>
            <a:r>
              <a:rPr sz="2400" spc="-150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i="1" spc="-10" dirty="0">
                <a:solidFill>
                  <a:srgbClr val="000090"/>
                </a:solidFill>
                <a:latin typeface="Arial"/>
                <a:cs typeface="Arial"/>
              </a:rPr>
              <a:t>O(bd)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2400" u="heavy" dirty="0">
                <a:solidFill>
                  <a:srgbClr val="CC0099"/>
                </a:solidFill>
                <a:uFill>
                  <a:solidFill>
                    <a:srgbClr val="CC0099"/>
                  </a:solidFill>
                </a:uFill>
                <a:latin typeface="Arial MT"/>
                <a:cs typeface="Arial MT"/>
              </a:rPr>
              <a:t>Optimal:</a:t>
            </a:r>
            <a:r>
              <a:rPr sz="2400" spc="-120" dirty="0">
                <a:solidFill>
                  <a:srgbClr val="CC0099"/>
                </a:solidFill>
                <a:latin typeface="Arial MT"/>
                <a:cs typeface="Arial MT"/>
              </a:rPr>
              <a:t> </a:t>
            </a:r>
            <a:r>
              <a:rPr sz="2400" spc="-114" dirty="0">
                <a:solidFill>
                  <a:srgbClr val="000090"/>
                </a:solidFill>
                <a:latin typeface="Arial MT"/>
                <a:cs typeface="Arial MT"/>
              </a:rPr>
              <a:t>Yes,</a:t>
            </a:r>
            <a:r>
              <a:rPr sz="2400" spc="-1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if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step</a:t>
            </a:r>
            <a:r>
              <a:rPr sz="24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cost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90"/>
                </a:solidFill>
                <a:latin typeface="Arial MT"/>
                <a:cs typeface="Arial MT"/>
              </a:rPr>
              <a:t>=</a:t>
            </a:r>
            <a:r>
              <a:rPr sz="2400" spc="-9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0090"/>
                </a:solidFill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84704" y="5850635"/>
            <a:ext cx="2527300" cy="820419"/>
            <a:chOff x="2584704" y="5850635"/>
            <a:chExt cx="2527300" cy="820419"/>
          </a:xfrm>
        </p:grpSpPr>
        <p:sp>
          <p:nvSpPr>
            <p:cNvPr id="5" name="object 5"/>
            <p:cNvSpPr/>
            <p:nvPr/>
          </p:nvSpPr>
          <p:spPr>
            <a:xfrm>
              <a:off x="2590800" y="5879591"/>
              <a:ext cx="2514600" cy="791210"/>
            </a:xfrm>
            <a:custGeom>
              <a:avLst/>
              <a:gdLst/>
              <a:ahLst/>
              <a:cxnLst/>
              <a:rect l="l" t="t" r="r" b="b"/>
              <a:pathLst>
                <a:path w="2514600" h="791209">
                  <a:moveTo>
                    <a:pt x="2514600" y="0"/>
                  </a:moveTo>
                  <a:lnTo>
                    <a:pt x="0" y="0"/>
                  </a:lnTo>
                  <a:lnTo>
                    <a:pt x="0" y="790917"/>
                  </a:lnTo>
                  <a:lnTo>
                    <a:pt x="2514600" y="790917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4704" y="5850635"/>
              <a:ext cx="2527300" cy="805180"/>
            </a:xfrm>
            <a:custGeom>
              <a:avLst/>
              <a:gdLst/>
              <a:ahLst/>
              <a:cxnLst/>
              <a:rect l="l" t="t" r="r" b="b"/>
              <a:pathLst>
                <a:path w="2527300" h="805179">
                  <a:moveTo>
                    <a:pt x="6350" y="0"/>
                  </a:moveTo>
                  <a:lnTo>
                    <a:pt x="6350" y="804633"/>
                  </a:lnTo>
                </a:path>
                <a:path w="2527300" h="805179">
                  <a:moveTo>
                    <a:pt x="2520442" y="0"/>
                  </a:moveTo>
                  <a:lnTo>
                    <a:pt x="2520442" y="804633"/>
                  </a:lnTo>
                </a:path>
                <a:path w="2527300" h="805179">
                  <a:moveTo>
                    <a:pt x="0" y="6350"/>
                  </a:moveTo>
                  <a:lnTo>
                    <a:pt x="2526792" y="6350"/>
                  </a:lnTo>
                </a:path>
                <a:path w="2527300" h="805179">
                  <a:moveTo>
                    <a:pt x="0" y="798283"/>
                  </a:moveTo>
                  <a:lnTo>
                    <a:pt x="2526792" y="79828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3576" y="5774232"/>
            <a:ext cx="227901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3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2000" spc="-50" dirty="0">
                <a:solidFill>
                  <a:srgbClr val="E36C09"/>
                </a:solidFill>
                <a:latin typeface="Arial MT"/>
                <a:cs typeface="Arial MT"/>
              </a:rPr>
              <a:t>b</a:t>
            </a:r>
            <a:r>
              <a:rPr sz="2000" dirty="0">
                <a:solidFill>
                  <a:srgbClr val="E36C09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E36C09"/>
                </a:solidFill>
                <a:latin typeface="Arial MT"/>
                <a:cs typeface="Arial MT"/>
              </a:rPr>
              <a:t>branching</a:t>
            </a:r>
            <a:r>
              <a:rPr sz="2000" spc="-5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36C09"/>
                </a:solidFill>
                <a:latin typeface="Arial MT"/>
                <a:cs typeface="Arial MT"/>
              </a:rPr>
              <a:t>factor </a:t>
            </a:r>
            <a:r>
              <a:rPr sz="2000" spc="-50" dirty="0">
                <a:solidFill>
                  <a:srgbClr val="E36C09"/>
                </a:solidFill>
                <a:latin typeface="Arial MT"/>
                <a:cs typeface="Arial MT"/>
              </a:rPr>
              <a:t>d</a:t>
            </a:r>
            <a:r>
              <a:rPr sz="2000" dirty="0">
                <a:solidFill>
                  <a:srgbClr val="E36C09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E36C09"/>
                </a:solidFill>
                <a:latin typeface="Arial MT"/>
                <a:cs typeface="Arial MT"/>
              </a:rPr>
              <a:t>Tree/goal</a:t>
            </a:r>
            <a:r>
              <a:rPr sz="2000" spc="-9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36C09"/>
                </a:solidFill>
                <a:latin typeface="Arial MT"/>
                <a:cs typeface="Arial MT"/>
              </a:rPr>
              <a:t>depth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14961" y="3689921"/>
            <a:ext cx="2325370" cy="1895475"/>
            <a:chOff x="5914961" y="3689921"/>
            <a:chExt cx="2325370" cy="18954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9" y="3718560"/>
              <a:ext cx="2267711" cy="183794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29248" y="3704209"/>
              <a:ext cx="2296795" cy="1866900"/>
            </a:xfrm>
            <a:custGeom>
              <a:avLst/>
              <a:gdLst/>
              <a:ahLst/>
              <a:cxnLst/>
              <a:rect l="l" t="t" r="r" b="b"/>
              <a:pathLst>
                <a:path w="2296795" h="1866900">
                  <a:moveTo>
                    <a:pt x="0" y="1866518"/>
                  </a:moveTo>
                  <a:lnTo>
                    <a:pt x="2296287" y="1866518"/>
                  </a:lnTo>
                  <a:lnTo>
                    <a:pt x="2296287" y="0"/>
                  </a:lnTo>
                  <a:lnTo>
                    <a:pt x="0" y="0"/>
                  </a:lnTo>
                  <a:lnTo>
                    <a:pt x="0" y="186651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2819400"/>
            <a:ext cx="8319769" cy="861774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</a:rPr>
              <a:t>6- </a:t>
            </a:r>
            <a:r>
              <a:rPr lang="en-US" sz="3200" b="1" spc="-5" dirty="0">
                <a:solidFill>
                  <a:schemeClr val="tx2"/>
                </a:solidFill>
              </a:rPr>
              <a:t>Bi-directional</a:t>
            </a:r>
            <a:r>
              <a:rPr lang="en-US" sz="3200" b="1" spc="-60" dirty="0">
                <a:solidFill>
                  <a:schemeClr val="tx2"/>
                </a:solidFill>
              </a:rPr>
              <a:t> </a:t>
            </a:r>
            <a:r>
              <a:rPr lang="en-US" sz="3200" b="1" spc="-5" dirty="0">
                <a:solidFill>
                  <a:schemeClr val="tx2"/>
                </a:solidFill>
              </a:rPr>
              <a:t>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5590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107" y="6356603"/>
            <a:ext cx="354965" cy="360045"/>
          </a:xfrm>
          <a:custGeom>
            <a:avLst/>
            <a:gdLst/>
            <a:ahLst/>
            <a:cxnLst/>
            <a:rect l="l" t="t" r="r" b="b"/>
            <a:pathLst>
              <a:path w="354965" h="360045">
                <a:moveTo>
                  <a:pt x="0" y="359664"/>
                </a:moveTo>
                <a:lnTo>
                  <a:pt x="354622" y="359664"/>
                </a:lnTo>
              </a:path>
              <a:path w="354965" h="360045">
                <a:moveTo>
                  <a:pt x="1" y="359613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7009" y="282955"/>
            <a:ext cx="8133080" cy="55470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chemeClr val="tx2"/>
                </a:solidFill>
                <a:latin typeface="Arial"/>
                <a:cs typeface="Arial"/>
              </a:rPr>
              <a:t>6-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Bi-directional</a:t>
            </a:r>
            <a:r>
              <a:rPr sz="2800" b="1" spc="-6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  <a:endParaRPr lang="en-US" sz="2800" b="1" spc="-5" dirty="0">
              <a:solidFill>
                <a:schemeClr val="tx2"/>
              </a:solidFill>
              <a:latin typeface="Arial"/>
              <a:cs typeface="Arial"/>
            </a:endParaRPr>
          </a:p>
          <a:p>
            <a:pPr marL="71120">
              <a:lnSpc>
                <a:spcPct val="100000"/>
              </a:lnSpc>
              <a:spcBef>
                <a:spcPts val="95"/>
              </a:spcBef>
            </a:pP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  <a:p>
            <a:pPr algn="just"/>
            <a:r>
              <a:rPr lang="en-US" sz="2400" b="1" dirty="0"/>
              <a:t>Bidirectional search algorithm runs </a:t>
            </a:r>
            <a:r>
              <a:rPr lang="en-US" sz="2400" b="1" dirty="0">
                <a:solidFill>
                  <a:schemeClr val="tx2"/>
                </a:solidFill>
              </a:rPr>
              <a:t>two simultaneous searches</a:t>
            </a:r>
            <a:r>
              <a:rPr lang="en-US" sz="2400" b="1" dirty="0"/>
              <a:t>, one form </a:t>
            </a:r>
            <a:r>
              <a:rPr lang="en-US" sz="2400" b="1" dirty="0">
                <a:solidFill>
                  <a:schemeClr val="tx2"/>
                </a:solidFill>
              </a:rPr>
              <a:t>initial state called as forward-search </a:t>
            </a:r>
            <a:r>
              <a:rPr lang="en-US" sz="2400" b="1" dirty="0"/>
              <a:t>and other from </a:t>
            </a:r>
            <a:r>
              <a:rPr lang="en-US" sz="2400" b="1" dirty="0">
                <a:solidFill>
                  <a:schemeClr val="tx2"/>
                </a:solidFill>
              </a:rPr>
              <a:t>goal node called as backward-search</a:t>
            </a:r>
            <a:r>
              <a:rPr lang="en-US" sz="2400" b="1" dirty="0"/>
              <a:t>, to find the </a:t>
            </a:r>
            <a:r>
              <a:rPr lang="en-US" sz="2400" b="1" dirty="0">
                <a:solidFill>
                  <a:schemeClr val="accent2"/>
                </a:solidFill>
              </a:rPr>
              <a:t>goal node</a:t>
            </a:r>
            <a:r>
              <a:rPr lang="en-US" sz="2400" b="1" dirty="0"/>
              <a:t>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 Bidirectional search replaces one single search graph with </a:t>
            </a:r>
            <a:r>
              <a:rPr lang="en-US" sz="2400" b="1" dirty="0">
                <a:solidFill>
                  <a:schemeClr val="tx2"/>
                </a:solidFill>
              </a:rPr>
              <a:t>two small subgraphs</a:t>
            </a:r>
            <a:r>
              <a:rPr lang="en-US" sz="2400" b="1" dirty="0"/>
              <a:t> in which one starts the search from an </a:t>
            </a:r>
            <a:r>
              <a:rPr lang="en-US" sz="2400" b="1" dirty="0">
                <a:solidFill>
                  <a:schemeClr val="tx2"/>
                </a:solidFill>
              </a:rPr>
              <a:t>initial vertex </a:t>
            </a:r>
            <a:r>
              <a:rPr lang="en-US" sz="2400" b="1" dirty="0"/>
              <a:t>and other starts from </a:t>
            </a:r>
            <a:r>
              <a:rPr lang="en-US" sz="2400" b="1" dirty="0">
                <a:solidFill>
                  <a:schemeClr val="tx2"/>
                </a:solidFill>
              </a:rPr>
              <a:t>goal vertex</a:t>
            </a:r>
            <a:r>
              <a:rPr lang="en-US" sz="2400" b="1" dirty="0"/>
              <a:t>.</a:t>
            </a:r>
          </a:p>
          <a:p>
            <a:pPr algn="just"/>
            <a:r>
              <a:rPr lang="en-US" sz="2400" b="1" dirty="0"/>
              <a:t> The search stops when these two graphs intersect each other.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Bidirectional search can use search techniques such as </a:t>
            </a:r>
            <a:r>
              <a:rPr lang="en-US" sz="2400" b="1" dirty="0">
                <a:solidFill>
                  <a:schemeClr val="tx2"/>
                </a:solidFill>
              </a:rPr>
              <a:t>BFS, DFS</a:t>
            </a:r>
            <a:r>
              <a:rPr lang="en-US" sz="2400" b="1" dirty="0"/>
              <a:t>, etc.</a:t>
            </a:r>
            <a:endParaRPr lang="en-US" sz="2400" dirty="0"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0520" y="6356603"/>
            <a:ext cx="356235" cy="361315"/>
            <a:chOff x="100520" y="6356603"/>
            <a:chExt cx="356235" cy="361315"/>
          </a:xfrm>
        </p:grpSpPr>
        <p:sp>
          <p:nvSpPr>
            <p:cNvPr id="5" name="object 5"/>
            <p:cNvSpPr/>
            <p:nvPr/>
          </p:nvSpPr>
          <p:spPr>
            <a:xfrm>
              <a:off x="102107" y="6716267"/>
              <a:ext cx="354965" cy="0"/>
            </a:xfrm>
            <a:custGeom>
              <a:avLst/>
              <a:gdLst/>
              <a:ahLst/>
              <a:cxnLst/>
              <a:rect l="l" t="t" r="r" b="b"/>
              <a:pathLst>
                <a:path w="354965">
                  <a:moveTo>
                    <a:pt x="0" y="0"/>
                  </a:moveTo>
                  <a:lnTo>
                    <a:pt x="354622" y="0"/>
                  </a:lnTo>
                </a:path>
              </a:pathLst>
            </a:custGeom>
            <a:ln w="3176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107" y="6356603"/>
              <a:ext cx="0" cy="360045"/>
            </a:xfrm>
            <a:custGeom>
              <a:avLst/>
              <a:gdLst/>
              <a:ahLst/>
              <a:cxnLst/>
              <a:rect l="l" t="t" r="r" b="b"/>
              <a:pathLst>
                <a:path h="360045">
                  <a:moveTo>
                    <a:pt x="1" y="3596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7009" y="282955"/>
            <a:ext cx="8129905" cy="633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6-</a:t>
            </a:r>
            <a:r>
              <a:rPr sz="2800" b="1" spc="-2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660066"/>
                </a:solidFill>
                <a:latin typeface="Arial"/>
                <a:cs typeface="Arial"/>
              </a:rPr>
              <a:t>Bi-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directional</a:t>
            </a:r>
            <a:r>
              <a:rPr sz="2800" b="1" spc="-8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2800">
              <a:latin typeface="Arial"/>
              <a:cs typeface="Arial"/>
            </a:endParaRPr>
          </a:p>
          <a:p>
            <a:pPr marL="508000" marR="123825" indent="-457200">
              <a:lnSpc>
                <a:spcPct val="100000"/>
              </a:lnSpc>
              <a:buChar char="•"/>
              <a:tabLst>
                <a:tab pos="508000" algn="l"/>
              </a:tabLst>
            </a:pP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Both</a:t>
            </a:r>
            <a:r>
              <a:rPr sz="32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search</a:t>
            </a:r>
            <a:r>
              <a:rPr sz="32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C00000"/>
                </a:solidFill>
                <a:latin typeface="Arial MT"/>
                <a:cs typeface="Arial MT"/>
              </a:rPr>
              <a:t>forward</a:t>
            </a:r>
            <a:r>
              <a:rPr sz="3200" spc="-6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from</a:t>
            </a:r>
            <a:r>
              <a:rPr sz="32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C00000"/>
                </a:solidFill>
                <a:latin typeface="Arial MT"/>
                <a:cs typeface="Arial MT"/>
              </a:rPr>
              <a:t>initial</a:t>
            </a:r>
            <a:r>
              <a:rPr sz="3200" spc="-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C00000"/>
                </a:solidFill>
                <a:latin typeface="Arial MT"/>
                <a:cs typeface="Arial MT"/>
              </a:rPr>
              <a:t>state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,</a:t>
            </a:r>
            <a:r>
              <a:rPr sz="32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000090"/>
                </a:solidFill>
                <a:latin typeface="Arial MT"/>
                <a:cs typeface="Arial MT"/>
              </a:rPr>
              <a:t>and </a:t>
            </a:r>
            <a:r>
              <a:rPr sz="3200" dirty="0">
                <a:solidFill>
                  <a:srgbClr val="0066FF"/>
                </a:solidFill>
                <a:latin typeface="Arial MT"/>
                <a:cs typeface="Arial MT"/>
              </a:rPr>
              <a:t>backwards</a:t>
            </a:r>
            <a:r>
              <a:rPr sz="3200" spc="-60" dirty="0">
                <a:solidFill>
                  <a:srgbClr val="0066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from</a:t>
            </a:r>
            <a:r>
              <a:rPr sz="32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6FC0"/>
                </a:solidFill>
                <a:latin typeface="Arial MT"/>
                <a:cs typeface="Arial MT"/>
              </a:rPr>
              <a:t>goal</a:t>
            </a:r>
            <a:r>
              <a:rPr sz="3200" spc="-10" dirty="0">
                <a:solidFill>
                  <a:srgbClr val="000090"/>
                </a:solidFill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000090"/>
              </a:buClr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508000" marR="393700" indent="-457200">
              <a:lnSpc>
                <a:spcPct val="100000"/>
              </a:lnSpc>
              <a:buChar char="•"/>
              <a:tabLst>
                <a:tab pos="508000" algn="l"/>
              </a:tabLst>
            </a:pP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Stop</a:t>
            </a:r>
            <a:r>
              <a:rPr sz="32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when</a:t>
            </a:r>
            <a:r>
              <a:rPr sz="32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32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two</a:t>
            </a:r>
            <a:r>
              <a:rPr sz="32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searches</a:t>
            </a:r>
            <a:r>
              <a:rPr sz="32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meet</a:t>
            </a:r>
            <a:r>
              <a:rPr sz="32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in</a:t>
            </a:r>
            <a:r>
              <a:rPr sz="3200" spc="-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000090"/>
                </a:solidFill>
                <a:latin typeface="Arial MT"/>
                <a:cs typeface="Arial MT"/>
              </a:rPr>
              <a:t>the </a:t>
            </a:r>
            <a:r>
              <a:rPr sz="3200" spc="-10" dirty="0">
                <a:solidFill>
                  <a:srgbClr val="000090"/>
                </a:solidFill>
                <a:latin typeface="Arial MT"/>
                <a:cs typeface="Arial MT"/>
              </a:rPr>
              <a:t>middle.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000090"/>
              </a:buClr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507365" indent="-456565">
              <a:lnSpc>
                <a:spcPct val="100000"/>
              </a:lnSpc>
              <a:buChar char="•"/>
              <a:tabLst>
                <a:tab pos="507365" algn="l"/>
              </a:tabLst>
            </a:pP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Motivation:</a:t>
            </a:r>
            <a:r>
              <a:rPr sz="32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b</a:t>
            </a:r>
            <a:r>
              <a:rPr sz="3150" baseline="25132" dirty="0">
                <a:solidFill>
                  <a:srgbClr val="000090"/>
                </a:solidFill>
                <a:latin typeface="Arial MT"/>
                <a:cs typeface="Arial MT"/>
              </a:rPr>
              <a:t>d/2</a:t>
            </a:r>
            <a:r>
              <a:rPr sz="3150" spc="442" baseline="25132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+</a:t>
            </a:r>
            <a:r>
              <a:rPr sz="32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b</a:t>
            </a:r>
            <a:r>
              <a:rPr sz="3150" baseline="25132" dirty="0">
                <a:solidFill>
                  <a:srgbClr val="000090"/>
                </a:solidFill>
                <a:latin typeface="Arial MT"/>
                <a:cs typeface="Arial MT"/>
              </a:rPr>
              <a:t>d/2</a:t>
            </a:r>
            <a:r>
              <a:rPr sz="3150" spc="442" baseline="25132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32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much</a:t>
            </a:r>
            <a:r>
              <a:rPr sz="32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less</a:t>
            </a:r>
            <a:r>
              <a:rPr sz="32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90"/>
                </a:solidFill>
                <a:latin typeface="Arial MT"/>
                <a:cs typeface="Arial MT"/>
              </a:rPr>
              <a:t>than</a:t>
            </a:r>
            <a:r>
              <a:rPr sz="32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000090"/>
                </a:solidFill>
                <a:latin typeface="Arial MT"/>
                <a:cs typeface="Arial MT"/>
              </a:rPr>
              <a:t>b</a:t>
            </a:r>
            <a:r>
              <a:rPr sz="3150" spc="-37" baseline="25132" dirty="0">
                <a:solidFill>
                  <a:srgbClr val="000090"/>
                </a:solidFill>
                <a:latin typeface="Arial MT"/>
                <a:cs typeface="Arial MT"/>
              </a:rPr>
              <a:t>d</a:t>
            </a:r>
            <a:endParaRPr sz="3150" baseline="25132">
              <a:latin typeface="Arial MT"/>
              <a:cs typeface="Arial MT"/>
            </a:endParaRPr>
          </a:p>
          <a:p>
            <a:pPr marL="507365" indent="-456565">
              <a:lnSpc>
                <a:spcPts val="3810"/>
              </a:lnSpc>
              <a:spcBef>
                <a:spcPts val="2565"/>
              </a:spcBef>
              <a:buChar char="•"/>
              <a:tabLst>
                <a:tab pos="507365" algn="l"/>
              </a:tabLst>
            </a:pPr>
            <a:r>
              <a:rPr sz="3200" spc="-10" dirty="0">
                <a:solidFill>
                  <a:srgbClr val="000090"/>
                </a:solidFill>
                <a:latin typeface="Arial MT"/>
                <a:cs typeface="Arial MT"/>
              </a:rPr>
              <a:t>Implementation</a:t>
            </a:r>
            <a:endParaRPr sz="3200">
              <a:latin typeface="Arial MT"/>
              <a:cs typeface="Arial MT"/>
            </a:endParaRPr>
          </a:p>
          <a:p>
            <a:pPr marL="850265" lvl="1" indent="-342265">
              <a:lnSpc>
                <a:spcPts val="2850"/>
              </a:lnSpc>
              <a:buFont typeface="Arial MT"/>
              <a:buChar char="•"/>
              <a:tabLst>
                <a:tab pos="850265" algn="l"/>
              </a:tabLst>
            </a:pPr>
            <a:r>
              <a:rPr sz="2400" dirty="0">
                <a:latin typeface="Calibri"/>
                <a:cs typeface="Calibri"/>
              </a:rPr>
              <a:t>Replace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850900" marR="55880">
              <a:lnSpc>
                <a:spcPts val="2870"/>
              </a:lnSpc>
              <a:spcBef>
                <a:spcPts val="120"/>
              </a:spcBef>
            </a:pPr>
            <a:r>
              <a:rPr sz="2400" dirty="0">
                <a:latin typeface="Calibri"/>
                <a:cs typeface="Calibri"/>
              </a:rPr>
              <a:t>frontiers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intersect,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found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1673" y="295686"/>
            <a:ext cx="39193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120">
              <a:lnSpc>
                <a:spcPct val="100000"/>
              </a:lnSpc>
              <a:spcBef>
                <a:spcPts val="95"/>
              </a:spcBef>
            </a:pPr>
            <a:r>
              <a:rPr lang="en-US" sz="2000" b="1" spc="-5" dirty="0">
                <a:solidFill>
                  <a:schemeClr val="tx2"/>
                </a:solidFill>
                <a:latin typeface="Arial"/>
                <a:cs typeface="Arial"/>
              </a:rPr>
              <a:t>Bi-directional</a:t>
            </a:r>
            <a:r>
              <a:rPr lang="en-US" sz="2000" b="1" spc="-6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000" b="1" spc="-5" dirty="0">
                <a:solidFill>
                  <a:schemeClr val="tx2"/>
                </a:solidFill>
                <a:latin typeface="Arial"/>
                <a:cs typeface="Arial"/>
              </a:rPr>
              <a:t>Search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36" y="1519664"/>
            <a:ext cx="679452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239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0520" y="6356603"/>
            <a:ext cx="356235" cy="361315"/>
            <a:chOff x="100520" y="6356603"/>
            <a:chExt cx="356235" cy="361315"/>
          </a:xfrm>
        </p:grpSpPr>
        <p:sp>
          <p:nvSpPr>
            <p:cNvPr id="5" name="object 5"/>
            <p:cNvSpPr/>
            <p:nvPr/>
          </p:nvSpPr>
          <p:spPr>
            <a:xfrm>
              <a:off x="102107" y="6716267"/>
              <a:ext cx="354965" cy="0"/>
            </a:xfrm>
            <a:custGeom>
              <a:avLst/>
              <a:gdLst/>
              <a:ahLst/>
              <a:cxnLst/>
              <a:rect l="l" t="t" r="r" b="b"/>
              <a:pathLst>
                <a:path w="354965">
                  <a:moveTo>
                    <a:pt x="0" y="0"/>
                  </a:moveTo>
                  <a:lnTo>
                    <a:pt x="354622" y="0"/>
                  </a:lnTo>
                </a:path>
              </a:pathLst>
            </a:custGeom>
            <a:ln w="3176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107" y="6356603"/>
              <a:ext cx="0" cy="360045"/>
            </a:xfrm>
            <a:custGeom>
              <a:avLst/>
              <a:gdLst/>
              <a:ahLst/>
              <a:cxnLst/>
              <a:rect l="l" t="t" r="r" b="b"/>
              <a:pathLst>
                <a:path h="360045">
                  <a:moveTo>
                    <a:pt x="1" y="3596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1886" y="239394"/>
            <a:ext cx="45926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6</a:t>
            </a:r>
            <a:r>
              <a:rPr lang="en-US" dirty="0"/>
              <a:t>-</a:t>
            </a:r>
            <a:r>
              <a:rPr spc="-25" dirty="0"/>
              <a:t> </a:t>
            </a:r>
            <a:r>
              <a:rPr spc="-20" dirty="0"/>
              <a:t>Bi-</a:t>
            </a:r>
            <a:r>
              <a:rPr spc="-10" dirty="0"/>
              <a:t>directional</a:t>
            </a:r>
            <a:r>
              <a:rPr spc="-85" dirty="0"/>
              <a:t> </a:t>
            </a:r>
            <a:r>
              <a:rPr spc="-10" dirty="0"/>
              <a:t>Search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7161" y="1136650"/>
            <a:ext cx="5562599" cy="54107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242561" y="1153159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0707" y="1839214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5561" y="1839214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8454" y="2677795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27908" y="2677795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47361" y="2677795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24142" y="2677795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42107" y="3592195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08908" y="3592195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23561" y="3592195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61761" y="3592195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52742" y="3592195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75507" y="4735448"/>
            <a:ext cx="774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sz="1800" b="1" spc="-50" dirty="0">
                <a:latin typeface="Arial"/>
                <a:cs typeface="Arial"/>
              </a:rPr>
              <a:t>B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04561" y="5650179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79854" y="4628388"/>
            <a:ext cx="775335" cy="7886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622300" algn="l"/>
              </a:tabLst>
            </a:pPr>
            <a:r>
              <a:rPr sz="1800" b="1" spc="-50" dirty="0">
                <a:latin typeface="Arial"/>
                <a:cs typeface="Arial"/>
              </a:rPr>
              <a:t>D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b="1" spc="-25" dirty="0">
                <a:latin typeface="Arial"/>
                <a:cs typeface="Arial"/>
              </a:rPr>
              <a:t>14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13507" y="5543499"/>
            <a:ext cx="2800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0">
              <a:lnSpc>
                <a:spcPct val="1389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G </a:t>
            </a:r>
            <a:r>
              <a:rPr sz="1800" b="1" spc="-25" dirty="0">
                <a:latin typeface="Arial"/>
                <a:cs typeface="Arial"/>
              </a:rPr>
              <a:t>19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75507" y="5543499"/>
            <a:ext cx="888365" cy="787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621665" algn="l"/>
              </a:tabLst>
            </a:pPr>
            <a:r>
              <a:rPr sz="1800" b="1" spc="-50" dirty="0">
                <a:latin typeface="Arial"/>
                <a:cs typeface="Arial"/>
              </a:rPr>
              <a:t>C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621665" algn="l"/>
              </a:tabLst>
            </a:pPr>
            <a:r>
              <a:rPr sz="1800" b="1" spc="-25" dirty="0">
                <a:latin typeface="Arial"/>
                <a:cs typeface="Arial"/>
              </a:rPr>
              <a:t>19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17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18761" y="4628388"/>
            <a:ext cx="2793365" cy="7886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40"/>
              </a:spcBef>
              <a:tabLst>
                <a:tab pos="697865" algn="l"/>
                <a:tab pos="1307465" algn="l"/>
                <a:tab pos="1917700" algn="l"/>
                <a:tab pos="2527300" algn="l"/>
              </a:tabLst>
            </a:pPr>
            <a:r>
              <a:rPr sz="1800" b="1" spc="-50" dirty="0">
                <a:latin typeface="Arial"/>
                <a:cs typeface="Arial"/>
              </a:rPr>
              <a:t>C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C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1307465" algn="l"/>
                <a:tab pos="1917700" algn="l"/>
                <a:tab pos="2527300" algn="l"/>
              </a:tabLst>
            </a:pPr>
            <a:r>
              <a:rPr sz="1800" b="1" spc="-25" dirty="0">
                <a:latin typeface="Arial"/>
                <a:cs typeface="Arial"/>
              </a:rPr>
              <a:t>17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15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15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13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04561" y="6183274"/>
            <a:ext cx="659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1800" b="1" spc="-50" dirty="0">
                <a:latin typeface="Arial"/>
                <a:cs typeface="Arial"/>
              </a:rPr>
              <a:t>G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25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03654" y="3485261"/>
            <a:ext cx="26670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0">
              <a:lnSpc>
                <a:spcPct val="139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C </a:t>
            </a:r>
            <a:r>
              <a:rPr sz="1800" b="1" spc="-70" dirty="0">
                <a:latin typeface="Arial"/>
                <a:cs typeface="Arial"/>
              </a:rPr>
              <a:t>11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67143" y="1275334"/>
            <a:ext cx="12357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Forward Backwards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0520" y="6356603"/>
            <a:ext cx="356235" cy="361315"/>
            <a:chOff x="100520" y="6356603"/>
            <a:chExt cx="356235" cy="361315"/>
          </a:xfrm>
        </p:grpSpPr>
        <p:sp>
          <p:nvSpPr>
            <p:cNvPr id="5" name="object 5"/>
            <p:cNvSpPr/>
            <p:nvPr/>
          </p:nvSpPr>
          <p:spPr>
            <a:xfrm>
              <a:off x="102107" y="6716267"/>
              <a:ext cx="354965" cy="0"/>
            </a:xfrm>
            <a:custGeom>
              <a:avLst/>
              <a:gdLst/>
              <a:ahLst/>
              <a:cxnLst/>
              <a:rect l="l" t="t" r="r" b="b"/>
              <a:pathLst>
                <a:path w="354965">
                  <a:moveTo>
                    <a:pt x="0" y="0"/>
                  </a:moveTo>
                  <a:lnTo>
                    <a:pt x="354622" y="0"/>
                  </a:lnTo>
                </a:path>
              </a:pathLst>
            </a:custGeom>
            <a:ln w="3176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107" y="6356603"/>
              <a:ext cx="0" cy="360045"/>
            </a:xfrm>
            <a:custGeom>
              <a:avLst/>
              <a:gdLst/>
              <a:ahLst/>
              <a:cxnLst/>
              <a:rect l="l" t="t" r="r" b="b"/>
              <a:pathLst>
                <a:path h="360045">
                  <a:moveTo>
                    <a:pt x="1" y="3596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1886" y="239394"/>
            <a:ext cx="74364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6-</a:t>
            </a:r>
            <a:r>
              <a:rPr sz="2800" b="1" spc="-7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660066"/>
                </a:solidFill>
                <a:latin typeface="Arial"/>
                <a:cs typeface="Arial"/>
              </a:rPr>
              <a:t>Bi-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directional</a:t>
            </a:r>
            <a:r>
              <a:rPr sz="2800" b="1" spc="-13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r>
              <a:rPr sz="2800" b="1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Example</a:t>
            </a:r>
            <a:r>
              <a:rPr sz="2800" b="1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Using</a:t>
            </a:r>
            <a:r>
              <a:rPr sz="2800" b="1" spc="-9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660066"/>
                </a:solidFill>
                <a:latin typeface="Arial"/>
                <a:cs typeface="Arial"/>
              </a:rPr>
              <a:t>BFS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7931" y="2252472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48" y="251751"/>
                </a:lnTo>
                <a:lnTo>
                  <a:pt x="26946" y="209436"/>
                </a:lnTo>
                <a:lnTo>
                  <a:pt x="46815" y="169841"/>
                </a:lnTo>
                <a:lnTo>
                  <a:pt x="71446" y="133373"/>
                </a:lnTo>
                <a:lnTo>
                  <a:pt x="100431" y="100441"/>
                </a:lnTo>
                <a:lnTo>
                  <a:pt x="133362" y="71454"/>
                </a:lnTo>
                <a:lnTo>
                  <a:pt x="169830" y="46820"/>
                </a:lnTo>
                <a:lnTo>
                  <a:pt x="209426" y="26949"/>
                </a:lnTo>
                <a:lnTo>
                  <a:pt x="251742" y="12250"/>
                </a:lnTo>
                <a:lnTo>
                  <a:pt x="296369" y="3130"/>
                </a:lnTo>
                <a:lnTo>
                  <a:pt x="342899" y="0"/>
                </a:lnTo>
                <a:lnTo>
                  <a:pt x="389430" y="3130"/>
                </a:lnTo>
                <a:lnTo>
                  <a:pt x="434057" y="12250"/>
                </a:lnTo>
                <a:lnTo>
                  <a:pt x="476373" y="26949"/>
                </a:lnTo>
                <a:lnTo>
                  <a:pt x="515969" y="46820"/>
                </a:lnTo>
                <a:lnTo>
                  <a:pt x="552437" y="71454"/>
                </a:lnTo>
                <a:lnTo>
                  <a:pt x="585368" y="100441"/>
                </a:lnTo>
                <a:lnTo>
                  <a:pt x="614353" y="133373"/>
                </a:lnTo>
                <a:lnTo>
                  <a:pt x="638984" y="169841"/>
                </a:lnTo>
                <a:lnTo>
                  <a:pt x="658853" y="209436"/>
                </a:lnTo>
                <a:lnTo>
                  <a:pt x="673551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51" y="434048"/>
                </a:lnTo>
                <a:lnTo>
                  <a:pt x="658853" y="476363"/>
                </a:lnTo>
                <a:lnTo>
                  <a:pt x="638984" y="515958"/>
                </a:lnTo>
                <a:lnTo>
                  <a:pt x="614353" y="552426"/>
                </a:lnTo>
                <a:lnTo>
                  <a:pt x="585368" y="585358"/>
                </a:lnTo>
                <a:lnTo>
                  <a:pt x="552437" y="614345"/>
                </a:lnTo>
                <a:lnTo>
                  <a:pt x="515969" y="638979"/>
                </a:lnTo>
                <a:lnTo>
                  <a:pt x="476373" y="658850"/>
                </a:lnTo>
                <a:lnTo>
                  <a:pt x="434057" y="673549"/>
                </a:lnTo>
                <a:lnTo>
                  <a:pt x="389430" y="682669"/>
                </a:lnTo>
                <a:lnTo>
                  <a:pt x="342899" y="685800"/>
                </a:lnTo>
                <a:lnTo>
                  <a:pt x="296369" y="682669"/>
                </a:lnTo>
                <a:lnTo>
                  <a:pt x="251742" y="673549"/>
                </a:lnTo>
                <a:lnTo>
                  <a:pt x="209426" y="658850"/>
                </a:lnTo>
                <a:lnTo>
                  <a:pt x="169830" y="638979"/>
                </a:lnTo>
                <a:lnTo>
                  <a:pt x="133362" y="614345"/>
                </a:lnTo>
                <a:lnTo>
                  <a:pt x="100431" y="585358"/>
                </a:lnTo>
                <a:lnTo>
                  <a:pt x="71446" y="552426"/>
                </a:lnTo>
                <a:lnTo>
                  <a:pt x="46815" y="515958"/>
                </a:lnTo>
                <a:lnTo>
                  <a:pt x="26946" y="476363"/>
                </a:lnTo>
                <a:lnTo>
                  <a:pt x="12248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6153" y="2280030"/>
            <a:ext cx="290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A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90827" y="1566672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899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799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899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96694" y="1593545"/>
            <a:ext cx="274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B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25979" y="2310383"/>
            <a:ext cx="3629025" cy="685800"/>
          </a:xfrm>
          <a:custGeom>
            <a:avLst/>
            <a:gdLst/>
            <a:ahLst/>
            <a:cxnLst/>
            <a:rect l="l" t="t" r="r" b="b"/>
            <a:pathLst>
              <a:path w="3629025" h="685800">
                <a:moveTo>
                  <a:pt x="2942844" y="342900"/>
                </a:moveTo>
                <a:lnTo>
                  <a:pt x="2945974" y="296375"/>
                </a:lnTo>
                <a:lnTo>
                  <a:pt x="2955094" y="251751"/>
                </a:lnTo>
                <a:lnTo>
                  <a:pt x="2969793" y="209436"/>
                </a:lnTo>
                <a:lnTo>
                  <a:pt x="2989664" y="169841"/>
                </a:lnTo>
                <a:lnTo>
                  <a:pt x="3014298" y="133373"/>
                </a:lnTo>
                <a:lnTo>
                  <a:pt x="3043285" y="100441"/>
                </a:lnTo>
                <a:lnTo>
                  <a:pt x="3076217" y="71454"/>
                </a:lnTo>
                <a:lnTo>
                  <a:pt x="3112685" y="46820"/>
                </a:lnTo>
                <a:lnTo>
                  <a:pt x="3152280" y="26949"/>
                </a:lnTo>
                <a:lnTo>
                  <a:pt x="3194595" y="12250"/>
                </a:lnTo>
                <a:lnTo>
                  <a:pt x="3239219" y="3130"/>
                </a:lnTo>
                <a:lnTo>
                  <a:pt x="3285744" y="0"/>
                </a:lnTo>
                <a:lnTo>
                  <a:pt x="3332268" y="3130"/>
                </a:lnTo>
                <a:lnTo>
                  <a:pt x="3376892" y="12250"/>
                </a:lnTo>
                <a:lnTo>
                  <a:pt x="3419207" y="26949"/>
                </a:lnTo>
                <a:lnTo>
                  <a:pt x="3458802" y="46820"/>
                </a:lnTo>
                <a:lnTo>
                  <a:pt x="3495270" y="71454"/>
                </a:lnTo>
                <a:lnTo>
                  <a:pt x="3528202" y="100441"/>
                </a:lnTo>
                <a:lnTo>
                  <a:pt x="3557189" y="133373"/>
                </a:lnTo>
                <a:lnTo>
                  <a:pt x="3581823" y="169841"/>
                </a:lnTo>
                <a:lnTo>
                  <a:pt x="3601694" y="209436"/>
                </a:lnTo>
                <a:lnTo>
                  <a:pt x="3616393" y="251751"/>
                </a:lnTo>
                <a:lnTo>
                  <a:pt x="3625513" y="296375"/>
                </a:lnTo>
                <a:lnTo>
                  <a:pt x="3628644" y="342900"/>
                </a:lnTo>
                <a:lnTo>
                  <a:pt x="3625513" y="389424"/>
                </a:lnTo>
                <a:lnTo>
                  <a:pt x="3616393" y="434048"/>
                </a:lnTo>
                <a:lnTo>
                  <a:pt x="3601694" y="476363"/>
                </a:lnTo>
                <a:lnTo>
                  <a:pt x="3581823" y="515958"/>
                </a:lnTo>
                <a:lnTo>
                  <a:pt x="3557189" y="552426"/>
                </a:lnTo>
                <a:lnTo>
                  <a:pt x="3528202" y="585358"/>
                </a:lnTo>
                <a:lnTo>
                  <a:pt x="3495270" y="614345"/>
                </a:lnTo>
                <a:lnTo>
                  <a:pt x="3458802" y="638979"/>
                </a:lnTo>
                <a:lnTo>
                  <a:pt x="3419207" y="658850"/>
                </a:lnTo>
                <a:lnTo>
                  <a:pt x="3376892" y="673549"/>
                </a:lnTo>
                <a:lnTo>
                  <a:pt x="3332268" y="682669"/>
                </a:lnTo>
                <a:lnTo>
                  <a:pt x="3285744" y="685800"/>
                </a:lnTo>
                <a:lnTo>
                  <a:pt x="3239219" y="682669"/>
                </a:lnTo>
                <a:lnTo>
                  <a:pt x="3194595" y="673549"/>
                </a:lnTo>
                <a:lnTo>
                  <a:pt x="3152280" y="658850"/>
                </a:lnTo>
                <a:lnTo>
                  <a:pt x="3112685" y="638979"/>
                </a:lnTo>
                <a:lnTo>
                  <a:pt x="3076217" y="614345"/>
                </a:lnTo>
                <a:lnTo>
                  <a:pt x="3043285" y="585358"/>
                </a:lnTo>
                <a:lnTo>
                  <a:pt x="3014298" y="552426"/>
                </a:lnTo>
                <a:lnTo>
                  <a:pt x="2989664" y="515958"/>
                </a:lnTo>
                <a:lnTo>
                  <a:pt x="2969793" y="476363"/>
                </a:lnTo>
                <a:lnTo>
                  <a:pt x="2955094" y="434048"/>
                </a:lnTo>
                <a:lnTo>
                  <a:pt x="2945974" y="389424"/>
                </a:lnTo>
                <a:lnTo>
                  <a:pt x="2942844" y="342900"/>
                </a:lnTo>
                <a:close/>
              </a:path>
              <a:path w="3629025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34895" y="2338196"/>
            <a:ext cx="269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C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21151" y="1524000"/>
            <a:ext cx="685800" cy="688975"/>
          </a:xfrm>
          <a:custGeom>
            <a:avLst/>
            <a:gdLst/>
            <a:ahLst/>
            <a:cxnLst/>
            <a:rect l="l" t="t" r="r" b="b"/>
            <a:pathLst>
              <a:path w="685800" h="688975">
                <a:moveTo>
                  <a:pt x="0" y="344424"/>
                </a:moveTo>
                <a:lnTo>
                  <a:pt x="3130" y="297682"/>
                </a:lnTo>
                <a:lnTo>
                  <a:pt x="12250" y="252853"/>
                </a:lnTo>
                <a:lnTo>
                  <a:pt x="26949" y="210347"/>
                </a:lnTo>
                <a:lnTo>
                  <a:pt x="46820" y="170575"/>
                </a:lnTo>
                <a:lnTo>
                  <a:pt x="71454" y="133945"/>
                </a:lnTo>
                <a:lnTo>
                  <a:pt x="100441" y="100869"/>
                </a:lnTo>
                <a:lnTo>
                  <a:pt x="133373" y="71757"/>
                </a:lnTo>
                <a:lnTo>
                  <a:pt x="169841" y="47018"/>
                </a:lnTo>
                <a:lnTo>
                  <a:pt x="209436" y="27062"/>
                </a:lnTo>
                <a:lnTo>
                  <a:pt x="251751" y="12301"/>
                </a:lnTo>
                <a:lnTo>
                  <a:pt x="296375" y="3143"/>
                </a:lnTo>
                <a:lnTo>
                  <a:pt x="342900" y="0"/>
                </a:lnTo>
                <a:lnTo>
                  <a:pt x="389424" y="3143"/>
                </a:lnTo>
                <a:lnTo>
                  <a:pt x="434048" y="12301"/>
                </a:lnTo>
                <a:lnTo>
                  <a:pt x="476363" y="27062"/>
                </a:lnTo>
                <a:lnTo>
                  <a:pt x="515958" y="47018"/>
                </a:lnTo>
                <a:lnTo>
                  <a:pt x="552426" y="71757"/>
                </a:lnTo>
                <a:lnTo>
                  <a:pt x="585358" y="100869"/>
                </a:lnTo>
                <a:lnTo>
                  <a:pt x="614345" y="133945"/>
                </a:lnTo>
                <a:lnTo>
                  <a:pt x="638979" y="170575"/>
                </a:lnTo>
                <a:lnTo>
                  <a:pt x="658850" y="210347"/>
                </a:lnTo>
                <a:lnTo>
                  <a:pt x="673549" y="252853"/>
                </a:lnTo>
                <a:lnTo>
                  <a:pt x="682669" y="297682"/>
                </a:lnTo>
                <a:lnTo>
                  <a:pt x="685800" y="344424"/>
                </a:lnTo>
                <a:lnTo>
                  <a:pt x="682669" y="391165"/>
                </a:lnTo>
                <a:lnTo>
                  <a:pt x="673549" y="435994"/>
                </a:lnTo>
                <a:lnTo>
                  <a:pt x="658850" y="478500"/>
                </a:lnTo>
                <a:lnTo>
                  <a:pt x="638979" y="518272"/>
                </a:lnTo>
                <a:lnTo>
                  <a:pt x="614345" y="554902"/>
                </a:lnTo>
                <a:lnTo>
                  <a:pt x="585358" y="587978"/>
                </a:lnTo>
                <a:lnTo>
                  <a:pt x="552426" y="617090"/>
                </a:lnTo>
                <a:lnTo>
                  <a:pt x="515958" y="641829"/>
                </a:lnTo>
                <a:lnTo>
                  <a:pt x="476363" y="661785"/>
                </a:lnTo>
                <a:lnTo>
                  <a:pt x="434048" y="676546"/>
                </a:lnTo>
                <a:lnTo>
                  <a:pt x="389424" y="685704"/>
                </a:lnTo>
                <a:lnTo>
                  <a:pt x="342900" y="688848"/>
                </a:lnTo>
                <a:lnTo>
                  <a:pt x="296375" y="685704"/>
                </a:lnTo>
                <a:lnTo>
                  <a:pt x="251751" y="676546"/>
                </a:lnTo>
                <a:lnTo>
                  <a:pt x="209436" y="661785"/>
                </a:lnTo>
                <a:lnTo>
                  <a:pt x="169841" y="641829"/>
                </a:lnTo>
                <a:lnTo>
                  <a:pt x="133373" y="617090"/>
                </a:lnTo>
                <a:lnTo>
                  <a:pt x="100441" y="587978"/>
                </a:lnTo>
                <a:lnTo>
                  <a:pt x="71454" y="554902"/>
                </a:lnTo>
                <a:lnTo>
                  <a:pt x="46820" y="518272"/>
                </a:lnTo>
                <a:lnTo>
                  <a:pt x="26949" y="478500"/>
                </a:lnTo>
                <a:lnTo>
                  <a:pt x="12250" y="435994"/>
                </a:lnTo>
                <a:lnTo>
                  <a:pt x="3130" y="391165"/>
                </a:lnTo>
                <a:lnTo>
                  <a:pt x="0" y="344424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40989" y="1552702"/>
            <a:ext cx="248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77200" y="2310383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263890" y="2338196"/>
            <a:ext cx="3143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G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34028" y="2310383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21860" y="2338196"/>
            <a:ext cx="1276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6965" algn="l"/>
              </a:tabLst>
            </a:pPr>
            <a:r>
              <a:rPr sz="3600" spc="-50" dirty="0">
                <a:latin typeface="Calibri"/>
                <a:cs typeface="Calibri"/>
              </a:rPr>
              <a:t>H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-50" dirty="0">
                <a:latin typeface="Calibri"/>
                <a:cs typeface="Calibri"/>
              </a:rPr>
              <a:t>J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90827" y="3127248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899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799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899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79930" y="3154426"/>
            <a:ext cx="306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21151" y="3127248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347084" y="3154426"/>
            <a:ext cx="235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F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175247" y="2310383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448805" y="2338196"/>
            <a:ext cx="140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I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390132" y="4117847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899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799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899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4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625843" y="4145407"/>
            <a:ext cx="2178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L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200900" y="3127248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414006" y="3154426"/>
            <a:ext cx="263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K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00900" y="15240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342900"/>
                </a:moveTo>
                <a:lnTo>
                  <a:pt x="3130" y="296375"/>
                </a:lnTo>
                <a:lnTo>
                  <a:pt x="12250" y="251751"/>
                </a:lnTo>
                <a:lnTo>
                  <a:pt x="26949" y="209436"/>
                </a:lnTo>
                <a:lnTo>
                  <a:pt x="46820" y="169841"/>
                </a:lnTo>
                <a:lnTo>
                  <a:pt x="71454" y="133373"/>
                </a:lnTo>
                <a:lnTo>
                  <a:pt x="100441" y="100441"/>
                </a:lnTo>
                <a:lnTo>
                  <a:pt x="133373" y="71454"/>
                </a:lnTo>
                <a:lnTo>
                  <a:pt x="169841" y="46820"/>
                </a:lnTo>
                <a:lnTo>
                  <a:pt x="209436" y="26949"/>
                </a:lnTo>
                <a:lnTo>
                  <a:pt x="251751" y="12250"/>
                </a:lnTo>
                <a:lnTo>
                  <a:pt x="296375" y="3130"/>
                </a:lnTo>
                <a:lnTo>
                  <a:pt x="342900" y="0"/>
                </a:lnTo>
                <a:lnTo>
                  <a:pt x="389424" y="3130"/>
                </a:lnTo>
                <a:lnTo>
                  <a:pt x="434048" y="12250"/>
                </a:lnTo>
                <a:lnTo>
                  <a:pt x="476363" y="26949"/>
                </a:lnTo>
                <a:lnTo>
                  <a:pt x="515958" y="46820"/>
                </a:lnTo>
                <a:lnTo>
                  <a:pt x="552426" y="71454"/>
                </a:lnTo>
                <a:lnTo>
                  <a:pt x="585358" y="100441"/>
                </a:lnTo>
                <a:lnTo>
                  <a:pt x="614345" y="133373"/>
                </a:lnTo>
                <a:lnTo>
                  <a:pt x="638979" y="169841"/>
                </a:lnTo>
                <a:lnTo>
                  <a:pt x="658850" y="209436"/>
                </a:lnTo>
                <a:lnTo>
                  <a:pt x="673549" y="251751"/>
                </a:lnTo>
                <a:lnTo>
                  <a:pt x="682669" y="296375"/>
                </a:lnTo>
                <a:lnTo>
                  <a:pt x="685800" y="342900"/>
                </a:lnTo>
                <a:lnTo>
                  <a:pt x="682669" y="389424"/>
                </a:lnTo>
                <a:lnTo>
                  <a:pt x="673549" y="434048"/>
                </a:lnTo>
                <a:lnTo>
                  <a:pt x="658850" y="476363"/>
                </a:lnTo>
                <a:lnTo>
                  <a:pt x="638979" y="515958"/>
                </a:lnTo>
                <a:lnTo>
                  <a:pt x="614345" y="552426"/>
                </a:lnTo>
                <a:lnTo>
                  <a:pt x="585358" y="585358"/>
                </a:lnTo>
                <a:lnTo>
                  <a:pt x="552426" y="614345"/>
                </a:lnTo>
                <a:lnTo>
                  <a:pt x="515958" y="638979"/>
                </a:lnTo>
                <a:lnTo>
                  <a:pt x="476363" y="658850"/>
                </a:lnTo>
                <a:lnTo>
                  <a:pt x="434048" y="673549"/>
                </a:lnTo>
                <a:lnTo>
                  <a:pt x="389424" y="682669"/>
                </a:lnTo>
                <a:lnTo>
                  <a:pt x="342900" y="685800"/>
                </a:lnTo>
                <a:lnTo>
                  <a:pt x="296375" y="682669"/>
                </a:lnTo>
                <a:lnTo>
                  <a:pt x="251751" y="673549"/>
                </a:lnTo>
                <a:lnTo>
                  <a:pt x="209436" y="658850"/>
                </a:lnTo>
                <a:lnTo>
                  <a:pt x="169841" y="638979"/>
                </a:lnTo>
                <a:lnTo>
                  <a:pt x="133373" y="614345"/>
                </a:lnTo>
                <a:lnTo>
                  <a:pt x="100441" y="585358"/>
                </a:lnTo>
                <a:lnTo>
                  <a:pt x="71454" y="552426"/>
                </a:lnTo>
                <a:lnTo>
                  <a:pt x="46820" y="515958"/>
                </a:lnTo>
                <a:lnTo>
                  <a:pt x="26949" y="476363"/>
                </a:lnTo>
                <a:lnTo>
                  <a:pt x="12250" y="434048"/>
                </a:lnTo>
                <a:lnTo>
                  <a:pt x="3130" y="389424"/>
                </a:lnTo>
                <a:lnTo>
                  <a:pt x="0" y="342900"/>
                </a:lnTo>
                <a:close/>
              </a:path>
            </a:pathLst>
          </a:custGeom>
          <a:ln w="5715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421626" y="1551559"/>
            <a:ext cx="248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libri"/>
                <a:cs typeface="Calibri"/>
              </a:rPr>
              <a:t>Y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03148" y="2060448"/>
            <a:ext cx="7375525" cy="2056764"/>
          </a:xfrm>
          <a:custGeom>
            <a:avLst/>
            <a:gdLst/>
            <a:ahLst/>
            <a:cxnLst/>
            <a:rect l="l" t="t" r="r" b="b"/>
            <a:pathLst>
              <a:path w="7375525" h="2056764">
                <a:moveTo>
                  <a:pt x="0" y="292988"/>
                </a:moveTo>
                <a:lnTo>
                  <a:pt x="487298" y="0"/>
                </a:lnTo>
              </a:path>
              <a:path w="7375525" h="2056764">
                <a:moveTo>
                  <a:pt x="0" y="777239"/>
                </a:moveTo>
                <a:lnTo>
                  <a:pt x="587755" y="1166622"/>
                </a:lnTo>
              </a:path>
              <a:path w="7375525" h="2056764">
                <a:moveTo>
                  <a:pt x="1072895" y="91439"/>
                </a:moveTo>
                <a:lnTo>
                  <a:pt x="1423162" y="350519"/>
                </a:lnTo>
              </a:path>
              <a:path w="7375525" h="2056764">
                <a:moveTo>
                  <a:pt x="1908047" y="349757"/>
                </a:moveTo>
                <a:lnTo>
                  <a:pt x="2418207" y="50291"/>
                </a:lnTo>
              </a:path>
              <a:path w="7375525" h="2056764">
                <a:moveTo>
                  <a:pt x="1908047" y="835151"/>
                </a:moveTo>
                <a:lnTo>
                  <a:pt x="2418207" y="1166367"/>
                </a:lnTo>
              </a:path>
              <a:path w="7375525" h="2056764">
                <a:moveTo>
                  <a:pt x="2903219" y="50291"/>
                </a:moveTo>
                <a:lnTo>
                  <a:pt x="3331082" y="349757"/>
                </a:lnTo>
              </a:path>
              <a:path w="7375525" h="2056764">
                <a:moveTo>
                  <a:pt x="3916679" y="592836"/>
                </a:moveTo>
                <a:lnTo>
                  <a:pt x="4265295" y="592836"/>
                </a:lnTo>
              </a:path>
              <a:path w="7375525" h="2056764">
                <a:moveTo>
                  <a:pt x="4951476" y="592836"/>
                </a:moveTo>
                <a:lnTo>
                  <a:pt x="5372354" y="592836"/>
                </a:lnTo>
              </a:path>
              <a:path w="7375525" h="2056764">
                <a:moveTo>
                  <a:pt x="5957316" y="350265"/>
                </a:moveTo>
                <a:lnTo>
                  <a:pt x="6498717" y="48767"/>
                </a:lnTo>
              </a:path>
              <a:path w="7375525" h="2056764">
                <a:moveTo>
                  <a:pt x="5715000" y="935736"/>
                </a:moveTo>
                <a:lnTo>
                  <a:pt x="5930265" y="2056638"/>
                </a:lnTo>
              </a:path>
              <a:path w="7375525" h="2056764">
                <a:moveTo>
                  <a:pt x="6740652" y="149351"/>
                </a:moveTo>
                <a:lnTo>
                  <a:pt x="6740652" y="1066164"/>
                </a:lnTo>
              </a:path>
              <a:path w="7375525" h="2056764">
                <a:moveTo>
                  <a:pt x="6984492" y="48767"/>
                </a:moveTo>
                <a:lnTo>
                  <a:pt x="7375144" y="350265"/>
                </a:lnTo>
              </a:path>
              <a:path w="7375525" h="2056764">
                <a:moveTo>
                  <a:pt x="6984492" y="1166367"/>
                </a:moveTo>
                <a:lnTo>
                  <a:pt x="7375144" y="835151"/>
                </a:lnTo>
              </a:path>
              <a:path w="7375525" h="2056764">
                <a:moveTo>
                  <a:pt x="2903219" y="1166367"/>
                </a:moveTo>
                <a:lnTo>
                  <a:pt x="3331082" y="835151"/>
                </a:lnTo>
              </a:path>
            </a:pathLst>
          </a:custGeom>
          <a:ln w="5715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19200"/>
            <a:ext cx="7543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Completeness: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Bidirectional Search is complete if we use BFS in both searches.</a:t>
            </a:r>
          </a:p>
          <a:p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Time Complexity: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Time complexity of bidirectional search using BFS is 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O(</a:t>
            </a:r>
            <a:r>
              <a:rPr lang="en-US" b="1" dirty="0" err="1">
                <a:solidFill>
                  <a:srgbClr val="000000"/>
                </a:solidFill>
                <a:latin typeface="verdana" panose="020B0604030504040204" pitchFamily="34" charset="0"/>
              </a:rPr>
              <a:t>b</a:t>
            </a:r>
            <a:r>
              <a:rPr lang="en-US" b="1" baseline="30000" dirty="0" err="1">
                <a:solidFill>
                  <a:srgbClr val="000000"/>
                </a:solidFill>
                <a:latin typeface="verdana" panose="020B0604030504040204" pitchFamily="34" charset="0"/>
              </a:rPr>
              <a:t>d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Space Complexity: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Space complexity of bidirectional search is 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O(</a:t>
            </a:r>
            <a:r>
              <a:rPr lang="en-US" b="1" dirty="0" err="1">
                <a:solidFill>
                  <a:srgbClr val="000000"/>
                </a:solidFill>
                <a:latin typeface="verdana" panose="020B0604030504040204" pitchFamily="34" charset="0"/>
              </a:rPr>
              <a:t>b</a:t>
            </a:r>
            <a:r>
              <a:rPr lang="en-US" b="1" baseline="30000" dirty="0" err="1">
                <a:solidFill>
                  <a:srgbClr val="000000"/>
                </a:solidFill>
                <a:latin typeface="verdana" panose="020B0604030504040204" pitchFamily="34" charset="0"/>
              </a:rPr>
              <a:t>d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Optimal: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Bidirectional search is Optimal.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381000"/>
            <a:ext cx="4251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120">
              <a:lnSpc>
                <a:spcPct val="100000"/>
              </a:lnSpc>
              <a:spcBef>
                <a:spcPts val="95"/>
              </a:spcBef>
            </a:pPr>
            <a:r>
              <a:rPr lang="en-US" sz="2800" b="1" dirty="0">
                <a:solidFill>
                  <a:schemeClr val="tx2"/>
                </a:solidFill>
                <a:latin typeface="Arial"/>
                <a:cs typeface="Arial"/>
              </a:rPr>
              <a:t>6- </a:t>
            </a:r>
            <a:r>
              <a:rPr lang="en-US" sz="2800" b="1" spc="-5" dirty="0">
                <a:solidFill>
                  <a:schemeClr val="tx2"/>
                </a:solidFill>
                <a:latin typeface="Arial"/>
                <a:cs typeface="Arial"/>
              </a:rPr>
              <a:t>Bi-directional</a:t>
            </a:r>
            <a:r>
              <a:rPr lang="en-US" sz="2800" b="1" spc="-6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800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17177324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33709"/>
            <a:ext cx="6229095" cy="808477"/>
          </a:xfrm>
          <a:prstGeom prst="rect">
            <a:avLst/>
          </a:prstGeom>
        </p:spPr>
        <p:txBody>
          <a:bodyPr vert="horz" wrap="square" lIns="0" tIns="252018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-95" dirty="0"/>
              <a:t> </a:t>
            </a:r>
            <a:r>
              <a:rPr dirty="0"/>
              <a:t>(When</a:t>
            </a:r>
            <a:r>
              <a:rPr spc="-75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use</a:t>
            </a:r>
            <a:r>
              <a:rPr spc="-114" dirty="0"/>
              <a:t> </a:t>
            </a:r>
            <a:r>
              <a:rPr spc="-10" dirty="0"/>
              <a:t>what)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0889" y="1367334"/>
            <a:ext cx="7179945" cy="4348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spc="-20" dirty="0">
                <a:solidFill>
                  <a:srgbClr val="000090"/>
                </a:solidFill>
                <a:latin typeface="Arial"/>
                <a:cs typeface="Arial"/>
              </a:rPr>
              <a:t>Breadth-</a:t>
            </a:r>
            <a:r>
              <a:rPr sz="2400" b="1" dirty="0">
                <a:solidFill>
                  <a:srgbClr val="000090"/>
                </a:solidFill>
                <a:latin typeface="Arial"/>
                <a:cs typeface="Arial"/>
              </a:rPr>
              <a:t>First</a:t>
            </a:r>
            <a:r>
              <a:rPr sz="2400" b="1" spc="-3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90"/>
                </a:solidFill>
                <a:latin typeface="Arial"/>
                <a:cs typeface="Arial"/>
              </a:rPr>
              <a:t>Search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509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Some</a:t>
            </a:r>
            <a:r>
              <a:rPr sz="2000" spc="-5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solutions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are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known</a:t>
            </a:r>
            <a:r>
              <a:rPr sz="20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be</a:t>
            </a:r>
            <a:r>
              <a:rPr sz="20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shallow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400" b="1" spc="-20" dirty="0">
                <a:solidFill>
                  <a:srgbClr val="000090"/>
                </a:solidFill>
                <a:latin typeface="Arial"/>
                <a:cs typeface="Arial"/>
              </a:rPr>
              <a:t>Uniform-</a:t>
            </a:r>
            <a:r>
              <a:rPr sz="2400" b="1" dirty="0">
                <a:solidFill>
                  <a:srgbClr val="000090"/>
                </a:solidFill>
                <a:latin typeface="Arial"/>
                <a:cs typeface="Arial"/>
              </a:rPr>
              <a:t>Cost</a:t>
            </a:r>
            <a:r>
              <a:rPr sz="2400" b="1" spc="-6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90"/>
                </a:solidFill>
                <a:latin typeface="Arial"/>
                <a:cs typeface="Arial"/>
              </a:rPr>
              <a:t>Search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409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Actions</a:t>
            </a:r>
            <a:r>
              <a:rPr sz="2000" spc="-8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have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varying</a:t>
            </a:r>
            <a:r>
              <a:rPr sz="2000" spc="-6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costs</a:t>
            </a:r>
            <a:endParaRPr sz="20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50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Least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cost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solution</a:t>
            </a:r>
            <a:r>
              <a:rPr sz="20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000" spc="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1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required</a:t>
            </a:r>
            <a:endParaRPr sz="20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2000" i="1" dirty="0">
                <a:solidFill>
                  <a:srgbClr val="000090"/>
                </a:solidFill>
                <a:latin typeface="Arial"/>
                <a:cs typeface="Arial"/>
              </a:rPr>
              <a:t>This</a:t>
            </a:r>
            <a:r>
              <a:rPr sz="2000" i="1" spc="-3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90"/>
                </a:solidFill>
                <a:latin typeface="Arial"/>
                <a:cs typeface="Arial"/>
              </a:rPr>
              <a:t>is</a:t>
            </a:r>
            <a:r>
              <a:rPr sz="2000" i="1" spc="-1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90"/>
                </a:solidFill>
                <a:latin typeface="Arial"/>
                <a:cs typeface="Arial"/>
              </a:rPr>
              <a:t>the</a:t>
            </a:r>
            <a:r>
              <a:rPr sz="2000" i="1" spc="-4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90"/>
                </a:solidFill>
                <a:latin typeface="Arial"/>
                <a:cs typeface="Arial"/>
              </a:rPr>
              <a:t>only</a:t>
            </a:r>
            <a:r>
              <a:rPr sz="2000" i="1" spc="-3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90"/>
                </a:solidFill>
                <a:latin typeface="Arial"/>
                <a:cs typeface="Arial"/>
              </a:rPr>
              <a:t>uninformed</a:t>
            </a:r>
            <a:r>
              <a:rPr sz="2000" i="1" spc="-8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90"/>
                </a:solidFill>
                <a:latin typeface="Arial"/>
                <a:cs typeface="Arial"/>
              </a:rPr>
              <a:t>search</a:t>
            </a:r>
            <a:r>
              <a:rPr sz="2000" i="1" spc="-7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90"/>
                </a:solidFill>
                <a:latin typeface="Arial"/>
                <a:cs typeface="Arial"/>
              </a:rPr>
              <a:t>that</a:t>
            </a:r>
            <a:r>
              <a:rPr sz="2000" i="1" spc="-5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90"/>
                </a:solidFill>
                <a:latin typeface="Arial"/>
                <a:cs typeface="Arial"/>
              </a:rPr>
              <a:t>worries</a:t>
            </a:r>
            <a:r>
              <a:rPr sz="2000" i="1" spc="-5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000090"/>
                </a:solidFill>
                <a:latin typeface="Arial"/>
                <a:cs typeface="Arial"/>
              </a:rPr>
              <a:t>about</a:t>
            </a:r>
            <a:r>
              <a:rPr sz="2000" i="1" spc="-114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000" i="1" spc="-10" dirty="0">
                <a:solidFill>
                  <a:srgbClr val="000090"/>
                </a:solidFill>
                <a:latin typeface="Arial"/>
                <a:cs typeface="Arial"/>
              </a:rPr>
              <a:t>costs.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b="1" spc="-10" dirty="0">
                <a:solidFill>
                  <a:srgbClr val="000090"/>
                </a:solidFill>
                <a:latin typeface="Arial"/>
                <a:cs typeface="Arial"/>
              </a:rPr>
              <a:t>Depth-</a:t>
            </a:r>
            <a:r>
              <a:rPr sz="2400" b="1" dirty="0">
                <a:solidFill>
                  <a:srgbClr val="000090"/>
                </a:solidFill>
                <a:latin typeface="Arial"/>
                <a:cs typeface="Arial"/>
              </a:rPr>
              <a:t>First</a:t>
            </a:r>
            <a:r>
              <a:rPr sz="2400" b="1" spc="-105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90"/>
                </a:solidFill>
                <a:latin typeface="Arial"/>
                <a:cs typeface="Arial"/>
              </a:rPr>
              <a:t>Search:</a:t>
            </a:r>
            <a:endParaRPr sz="2400" dirty="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41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Many</a:t>
            </a:r>
            <a:r>
              <a:rPr sz="2000" spc="-4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solutions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exist</a:t>
            </a:r>
            <a:endParaRPr sz="20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490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Know</a:t>
            </a:r>
            <a:r>
              <a:rPr sz="2000" spc="-1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(or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have</a:t>
            </a:r>
            <a:r>
              <a:rPr sz="2000" spc="-3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good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estimate</a:t>
            </a:r>
            <a:r>
              <a:rPr sz="2000" spc="-7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of)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depth</a:t>
            </a:r>
            <a:r>
              <a:rPr sz="2000" spc="-5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of</a:t>
            </a:r>
            <a:r>
              <a:rPr sz="2000" spc="-1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solution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b="1" spc="-20" dirty="0">
                <a:solidFill>
                  <a:srgbClr val="000090"/>
                </a:solidFill>
                <a:latin typeface="Arial"/>
                <a:cs typeface="Arial"/>
              </a:rPr>
              <a:t>Iterative-</a:t>
            </a:r>
            <a:r>
              <a:rPr sz="2400" b="1" spc="-10" dirty="0">
                <a:solidFill>
                  <a:srgbClr val="000090"/>
                </a:solidFill>
                <a:latin typeface="Arial"/>
                <a:cs typeface="Arial"/>
              </a:rPr>
              <a:t>Deepening</a:t>
            </a:r>
            <a:r>
              <a:rPr sz="2400" b="1" spc="1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90"/>
                </a:solidFill>
                <a:latin typeface="Arial"/>
                <a:cs typeface="Arial"/>
              </a:rPr>
              <a:t>Search</a:t>
            </a:r>
            <a:r>
              <a:rPr sz="2400" spc="-10" dirty="0">
                <a:solidFill>
                  <a:srgbClr val="000090"/>
                </a:solidFill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515"/>
              </a:spcBef>
              <a:buChar char="–"/>
              <a:tabLst>
                <a:tab pos="756285" algn="l"/>
              </a:tabLst>
            </a:pP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Space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000" spc="-3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limited</a:t>
            </a:r>
            <a:r>
              <a:rPr sz="2000" spc="-2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the</a:t>
            </a:r>
            <a:r>
              <a:rPr sz="2000" spc="-6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shortest</a:t>
            </a:r>
            <a:r>
              <a:rPr sz="2000" spc="-8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solution</a:t>
            </a:r>
            <a:r>
              <a:rPr sz="2000" spc="-4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path</a:t>
            </a:r>
            <a:r>
              <a:rPr sz="2000" spc="-75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90"/>
                </a:solidFill>
                <a:latin typeface="Arial MT"/>
                <a:cs typeface="Arial MT"/>
              </a:rPr>
              <a:t>is</a:t>
            </a:r>
            <a:r>
              <a:rPr sz="2000" spc="-110" dirty="0">
                <a:solidFill>
                  <a:srgbClr val="00009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90"/>
                </a:solidFill>
                <a:latin typeface="Arial MT"/>
                <a:cs typeface="Arial MT"/>
              </a:rPr>
              <a:t>required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32562"/>
            <a:ext cx="1643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Summ</a:t>
            </a:r>
            <a:r>
              <a:rPr sz="2800" b="1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ry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7821" y="1106170"/>
            <a:ext cx="7672705" cy="123982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55600" marR="5080" indent="-342900">
              <a:lnSpc>
                <a:spcPct val="101000"/>
              </a:lnSpc>
              <a:spcBef>
                <a:spcPts val="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Problem formulation</a:t>
            </a:r>
            <a:endParaRPr lang="en-US" sz="2400" spc="-5" dirty="0">
              <a:latin typeface="Arial"/>
              <a:cs typeface="Arial"/>
            </a:endParaRPr>
          </a:p>
          <a:p>
            <a:pPr marL="12700" marR="5080">
              <a:lnSpc>
                <a:spcPct val="101000"/>
              </a:lnSpc>
              <a:spcBef>
                <a:spcPts val="70"/>
              </a:spcBef>
              <a:tabLst>
                <a:tab pos="354965" algn="l"/>
                <a:tab pos="355600" algn="l"/>
              </a:tabLst>
            </a:pP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65" dirty="0">
                <a:latin typeface="Arial"/>
                <a:cs typeface="Arial"/>
              </a:rPr>
              <a:t>Variety </a:t>
            </a:r>
            <a:r>
              <a:rPr sz="2400" dirty="0">
                <a:latin typeface="Arial"/>
                <a:cs typeface="Arial"/>
              </a:rPr>
              <a:t>of uninformed </a:t>
            </a:r>
            <a:r>
              <a:rPr sz="2400" spc="-5" dirty="0">
                <a:latin typeface="Arial"/>
                <a:cs typeface="Arial"/>
              </a:rPr>
              <a:t>search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strategies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9473" y="2788974"/>
            <a:ext cx="6629400" cy="190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7C1B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1970</TotalTime>
  <Words>5189</Words>
  <Application>Microsoft Macintosh PowerPoint</Application>
  <PresentationFormat>On-screen Show (4:3)</PresentationFormat>
  <Paragraphs>1284</Paragraphs>
  <Slides>93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8" baseType="lpstr">
      <vt:lpstr>Aharoni</vt:lpstr>
      <vt:lpstr>Arial</vt:lpstr>
      <vt:lpstr>Arial MT</vt:lpstr>
      <vt:lpstr>Arial Rounded MT Bold</vt:lpstr>
      <vt:lpstr>Caladea</vt:lpstr>
      <vt:lpstr>Calibri</vt:lpstr>
      <vt:lpstr>Carlito</vt:lpstr>
      <vt:lpstr>Courier New</vt:lpstr>
      <vt:lpstr>Gothic Uralic</vt:lpstr>
      <vt:lpstr>Roboto</vt:lpstr>
      <vt:lpstr>Times New Roman</vt:lpstr>
      <vt:lpstr>verdana</vt:lpstr>
      <vt:lpstr>verdana</vt:lpstr>
      <vt:lpstr>Wingdings</vt:lpstr>
      <vt:lpstr>Office Theme</vt:lpstr>
      <vt:lpstr>   Artificial Intelligence</vt:lpstr>
      <vt:lpstr>Objectives of the Chapter</vt:lpstr>
      <vt:lpstr>Problem Solving Agent</vt:lpstr>
      <vt:lpstr>Problem Formulation</vt:lpstr>
      <vt:lpstr>NOTE</vt:lpstr>
      <vt:lpstr>4 Queens Problem Example</vt:lpstr>
      <vt:lpstr>PowerPoint Presentation</vt:lpstr>
      <vt:lpstr>PowerPoint Presentation</vt:lpstr>
      <vt:lpstr>The 8- Puzzle Example</vt:lpstr>
      <vt:lpstr>PowerPoint Presentation</vt:lpstr>
      <vt:lpstr>PowerPoint Presentation</vt:lpstr>
      <vt:lpstr>A Touring Agent Problem </vt:lpstr>
      <vt:lpstr>Problem Formulation (The Romania Example)</vt:lpstr>
      <vt:lpstr>Problems</vt:lpstr>
      <vt:lpstr>Problem Formulation (Real-life Applications)</vt:lpstr>
      <vt:lpstr>Problem Formulation (Real-life Applications)</vt:lpstr>
      <vt:lpstr>Problem Formulation (Real-life Applications)</vt:lpstr>
      <vt:lpstr>Problem Formulation (Real-life Applications)</vt:lpstr>
      <vt:lpstr>Problem Formulation (Real-life Applications)</vt:lpstr>
      <vt:lpstr>PowerPoint Presentation</vt:lpstr>
      <vt:lpstr>PowerPoint Presentation</vt:lpstr>
      <vt:lpstr>Evaluation of Search Strategies A search strategy is defined by picking the order  of node expansion</vt:lpstr>
      <vt:lpstr>Searching for Solutions</vt:lpstr>
      <vt:lpstr>Search Terminology</vt:lpstr>
      <vt:lpstr>Search Tree Vs Graph Tree</vt:lpstr>
      <vt:lpstr>PowerPoint Presentation</vt:lpstr>
      <vt:lpstr>PowerPoint Presentation</vt:lpstr>
      <vt:lpstr>PowerPoint Presentation</vt:lpstr>
      <vt:lpstr>Example: Romania</vt:lpstr>
      <vt:lpstr>Breadth-First Snapshot 1</vt:lpstr>
      <vt:lpstr>PowerPoint Presentation</vt:lpstr>
      <vt:lpstr>Breadth-First Snapshot 3</vt:lpstr>
      <vt:lpstr>Breadth-First Snapshot 4</vt:lpstr>
      <vt:lpstr>Breadth-First Snapshot 5</vt:lpstr>
      <vt:lpstr>Breadth-First Snapshot 6</vt:lpstr>
      <vt:lpstr>Breadth-First Snapshot 7</vt:lpstr>
      <vt:lpstr>Breadth-First Snapshot 8</vt:lpstr>
      <vt:lpstr>Breadth-First Snapshot 9</vt:lpstr>
      <vt:lpstr>Breadth-First Snapshot 10</vt:lpstr>
      <vt:lpstr>Breadth-First Snapshot 11</vt:lpstr>
      <vt:lpstr>Breadth-First Snapshot 12</vt:lpstr>
      <vt:lpstr>Breadth-First Snapshot 13</vt:lpstr>
      <vt:lpstr>Breadth-First Snapshot 14</vt:lpstr>
      <vt:lpstr>Breadth-First Snapshot 15</vt:lpstr>
      <vt:lpstr>Breadth-First Snapshot 16</vt:lpstr>
      <vt:lpstr>Breadth-First Snapshot 17</vt:lpstr>
      <vt:lpstr>Breadth-First Snapshot 18</vt:lpstr>
      <vt:lpstr>Breadth-First Snapshot 19</vt:lpstr>
      <vt:lpstr>Breadth-First Snapshot 20</vt:lpstr>
      <vt:lpstr>Breadth-First Snapshot 21</vt:lpstr>
      <vt:lpstr>Breadth-First Snapshot 22</vt:lpstr>
      <vt:lpstr>Breadth-First Snapshot 23</vt:lpstr>
      <vt:lpstr>Breadth-First Snapshot 24</vt:lpstr>
      <vt:lpstr>Properties of Breadth-First Search (BFS)</vt:lpstr>
      <vt:lpstr>2- Uniform-Cost -First</vt:lpstr>
      <vt:lpstr>The primary goal of the uniform-cost search is to find a path to the goal node which has the lowest cumulative cost.  Uniform-cost search expands nodes according to their path costs form the root node.   It can be used to solve any graph/tree where the optimal cost is in demand.   Uniform cost search is equivalent to BFS algorithm if the path cost of all edges is the same.</vt:lpstr>
      <vt:lpstr>PowerPoint Presentation</vt:lpstr>
      <vt:lpstr>Uniform-Cost Search (UCS)</vt:lpstr>
      <vt:lpstr>Uniform-Cost Search (UCS)</vt:lpstr>
      <vt:lpstr>Uniform-Cost Search (UCS)</vt:lpstr>
      <vt:lpstr>Uniform-Cost Search (UCS)</vt:lpstr>
      <vt:lpstr>Uniform-Cost Search (UCS)</vt:lpstr>
      <vt:lpstr>Uniform-Cost Search (UCS)</vt:lpstr>
      <vt:lpstr>Uniform-Cost Search (UCS)</vt:lpstr>
      <vt:lpstr>Uniform-Cost Search (UCS)</vt:lpstr>
      <vt:lpstr>Properties of Uniform-cost Search (UCS)</vt:lpstr>
      <vt:lpstr>Breadth-First vs. Uniform-Cost</vt:lpstr>
      <vt:lpstr>3- Depth-First Search</vt:lpstr>
      <vt:lpstr>Depth-First Search</vt:lpstr>
      <vt:lpstr>Properties of Depth-First Search</vt:lpstr>
      <vt:lpstr>PowerPoint Presentation</vt:lpstr>
      <vt:lpstr>4- Depth-Limited Search </vt:lpstr>
      <vt:lpstr>Example</vt:lpstr>
      <vt:lpstr>PowerPoint Presentation</vt:lpstr>
      <vt:lpstr>4- Depth-Limited Search</vt:lpstr>
      <vt:lpstr>5- Iterative Deepening Depth-First Search</vt:lpstr>
      <vt:lpstr>5- Iterative Deepening Depth-First Search</vt:lpstr>
      <vt:lpstr>5- Iterative Deepening Depth-First Search</vt:lpstr>
      <vt:lpstr>Iterative Deepening Depth-First Search</vt:lpstr>
      <vt:lpstr>Iterative deepening search l =0</vt:lpstr>
      <vt:lpstr>Iterative deepening search l =1</vt:lpstr>
      <vt:lpstr>Iterative deepening search l =2</vt:lpstr>
      <vt:lpstr>Iterative deepening search l =3</vt:lpstr>
      <vt:lpstr>Properties of Iterative Deepening Search</vt:lpstr>
      <vt:lpstr>PowerPoint Presentation</vt:lpstr>
      <vt:lpstr>PowerPoint Presentation</vt:lpstr>
      <vt:lpstr>PowerPoint Presentation</vt:lpstr>
      <vt:lpstr>PowerPoint Presentation</vt:lpstr>
      <vt:lpstr>6- Bi-directional Search</vt:lpstr>
      <vt:lpstr>PowerPoint Presentation</vt:lpstr>
      <vt:lpstr>PowerPoint Presentation</vt:lpstr>
      <vt:lpstr>Summary (When to use what)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FAST-AIO Viper Syste</dc:creator>
  <cp:lastModifiedBy>anaum hamid</cp:lastModifiedBy>
  <cp:revision>52</cp:revision>
  <dcterms:created xsi:type="dcterms:W3CDTF">2020-02-01T07:02:33Z</dcterms:created>
  <dcterms:modified xsi:type="dcterms:W3CDTF">2025-02-04T07:04:39Z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2020-01-30T00:00:00Z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2020-02-01T00:00:00Z</vt:filetime>
  </property>
</Properties>
</file>